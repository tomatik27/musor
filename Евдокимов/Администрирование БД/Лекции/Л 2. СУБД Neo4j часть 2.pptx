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4"/>
  </p:notesMasterIdLst>
  <p:sldIdLst>
    <p:sldId id="256" r:id="rId2"/>
    <p:sldId id="274" r:id="rId3"/>
    <p:sldId id="288" r:id="rId4"/>
    <p:sldId id="289" r:id="rId5"/>
    <p:sldId id="290" r:id="rId6"/>
    <p:sldId id="291" r:id="rId7"/>
    <p:sldId id="315" r:id="rId8"/>
    <p:sldId id="316" r:id="rId9"/>
    <p:sldId id="317" r:id="rId10"/>
    <p:sldId id="292" r:id="rId11"/>
    <p:sldId id="267" r:id="rId12"/>
    <p:sldId id="293" r:id="rId13"/>
    <p:sldId id="295" r:id="rId14"/>
    <p:sldId id="296" r:id="rId15"/>
    <p:sldId id="297" r:id="rId16"/>
    <p:sldId id="298" r:id="rId17"/>
    <p:sldId id="302" r:id="rId18"/>
    <p:sldId id="304" r:id="rId19"/>
    <p:sldId id="310" r:id="rId20"/>
    <p:sldId id="319" r:id="rId21"/>
    <p:sldId id="299" r:id="rId22"/>
    <p:sldId id="300" r:id="rId23"/>
    <p:sldId id="309" r:id="rId24"/>
    <p:sldId id="314" r:id="rId25"/>
    <p:sldId id="306" r:id="rId26"/>
    <p:sldId id="307" r:id="rId27"/>
    <p:sldId id="308" r:id="rId28"/>
    <p:sldId id="266" r:id="rId29"/>
    <p:sldId id="313" r:id="rId30"/>
    <p:sldId id="324" r:id="rId31"/>
    <p:sldId id="271" r:id="rId32"/>
    <p:sldId id="305" r:id="rId3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86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18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5329FC-0C4C-4D07-AE12-CE77F7C87C61}" type="datetimeFigureOut">
              <a:rPr lang="ru-RU" smtClean="0"/>
              <a:t>16.09.2020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E9C412-0B1F-434A-B64D-1F00DDE528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778582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E9C412-0B1F-434A-B64D-1F00DDE5283A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866022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E9C412-0B1F-434A-B64D-1F00DDE5283A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40682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D712C-EDE5-4324-AEBC-4C6F99CEADA0}" type="datetime1">
              <a:rPr lang="ru-RU" smtClean="0"/>
              <a:t>16.09.2020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17AA6-4229-42BD-B489-C47A37C1D2C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49971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21BF7-4F7C-4B8E-A084-284B464ABE79}" type="datetime1">
              <a:rPr lang="ru-RU" smtClean="0"/>
              <a:t>16.09.2020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17AA6-4229-42BD-B489-C47A37C1D2C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804069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19FCB-4663-4A16-A7A6-A13032C9AE6A}" type="datetime1">
              <a:rPr lang="ru-RU" smtClean="0"/>
              <a:t>16.09.2020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17AA6-4229-42BD-B489-C47A37C1D2C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124402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743C5-9528-40F5-BD68-C74B40DD157D}" type="datetime1">
              <a:rPr lang="ru-RU" smtClean="0"/>
              <a:t>16.09.2020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17AA6-4229-42BD-B489-C47A37C1D2C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73347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2FC3F-B86A-4212-B779-656FC1F5DA70}" type="datetime1">
              <a:rPr lang="ru-RU" smtClean="0"/>
              <a:t>16.09.2020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17AA6-4229-42BD-B489-C47A37C1D2C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530016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ED5A3C-026E-4484-A4D6-4071BCB34A50}" type="datetime1">
              <a:rPr lang="ru-RU" smtClean="0"/>
              <a:t>16.09.2020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17AA6-4229-42BD-B489-C47A37C1D2C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67038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E220B-00BA-49D7-B2AF-234CD4644C7D}" type="datetime1">
              <a:rPr lang="ru-RU" smtClean="0"/>
              <a:t>16.09.2020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17AA6-4229-42BD-B489-C47A37C1D2C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73652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0CF87-696E-48F0-8017-8700FAEECAE6}" type="datetime1">
              <a:rPr lang="ru-RU" smtClean="0"/>
              <a:t>16.09.2020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17AA6-4229-42BD-B489-C47A37C1D2C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68537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5515C-437D-45E0-9B62-F28E659F87F3}" type="datetime1">
              <a:rPr lang="ru-RU" smtClean="0"/>
              <a:t>16.09.2020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17AA6-4229-42BD-B489-C47A37C1D2C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9794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CF4E0-EBA9-4AEB-9095-1C4CEA669004}" type="datetime1">
              <a:rPr lang="ru-RU" smtClean="0"/>
              <a:t>16.09.2020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17AA6-4229-42BD-B489-C47A37C1D2C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498645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708D4-BFDE-49A7-8BCC-761A40CC57DF}" type="datetime1">
              <a:rPr lang="ru-RU" smtClean="0"/>
              <a:t>16.09.2020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17AA6-4229-42BD-B489-C47A37C1D2C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07705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4CB668-78D4-41BC-B35E-241F024118CC}" type="datetime1">
              <a:rPr lang="ru-RU" smtClean="0"/>
              <a:t>16.09.2020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017AA6-4229-42BD-B489-C47A37C1D2C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290541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emf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sz="4000" dirty="0" err="1" smtClean="0"/>
              <a:t>Графовая</a:t>
            </a:r>
            <a:r>
              <a:rPr lang="ru-RU" sz="4000" dirty="0" smtClean="0"/>
              <a:t> база данных </a:t>
            </a:r>
            <a:br>
              <a:rPr lang="ru-RU" sz="4000" dirty="0" smtClean="0"/>
            </a:br>
            <a:r>
              <a:rPr lang="en-US" sz="4000" dirty="0" smtClean="0"/>
              <a:t>Neo4j</a:t>
            </a:r>
            <a:br>
              <a:rPr lang="en-US" sz="4000" dirty="0" smtClean="0"/>
            </a:br>
            <a:r>
              <a:rPr lang="ru-RU" sz="4000" dirty="0" smtClean="0"/>
              <a:t>Часть 2</a:t>
            </a:r>
            <a:endParaRPr lang="ru-RU" sz="4000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17AA6-4229-42BD-B489-C47A37C1D2C9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525420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645952"/>
          </a:xfrm>
        </p:spPr>
        <p:txBody>
          <a:bodyPr>
            <a:normAutofit/>
          </a:bodyPr>
          <a:lstStyle/>
          <a:p>
            <a:pPr algn="ctr"/>
            <a:r>
              <a:rPr lang="ru-RU" sz="3200" dirty="0" smtClean="0">
                <a:solidFill>
                  <a:srgbClr val="FF0000"/>
                </a:solidFill>
              </a:rPr>
              <a:t>Оглавление</a:t>
            </a:r>
            <a:endParaRPr lang="ru-RU" sz="3200" dirty="0">
              <a:solidFill>
                <a:srgbClr val="FF000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244409"/>
            <a:ext cx="8429553" cy="5477066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 startAt="7"/>
            </a:pPr>
            <a:r>
              <a:rPr lang="ru-RU" sz="2000" dirty="0" smtClean="0"/>
              <a:t>Работа </a:t>
            </a:r>
            <a:r>
              <a:rPr lang="ru-RU" sz="2000" dirty="0"/>
              <a:t>со свойствами </a:t>
            </a:r>
            <a:r>
              <a:rPr lang="en-US" sz="2000" dirty="0" smtClean="0"/>
              <a:t>(</a:t>
            </a:r>
            <a:r>
              <a:rPr lang="ru-RU" sz="2000" dirty="0" smtClean="0"/>
              <a:t>фраза </a:t>
            </a:r>
            <a:r>
              <a:rPr lang="en-US" sz="2000" dirty="0" smtClean="0"/>
              <a:t>SET)</a:t>
            </a:r>
            <a:endParaRPr lang="ru-RU" sz="2000" dirty="0" smtClean="0"/>
          </a:p>
          <a:p>
            <a:pPr marL="457200" indent="-457200">
              <a:buFont typeface="+mj-lt"/>
              <a:buAutoNum type="arabicPeriod" startAt="7"/>
            </a:pPr>
            <a:r>
              <a:rPr lang="ru-RU" sz="2000" dirty="0" smtClean="0"/>
              <a:t>Фраза </a:t>
            </a:r>
            <a:r>
              <a:rPr lang="ru-RU" sz="2000" dirty="0"/>
              <a:t>удаления (</a:t>
            </a:r>
            <a:r>
              <a:rPr lang="en-US" sz="2000" dirty="0"/>
              <a:t>DELETE</a:t>
            </a:r>
            <a:r>
              <a:rPr lang="en-US" sz="2000" dirty="0" smtClean="0"/>
              <a:t>)</a:t>
            </a:r>
            <a:endParaRPr lang="ru-RU" sz="2000" dirty="0" smtClean="0"/>
          </a:p>
          <a:p>
            <a:pPr marL="457200" indent="-457200">
              <a:buFont typeface="+mj-lt"/>
              <a:buAutoNum type="arabicPeriod" startAt="7"/>
            </a:pPr>
            <a:r>
              <a:rPr lang="ru-RU" sz="2000" dirty="0" smtClean="0"/>
              <a:t>Удаление </a:t>
            </a:r>
            <a:r>
              <a:rPr lang="ru-RU" sz="2000" dirty="0"/>
              <a:t>свойств и меток из узлов или связей (REMOVE)</a:t>
            </a:r>
            <a:r>
              <a:rPr lang="en-US" sz="2000" dirty="0" smtClean="0"/>
              <a:t> </a:t>
            </a:r>
            <a:endParaRPr lang="ru-RU" sz="2000" dirty="0" smtClean="0"/>
          </a:p>
          <a:p>
            <a:pPr marL="457200" indent="-457200">
              <a:buFont typeface="+mj-lt"/>
              <a:buAutoNum type="arabicPeriod" startAt="7"/>
            </a:pPr>
            <a:r>
              <a:rPr lang="ru-RU" sz="2000" dirty="0" smtClean="0"/>
              <a:t>Фраза </a:t>
            </a:r>
            <a:r>
              <a:rPr lang="en-US" sz="2000" dirty="0" smtClean="0"/>
              <a:t>FOREACH</a:t>
            </a:r>
          </a:p>
          <a:p>
            <a:pPr marL="457200" indent="-457200">
              <a:buFont typeface="+mj-lt"/>
              <a:buAutoNum type="arabicPeriod" startAt="7"/>
            </a:pPr>
            <a:r>
              <a:rPr lang="ru-RU" sz="2000" dirty="0"/>
              <a:t>Фраза </a:t>
            </a:r>
            <a:r>
              <a:rPr lang="en-US" sz="2000" dirty="0"/>
              <a:t>OPTIONAL MATCH </a:t>
            </a:r>
            <a:endParaRPr lang="en-US" sz="2000" dirty="0" smtClean="0"/>
          </a:p>
          <a:p>
            <a:pPr marL="457200" indent="-457200">
              <a:buFont typeface="+mj-lt"/>
              <a:buAutoNum type="arabicPeriod" startAt="7"/>
            </a:pPr>
            <a:r>
              <a:rPr lang="ru-RU" sz="2000" dirty="0" smtClean="0"/>
              <a:t>Фраза </a:t>
            </a:r>
            <a:r>
              <a:rPr lang="en-US" sz="2000" dirty="0" smtClean="0"/>
              <a:t>WHERE</a:t>
            </a:r>
          </a:p>
          <a:p>
            <a:pPr marL="457200" indent="-457200">
              <a:buFont typeface="+mj-lt"/>
              <a:buAutoNum type="arabicPeriod" startAt="7"/>
            </a:pPr>
            <a:r>
              <a:rPr lang="ru-RU" sz="2000" dirty="0"/>
              <a:t>Фраза </a:t>
            </a:r>
            <a:r>
              <a:rPr lang="en-US" sz="2000" dirty="0"/>
              <a:t>ORDER </a:t>
            </a:r>
            <a:r>
              <a:rPr lang="en-US" sz="2000" dirty="0" smtClean="0"/>
              <a:t>BY</a:t>
            </a:r>
            <a:endParaRPr lang="ru-RU" sz="2000" dirty="0" smtClean="0"/>
          </a:p>
          <a:p>
            <a:pPr marL="457200" indent="-457200">
              <a:buFont typeface="+mj-lt"/>
              <a:buAutoNum type="arabicPeriod" startAt="7"/>
            </a:pPr>
            <a:r>
              <a:rPr lang="ru-RU" sz="2000" dirty="0" smtClean="0"/>
              <a:t>Фраза </a:t>
            </a:r>
            <a:r>
              <a:rPr lang="en-US" sz="2000" dirty="0" smtClean="0"/>
              <a:t>LIMIT</a:t>
            </a:r>
          </a:p>
          <a:p>
            <a:pPr marL="457200" indent="-457200">
              <a:buFont typeface="+mj-lt"/>
              <a:buAutoNum type="arabicPeriod" startAt="7"/>
            </a:pPr>
            <a:r>
              <a:rPr lang="ru-RU" sz="2000" dirty="0" smtClean="0"/>
              <a:t>Фраза</a:t>
            </a:r>
            <a:r>
              <a:rPr lang="en-US" sz="2000" dirty="0" smtClean="0"/>
              <a:t> </a:t>
            </a:r>
            <a:r>
              <a:rPr lang="en-US" sz="2000" dirty="0"/>
              <a:t>SKIP</a:t>
            </a:r>
            <a:r>
              <a:rPr lang="ru-RU" sz="2000" dirty="0"/>
              <a:t> </a:t>
            </a:r>
            <a:endParaRPr lang="en-US" sz="2000" dirty="0" smtClean="0"/>
          </a:p>
          <a:p>
            <a:pPr marL="457200" indent="-457200">
              <a:buFont typeface="+mj-lt"/>
              <a:buAutoNum type="arabicPeriod" startAt="7"/>
            </a:pPr>
            <a:r>
              <a:rPr lang="ru-RU" sz="2000" dirty="0" smtClean="0"/>
              <a:t>Фраза </a:t>
            </a:r>
            <a:r>
              <a:rPr lang="en-US" sz="2000" dirty="0"/>
              <a:t>CALL</a:t>
            </a:r>
          </a:p>
          <a:p>
            <a:pPr marL="457200" indent="-457200">
              <a:buFont typeface="+mj-lt"/>
              <a:buAutoNum type="arabicPeriod" startAt="7"/>
            </a:pPr>
            <a:r>
              <a:rPr lang="ru-RU" sz="2000" dirty="0" smtClean="0"/>
              <a:t>Ограничения </a:t>
            </a:r>
            <a:r>
              <a:rPr lang="ru-RU" sz="2000" dirty="0"/>
              <a:t>(</a:t>
            </a:r>
            <a:r>
              <a:rPr lang="en-US" sz="2000" dirty="0"/>
              <a:t>CONSTRAINTS</a:t>
            </a:r>
            <a:r>
              <a:rPr lang="en-US" sz="2000" dirty="0" smtClean="0"/>
              <a:t>)</a:t>
            </a:r>
          </a:p>
          <a:p>
            <a:pPr marL="457200" indent="-457200">
              <a:buFont typeface="+mj-lt"/>
              <a:buAutoNum type="arabicPeriod" startAt="7"/>
            </a:pPr>
            <a:r>
              <a:rPr lang="en-US" sz="2000" dirty="0" smtClean="0"/>
              <a:t> </a:t>
            </a:r>
            <a:r>
              <a:rPr lang="ru-RU" sz="2000" dirty="0" smtClean="0"/>
              <a:t>Фраза </a:t>
            </a:r>
            <a:r>
              <a:rPr lang="en-US" sz="2000" dirty="0"/>
              <a:t>UNWIND</a:t>
            </a:r>
            <a:endParaRPr lang="ru-RU" sz="2000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7835423" y="1636246"/>
            <a:ext cx="3158002" cy="16573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ru-RU" dirty="0" smtClean="0">
              <a:solidFill>
                <a:schemeClr val="tx1"/>
              </a:solidFill>
            </a:endParaRPr>
          </a:p>
          <a:p>
            <a:r>
              <a:rPr lang="ru-RU" dirty="0" smtClean="0">
                <a:solidFill>
                  <a:schemeClr val="tx1"/>
                </a:solidFill>
              </a:rPr>
              <a:t>Вспоминаем.</a:t>
            </a:r>
          </a:p>
          <a:p>
            <a:r>
              <a:rPr lang="ru-RU" dirty="0" smtClean="0">
                <a:solidFill>
                  <a:schemeClr val="tx1"/>
                </a:solidFill>
              </a:rPr>
              <a:t>Удаление </a:t>
            </a:r>
            <a:r>
              <a:rPr lang="ru-RU" dirty="0">
                <a:solidFill>
                  <a:schemeClr val="tx1"/>
                </a:solidFill>
              </a:rPr>
              <a:t>в</a:t>
            </a:r>
            <a:r>
              <a:rPr lang="ru-RU" dirty="0" smtClean="0">
                <a:solidFill>
                  <a:schemeClr val="tx1"/>
                </a:solidFill>
              </a:rPr>
              <a:t>сего графа:</a:t>
            </a:r>
            <a:endParaRPr lang="ru-RU" dirty="0" smtClean="0">
              <a:solidFill>
                <a:schemeClr val="tx1"/>
              </a:solidFill>
            </a:endParaRPr>
          </a:p>
          <a:p>
            <a:r>
              <a:rPr lang="pt-BR" dirty="0">
                <a:solidFill>
                  <a:schemeClr val="tx1"/>
                </a:solidFill>
              </a:rPr>
              <a:t>MATCH (n)</a:t>
            </a:r>
          </a:p>
          <a:p>
            <a:r>
              <a:rPr lang="pt-BR" dirty="0">
                <a:solidFill>
                  <a:schemeClr val="tx1"/>
                </a:solidFill>
              </a:rPr>
              <a:t>OPTIONAL MATCH (n)-[r]-()</a:t>
            </a:r>
          </a:p>
          <a:p>
            <a:r>
              <a:rPr lang="pt-BR" dirty="0">
                <a:solidFill>
                  <a:schemeClr val="tx1"/>
                </a:solidFill>
              </a:rPr>
              <a:t>DELETE </a:t>
            </a:r>
            <a:r>
              <a:rPr lang="pt-BR" dirty="0" smtClean="0">
                <a:solidFill>
                  <a:schemeClr val="tx1"/>
                </a:solidFill>
              </a:rPr>
              <a:t>n,r</a:t>
            </a:r>
            <a:endParaRPr lang="ru-RU" dirty="0" smtClean="0">
              <a:solidFill>
                <a:schemeClr val="tx1"/>
              </a:solidFill>
            </a:endParaRPr>
          </a:p>
          <a:p>
            <a:r>
              <a:rPr lang="ru-RU" dirty="0" smtClean="0">
                <a:solidFill>
                  <a:schemeClr val="tx1"/>
                </a:solidFill>
              </a:rPr>
              <a:t> 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17AA6-4229-42BD-B489-C47A37C1D2C9}" type="slidenum">
              <a:rPr lang="ru-RU" smtClean="0"/>
              <a:t>2</a:t>
            </a:fld>
            <a:endParaRPr lang="ru-RU"/>
          </a:p>
        </p:txBody>
      </p:sp>
      <p:sp>
        <p:nvSpPr>
          <p:cNvPr id="6" name="Прямоугольник 5"/>
          <p:cNvSpPr/>
          <p:nvPr/>
        </p:nvSpPr>
        <p:spPr>
          <a:xfrm>
            <a:off x="7835424" y="3604279"/>
            <a:ext cx="3154310" cy="64633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ru-RU" dirty="0" smtClean="0"/>
              <a:t>Возвращаем все узлы графа</a:t>
            </a:r>
            <a:endParaRPr lang="en-US" dirty="0" smtClean="0"/>
          </a:p>
          <a:p>
            <a:r>
              <a:rPr lang="ru-RU" dirty="0" smtClean="0"/>
              <a:t>MATCH </a:t>
            </a:r>
            <a:r>
              <a:rPr lang="ru-RU" dirty="0"/>
              <a:t>(n) RETURN n </a:t>
            </a:r>
            <a:endParaRPr lang="ru-RU" dirty="0"/>
          </a:p>
        </p:txBody>
      </p:sp>
      <p:sp>
        <p:nvSpPr>
          <p:cNvPr id="7" name="Объект 2"/>
          <p:cNvSpPr txBox="1">
            <a:spLocks/>
          </p:cNvSpPr>
          <p:nvPr/>
        </p:nvSpPr>
        <p:spPr>
          <a:xfrm>
            <a:off x="7835423" y="4588464"/>
            <a:ext cx="3154311" cy="81087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ru-RU" sz="1800" dirty="0" smtClean="0"/>
              <a:t>Доступ к браузеру Neo4j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ru-RU" sz="1800" dirty="0" smtClean="0"/>
              <a:t>http://localhost:7474/browser/</a:t>
            </a:r>
          </a:p>
        </p:txBody>
      </p:sp>
    </p:spTree>
    <p:extLst>
      <p:ext uri="{BB962C8B-B14F-4D97-AF65-F5344CB8AC3E}">
        <p14:creationId xmlns:p14="http://schemas.microsoft.com/office/powerpoint/2010/main" val="19255731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26292"/>
            <a:ext cx="10770293" cy="444499"/>
          </a:xfrm>
        </p:spPr>
        <p:txBody>
          <a:bodyPr>
            <a:noAutofit/>
          </a:bodyPr>
          <a:lstStyle/>
          <a:p>
            <a:pPr algn="ctr"/>
            <a:r>
              <a:rPr lang="ru-RU" sz="3200" dirty="0">
                <a:solidFill>
                  <a:srgbClr val="FF0000"/>
                </a:solidFill>
              </a:rPr>
              <a:t>7</a:t>
            </a:r>
            <a:r>
              <a:rPr lang="ru-RU" sz="3200" dirty="0" smtClean="0">
                <a:solidFill>
                  <a:srgbClr val="FF0000"/>
                </a:solidFill>
              </a:rPr>
              <a:t>. </a:t>
            </a:r>
            <a:r>
              <a:rPr lang="ru-RU" sz="3200" dirty="0" smtClean="0">
                <a:solidFill>
                  <a:srgbClr val="FF0000"/>
                </a:solidFill>
              </a:rPr>
              <a:t>Работа со свойствами (фраза </a:t>
            </a:r>
            <a:r>
              <a:rPr lang="en-US" sz="3200" dirty="0" smtClean="0">
                <a:solidFill>
                  <a:srgbClr val="FF0000"/>
                </a:solidFill>
              </a:rPr>
              <a:t>SET)</a:t>
            </a:r>
            <a:r>
              <a:rPr lang="ru-RU" sz="3200" dirty="0" smtClean="0">
                <a:solidFill>
                  <a:srgbClr val="FF0000"/>
                </a:solidFill>
              </a:rPr>
              <a:t> 1/4</a:t>
            </a:r>
            <a:endParaRPr lang="ru-RU" sz="3200" dirty="0">
              <a:solidFill>
                <a:srgbClr val="FF000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470790"/>
            <a:ext cx="10515600" cy="6387209"/>
          </a:xfrm>
        </p:spPr>
        <p:txBody>
          <a:bodyPr>
            <a:noAutofit/>
          </a:bodyPr>
          <a:lstStyle/>
          <a:p>
            <a:pPr marL="0" indent="360000">
              <a:lnSpc>
                <a:spcPct val="80000"/>
              </a:lnSpc>
              <a:buNone/>
            </a:pPr>
            <a:r>
              <a:rPr lang="ru-RU" sz="2000" dirty="0"/>
              <a:t>К</a:t>
            </a:r>
            <a:r>
              <a:rPr lang="ru-RU" sz="2000" dirty="0" smtClean="0"/>
              <a:t>ак с помощью фразы </a:t>
            </a:r>
            <a:r>
              <a:rPr lang="en-US" sz="2000" dirty="0" smtClean="0"/>
              <a:t>SET </a:t>
            </a:r>
            <a:endParaRPr lang="ru-RU" sz="2000" dirty="0" smtClean="0"/>
          </a:p>
          <a:p>
            <a:pPr>
              <a:lnSpc>
                <a:spcPct val="80000"/>
              </a:lnSpc>
            </a:pPr>
            <a:r>
              <a:rPr lang="ru-RU" sz="2000" dirty="0" smtClean="0"/>
              <a:t>создать новое свойство,</a:t>
            </a:r>
            <a:endParaRPr lang="ru-RU" sz="2000" dirty="0"/>
          </a:p>
          <a:p>
            <a:pPr>
              <a:lnSpc>
                <a:spcPct val="80000"/>
              </a:lnSpc>
            </a:pPr>
            <a:r>
              <a:rPr lang="ru-RU" sz="2000" dirty="0" smtClean="0"/>
              <a:t>удалить свойство,</a:t>
            </a:r>
            <a:endParaRPr lang="ru-RU" sz="2000" dirty="0"/>
          </a:p>
          <a:p>
            <a:pPr>
              <a:lnSpc>
                <a:spcPct val="80000"/>
              </a:lnSpc>
            </a:pPr>
            <a:r>
              <a:rPr lang="ru-RU" sz="2000" dirty="0"/>
              <a:t>создать</a:t>
            </a:r>
            <a:r>
              <a:rPr lang="ru-RU" sz="2000" dirty="0" smtClean="0"/>
              <a:t> </a:t>
            </a:r>
            <a:r>
              <a:rPr lang="ru-RU" sz="2000" dirty="0"/>
              <a:t>несколько </a:t>
            </a:r>
            <a:r>
              <a:rPr lang="ru-RU" sz="2000" dirty="0" smtClean="0"/>
              <a:t>свойств,</a:t>
            </a:r>
            <a:endParaRPr lang="ru-RU" sz="2000" dirty="0"/>
          </a:p>
          <a:p>
            <a:pPr>
              <a:lnSpc>
                <a:spcPct val="80000"/>
              </a:lnSpc>
            </a:pPr>
            <a:r>
              <a:rPr lang="ru-RU" sz="2000" dirty="0"/>
              <a:t>создать</a:t>
            </a:r>
            <a:r>
              <a:rPr lang="ru-RU" sz="2000" dirty="0" smtClean="0"/>
              <a:t> </a:t>
            </a:r>
            <a:r>
              <a:rPr lang="ru-RU" sz="2000" dirty="0"/>
              <a:t>метку на </a:t>
            </a:r>
            <a:r>
              <a:rPr lang="ru-RU" sz="2000" dirty="0" smtClean="0"/>
              <a:t>узле,</a:t>
            </a:r>
            <a:endParaRPr lang="ru-RU" sz="2000" dirty="0"/>
          </a:p>
          <a:p>
            <a:pPr>
              <a:lnSpc>
                <a:spcPct val="80000"/>
              </a:lnSpc>
            </a:pPr>
            <a:r>
              <a:rPr lang="ru-RU" sz="2000" dirty="0"/>
              <a:t>создать</a:t>
            </a:r>
            <a:r>
              <a:rPr lang="ru-RU" sz="2000" dirty="0" smtClean="0"/>
              <a:t> </a:t>
            </a:r>
            <a:r>
              <a:rPr lang="ru-RU" sz="2000" dirty="0"/>
              <a:t>несколько меток на </a:t>
            </a:r>
            <a:r>
              <a:rPr lang="ru-RU" sz="2000" dirty="0" smtClean="0"/>
              <a:t>узле.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ru-RU" sz="2000" b="1" dirty="0" smtClean="0"/>
              <a:t>1</a:t>
            </a:r>
            <a:r>
              <a:rPr lang="ru-RU" sz="2000" dirty="0" smtClean="0"/>
              <a:t>.  </a:t>
            </a:r>
            <a:r>
              <a:rPr lang="ru-RU" sz="2000" b="1" dirty="0" smtClean="0"/>
              <a:t>Создание нового свойства.</a:t>
            </a:r>
            <a:r>
              <a:rPr lang="ru-RU" sz="2000" dirty="0" smtClean="0"/>
              <a:t> Синтаксис: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2000" dirty="0"/>
              <a:t>MATCH (</a:t>
            </a:r>
            <a:r>
              <a:rPr lang="en-US" sz="2000" dirty="0" err="1"/>
              <a:t>node:label</a:t>
            </a:r>
            <a:r>
              <a:rPr lang="en-US" sz="2000" dirty="0"/>
              <a:t>{properties . . . </a:t>
            </a:r>
            <a:r>
              <a:rPr lang="en-US" sz="2000" dirty="0" smtClean="0"/>
              <a:t> </a:t>
            </a:r>
            <a:r>
              <a:rPr lang="en-US" sz="2000" dirty="0"/>
              <a:t>}) 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2000" dirty="0"/>
              <a:t>SET </a:t>
            </a:r>
            <a:r>
              <a:rPr lang="en-US" sz="2000" dirty="0" err="1"/>
              <a:t>node.property</a:t>
            </a:r>
            <a:r>
              <a:rPr lang="en-US" sz="2000" dirty="0"/>
              <a:t> = value 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2000" dirty="0"/>
              <a:t>RETURN </a:t>
            </a:r>
            <a:r>
              <a:rPr lang="en-US" sz="2000" dirty="0" smtClean="0"/>
              <a:t>node</a:t>
            </a:r>
            <a:endParaRPr lang="ru-RU" sz="2000" dirty="0" smtClean="0"/>
          </a:p>
          <a:p>
            <a:pPr marL="0" indent="0">
              <a:lnSpc>
                <a:spcPct val="80000"/>
              </a:lnSpc>
              <a:buNone/>
            </a:pPr>
            <a:r>
              <a:rPr lang="ru-RU" sz="2000" u="sng" dirty="0" smtClean="0"/>
              <a:t>Пример</a:t>
            </a:r>
            <a:r>
              <a:rPr lang="ru-RU" sz="2000" dirty="0" smtClean="0"/>
              <a:t>:</a:t>
            </a:r>
            <a:r>
              <a:rPr lang="en-US" sz="2000" dirty="0" smtClean="0"/>
              <a:t> </a:t>
            </a:r>
            <a:r>
              <a:rPr lang="ru-RU" sz="2000" dirty="0" smtClean="0"/>
              <a:t>Создаём узел с именем </a:t>
            </a:r>
            <a:r>
              <a:rPr lang="en-US" sz="2000" dirty="0"/>
              <a:t>Smith John</a:t>
            </a:r>
            <a:endParaRPr lang="ru-RU" sz="2000" dirty="0" smtClean="0"/>
          </a:p>
          <a:p>
            <a:pPr marL="0" indent="0">
              <a:lnSpc>
                <a:spcPct val="80000"/>
              </a:lnSpc>
              <a:buNone/>
            </a:pPr>
            <a:r>
              <a:rPr lang="en-US" sz="2000" dirty="0" smtClean="0"/>
              <a:t>CREATE </a:t>
            </a:r>
            <a:r>
              <a:rPr lang="en-US" sz="2000" dirty="0"/>
              <a:t>(John:player{name: "Smith John", YOB: 1995, POB: "Ostin"})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ru-RU" sz="2000" dirty="0" smtClean="0"/>
              <a:t>Создаём свойство с именем </a:t>
            </a:r>
            <a:r>
              <a:rPr lang="en-US" sz="2000" i="1" dirty="0"/>
              <a:t>“</a:t>
            </a:r>
            <a:r>
              <a:rPr lang="en-US" sz="2000" i="1" dirty="0" err="1"/>
              <a:t>highestscore</a:t>
            </a:r>
            <a:r>
              <a:rPr lang="en-US" sz="2000" i="1" dirty="0"/>
              <a:t>”</a:t>
            </a:r>
            <a:r>
              <a:rPr lang="en-US" sz="2000" dirty="0"/>
              <a:t> </a:t>
            </a:r>
            <a:r>
              <a:rPr lang="ru-RU" sz="2000" dirty="0" smtClean="0"/>
              <a:t>и значением</a:t>
            </a:r>
            <a:r>
              <a:rPr lang="en-US" sz="2000" dirty="0"/>
              <a:t> </a:t>
            </a:r>
            <a:r>
              <a:rPr lang="en-US" sz="2000" i="1" dirty="0"/>
              <a:t>“187</a:t>
            </a:r>
            <a:r>
              <a:rPr lang="en-US" sz="2000" i="1" dirty="0" smtClean="0"/>
              <a:t>”</a:t>
            </a:r>
            <a:endParaRPr lang="ru-RU" sz="2000" i="1" dirty="0" smtClean="0"/>
          </a:p>
          <a:p>
            <a:pPr marL="0" indent="0">
              <a:lnSpc>
                <a:spcPct val="80000"/>
              </a:lnSpc>
              <a:buNone/>
            </a:pPr>
            <a:r>
              <a:rPr lang="en-US" sz="2000" dirty="0"/>
              <a:t>MATCH (John:player{name: "Smith John", YOB: 1995, POB: "Ostin"})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2000" dirty="0" smtClean="0"/>
              <a:t>SET </a:t>
            </a:r>
            <a:r>
              <a:rPr lang="en-US" sz="2000" dirty="0" err="1" smtClean="0"/>
              <a:t>John.highestscore</a:t>
            </a:r>
            <a:r>
              <a:rPr lang="en-US" sz="2000" dirty="0" smtClean="0"/>
              <a:t> </a:t>
            </a:r>
            <a:r>
              <a:rPr lang="en-US" sz="2000" dirty="0"/>
              <a:t>= 187 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2000" dirty="0"/>
              <a:t>RETURN </a:t>
            </a:r>
            <a:r>
              <a:rPr lang="en-US" sz="2000" dirty="0" smtClean="0"/>
              <a:t>John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ru-RU" sz="2000" dirty="0" smtClean="0"/>
              <a:t>Результат в варианте: </a:t>
            </a:r>
            <a:r>
              <a:rPr lang="en-US" sz="2000" dirty="0" smtClean="0"/>
              <a:t>Text</a:t>
            </a:r>
            <a:endParaRPr lang="ru-RU" sz="2000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7899" y="5723135"/>
            <a:ext cx="7942586" cy="1054099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53500" y="601791"/>
            <a:ext cx="2654992" cy="4789360"/>
          </a:xfrm>
          <a:prstGeom prst="rect">
            <a:avLst/>
          </a:prstGeom>
        </p:spPr>
      </p:pic>
      <p:sp>
        <p:nvSpPr>
          <p:cNvPr id="7" name="Стрелка вверх 6"/>
          <p:cNvSpPr/>
          <p:nvPr/>
        </p:nvSpPr>
        <p:spPr>
          <a:xfrm>
            <a:off x="10083453" y="5431034"/>
            <a:ext cx="229293" cy="457200"/>
          </a:xfrm>
          <a:prstGeom prst="upArrow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17AA6-4229-42BD-B489-C47A37C1D2C9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744541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673100"/>
          </a:xfrm>
        </p:spPr>
        <p:txBody>
          <a:bodyPr>
            <a:normAutofit/>
          </a:bodyPr>
          <a:lstStyle/>
          <a:p>
            <a:pPr algn="ctr"/>
            <a:r>
              <a:rPr lang="ru-RU" sz="3200" dirty="0">
                <a:solidFill>
                  <a:srgbClr val="FF0000"/>
                </a:solidFill>
              </a:rPr>
              <a:t>Работа со свойствами </a:t>
            </a:r>
            <a:r>
              <a:rPr lang="ru-RU" sz="3200" dirty="0" smtClean="0">
                <a:solidFill>
                  <a:srgbClr val="FF0000"/>
                </a:solidFill>
              </a:rPr>
              <a:t>(</a:t>
            </a:r>
            <a:r>
              <a:rPr lang="ru-RU" sz="3200" dirty="0">
                <a:solidFill>
                  <a:srgbClr val="FF0000"/>
                </a:solidFill>
              </a:rPr>
              <a:t>фраза </a:t>
            </a:r>
            <a:r>
              <a:rPr lang="en-US" sz="3200" dirty="0">
                <a:solidFill>
                  <a:srgbClr val="FF0000"/>
                </a:solidFill>
              </a:rPr>
              <a:t>SET) </a:t>
            </a:r>
            <a:r>
              <a:rPr lang="ru-RU" sz="3200" dirty="0" smtClean="0">
                <a:solidFill>
                  <a:srgbClr val="FF0000"/>
                </a:solidFill>
              </a:rPr>
              <a:t>2/4</a:t>
            </a:r>
            <a:endParaRPr lang="ru-RU" sz="3200" dirty="0">
              <a:solidFill>
                <a:srgbClr val="FF000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673101"/>
            <a:ext cx="7353300" cy="550386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dirty="0"/>
              <a:t>2</a:t>
            </a:r>
            <a:r>
              <a:rPr lang="ru-RU" sz="2000" b="1" dirty="0"/>
              <a:t>. Удаление свойства</a:t>
            </a:r>
          </a:p>
          <a:p>
            <a:pPr marL="0" indent="0">
              <a:buNone/>
            </a:pPr>
            <a:r>
              <a:rPr lang="ru-RU" sz="2000" dirty="0"/>
              <a:t>Синтаксис:</a:t>
            </a:r>
          </a:p>
          <a:p>
            <a:pPr marL="0" indent="0">
              <a:buNone/>
            </a:pPr>
            <a:r>
              <a:rPr lang="en-US" sz="2000" dirty="0"/>
              <a:t>MATCH (</a:t>
            </a:r>
            <a:r>
              <a:rPr lang="en-US" sz="2000" dirty="0" err="1"/>
              <a:t>node:label</a:t>
            </a:r>
            <a:r>
              <a:rPr lang="en-US" sz="2000" dirty="0"/>
              <a:t> {properties}) </a:t>
            </a:r>
          </a:p>
          <a:p>
            <a:pPr marL="0" indent="0">
              <a:buNone/>
            </a:pPr>
            <a:r>
              <a:rPr lang="en-US" sz="2000" dirty="0"/>
              <a:t>SET </a:t>
            </a:r>
            <a:r>
              <a:rPr lang="en-US" sz="2000" dirty="0" err="1"/>
              <a:t>node.property</a:t>
            </a:r>
            <a:r>
              <a:rPr lang="en-US" sz="2000" dirty="0"/>
              <a:t> = NULL </a:t>
            </a:r>
          </a:p>
          <a:p>
            <a:pPr marL="0" indent="0">
              <a:buNone/>
            </a:pPr>
            <a:r>
              <a:rPr lang="en-US" sz="2000" dirty="0"/>
              <a:t>RETURN node </a:t>
            </a:r>
            <a:endParaRPr lang="ru-RU" sz="2000" dirty="0"/>
          </a:p>
          <a:p>
            <a:pPr marL="0" indent="0">
              <a:buNone/>
            </a:pPr>
            <a:r>
              <a:rPr lang="ru-RU" sz="2000" dirty="0" smtClean="0"/>
              <a:t>Ещё раз создаём узел</a:t>
            </a:r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r>
              <a:rPr lang="en-US" sz="2000" dirty="0" smtClean="0"/>
              <a:t>CREATE (John:player </a:t>
            </a:r>
            <a:r>
              <a:rPr lang="en-US" sz="2000" dirty="0"/>
              <a:t>{name: </a:t>
            </a:r>
            <a:r>
              <a:rPr lang="en-US" sz="2000" dirty="0" smtClean="0"/>
              <a:t>"Smith John", </a:t>
            </a:r>
            <a:r>
              <a:rPr lang="en-US" sz="2000" dirty="0"/>
              <a:t>YOB: </a:t>
            </a:r>
            <a:r>
              <a:rPr lang="en-US" sz="2000" dirty="0" smtClean="0"/>
              <a:t>1995, </a:t>
            </a:r>
            <a:r>
              <a:rPr lang="en-US" sz="2000" dirty="0"/>
              <a:t>POB: "Ostin"})</a:t>
            </a:r>
            <a:endParaRPr lang="en-US" sz="2000" dirty="0" smtClean="0"/>
          </a:p>
          <a:p>
            <a:pPr marL="0" indent="0">
              <a:buNone/>
            </a:pPr>
            <a:r>
              <a:rPr lang="en-US" sz="2000" dirty="0"/>
              <a:t>MATCH (</a:t>
            </a:r>
            <a:r>
              <a:rPr lang="en-US" sz="2000" dirty="0" smtClean="0"/>
              <a:t>John:player </a:t>
            </a:r>
            <a:r>
              <a:rPr lang="en-US" sz="2000" dirty="0"/>
              <a:t>{name: "Smith John", YOB: </a:t>
            </a:r>
            <a:r>
              <a:rPr lang="en-US" sz="2000" dirty="0" smtClean="0"/>
              <a:t>1995, </a:t>
            </a:r>
            <a:r>
              <a:rPr lang="en-US" sz="2000" dirty="0"/>
              <a:t>POB: "Ostin"}) </a:t>
            </a:r>
          </a:p>
          <a:p>
            <a:pPr marL="0" indent="0">
              <a:buNone/>
            </a:pPr>
            <a:r>
              <a:rPr lang="en-US" sz="2000" dirty="0"/>
              <a:t>SET </a:t>
            </a:r>
            <a:r>
              <a:rPr lang="en-US" sz="2000" dirty="0" err="1" smtClean="0"/>
              <a:t>John.POB</a:t>
            </a:r>
            <a:r>
              <a:rPr lang="en-US" sz="2000" dirty="0" smtClean="0"/>
              <a:t> </a:t>
            </a:r>
            <a:r>
              <a:rPr lang="en-US" sz="2000" dirty="0"/>
              <a:t>= NULL </a:t>
            </a:r>
          </a:p>
          <a:p>
            <a:pPr marL="0" indent="0">
              <a:buNone/>
            </a:pPr>
            <a:r>
              <a:rPr lang="en-US" sz="2000" dirty="0"/>
              <a:t>RETURN </a:t>
            </a:r>
            <a:r>
              <a:rPr lang="en-US" sz="2000" dirty="0" smtClean="0"/>
              <a:t>John</a:t>
            </a:r>
          </a:p>
          <a:p>
            <a:pPr marL="0" indent="0">
              <a:buNone/>
            </a:pPr>
            <a:endParaRPr lang="en-US" sz="2000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5206" y="1206500"/>
            <a:ext cx="3455294" cy="5308965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6" name="Прямоугольник 5"/>
          <p:cNvSpPr/>
          <p:nvPr/>
        </p:nvSpPr>
        <p:spPr>
          <a:xfrm>
            <a:off x="9344257" y="682173"/>
            <a:ext cx="128265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000" dirty="0"/>
              <a:t>Результат</a:t>
            </a:r>
            <a:r>
              <a:rPr lang="ru-RU" dirty="0"/>
              <a:t>: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17AA6-4229-42BD-B489-C47A37C1D2C9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967436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660400"/>
          </a:xfrm>
        </p:spPr>
        <p:txBody>
          <a:bodyPr>
            <a:normAutofit/>
          </a:bodyPr>
          <a:lstStyle/>
          <a:p>
            <a:pPr algn="ctr"/>
            <a:r>
              <a:rPr lang="ru-RU" sz="3200" dirty="0">
                <a:solidFill>
                  <a:srgbClr val="FF0000"/>
                </a:solidFill>
              </a:rPr>
              <a:t>Работа со свойствами </a:t>
            </a:r>
            <a:r>
              <a:rPr lang="ru-RU" sz="3200" dirty="0" smtClean="0">
                <a:solidFill>
                  <a:srgbClr val="FF0000"/>
                </a:solidFill>
              </a:rPr>
              <a:t>(</a:t>
            </a:r>
            <a:r>
              <a:rPr lang="ru-RU" sz="3200" dirty="0">
                <a:solidFill>
                  <a:srgbClr val="FF0000"/>
                </a:solidFill>
              </a:rPr>
              <a:t>фраза </a:t>
            </a:r>
            <a:r>
              <a:rPr lang="en-US" sz="3200" dirty="0">
                <a:solidFill>
                  <a:srgbClr val="FF0000"/>
                </a:solidFill>
              </a:rPr>
              <a:t>SET) 3</a:t>
            </a:r>
            <a:r>
              <a:rPr lang="ru-RU" sz="3200" dirty="0" smtClean="0">
                <a:solidFill>
                  <a:srgbClr val="FF0000"/>
                </a:solidFill>
              </a:rPr>
              <a:t>/4</a:t>
            </a:r>
            <a:endParaRPr lang="ru-RU" sz="3200" dirty="0">
              <a:solidFill>
                <a:srgbClr val="FF000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787400"/>
            <a:ext cx="7569200" cy="53895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dirty="0" smtClean="0"/>
              <a:t>3. Создание </a:t>
            </a:r>
            <a:r>
              <a:rPr lang="ru-RU" sz="2000" b="1" dirty="0" smtClean="0"/>
              <a:t>нескольких свойств</a:t>
            </a:r>
            <a:endParaRPr lang="en-US" sz="2000" b="1" dirty="0" smtClean="0"/>
          </a:p>
          <a:p>
            <a:pPr marL="0" indent="0">
              <a:buNone/>
            </a:pPr>
            <a:r>
              <a:rPr lang="ru-RU" sz="2000" dirty="0" smtClean="0"/>
              <a:t>Для этого </a:t>
            </a:r>
            <a:r>
              <a:rPr lang="ru-RU" sz="2000" dirty="0"/>
              <a:t>вам нужно указать эти пары ключ-значение через </a:t>
            </a:r>
            <a:endParaRPr lang="en-US" sz="2000" dirty="0" smtClean="0"/>
          </a:p>
          <a:p>
            <a:pPr marL="0" indent="0">
              <a:buNone/>
            </a:pPr>
            <a:r>
              <a:rPr lang="ru-RU" sz="2000" dirty="0" smtClean="0"/>
              <a:t>запятую. Синтаксис:</a:t>
            </a:r>
          </a:p>
          <a:p>
            <a:pPr marL="0" indent="0">
              <a:buNone/>
            </a:pPr>
            <a:r>
              <a:rPr lang="en-US" sz="2000" dirty="0"/>
              <a:t>MATCH (</a:t>
            </a:r>
            <a:r>
              <a:rPr lang="en-US" sz="2000" dirty="0" err="1"/>
              <a:t>node:label</a:t>
            </a:r>
            <a:r>
              <a:rPr lang="en-US" sz="2000" dirty="0"/>
              <a:t> {properties}) </a:t>
            </a:r>
          </a:p>
          <a:p>
            <a:pPr marL="0" indent="0">
              <a:buNone/>
            </a:pPr>
            <a:r>
              <a:rPr lang="en-US" sz="2000" dirty="0"/>
              <a:t>SET node.property1 = value, node.property2 = value </a:t>
            </a:r>
          </a:p>
          <a:p>
            <a:pPr marL="0" indent="0">
              <a:buNone/>
            </a:pPr>
            <a:r>
              <a:rPr lang="en-US" sz="2000" dirty="0"/>
              <a:t>RETURN </a:t>
            </a:r>
            <a:r>
              <a:rPr lang="en-US" sz="2000" dirty="0" smtClean="0"/>
              <a:t>node</a:t>
            </a:r>
            <a:endParaRPr lang="ru-RU" sz="2000" dirty="0" smtClean="0"/>
          </a:p>
          <a:p>
            <a:pPr marL="0" indent="0">
              <a:buNone/>
            </a:pPr>
            <a:r>
              <a:rPr lang="ru-RU" sz="2000" dirty="0" smtClean="0"/>
              <a:t>Пример:</a:t>
            </a:r>
          </a:p>
          <a:p>
            <a:pPr marL="0" indent="0">
              <a:buNone/>
            </a:pPr>
            <a:r>
              <a:rPr lang="en-US" sz="2000" dirty="0"/>
              <a:t>Create (John:player {name: "Smith John", YOB: 1995, POB: "Ostin"})</a:t>
            </a:r>
          </a:p>
          <a:p>
            <a:pPr marL="0" indent="0">
              <a:buNone/>
            </a:pPr>
            <a:endParaRPr lang="ru-RU" sz="2000" dirty="0" smtClean="0"/>
          </a:p>
          <a:p>
            <a:pPr marL="0" indent="0">
              <a:buNone/>
            </a:pPr>
            <a:r>
              <a:rPr lang="en-US" sz="2000" dirty="0"/>
              <a:t>MATCH (John:player {name: "Smith John", YOB: </a:t>
            </a:r>
            <a:r>
              <a:rPr lang="en-US" sz="2000" dirty="0" smtClean="0"/>
              <a:t>1995, POB</a:t>
            </a:r>
            <a:r>
              <a:rPr lang="en-US" sz="2000" dirty="0"/>
              <a:t>: "Ostin</a:t>
            </a:r>
            <a:r>
              <a:rPr lang="en-US" sz="2000" dirty="0" smtClean="0"/>
              <a:t>"})  </a:t>
            </a:r>
            <a:endParaRPr lang="en-US" sz="2000" dirty="0"/>
          </a:p>
          <a:p>
            <a:pPr marL="0" indent="0">
              <a:buNone/>
            </a:pPr>
            <a:r>
              <a:rPr lang="en-US" sz="2000" dirty="0"/>
              <a:t>SET </a:t>
            </a:r>
            <a:r>
              <a:rPr lang="en-US" sz="2000" dirty="0" err="1" smtClean="0"/>
              <a:t>John.POB</a:t>
            </a:r>
            <a:r>
              <a:rPr lang="en-US" sz="2000" dirty="0" smtClean="0"/>
              <a:t> </a:t>
            </a:r>
            <a:r>
              <a:rPr lang="en-US" sz="2000" dirty="0"/>
              <a:t>=  "Detroit</a:t>
            </a:r>
            <a:r>
              <a:rPr lang="en-US" sz="2000" dirty="0" smtClean="0"/>
              <a:t>", </a:t>
            </a:r>
            <a:r>
              <a:rPr lang="en-US" sz="2000" dirty="0" err="1" smtClean="0"/>
              <a:t>John.HS</a:t>
            </a:r>
            <a:r>
              <a:rPr lang="en-US" sz="2000" dirty="0" smtClean="0"/>
              <a:t>  </a:t>
            </a:r>
            <a:r>
              <a:rPr lang="en-US" sz="2000" dirty="0"/>
              <a:t>= "90" </a:t>
            </a:r>
          </a:p>
          <a:p>
            <a:pPr marL="0" indent="0">
              <a:buNone/>
            </a:pPr>
            <a:r>
              <a:rPr lang="en-US" sz="2000" dirty="0"/>
              <a:t>RETURN John</a:t>
            </a:r>
            <a:endParaRPr lang="ru-RU" sz="2000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6360" y="1104900"/>
            <a:ext cx="3072090" cy="5600700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9453557" y="602734"/>
            <a:ext cx="128907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000" dirty="0"/>
              <a:t>Результат: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17AA6-4229-42BD-B489-C47A37C1D2C9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705142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374900" y="0"/>
            <a:ext cx="8026400" cy="635000"/>
          </a:xfrm>
        </p:spPr>
        <p:txBody>
          <a:bodyPr>
            <a:normAutofit/>
          </a:bodyPr>
          <a:lstStyle/>
          <a:p>
            <a:pPr algn="ctr"/>
            <a:r>
              <a:rPr lang="ru-RU" sz="3200" dirty="0">
                <a:solidFill>
                  <a:srgbClr val="FF0000"/>
                </a:solidFill>
              </a:rPr>
              <a:t>Работа со свойствами </a:t>
            </a:r>
            <a:r>
              <a:rPr lang="ru-RU" sz="3200" dirty="0" smtClean="0">
                <a:solidFill>
                  <a:srgbClr val="FF0000"/>
                </a:solidFill>
              </a:rPr>
              <a:t>(</a:t>
            </a:r>
            <a:r>
              <a:rPr lang="ru-RU" sz="3200" dirty="0">
                <a:solidFill>
                  <a:srgbClr val="FF0000"/>
                </a:solidFill>
              </a:rPr>
              <a:t>фраза </a:t>
            </a:r>
            <a:r>
              <a:rPr lang="en-US" sz="3200" dirty="0">
                <a:solidFill>
                  <a:srgbClr val="FF0000"/>
                </a:solidFill>
              </a:rPr>
              <a:t>SET) 4</a:t>
            </a:r>
            <a:r>
              <a:rPr lang="ru-RU" sz="3200" dirty="0" smtClean="0">
                <a:solidFill>
                  <a:srgbClr val="FF0000"/>
                </a:solidFill>
              </a:rPr>
              <a:t>/4</a:t>
            </a:r>
            <a:endParaRPr lang="ru-RU" sz="3200" dirty="0">
              <a:solidFill>
                <a:srgbClr val="FF000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482600"/>
            <a:ext cx="10515600" cy="61341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000" dirty="0" smtClean="0"/>
              <a:t>4. </a:t>
            </a:r>
            <a:r>
              <a:rPr lang="ru-RU" sz="2000" dirty="0" smtClean="0"/>
              <a:t>Установка </a:t>
            </a:r>
            <a:r>
              <a:rPr lang="ru-RU" sz="2000" b="1" dirty="0" smtClean="0"/>
              <a:t>метки на узле</a:t>
            </a:r>
            <a:endParaRPr lang="en-US" sz="2000" b="1" dirty="0" smtClean="0"/>
          </a:p>
          <a:p>
            <a:pPr marL="0" indent="360000">
              <a:lnSpc>
                <a:spcPct val="80000"/>
              </a:lnSpc>
              <a:buNone/>
            </a:pPr>
            <a:r>
              <a:rPr lang="ru-RU" sz="2000" dirty="0" smtClean="0"/>
              <a:t>Синтаксис: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2000" dirty="0"/>
              <a:t>MATCH (n {properties . . </a:t>
            </a:r>
            <a:r>
              <a:rPr lang="en-US" sz="2000" dirty="0" smtClean="0"/>
              <a:t>. </a:t>
            </a:r>
            <a:r>
              <a:rPr lang="en-US" sz="2000" dirty="0"/>
              <a:t>}) 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2000" dirty="0"/>
              <a:t>SET n :label 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2000" dirty="0"/>
              <a:t>RETURN n</a:t>
            </a:r>
            <a:endParaRPr lang="en-US" sz="2000" dirty="0" smtClean="0"/>
          </a:p>
          <a:p>
            <a:pPr marL="0" indent="360000">
              <a:lnSpc>
                <a:spcPct val="80000"/>
              </a:lnSpc>
              <a:buNone/>
            </a:pPr>
            <a:r>
              <a:rPr lang="ru-RU" sz="2000" dirty="0" smtClean="0"/>
              <a:t>Имеется узел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2000" dirty="0"/>
              <a:t>CREATE (Anderson {name: "James Anderson", YOB: </a:t>
            </a:r>
            <a:r>
              <a:rPr lang="en-US" sz="2000" dirty="0" smtClean="0"/>
              <a:t>19</a:t>
            </a:r>
            <a:r>
              <a:rPr lang="ru-RU" sz="2000" dirty="0" smtClean="0"/>
              <a:t>9</a:t>
            </a:r>
            <a:r>
              <a:rPr lang="en-US" sz="2000" dirty="0" smtClean="0"/>
              <a:t>2</a:t>
            </a:r>
            <a:r>
              <a:rPr lang="en-US" sz="2000" dirty="0"/>
              <a:t>, POB: "Burnely</a:t>
            </a:r>
            <a:r>
              <a:rPr lang="en-US" sz="2000" dirty="0" smtClean="0"/>
              <a:t>"})</a:t>
            </a:r>
            <a:endParaRPr lang="ru-RU" sz="2000" dirty="0" smtClean="0"/>
          </a:p>
          <a:p>
            <a:pPr marL="0" indent="360000">
              <a:lnSpc>
                <a:spcPct val="80000"/>
              </a:lnSpc>
              <a:buNone/>
            </a:pPr>
            <a:r>
              <a:rPr lang="ru-RU" sz="2000" dirty="0" smtClean="0"/>
              <a:t>Добавляем метку </a:t>
            </a:r>
            <a:r>
              <a:rPr lang="en-US" sz="2000" dirty="0"/>
              <a:t>“player</a:t>
            </a:r>
            <a:r>
              <a:rPr lang="en-US" sz="2000" dirty="0" smtClean="0"/>
              <a:t>”</a:t>
            </a:r>
            <a:endParaRPr lang="ru-RU" sz="2000" dirty="0" smtClean="0"/>
          </a:p>
          <a:p>
            <a:pPr marL="0" indent="0">
              <a:lnSpc>
                <a:spcPct val="80000"/>
              </a:lnSpc>
              <a:buNone/>
            </a:pPr>
            <a:r>
              <a:rPr lang="en-US" sz="2000" dirty="0" smtClean="0"/>
              <a:t>MATCH (Anderson {name: "James Anderson", YOB: 19</a:t>
            </a:r>
            <a:r>
              <a:rPr lang="ru-RU" sz="2000" dirty="0" smtClean="0"/>
              <a:t>9</a:t>
            </a:r>
            <a:r>
              <a:rPr lang="en-US" sz="2000" dirty="0" smtClean="0"/>
              <a:t>2, POB: "Burnely"}) 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2000" dirty="0" smtClean="0"/>
              <a:t>SET Anderson: player 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2000" dirty="0" smtClean="0"/>
              <a:t>RETURN Anderson </a:t>
            </a:r>
            <a:endParaRPr lang="ru-RU" sz="2000" dirty="0" smtClean="0"/>
          </a:p>
          <a:p>
            <a:pPr marL="0" indent="0">
              <a:buNone/>
            </a:pPr>
            <a:r>
              <a:rPr lang="ru-RU" sz="2000" dirty="0" smtClean="0"/>
              <a:t>                                                                 Результат:</a:t>
            </a:r>
            <a:endParaRPr lang="ru-RU" sz="2000" dirty="0"/>
          </a:p>
          <a:p>
            <a:pPr marL="0" indent="0">
              <a:buNone/>
            </a:pPr>
            <a:r>
              <a:rPr lang="ru-RU" sz="2000" dirty="0" smtClean="0"/>
              <a:t>5. Можно сразу добавлять </a:t>
            </a:r>
          </a:p>
          <a:p>
            <a:pPr marL="0" indent="0">
              <a:buNone/>
            </a:pPr>
            <a:r>
              <a:rPr lang="ru-RU" sz="2000" b="1" dirty="0"/>
              <a:t>н</a:t>
            </a:r>
            <a:r>
              <a:rPr lang="ru-RU" sz="2000" b="1" dirty="0" smtClean="0"/>
              <a:t>есколько меток</a:t>
            </a:r>
            <a:r>
              <a:rPr lang="ru-RU" sz="2000" dirty="0" smtClean="0"/>
              <a:t>:</a:t>
            </a:r>
          </a:p>
          <a:p>
            <a:pPr marL="0" indent="0">
              <a:buNone/>
            </a:pPr>
            <a:r>
              <a:rPr lang="en-US" sz="2000" dirty="0"/>
              <a:t>MATCH (n {properties . . . . . . . }) </a:t>
            </a:r>
          </a:p>
          <a:p>
            <a:pPr marL="0" indent="0">
              <a:buNone/>
            </a:pPr>
            <a:r>
              <a:rPr lang="en-US" sz="2000" dirty="0"/>
              <a:t>SET n :label1:label2 </a:t>
            </a:r>
          </a:p>
          <a:p>
            <a:pPr marL="0" indent="0">
              <a:buNone/>
            </a:pPr>
            <a:r>
              <a:rPr lang="en-US" sz="2000" dirty="0"/>
              <a:t>RETURN n </a:t>
            </a:r>
            <a:endParaRPr lang="ru-RU" sz="2000" dirty="0" smtClean="0"/>
          </a:p>
          <a:p>
            <a:pPr marL="0" indent="0">
              <a:buNone/>
            </a:pPr>
            <a:endParaRPr lang="ru-RU" sz="2000" dirty="0" smtClean="0"/>
          </a:p>
          <a:p>
            <a:pPr marL="0" indent="0">
              <a:buNone/>
            </a:pPr>
            <a:endParaRPr lang="ru-RU" sz="2000" dirty="0"/>
          </a:p>
          <a:p>
            <a:pPr marL="0" indent="0">
              <a:buNone/>
            </a:pPr>
            <a:endParaRPr lang="ru-RU" sz="2000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549650"/>
            <a:ext cx="4818776" cy="2014830"/>
          </a:xfrm>
          <a:prstGeom prst="rect">
            <a:avLst/>
          </a:prstGeom>
        </p:spPr>
      </p:pic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17AA6-4229-42BD-B489-C47A37C1D2C9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019390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741872"/>
          </a:xfrm>
        </p:spPr>
        <p:txBody>
          <a:bodyPr>
            <a:normAutofit/>
          </a:bodyPr>
          <a:lstStyle/>
          <a:p>
            <a:pPr algn="ctr"/>
            <a:r>
              <a:rPr lang="ru-RU" sz="3200" dirty="0" smtClean="0">
                <a:solidFill>
                  <a:srgbClr val="FF0000"/>
                </a:solidFill>
              </a:rPr>
              <a:t>Объединение результатов запросов фразой </a:t>
            </a:r>
            <a:r>
              <a:rPr lang="en-US" sz="3200" dirty="0" smtClean="0">
                <a:solidFill>
                  <a:srgbClr val="FF0000"/>
                </a:solidFill>
              </a:rPr>
              <a:t>UNION </a:t>
            </a:r>
            <a:endParaRPr lang="ru-RU" sz="3200" dirty="0">
              <a:solidFill>
                <a:srgbClr val="FF000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552091"/>
            <a:ext cx="10515600" cy="5624872"/>
          </a:xfrm>
        </p:spPr>
        <p:txBody>
          <a:bodyPr>
            <a:normAutofit fontScale="92500" lnSpcReduction="20000"/>
          </a:bodyPr>
          <a:lstStyle/>
          <a:p>
            <a:pPr marL="0" indent="360000">
              <a:buNone/>
            </a:pPr>
            <a:r>
              <a:rPr lang="ru-RU" sz="2000" dirty="0" smtClean="0"/>
              <a:t>Создаём граф:</a:t>
            </a:r>
          </a:p>
          <a:p>
            <a:pPr marL="0" indent="0">
              <a:buNone/>
            </a:pPr>
            <a:r>
              <a:rPr lang="en-US" sz="2000" dirty="0"/>
              <a:t>CREATE (</a:t>
            </a:r>
            <a:r>
              <a:rPr lang="en-US" sz="2000" dirty="0" err="1"/>
              <a:t>matrix:Movie</a:t>
            </a:r>
            <a:r>
              <a:rPr lang="en-US" sz="2000" dirty="0"/>
              <a:t> { </a:t>
            </a:r>
            <a:r>
              <a:rPr lang="en-US" sz="2000" dirty="0" err="1"/>
              <a:t>title:"The</a:t>
            </a:r>
            <a:r>
              <a:rPr lang="en-US" sz="2000" dirty="0"/>
              <a:t> Matrix",released:1997 })</a:t>
            </a:r>
          </a:p>
          <a:p>
            <a:pPr marL="0" indent="0">
              <a:buNone/>
            </a:pPr>
            <a:r>
              <a:rPr lang="en-US" sz="2000" dirty="0"/>
              <a:t>CREATE (</a:t>
            </a:r>
            <a:r>
              <a:rPr lang="en-US" sz="2000" dirty="0" err="1"/>
              <a:t>cloudAtlas:Movie</a:t>
            </a:r>
            <a:r>
              <a:rPr lang="en-US" sz="2000" dirty="0"/>
              <a:t> { </a:t>
            </a:r>
            <a:r>
              <a:rPr lang="en-US" sz="2000" dirty="0" err="1"/>
              <a:t>title:"Cloud</a:t>
            </a:r>
            <a:r>
              <a:rPr lang="en-US" sz="2000" dirty="0"/>
              <a:t> Atlas",released:2012 })</a:t>
            </a:r>
          </a:p>
          <a:p>
            <a:pPr marL="0" indent="0">
              <a:buNone/>
            </a:pPr>
            <a:r>
              <a:rPr lang="en-US" sz="2000" dirty="0"/>
              <a:t>CREATE (</a:t>
            </a:r>
            <a:r>
              <a:rPr lang="en-US" sz="2000" dirty="0" err="1"/>
              <a:t>forrestGump:Movie</a:t>
            </a:r>
            <a:r>
              <a:rPr lang="en-US" sz="2000" dirty="0"/>
              <a:t> { </a:t>
            </a:r>
            <a:r>
              <a:rPr lang="en-US" sz="2000" dirty="0" err="1"/>
              <a:t>title:"Forrest</a:t>
            </a:r>
            <a:r>
              <a:rPr lang="en-US" sz="2000" dirty="0"/>
              <a:t> Gump",released:1994 })</a:t>
            </a:r>
          </a:p>
          <a:p>
            <a:pPr marL="0" indent="0">
              <a:buNone/>
            </a:pPr>
            <a:r>
              <a:rPr lang="en-US" sz="2000" dirty="0"/>
              <a:t>CREATE (</a:t>
            </a:r>
            <a:r>
              <a:rPr lang="en-US" sz="2000" dirty="0" err="1"/>
              <a:t>keanu:Person</a:t>
            </a:r>
            <a:r>
              <a:rPr lang="en-US" sz="2000" dirty="0"/>
              <a:t> { </a:t>
            </a:r>
            <a:r>
              <a:rPr lang="en-US" sz="2000" dirty="0" err="1"/>
              <a:t>name:"Keanu</a:t>
            </a:r>
            <a:r>
              <a:rPr lang="en-US" sz="2000" dirty="0"/>
              <a:t> Reeves", born:1964 })</a:t>
            </a:r>
          </a:p>
          <a:p>
            <a:pPr marL="0" indent="0">
              <a:buNone/>
            </a:pPr>
            <a:r>
              <a:rPr lang="en-US" sz="2000" dirty="0"/>
              <a:t>CREATE (</a:t>
            </a:r>
            <a:r>
              <a:rPr lang="en-US" sz="2000" dirty="0" err="1"/>
              <a:t>robert:Person</a:t>
            </a:r>
            <a:r>
              <a:rPr lang="en-US" sz="2000" dirty="0"/>
              <a:t> { </a:t>
            </a:r>
            <a:r>
              <a:rPr lang="en-US" sz="2000" dirty="0" err="1"/>
              <a:t>name:"Robert</a:t>
            </a:r>
            <a:r>
              <a:rPr lang="en-US" sz="2000" dirty="0"/>
              <a:t> </a:t>
            </a:r>
            <a:r>
              <a:rPr lang="en-US" sz="2000" dirty="0" err="1"/>
              <a:t>Zemeckis</a:t>
            </a:r>
            <a:r>
              <a:rPr lang="en-US" sz="2000" dirty="0"/>
              <a:t>", born:1951 })</a:t>
            </a:r>
          </a:p>
          <a:p>
            <a:pPr marL="0" indent="0">
              <a:buNone/>
            </a:pPr>
            <a:r>
              <a:rPr lang="en-US" sz="2000" dirty="0"/>
              <a:t>CREATE (</a:t>
            </a:r>
            <a:r>
              <a:rPr lang="en-US" sz="2000" dirty="0" err="1"/>
              <a:t>tom:Person</a:t>
            </a:r>
            <a:r>
              <a:rPr lang="en-US" sz="2000" dirty="0"/>
              <a:t> { </a:t>
            </a:r>
            <a:r>
              <a:rPr lang="en-US" sz="2000" dirty="0" err="1"/>
              <a:t>name:"Tom</a:t>
            </a:r>
            <a:r>
              <a:rPr lang="en-US" sz="2000" dirty="0"/>
              <a:t> Hanks", born:1956 })</a:t>
            </a:r>
          </a:p>
          <a:p>
            <a:pPr marL="0" indent="0">
              <a:buNone/>
            </a:pPr>
            <a:r>
              <a:rPr lang="en-US" sz="2000" dirty="0"/>
              <a:t>CREATE (tom)-[:ACTED_IN { roles: ["Forrest"]}]-&gt;(</a:t>
            </a:r>
            <a:r>
              <a:rPr lang="en-US" sz="2000" dirty="0" err="1"/>
              <a:t>forrestGump</a:t>
            </a:r>
            <a:r>
              <a:rPr lang="en-US" sz="2000" dirty="0"/>
              <a:t>)</a:t>
            </a:r>
          </a:p>
          <a:p>
            <a:pPr marL="0" indent="0">
              <a:buNone/>
            </a:pPr>
            <a:r>
              <a:rPr lang="en-US" sz="2000" dirty="0"/>
              <a:t>CREATE (tom)-[:ACTED_IN { roles: ['</a:t>
            </a:r>
            <a:r>
              <a:rPr lang="en-US" sz="2000" dirty="0" err="1"/>
              <a:t>Zachry</a:t>
            </a:r>
            <a:r>
              <a:rPr lang="en-US" sz="2000" dirty="0"/>
              <a:t>']}]-&gt;(</a:t>
            </a:r>
            <a:r>
              <a:rPr lang="en-US" sz="2000" dirty="0" err="1"/>
              <a:t>cloudAtlas</a:t>
            </a:r>
            <a:r>
              <a:rPr lang="en-US" sz="2000" dirty="0"/>
              <a:t>)</a:t>
            </a:r>
          </a:p>
          <a:p>
            <a:pPr marL="0" indent="0">
              <a:buNone/>
            </a:pPr>
            <a:r>
              <a:rPr lang="en-US" sz="2000" dirty="0"/>
              <a:t>CREATE (</a:t>
            </a:r>
            <a:r>
              <a:rPr lang="en-US" sz="2000" dirty="0" err="1"/>
              <a:t>robert</a:t>
            </a:r>
            <a:r>
              <a:rPr lang="en-US" sz="2000" dirty="0"/>
              <a:t>)-[:DIRECTED]-&gt;(</a:t>
            </a:r>
            <a:r>
              <a:rPr lang="en-US" sz="2000" dirty="0" err="1"/>
              <a:t>forrestGump</a:t>
            </a:r>
            <a:r>
              <a:rPr lang="en-US" sz="2000" dirty="0" smtClean="0"/>
              <a:t>)</a:t>
            </a:r>
            <a:endParaRPr lang="ru-RU" sz="2000" dirty="0" smtClean="0"/>
          </a:p>
          <a:p>
            <a:pPr marL="0" indent="360000">
              <a:buNone/>
            </a:pPr>
            <a:r>
              <a:rPr lang="ru-RU" sz="2000" dirty="0" smtClean="0"/>
              <a:t>Объединяем результаты двух запросов используя фразу </a:t>
            </a:r>
            <a:r>
              <a:rPr lang="en-US" sz="2000" dirty="0" smtClean="0"/>
              <a:t>UNION </a:t>
            </a:r>
            <a:r>
              <a:rPr lang="en-US" sz="2000" dirty="0"/>
              <a:t>[ALL</a:t>
            </a:r>
            <a:r>
              <a:rPr lang="en-US" sz="2000" dirty="0" smtClean="0"/>
              <a:t>]</a:t>
            </a:r>
            <a:endParaRPr lang="ru-RU" sz="2000" dirty="0" smtClean="0"/>
          </a:p>
          <a:p>
            <a:pPr marL="0" indent="0">
              <a:buNone/>
            </a:pPr>
            <a:r>
              <a:rPr lang="en-US" sz="2000" dirty="0"/>
              <a:t>MATCH (</a:t>
            </a:r>
            <a:r>
              <a:rPr lang="en-US" sz="2000" dirty="0" err="1"/>
              <a:t>actor:Person</a:t>
            </a:r>
            <a:r>
              <a:rPr lang="en-US" sz="2000" dirty="0"/>
              <a:t>)-[</a:t>
            </a:r>
            <a:r>
              <a:rPr lang="en-US" sz="2000" dirty="0" err="1"/>
              <a:t>r:ACTED_IN</a:t>
            </a:r>
            <a:r>
              <a:rPr lang="en-US" sz="2000" dirty="0"/>
              <a:t>]-&gt;(</a:t>
            </a:r>
            <a:r>
              <a:rPr lang="en-US" sz="2000" dirty="0" err="1"/>
              <a:t>movie:Movie</a:t>
            </a:r>
            <a:r>
              <a:rPr lang="en-US" sz="2000" dirty="0"/>
              <a:t>)</a:t>
            </a:r>
          </a:p>
          <a:p>
            <a:pPr marL="0" indent="0">
              <a:buNone/>
            </a:pPr>
            <a:r>
              <a:rPr lang="en-US" sz="2000" dirty="0"/>
              <a:t>RETURN actor.name AS name, type(r) AS type, </a:t>
            </a:r>
            <a:r>
              <a:rPr lang="en-US" sz="2000" dirty="0" err="1"/>
              <a:t>movie.title</a:t>
            </a:r>
            <a:r>
              <a:rPr lang="en-US" sz="2000" dirty="0"/>
              <a:t> AS title</a:t>
            </a:r>
          </a:p>
          <a:p>
            <a:pPr marL="0" indent="0">
              <a:buNone/>
            </a:pPr>
            <a:r>
              <a:rPr lang="en-US" sz="2000" dirty="0"/>
              <a:t>UNION</a:t>
            </a:r>
          </a:p>
          <a:p>
            <a:pPr marL="0" indent="0">
              <a:buNone/>
            </a:pPr>
            <a:r>
              <a:rPr lang="en-US" sz="2000" dirty="0"/>
              <a:t>MATCH (</a:t>
            </a:r>
            <a:r>
              <a:rPr lang="en-US" sz="2000" dirty="0" err="1"/>
              <a:t>director:Person</a:t>
            </a:r>
            <a:r>
              <a:rPr lang="en-US" sz="2000" dirty="0"/>
              <a:t>)-[</a:t>
            </a:r>
            <a:r>
              <a:rPr lang="en-US" sz="2000" dirty="0" err="1"/>
              <a:t>r:DIRECTED</a:t>
            </a:r>
            <a:r>
              <a:rPr lang="en-US" sz="2000" dirty="0"/>
              <a:t>]-&gt;(</a:t>
            </a:r>
            <a:r>
              <a:rPr lang="en-US" sz="2000" dirty="0" err="1"/>
              <a:t>movie:Movie</a:t>
            </a:r>
            <a:r>
              <a:rPr lang="en-US" sz="2000" dirty="0"/>
              <a:t>)</a:t>
            </a:r>
          </a:p>
          <a:p>
            <a:pPr marL="0" indent="0">
              <a:buNone/>
            </a:pPr>
            <a:r>
              <a:rPr lang="en-US" sz="2000" dirty="0"/>
              <a:t>RETURN director.name AS name, type(r) AS type, </a:t>
            </a:r>
            <a:r>
              <a:rPr lang="en-US" sz="2000" dirty="0" err="1"/>
              <a:t>movie.title</a:t>
            </a:r>
            <a:r>
              <a:rPr lang="en-US" sz="2000" dirty="0"/>
              <a:t> AS title</a:t>
            </a:r>
            <a:endParaRPr lang="ru-RU" sz="200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17AA6-4229-42BD-B489-C47A37C1D2C9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003253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629728"/>
          </a:xfrm>
        </p:spPr>
        <p:txBody>
          <a:bodyPr>
            <a:normAutofit/>
          </a:bodyPr>
          <a:lstStyle/>
          <a:p>
            <a:pPr algn="ctr"/>
            <a:r>
              <a:rPr lang="ru-RU" sz="3200" dirty="0" smtClean="0">
                <a:solidFill>
                  <a:srgbClr val="FF0000"/>
                </a:solidFill>
              </a:rPr>
              <a:t>Создание цепочки фраз с помощью </a:t>
            </a:r>
            <a:r>
              <a:rPr lang="en-US" sz="3200" dirty="0" smtClean="0">
                <a:solidFill>
                  <a:srgbClr val="FF0000"/>
                </a:solidFill>
              </a:rPr>
              <a:t>WITH</a:t>
            </a:r>
            <a:r>
              <a:rPr lang="ru-RU" sz="3200" dirty="0" smtClean="0">
                <a:solidFill>
                  <a:srgbClr val="FF0000"/>
                </a:solidFill>
              </a:rPr>
              <a:t> </a:t>
            </a:r>
            <a:endParaRPr lang="ru-RU" sz="3200" dirty="0">
              <a:solidFill>
                <a:srgbClr val="FF000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431321"/>
            <a:ext cx="10515600" cy="5745642"/>
          </a:xfrm>
        </p:spPr>
        <p:txBody>
          <a:bodyPr>
            <a:normAutofit/>
          </a:bodyPr>
          <a:lstStyle/>
          <a:p>
            <a:pPr marL="0" indent="360000">
              <a:buNone/>
            </a:pPr>
            <a:r>
              <a:rPr lang="ru-RU" sz="2000" dirty="0"/>
              <a:t>В Cypher можно объединять </a:t>
            </a:r>
            <a:r>
              <a:rPr lang="ru-RU" sz="2000" dirty="0" smtClean="0"/>
              <a:t>несколько фраз в цепочку. При этом, в следующую фразу передаются только </a:t>
            </a:r>
            <a:r>
              <a:rPr lang="ru-RU" sz="2000" dirty="0"/>
              <a:t>столбцы, объявленные в </a:t>
            </a:r>
            <a:r>
              <a:rPr lang="ru-RU" sz="2000" dirty="0" smtClean="0"/>
              <a:t>соединяющем их предложении WITH.</a:t>
            </a:r>
          </a:p>
          <a:p>
            <a:pPr marL="0" indent="360000">
              <a:buNone/>
            </a:pPr>
            <a:r>
              <a:rPr lang="ru-RU" sz="2000" dirty="0"/>
              <a:t> </a:t>
            </a:r>
            <a:r>
              <a:rPr lang="ru-RU" sz="2000" dirty="0" smtClean="0"/>
              <a:t>Фраза WITH похожа на RETURN</a:t>
            </a:r>
            <a:r>
              <a:rPr lang="ru-RU" sz="2000" dirty="0"/>
              <a:t>. </a:t>
            </a:r>
            <a:r>
              <a:rPr lang="ru-RU" sz="2000" dirty="0" smtClean="0"/>
              <a:t>Но, предложение </a:t>
            </a:r>
            <a:r>
              <a:rPr lang="ru-RU" sz="2000" dirty="0"/>
              <a:t>WITH не завершает запрос, </a:t>
            </a:r>
            <a:r>
              <a:rPr lang="ru-RU" sz="2000" dirty="0" smtClean="0"/>
              <a:t>а только  </a:t>
            </a:r>
            <a:r>
              <a:rPr lang="ru-RU" sz="2000" dirty="0"/>
              <a:t>подготавливает ввод для следующей </a:t>
            </a:r>
            <a:r>
              <a:rPr lang="ru-RU" sz="2000" dirty="0" smtClean="0"/>
              <a:t>фразы</a:t>
            </a:r>
            <a:r>
              <a:rPr lang="ru-RU" sz="2000" dirty="0"/>
              <a:t>. </a:t>
            </a:r>
            <a:r>
              <a:rPr lang="ru-RU" sz="2000" dirty="0" smtClean="0"/>
              <a:t>Кроме того, все столбцы</a:t>
            </a:r>
            <a:r>
              <a:rPr lang="ru-RU" sz="2000" dirty="0"/>
              <a:t> </a:t>
            </a:r>
            <a:r>
              <a:rPr lang="ru-RU" sz="2000" dirty="0" smtClean="0"/>
              <a:t>в </a:t>
            </a:r>
            <a:r>
              <a:rPr lang="en-US" sz="2000" dirty="0" smtClean="0"/>
              <a:t>WITH </a:t>
            </a:r>
            <a:r>
              <a:rPr lang="ru-RU" sz="2000" dirty="0" smtClean="0"/>
              <a:t>должны </a:t>
            </a:r>
            <a:r>
              <a:rPr lang="ru-RU" sz="2000" dirty="0"/>
              <a:t>иметь псевдонимы</a:t>
            </a:r>
            <a:r>
              <a:rPr lang="ru-RU" sz="2000" dirty="0" smtClean="0"/>
              <a:t>.</a:t>
            </a:r>
            <a:r>
              <a:rPr lang="en-US" sz="2000" dirty="0" smtClean="0"/>
              <a:t> </a:t>
            </a:r>
            <a:r>
              <a:rPr lang="ru-RU" sz="2000" dirty="0" smtClean="0"/>
              <a:t>Выражения</a:t>
            </a:r>
            <a:r>
              <a:rPr lang="ru-RU" sz="2000" dirty="0"/>
              <a:t>, агрегаты, порядок и разбиение на страницы можно использовать так же, как и в </a:t>
            </a:r>
            <a:r>
              <a:rPr lang="ru-RU" sz="2000" dirty="0" smtClean="0"/>
              <a:t>RETURN</a:t>
            </a:r>
            <a:r>
              <a:rPr lang="ru-RU" sz="2000" dirty="0"/>
              <a:t>. </a:t>
            </a:r>
            <a:endParaRPr lang="ru-RU" sz="2000" dirty="0" smtClean="0"/>
          </a:p>
          <a:p>
            <a:pPr marL="0" indent="0">
              <a:buNone/>
            </a:pPr>
            <a:r>
              <a:rPr lang="ru-RU" sz="2000" u="sng" dirty="0" smtClean="0"/>
              <a:t>Пример</a:t>
            </a:r>
            <a:r>
              <a:rPr lang="ru-RU" sz="2000" dirty="0" smtClean="0"/>
              <a:t>: Используем граф предыдущего слайда (</a:t>
            </a:r>
            <a:r>
              <a:rPr lang="en-US" sz="2000" dirty="0" smtClean="0"/>
              <a:t>UNION</a:t>
            </a:r>
            <a:r>
              <a:rPr lang="ru-RU" sz="2000" dirty="0" smtClean="0"/>
              <a:t>). Отбираем фильмы, в которых кто-то </a:t>
            </a:r>
            <a:r>
              <a:rPr lang="ru-RU" sz="2000" dirty="0"/>
              <a:t>с</a:t>
            </a:r>
            <a:r>
              <a:rPr lang="ru-RU" sz="2000" dirty="0" smtClean="0"/>
              <a:t>нимался, затем удаляем (отфильтровываем) тех, кто снимался всего один раз.</a:t>
            </a:r>
          </a:p>
          <a:p>
            <a:pPr marL="0" indent="0">
              <a:buNone/>
            </a:pPr>
            <a:r>
              <a:rPr lang="en-US" sz="2000" dirty="0" smtClean="0"/>
              <a:t>MATCH </a:t>
            </a:r>
            <a:r>
              <a:rPr lang="en-US" sz="2000" dirty="0"/>
              <a:t>(</a:t>
            </a:r>
            <a:r>
              <a:rPr lang="en-US" sz="2000" dirty="0" err="1"/>
              <a:t>person:Person</a:t>
            </a:r>
            <a:r>
              <a:rPr lang="en-US" sz="2000" dirty="0"/>
              <a:t>)-[:ACTED_IN]-&gt;(</a:t>
            </a:r>
            <a:r>
              <a:rPr lang="en-US" sz="2000" dirty="0" err="1"/>
              <a:t>m:Movie</a:t>
            </a:r>
            <a:r>
              <a:rPr lang="en-US" sz="2000" dirty="0"/>
              <a:t>)</a:t>
            </a:r>
          </a:p>
          <a:p>
            <a:pPr marL="0" indent="0">
              <a:buNone/>
            </a:pPr>
            <a:r>
              <a:rPr lang="en-US" sz="2000" dirty="0"/>
              <a:t>WITH person, count(*) AS appearances, collect(</a:t>
            </a:r>
            <a:r>
              <a:rPr lang="en-US" sz="2000" dirty="0" err="1"/>
              <a:t>m.title</a:t>
            </a:r>
            <a:r>
              <a:rPr lang="en-US" sz="2000" dirty="0"/>
              <a:t>) AS movies</a:t>
            </a:r>
          </a:p>
          <a:p>
            <a:pPr marL="0" indent="0">
              <a:buNone/>
            </a:pPr>
            <a:r>
              <a:rPr lang="en-US" sz="2000" dirty="0"/>
              <a:t>WHERE appearances &gt; 1</a:t>
            </a:r>
          </a:p>
          <a:p>
            <a:pPr marL="0" indent="0">
              <a:buNone/>
            </a:pPr>
            <a:r>
              <a:rPr lang="en-US" sz="2000" dirty="0"/>
              <a:t>RETURN person.name, appearances, movies</a:t>
            </a:r>
            <a:endParaRPr lang="ru-RU" sz="2000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356" y="4654236"/>
            <a:ext cx="8155437" cy="1522727"/>
          </a:xfrm>
          <a:prstGeom prst="rect">
            <a:avLst/>
          </a:prstGeom>
        </p:spPr>
      </p:pic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17AA6-4229-42BD-B489-C47A37C1D2C9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815910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63201"/>
            <a:ext cx="10515600" cy="566528"/>
          </a:xfrm>
        </p:spPr>
        <p:txBody>
          <a:bodyPr>
            <a:normAutofit/>
          </a:bodyPr>
          <a:lstStyle/>
          <a:p>
            <a:pPr algn="ctr"/>
            <a:r>
              <a:rPr lang="ru-RU" sz="3200" dirty="0" smtClean="0">
                <a:solidFill>
                  <a:srgbClr val="FF0000"/>
                </a:solidFill>
              </a:rPr>
              <a:t>Использование индексов</a:t>
            </a:r>
            <a:endParaRPr lang="ru-RU" sz="3200" dirty="0">
              <a:solidFill>
                <a:srgbClr val="FF000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629729"/>
            <a:ext cx="10515600" cy="5547234"/>
          </a:xfrm>
        </p:spPr>
        <p:txBody>
          <a:bodyPr>
            <a:normAutofit/>
          </a:bodyPr>
          <a:lstStyle/>
          <a:p>
            <a:pPr marL="0" indent="360000">
              <a:buNone/>
            </a:pPr>
            <a:r>
              <a:rPr lang="ru-RU" sz="2000" dirty="0" smtClean="0"/>
              <a:t>Индексы позволяют быстро найти </a:t>
            </a:r>
            <a:r>
              <a:rPr lang="ru-RU" sz="2000" dirty="0"/>
              <a:t>начальную точку обхода графа. </a:t>
            </a:r>
            <a:r>
              <a:rPr lang="ru-RU" sz="2000" dirty="0" smtClean="0"/>
              <a:t>Дальше </a:t>
            </a:r>
            <a:r>
              <a:rPr lang="ru-RU" sz="2000" dirty="0"/>
              <a:t>обход </a:t>
            </a:r>
            <a:r>
              <a:rPr lang="ru-RU" sz="2000" dirty="0" smtClean="0"/>
              <a:t>использует </a:t>
            </a:r>
            <a:r>
              <a:rPr lang="ru-RU" sz="2000" dirty="0"/>
              <a:t>структуры </a:t>
            </a:r>
            <a:r>
              <a:rPr lang="ru-RU" sz="2000" dirty="0" smtClean="0"/>
              <a:t>графа </a:t>
            </a:r>
            <a:r>
              <a:rPr lang="ru-RU" sz="2000" dirty="0"/>
              <a:t>для достижения высокой производительности</a:t>
            </a:r>
            <a:r>
              <a:rPr lang="ru-RU" sz="2000" dirty="0" smtClean="0"/>
              <a:t>.</a:t>
            </a:r>
            <a:endParaRPr lang="ru-RU" sz="2000" dirty="0"/>
          </a:p>
          <a:p>
            <a:pPr marL="0" indent="360000">
              <a:buNone/>
            </a:pPr>
            <a:r>
              <a:rPr lang="ru-RU" sz="2000" dirty="0"/>
              <a:t>Индексы могут быть добавлены в любое время. </a:t>
            </a:r>
            <a:r>
              <a:rPr lang="ru-RU" sz="2000" dirty="0" smtClean="0"/>
              <a:t>Но, если </a:t>
            </a:r>
            <a:r>
              <a:rPr lang="ru-RU" sz="2000" dirty="0"/>
              <a:t>в базе </a:t>
            </a:r>
            <a:r>
              <a:rPr lang="ru-RU" sz="2000" dirty="0" smtClean="0"/>
              <a:t>данные уже имеются то, </a:t>
            </a:r>
            <a:r>
              <a:rPr lang="ru-RU" sz="2000" dirty="0"/>
              <a:t>для перехода индекса в оперативный режим потребуется </a:t>
            </a:r>
            <a:r>
              <a:rPr lang="ru-RU" sz="2000" dirty="0" smtClean="0"/>
              <a:t>время.</a:t>
            </a:r>
            <a:endParaRPr lang="ru-RU" sz="2000" dirty="0"/>
          </a:p>
          <a:p>
            <a:pPr marL="0" indent="0">
              <a:buNone/>
            </a:pPr>
            <a:r>
              <a:rPr lang="ru-RU" sz="2000" u="sng" dirty="0" smtClean="0"/>
              <a:t>Пример</a:t>
            </a:r>
            <a:r>
              <a:rPr lang="ru-RU" sz="2000" dirty="0" smtClean="0"/>
              <a:t>: Создаём индекс ускоряющий </a:t>
            </a:r>
            <a:r>
              <a:rPr lang="ru-RU" sz="2000" dirty="0"/>
              <a:t>поиск актеров по </a:t>
            </a:r>
            <a:r>
              <a:rPr lang="ru-RU" sz="2000" dirty="0" smtClean="0"/>
              <a:t>имени:</a:t>
            </a:r>
          </a:p>
          <a:p>
            <a:pPr marL="0" indent="0">
              <a:buNone/>
            </a:pPr>
            <a:r>
              <a:rPr lang="en-US" sz="2000" dirty="0"/>
              <a:t>CREATE INDEX ON :Actor(name</a:t>
            </a:r>
            <a:r>
              <a:rPr lang="en-US" sz="2000" dirty="0" smtClean="0"/>
              <a:t>)</a:t>
            </a:r>
            <a:endParaRPr lang="ru-RU" sz="2000" dirty="0" smtClean="0"/>
          </a:p>
          <a:p>
            <a:pPr marL="0" indent="0">
              <a:buNone/>
            </a:pPr>
            <a:r>
              <a:rPr lang="ru-RU" sz="2000" dirty="0" smtClean="0"/>
              <a:t>Команда выполнится, но с предупреждением:</a:t>
            </a:r>
          </a:p>
          <a:p>
            <a:pPr marL="0" indent="0">
              <a:buNone/>
            </a:pPr>
            <a:endParaRPr lang="ru-RU" sz="2000" dirty="0"/>
          </a:p>
          <a:p>
            <a:pPr marL="0" indent="0">
              <a:buNone/>
            </a:pPr>
            <a:endParaRPr lang="ru-RU" sz="2000" dirty="0" smtClean="0"/>
          </a:p>
          <a:p>
            <a:pPr marL="0" indent="0">
              <a:buNone/>
            </a:pPr>
            <a:endParaRPr lang="ru-RU" sz="2000" dirty="0"/>
          </a:p>
          <a:p>
            <a:pPr marL="0" indent="0">
              <a:buNone/>
            </a:pPr>
            <a:endParaRPr lang="ru-RU" sz="2000" dirty="0" smtClean="0"/>
          </a:p>
          <a:p>
            <a:pPr marL="0" indent="0">
              <a:buNone/>
            </a:pPr>
            <a:endParaRPr lang="ru-RU" sz="2000" dirty="0"/>
          </a:p>
          <a:p>
            <a:pPr marL="0" indent="0">
              <a:buNone/>
            </a:pPr>
            <a:endParaRPr lang="ru-RU" sz="2000" dirty="0" smtClean="0"/>
          </a:p>
          <a:p>
            <a:pPr marL="0" indent="0">
              <a:buNone/>
            </a:pPr>
            <a:endParaRPr lang="ru-RU" sz="2000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6247" y="3144903"/>
            <a:ext cx="8476105" cy="2005067"/>
          </a:xfrm>
          <a:prstGeom prst="rect">
            <a:avLst/>
          </a:prstGeom>
        </p:spPr>
      </p:pic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17AA6-4229-42BD-B489-C47A37C1D2C9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365293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601132"/>
          </a:xfrm>
        </p:spPr>
        <p:txBody>
          <a:bodyPr>
            <a:normAutofit/>
          </a:bodyPr>
          <a:lstStyle/>
          <a:p>
            <a:pPr algn="ctr"/>
            <a:r>
              <a:rPr lang="ru-RU" sz="3200" dirty="0">
                <a:solidFill>
                  <a:srgbClr val="FF0000"/>
                </a:solidFill>
              </a:rPr>
              <a:t>8</a:t>
            </a:r>
            <a:r>
              <a:rPr lang="ru-RU" sz="3200" dirty="0" smtClean="0">
                <a:solidFill>
                  <a:srgbClr val="FF0000"/>
                </a:solidFill>
              </a:rPr>
              <a:t>. </a:t>
            </a:r>
            <a:r>
              <a:rPr lang="ru-RU" sz="3200" dirty="0" smtClean="0">
                <a:solidFill>
                  <a:srgbClr val="FF0000"/>
                </a:solidFill>
              </a:rPr>
              <a:t>Фраза удаления</a:t>
            </a:r>
            <a:r>
              <a:rPr lang="en-US" sz="3200" dirty="0" smtClean="0">
                <a:solidFill>
                  <a:srgbClr val="FF0000"/>
                </a:solidFill>
              </a:rPr>
              <a:t> </a:t>
            </a:r>
            <a:r>
              <a:rPr lang="ru-RU" sz="3200" dirty="0" smtClean="0">
                <a:solidFill>
                  <a:srgbClr val="FF0000"/>
                </a:solidFill>
              </a:rPr>
              <a:t>узлов и рёбер (</a:t>
            </a:r>
            <a:r>
              <a:rPr lang="en-US" sz="3200" dirty="0" smtClean="0">
                <a:solidFill>
                  <a:srgbClr val="FF0000"/>
                </a:solidFill>
              </a:rPr>
              <a:t>DELETE</a:t>
            </a:r>
            <a:r>
              <a:rPr lang="ru-RU" sz="3200" dirty="0" smtClean="0">
                <a:solidFill>
                  <a:srgbClr val="FF0000"/>
                </a:solidFill>
              </a:rPr>
              <a:t>)</a:t>
            </a:r>
            <a:r>
              <a:rPr lang="en-US" sz="3200" dirty="0" smtClean="0">
                <a:solidFill>
                  <a:srgbClr val="FF0000"/>
                </a:solidFill>
              </a:rPr>
              <a:t> 1/2</a:t>
            </a:r>
            <a:endParaRPr lang="ru-RU" sz="3200" dirty="0">
              <a:solidFill>
                <a:srgbClr val="FF000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601133"/>
            <a:ext cx="10515600" cy="6045200"/>
          </a:xfrm>
        </p:spPr>
        <p:txBody>
          <a:bodyPr>
            <a:normAutofit/>
          </a:bodyPr>
          <a:lstStyle/>
          <a:p>
            <a:pPr marL="457200" indent="-457200">
              <a:buAutoNum type="arabicPeriod"/>
            </a:pPr>
            <a:r>
              <a:rPr lang="ru-RU" sz="2000" dirty="0"/>
              <a:t>Д</a:t>
            </a:r>
            <a:r>
              <a:rPr lang="ru-RU" sz="2000" dirty="0" smtClean="0"/>
              <a:t>ля </a:t>
            </a:r>
            <a:r>
              <a:rPr lang="ru-RU" sz="2000" b="1" dirty="0" smtClean="0"/>
              <a:t>удаления всех узлов и  рёбер </a:t>
            </a:r>
            <a:r>
              <a:rPr lang="ru-RU" sz="2000" dirty="0" smtClean="0"/>
              <a:t>используем фразу</a:t>
            </a:r>
            <a:endParaRPr lang="ru-RU" sz="2000" dirty="0" smtClean="0"/>
          </a:p>
          <a:p>
            <a:pPr marL="0" indent="0">
              <a:buNone/>
            </a:pPr>
            <a:r>
              <a:rPr lang="pt-BR" sz="2000" dirty="0"/>
              <a:t>MATCH (n) DETACH DELETE </a:t>
            </a:r>
            <a:r>
              <a:rPr lang="pt-BR" sz="2000" dirty="0" smtClean="0"/>
              <a:t>n</a:t>
            </a:r>
          </a:p>
          <a:p>
            <a:pPr marL="457200" indent="-457200">
              <a:buFont typeface="+mj-lt"/>
              <a:buAutoNum type="arabicPeriod" startAt="2"/>
            </a:pPr>
            <a:r>
              <a:rPr lang="ru-RU" sz="2000" dirty="0" smtClean="0"/>
              <a:t>Вариант </a:t>
            </a:r>
            <a:r>
              <a:rPr lang="ru-RU" sz="2000" b="1" dirty="0" smtClean="0"/>
              <a:t>с ограничением </a:t>
            </a:r>
            <a:r>
              <a:rPr lang="ru-RU" sz="2000" dirty="0" smtClean="0"/>
              <a:t>перебора</a:t>
            </a:r>
          </a:p>
          <a:p>
            <a:pPr marL="0" indent="0">
              <a:buNone/>
            </a:pPr>
            <a:r>
              <a:rPr lang="en-US" sz="2000" dirty="0"/>
              <a:t>MATCH (n)  </a:t>
            </a:r>
          </a:p>
          <a:p>
            <a:pPr marL="0" indent="0">
              <a:buNone/>
            </a:pPr>
            <a:r>
              <a:rPr lang="en-US" sz="2000" dirty="0"/>
              <a:t>WITH n LIMIT 10000  </a:t>
            </a:r>
          </a:p>
          <a:p>
            <a:pPr marL="0" indent="0">
              <a:buNone/>
            </a:pPr>
            <a:r>
              <a:rPr lang="en-US" sz="2000" dirty="0"/>
              <a:t>DETACH DELETE n;</a:t>
            </a:r>
          </a:p>
          <a:p>
            <a:pPr marL="457200" indent="-457200">
              <a:buFont typeface="+mj-lt"/>
              <a:buAutoNum type="arabicPeriod" startAt="3"/>
            </a:pPr>
            <a:r>
              <a:rPr lang="ru-RU" sz="2000" dirty="0" smtClean="0"/>
              <a:t>Для </a:t>
            </a:r>
            <a:r>
              <a:rPr lang="ru-RU" sz="2000" b="1" dirty="0" smtClean="0"/>
              <a:t>удаления </a:t>
            </a:r>
            <a:r>
              <a:rPr lang="ru-RU" sz="2000" b="1" dirty="0"/>
              <a:t>конкретного узла </a:t>
            </a:r>
            <a:r>
              <a:rPr lang="ru-RU" sz="2000" dirty="0" smtClean="0"/>
              <a:t>необходимо вместо </a:t>
            </a:r>
            <a:r>
              <a:rPr lang="ru-RU" sz="2000" dirty="0"/>
              <a:t>«n» в приведенном выше </a:t>
            </a:r>
            <a:r>
              <a:rPr lang="ru-RU" sz="2000" dirty="0" smtClean="0"/>
              <a:t>запросе</a:t>
            </a:r>
            <a:r>
              <a:rPr lang="ru-RU" sz="2000" dirty="0"/>
              <a:t> указать детали узла</a:t>
            </a:r>
            <a:r>
              <a:rPr lang="ru-RU" sz="2000" dirty="0" smtClean="0"/>
              <a:t>. Синтаксис:</a:t>
            </a:r>
          </a:p>
          <a:p>
            <a:pPr marL="0" indent="0">
              <a:buNone/>
            </a:pPr>
            <a:r>
              <a:rPr lang="en-US" sz="2000" dirty="0"/>
              <a:t>MATCH (</a:t>
            </a:r>
            <a:r>
              <a:rPr lang="en-US" sz="2000" dirty="0" err="1"/>
              <a:t>node:label</a:t>
            </a:r>
            <a:r>
              <a:rPr lang="en-US" sz="2000" dirty="0"/>
              <a:t> {properties . . . </a:t>
            </a:r>
            <a:r>
              <a:rPr lang="en-US" sz="2000" dirty="0" smtClean="0"/>
              <a:t>}) </a:t>
            </a:r>
            <a:endParaRPr lang="en-US" sz="2000" dirty="0"/>
          </a:p>
          <a:p>
            <a:pPr marL="0" indent="0">
              <a:buNone/>
            </a:pPr>
            <a:r>
              <a:rPr lang="en-US" sz="2000" dirty="0"/>
              <a:t>DETACH DELETE </a:t>
            </a:r>
            <a:r>
              <a:rPr lang="en-US" sz="2000" dirty="0" smtClean="0"/>
              <a:t>node</a:t>
            </a:r>
            <a:endParaRPr lang="ru-RU" sz="2000" dirty="0" smtClean="0"/>
          </a:p>
          <a:p>
            <a:pPr marL="0" indent="0">
              <a:buNone/>
            </a:pPr>
            <a:r>
              <a:rPr lang="ru-RU" sz="2000" u="sng" dirty="0" smtClean="0"/>
              <a:t>Пример</a:t>
            </a:r>
            <a:r>
              <a:rPr lang="ru-RU" sz="2000" dirty="0" smtClean="0"/>
              <a:t>: создаём всё тот же узел</a:t>
            </a:r>
          </a:p>
          <a:p>
            <a:pPr marL="0" indent="0">
              <a:buNone/>
            </a:pPr>
            <a:r>
              <a:rPr lang="en-US" sz="2000" dirty="0" smtClean="0"/>
              <a:t>CREATE </a:t>
            </a:r>
            <a:r>
              <a:rPr lang="en-US" sz="2000" dirty="0"/>
              <a:t>(Anderson:player {name: "James Anderson", YOB: </a:t>
            </a:r>
            <a:r>
              <a:rPr lang="en-US" sz="2000" dirty="0" smtClean="0"/>
              <a:t>1992, </a:t>
            </a:r>
            <a:r>
              <a:rPr lang="en-US" sz="2000" dirty="0"/>
              <a:t>POB: "Burnely"}) </a:t>
            </a:r>
            <a:endParaRPr lang="ru-RU" sz="2000" dirty="0" smtClean="0"/>
          </a:p>
          <a:p>
            <a:pPr marL="0" indent="0">
              <a:buNone/>
            </a:pPr>
            <a:r>
              <a:rPr lang="ru-RU" sz="2000" dirty="0"/>
              <a:t>и</a:t>
            </a:r>
            <a:r>
              <a:rPr lang="ru-RU" sz="2000" dirty="0" smtClean="0"/>
              <a:t> </a:t>
            </a:r>
            <a:r>
              <a:rPr lang="ru-RU" sz="2000" dirty="0" smtClean="0"/>
              <a:t>удаляем его</a:t>
            </a:r>
          </a:p>
          <a:p>
            <a:pPr marL="0" indent="0">
              <a:buNone/>
            </a:pPr>
            <a:r>
              <a:rPr lang="en-US" sz="2000" dirty="0"/>
              <a:t>MATCH (Anderson:player {name: "James Anderson", YOB: </a:t>
            </a:r>
            <a:r>
              <a:rPr lang="en-US" sz="2000" dirty="0" smtClean="0"/>
              <a:t>1992, </a:t>
            </a:r>
            <a:r>
              <a:rPr lang="en-US" sz="2000" dirty="0"/>
              <a:t>POB: "Burnely"}) </a:t>
            </a:r>
          </a:p>
          <a:p>
            <a:pPr marL="0" indent="0">
              <a:buNone/>
            </a:pPr>
            <a:r>
              <a:rPr lang="en-US" sz="2000" dirty="0"/>
              <a:t>DETACH DELETE </a:t>
            </a:r>
            <a:r>
              <a:rPr lang="en-US" sz="2000" dirty="0" smtClean="0"/>
              <a:t>Anderson</a:t>
            </a:r>
          </a:p>
          <a:p>
            <a:pPr marL="0" indent="0">
              <a:buNone/>
            </a:pPr>
            <a:endParaRPr lang="ru-RU" sz="2000" dirty="0" smtClean="0"/>
          </a:p>
          <a:p>
            <a:pPr marL="457200" indent="-457200">
              <a:buAutoNum type="arabicPeriod" startAt="2"/>
            </a:pPr>
            <a:endParaRPr lang="ru-RU" sz="200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17AA6-4229-42BD-B489-C47A37C1D2C9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177655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577970"/>
          </a:xfrm>
        </p:spPr>
        <p:txBody>
          <a:bodyPr>
            <a:normAutofit/>
          </a:bodyPr>
          <a:lstStyle/>
          <a:p>
            <a:pPr algn="ctr"/>
            <a:r>
              <a:rPr lang="ru-RU" sz="3200" dirty="0">
                <a:solidFill>
                  <a:srgbClr val="FF0000"/>
                </a:solidFill>
              </a:rPr>
              <a:t>Фраза удаления узлов и рёбер (</a:t>
            </a:r>
            <a:r>
              <a:rPr lang="en-US" sz="3200" dirty="0">
                <a:solidFill>
                  <a:srgbClr val="FF0000"/>
                </a:solidFill>
              </a:rPr>
              <a:t>DELETE) </a:t>
            </a:r>
            <a:r>
              <a:rPr lang="en-US" sz="3200" dirty="0" smtClean="0">
                <a:solidFill>
                  <a:srgbClr val="FF0000"/>
                </a:solidFill>
              </a:rPr>
              <a:t>2/2</a:t>
            </a:r>
            <a:endParaRPr lang="ru-RU" sz="3200" dirty="0">
              <a:solidFill>
                <a:srgbClr val="FF000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577972"/>
            <a:ext cx="10515600" cy="6193764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sz="2200" dirty="0" smtClean="0"/>
              <a:t>4.  </a:t>
            </a:r>
            <a:r>
              <a:rPr lang="ru-RU" sz="2200" dirty="0" smtClean="0"/>
              <a:t>Вспоминаем скрипт для удаления </a:t>
            </a:r>
            <a:r>
              <a:rPr lang="ru-RU" sz="2200" dirty="0" smtClean="0"/>
              <a:t>всех узлов и </a:t>
            </a:r>
            <a:r>
              <a:rPr lang="ru-RU" sz="2200" dirty="0" smtClean="0"/>
              <a:t>связей</a:t>
            </a:r>
            <a:endParaRPr lang="ru-RU" sz="2200" dirty="0" smtClean="0"/>
          </a:p>
          <a:p>
            <a:pPr marL="0" indent="0">
              <a:buNone/>
            </a:pPr>
            <a:r>
              <a:rPr lang="pt-BR" sz="2200" dirty="0"/>
              <a:t>MATCH (n)</a:t>
            </a:r>
          </a:p>
          <a:p>
            <a:pPr marL="0" indent="0">
              <a:buNone/>
            </a:pPr>
            <a:r>
              <a:rPr lang="pt-BR" sz="2200" dirty="0"/>
              <a:t>OPTIONAL MATCH (n)-[r]-()</a:t>
            </a:r>
          </a:p>
          <a:p>
            <a:pPr marL="0" indent="0">
              <a:buNone/>
            </a:pPr>
            <a:r>
              <a:rPr lang="pt-BR" sz="2200" dirty="0"/>
              <a:t>DELETE </a:t>
            </a:r>
            <a:r>
              <a:rPr lang="pt-BR" sz="2200" dirty="0" smtClean="0"/>
              <a:t>n,r</a:t>
            </a:r>
            <a:endParaRPr lang="ru-RU" sz="2200" dirty="0" smtClean="0"/>
          </a:p>
          <a:p>
            <a:pPr marL="0" indent="0">
              <a:buNone/>
            </a:pPr>
            <a:r>
              <a:rPr lang="ru-RU" sz="2200" dirty="0" smtClean="0"/>
              <a:t>Не рекомендуется для удаления больших объёмов данных</a:t>
            </a:r>
          </a:p>
          <a:p>
            <a:pPr marL="0" indent="360000">
              <a:lnSpc>
                <a:spcPct val="120000"/>
              </a:lnSpc>
              <a:buNone/>
            </a:pPr>
            <a:r>
              <a:rPr lang="ru-RU" sz="2200" dirty="0"/>
              <a:t>В</a:t>
            </a:r>
            <a:r>
              <a:rPr lang="ru-RU" sz="2200" dirty="0" smtClean="0"/>
              <a:t>арианты</a:t>
            </a:r>
          </a:p>
          <a:p>
            <a:pPr marL="0" indent="0">
              <a:buNone/>
            </a:pPr>
            <a:r>
              <a:rPr lang="en-US" sz="2200" dirty="0" smtClean="0"/>
              <a:t>MATCH </a:t>
            </a:r>
            <a:r>
              <a:rPr lang="en-US" sz="2200" dirty="0"/>
              <a:t>()-[r]-() DELETE </a:t>
            </a:r>
            <a:r>
              <a:rPr lang="en-US" sz="2200" dirty="0" smtClean="0"/>
              <a:t>r</a:t>
            </a:r>
            <a:endParaRPr lang="ru-RU" sz="2200" dirty="0" smtClean="0"/>
          </a:p>
          <a:p>
            <a:pPr marL="0" indent="0">
              <a:buNone/>
            </a:pPr>
            <a:r>
              <a:rPr lang="ru-RU" sz="2200" dirty="0"/>
              <a:t>и</a:t>
            </a:r>
            <a:r>
              <a:rPr lang="ru-RU" sz="2200" dirty="0" smtClean="0"/>
              <a:t>ли</a:t>
            </a:r>
          </a:p>
          <a:p>
            <a:pPr marL="0" indent="0">
              <a:buNone/>
            </a:pPr>
            <a:r>
              <a:rPr lang="en-US" sz="2200" dirty="0"/>
              <a:t>MATCH (n) DELETE </a:t>
            </a:r>
            <a:r>
              <a:rPr lang="en-US" sz="2200" dirty="0" smtClean="0"/>
              <a:t>n</a:t>
            </a:r>
            <a:endParaRPr lang="ru-RU" sz="2200" dirty="0" smtClean="0"/>
          </a:p>
          <a:p>
            <a:pPr marL="0" indent="0">
              <a:buNone/>
            </a:pPr>
            <a:r>
              <a:rPr lang="ru-RU" sz="2200" dirty="0" smtClean="0"/>
              <a:t>5.  Самый </a:t>
            </a:r>
            <a:r>
              <a:rPr lang="ru-RU" sz="2200" dirty="0"/>
              <a:t>простой способ-остановить Neo4j, удалить папку </a:t>
            </a:r>
            <a:r>
              <a:rPr lang="ru-RU" sz="2200" dirty="0" err="1"/>
              <a:t>data</a:t>
            </a:r>
            <a:r>
              <a:rPr lang="ru-RU" sz="2200" dirty="0"/>
              <a:t>/</a:t>
            </a:r>
            <a:r>
              <a:rPr lang="ru-RU" sz="2200" dirty="0" err="1"/>
              <a:t>graph.db</a:t>
            </a:r>
            <a:r>
              <a:rPr lang="ru-RU" sz="2200" dirty="0"/>
              <a:t> и перезапустить </a:t>
            </a:r>
            <a:r>
              <a:rPr lang="ru-RU" sz="2200" dirty="0" smtClean="0"/>
              <a:t>СУБД.</a:t>
            </a:r>
          </a:p>
          <a:p>
            <a:pPr marL="0" indent="0">
              <a:buNone/>
            </a:pPr>
            <a:r>
              <a:rPr lang="ru-RU" sz="2200" dirty="0" smtClean="0"/>
              <a:t>6. Используйте </a:t>
            </a:r>
            <a:r>
              <a:rPr lang="ru-RU" sz="2200" dirty="0"/>
              <a:t>правильный размер транзакции для предотвращения проблем с памятью (помните, что транзакции сначала создаются в памяти, прежде чем они будут зафиксированы). </a:t>
            </a:r>
            <a:r>
              <a:rPr lang="ru-RU" sz="2200" dirty="0" smtClean="0"/>
              <a:t>Ограничения </a:t>
            </a:r>
            <a:r>
              <a:rPr lang="ru-RU" sz="2200" dirty="0"/>
              <a:t>50-100k атомарных </a:t>
            </a:r>
            <a:r>
              <a:rPr lang="ru-RU" sz="2200" dirty="0" smtClean="0"/>
              <a:t>операций – разумное значение.</a:t>
            </a:r>
          </a:p>
          <a:p>
            <a:pPr marL="0" indent="0">
              <a:buNone/>
            </a:pPr>
            <a:r>
              <a:rPr lang="en-US" sz="2200" dirty="0"/>
              <a:t>MATCH (n)</a:t>
            </a:r>
          </a:p>
          <a:p>
            <a:pPr marL="0" indent="0">
              <a:buNone/>
            </a:pPr>
            <a:r>
              <a:rPr lang="en-US" sz="2200" dirty="0"/>
              <a:t>OPTIONAL MATCH (n)-[r]-()</a:t>
            </a:r>
          </a:p>
          <a:p>
            <a:pPr marL="0" indent="0">
              <a:buNone/>
            </a:pPr>
            <a:r>
              <a:rPr lang="en-US" sz="2200" dirty="0"/>
              <a:t>WITH n,r LIMIT </a:t>
            </a:r>
            <a:r>
              <a:rPr lang="en-US" sz="2200" dirty="0" smtClean="0"/>
              <a:t>50000</a:t>
            </a:r>
            <a:endParaRPr lang="en-US" sz="2200" dirty="0"/>
          </a:p>
          <a:p>
            <a:pPr marL="0" indent="0">
              <a:buNone/>
            </a:pPr>
            <a:r>
              <a:rPr lang="en-US" sz="2200" dirty="0"/>
              <a:t>DELETE n,r</a:t>
            </a:r>
          </a:p>
          <a:p>
            <a:pPr marL="0" indent="0">
              <a:buNone/>
            </a:pPr>
            <a:r>
              <a:rPr lang="en-US" sz="2200" dirty="0"/>
              <a:t>RETURN count(n) as </a:t>
            </a:r>
            <a:r>
              <a:rPr lang="en-US" sz="2200" dirty="0" err="1"/>
              <a:t>deletedNodesCount</a:t>
            </a:r>
            <a:endParaRPr lang="ru-RU" sz="2200" dirty="0" smtClean="0"/>
          </a:p>
          <a:p>
            <a:endParaRPr lang="ru-RU" sz="200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17AA6-4229-42BD-B489-C47A37C1D2C9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91023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685799"/>
          </a:xfrm>
        </p:spPr>
        <p:txBody>
          <a:bodyPr>
            <a:normAutofit/>
          </a:bodyPr>
          <a:lstStyle/>
          <a:p>
            <a:pPr algn="ctr"/>
            <a:r>
              <a:rPr lang="ru-RU" sz="3200" dirty="0">
                <a:solidFill>
                  <a:srgbClr val="FF0000"/>
                </a:solidFill>
              </a:rPr>
              <a:t>9</a:t>
            </a:r>
            <a:r>
              <a:rPr lang="ru-RU" sz="3200" dirty="0" smtClean="0">
                <a:solidFill>
                  <a:srgbClr val="FF0000"/>
                </a:solidFill>
              </a:rPr>
              <a:t>. </a:t>
            </a:r>
            <a:r>
              <a:rPr lang="ru-RU" sz="3200" dirty="0" smtClean="0">
                <a:solidFill>
                  <a:srgbClr val="FF0000"/>
                </a:solidFill>
              </a:rPr>
              <a:t>Удаление </a:t>
            </a:r>
            <a:r>
              <a:rPr lang="ru-RU" sz="3200" dirty="0">
                <a:solidFill>
                  <a:srgbClr val="FF0000"/>
                </a:solidFill>
              </a:rPr>
              <a:t>свойств и меток из </a:t>
            </a:r>
            <a:r>
              <a:rPr lang="ru-RU" sz="3200" dirty="0" smtClean="0">
                <a:solidFill>
                  <a:srgbClr val="FF0000"/>
                </a:solidFill>
              </a:rPr>
              <a:t>узлов </a:t>
            </a:r>
            <a:r>
              <a:rPr lang="ru-RU" sz="3200" dirty="0">
                <a:solidFill>
                  <a:srgbClr val="FF0000"/>
                </a:solidFill>
              </a:rPr>
              <a:t>или </a:t>
            </a:r>
            <a:r>
              <a:rPr lang="ru-RU" sz="3200" dirty="0" smtClean="0">
                <a:solidFill>
                  <a:srgbClr val="FF0000"/>
                </a:solidFill>
              </a:rPr>
              <a:t>связей</a:t>
            </a:r>
            <a:r>
              <a:rPr lang="en-US" sz="3200" dirty="0" smtClean="0">
                <a:solidFill>
                  <a:srgbClr val="FF0000"/>
                </a:solidFill>
              </a:rPr>
              <a:t> </a:t>
            </a:r>
            <a:r>
              <a:rPr lang="ru-RU" sz="3200" dirty="0" smtClean="0">
                <a:solidFill>
                  <a:srgbClr val="FF0000"/>
                </a:solidFill>
              </a:rPr>
              <a:t>(</a:t>
            </a:r>
            <a:r>
              <a:rPr lang="en-US" sz="3200" dirty="0" smtClean="0">
                <a:solidFill>
                  <a:srgbClr val="FF0000"/>
                </a:solidFill>
              </a:rPr>
              <a:t>REMOVE</a:t>
            </a:r>
            <a:r>
              <a:rPr lang="ru-RU" sz="3200" dirty="0" smtClean="0">
                <a:solidFill>
                  <a:srgbClr val="FF0000"/>
                </a:solidFill>
              </a:rPr>
              <a:t>) 1/2</a:t>
            </a:r>
            <a:endParaRPr lang="ru-RU" sz="3200" dirty="0">
              <a:solidFill>
                <a:srgbClr val="FF000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828339"/>
            <a:ext cx="10515600" cy="5550946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sz="2000" dirty="0" smtClean="0"/>
              <a:t>Отличие DELETE от REMOVE в том, что:</a:t>
            </a:r>
            <a:endParaRPr lang="ru-RU" sz="2000" dirty="0"/>
          </a:p>
          <a:p>
            <a:r>
              <a:rPr lang="ru-RU" sz="2000" dirty="0" smtClean="0"/>
              <a:t>операция </a:t>
            </a:r>
            <a:r>
              <a:rPr lang="ru-RU" sz="2000" dirty="0"/>
              <a:t>DELETE </a:t>
            </a:r>
            <a:r>
              <a:rPr lang="ru-RU" sz="2000" dirty="0" smtClean="0"/>
              <a:t>удаляет узлы </a:t>
            </a:r>
            <a:r>
              <a:rPr lang="ru-RU" sz="2000" dirty="0"/>
              <a:t>и </a:t>
            </a:r>
            <a:r>
              <a:rPr lang="ru-RU" sz="2000" dirty="0" smtClean="0"/>
              <a:t>связанные с ними отношения,</a:t>
            </a:r>
            <a:endParaRPr lang="ru-RU" sz="2000" dirty="0"/>
          </a:p>
          <a:p>
            <a:r>
              <a:rPr lang="ru-RU" sz="2000" dirty="0" smtClean="0"/>
              <a:t>операция </a:t>
            </a:r>
            <a:r>
              <a:rPr lang="ru-RU" sz="2000" dirty="0"/>
              <a:t>REMOVE </a:t>
            </a:r>
            <a:r>
              <a:rPr lang="ru-RU" sz="2000" dirty="0" smtClean="0"/>
              <a:t>удаляет из узлов метки </a:t>
            </a:r>
            <a:r>
              <a:rPr lang="ru-RU" sz="2000" dirty="0"/>
              <a:t>и </a:t>
            </a:r>
            <a:r>
              <a:rPr lang="ru-RU" sz="2000" dirty="0" smtClean="0"/>
              <a:t>свойства.</a:t>
            </a:r>
            <a:endParaRPr lang="ru-RU" sz="2000" dirty="0"/>
          </a:p>
          <a:p>
            <a:pPr marL="457200" indent="-457200">
              <a:buFont typeface="+mj-lt"/>
              <a:buAutoNum type="arabicPeriod"/>
            </a:pPr>
            <a:r>
              <a:rPr lang="ru-RU" sz="2000" b="1" dirty="0" smtClean="0"/>
              <a:t>Удаление свойств</a:t>
            </a:r>
            <a:endParaRPr lang="ru-RU" sz="2000" b="1" dirty="0"/>
          </a:p>
          <a:p>
            <a:pPr marL="0" indent="360000">
              <a:lnSpc>
                <a:spcPct val="100000"/>
              </a:lnSpc>
              <a:buNone/>
            </a:pPr>
            <a:r>
              <a:rPr lang="ru-RU" sz="2000" dirty="0" smtClean="0"/>
              <a:t>Удалить </a:t>
            </a:r>
            <a:r>
              <a:rPr lang="ru-RU" sz="2000" dirty="0"/>
              <a:t>свойство </a:t>
            </a:r>
            <a:r>
              <a:rPr lang="ru-RU" sz="2000" dirty="0" smtClean="0"/>
              <a:t>узла можно </a:t>
            </a:r>
            <a:r>
              <a:rPr lang="ru-RU" sz="2000" dirty="0"/>
              <a:t>используя MATCH вместе с </a:t>
            </a:r>
            <a:r>
              <a:rPr lang="ru-RU" sz="2000" dirty="0" smtClean="0"/>
              <a:t>фразой </a:t>
            </a:r>
            <a:r>
              <a:rPr lang="ru-RU" sz="2000" dirty="0"/>
              <a:t>REMOVE</a:t>
            </a:r>
            <a:r>
              <a:rPr lang="ru-RU" sz="2000" dirty="0" smtClean="0"/>
              <a:t>. Синтаксис: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000" dirty="0"/>
              <a:t>MATCH (</a:t>
            </a:r>
            <a:r>
              <a:rPr lang="en-US" sz="2000" dirty="0" err="1"/>
              <a:t>node:label</a:t>
            </a:r>
            <a:r>
              <a:rPr lang="en-US" sz="2000" dirty="0"/>
              <a:t>{properties . . </a:t>
            </a:r>
            <a:r>
              <a:rPr lang="en-US" sz="2000" dirty="0" smtClean="0"/>
              <a:t>. </a:t>
            </a:r>
            <a:r>
              <a:rPr lang="en-US" sz="2000" dirty="0"/>
              <a:t>})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000" dirty="0"/>
              <a:t>REMOVE </a:t>
            </a:r>
            <a:r>
              <a:rPr lang="en-US" sz="2000" dirty="0" err="1"/>
              <a:t>node.property</a:t>
            </a:r>
            <a:r>
              <a:rPr lang="en-US" sz="2000" dirty="0"/>
              <a:t>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000" dirty="0"/>
              <a:t>RETURN node </a:t>
            </a:r>
            <a:endParaRPr lang="ru-RU" sz="2000" dirty="0" smtClean="0"/>
          </a:p>
          <a:p>
            <a:pPr marL="0" indent="0">
              <a:lnSpc>
                <a:spcPct val="100000"/>
              </a:lnSpc>
              <a:buNone/>
            </a:pPr>
            <a:r>
              <a:rPr lang="ru-RU" sz="2000" u="sng" dirty="0" smtClean="0"/>
              <a:t>Пример</a:t>
            </a:r>
            <a:r>
              <a:rPr lang="ru-RU" sz="2000" dirty="0" smtClean="0"/>
              <a:t>: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000" dirty="0"/>
              <a:t>CREATE (Anderson:player {name: "James Anderson", YOB: 1992, POB: "Burnely"}) </a:t>
            </a:r>
          </a:p>
          <a:p>
            <a:pPr marL="0" indent="360000">
              <a:lnSpc>
                <a:spcPct val="100000"/>
              </a:lnSpc>
              <a:buNone/>
            </a:pPr>
            <a:r>
              <a:rPr lang="ru-RU" sz="2000" dirty="0" smtClean="0"/>
              <a:t>Удаляем свойство </a:t>
            </a:r>
            <a:r>
              <a:rPr lang="en-US" sz="2000" dirty="0" smtClean="0"/>
              <a:t>POB</a:t>
            </a:r>
            <a:r>
              <a:rPr lang="ru-RU" sz="2000" dirty="0" smtClean="0"/>
              <a:t>используя фразу </a:t>
            </a:r>
            <a:r>
              <a:rPr lang="en-US" sz="2000" dirty="0" smtClean="0"/>
              <a:t>REMOVE.</a:t>
            </a:r>
            <a:endParaRPr lang="en-US" sz="2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2000" dirty="0"/>
              <a:t>MATCH (Anderson:player {name: "James Anderson", YOB: </a:t>
            </a:r>
            <a:r>
              <a:rPr lang="en-US" sz="2000" dirty="0" smtClean="0"/>
              <a:t>19</a:t>
            </a:r>
            <a:r>
              <a:rPr lang="ru-RU" sz="2000" dirty="0" smtClean="0"/>
              <a:t>92</a:t>
            </a:r>
            <a:r>
              <a:rPr lang="en-US" sz="2000" dirty="0" smtClean="0"/>
              <a:t>, </a:t>
            </a:r>
            <a:r>
              <a:rPr lang="en-US" sz="2000" dirty="0"/>
              <a:t>POB: "Burnely"})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000" dirty="0"/>
              <a:t>REMOVE </a:t>
            </a:r>
            <a:r>
              <a:rPr lang="en-US" sz="2000" dirty="0" err="1"/>
              <a:t>Anderson.POB</a:t>
            </a:r>
            <a:r>
              <a:rPr lang="en-US" sz="2000" dirty="0"/>
              <a:t>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000" dirty="0"/>
              <a:t>RETURN Anderson </a:t>
            </a:r>
            <a:endParaRPr lang="ru-RU" sz="2000" dirty="0" smtClean="0"/>
          </a:p>
          <a:p>
            <a:pPr marL="0" indent="0">
              <a:lnSpc>
                <a:spcPct val="100000"/>
              </a:lnSpc>
              <a:buNone/>
            </a:pPr>
            <a:endParaRPr lang="ru-RU" sz="200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17AA6-4229-42BD-B489-C47A37C1D2C9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466839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2579" y="1"/>
            <a:ext cx="11317045" cy="602428"/>
          </a:xfrm>
        </p:spPr>
        <p:txBody>
          <a:bodyPr>
            <a:normAutofit/>
          </a:bodyPr>
          <a:lstStyle/>
          <a:p>
            <a:pPr algn="ctr"/>
            <a:r>
              <a:rPr lang="ru-RU" sz="3200" dirty="0">
                <a:solidFill>
                  <a:srgbClr val="FF0000"/>
                </a:solidFill>
              </a:rPr>
              <a:t>Удаление свойств и меток из узлов или связей (REMOVE</a:t>
            </a:r>
            <a:r>
              <a:rPr lang="ru-RU" sz="3200" dirty="0" smtClean="0">
                <a:solidFill>
                  <a:srgbClr val="FF0000"/>
                </a:solidFill>
              </a:rPr>
              <a:t>) 2/2</a:t>
            </a:r>
            <a:endParaRPr lang="ru-RU" sz="3200" dirty="0">
              <a:solidFill>
                <a:srgbClr val="FF000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602429"/>
            <a:ext cx="10515600" cy="5574534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ru-RU" sz="2000" b="1" dirty="0" smtClean="0"/>
              <a:t>Удаление меток из узлов</a:t>
            </a:r>
          </a:p>
          <a:p>
            <a:pPr marL="0" indent="0">
              <a:buNone/>
            </a:pPr>
            <a:r>
              <a:rPr lang="ru-RU" sz="2000" dirty="0" smtClean="0"/>
              <a:t>Синтаксис:</a:t>
            </a:r>
          </a:p>
          <a:p>
            <a:pPr marL="0" indent="0">
              <a:buNone/>
            </a:pPr>
            <a:r>
              <a:rPr lang="en-US" sz="2000" dirty="0"/>
              <a:t>MATCH (</a:t>
            </a:r>
            <a:r>
              <a:rPr lang="en-US" sz="2000" dirty="0" err="1"/>
              <a:t>node:label</a:t>
            </a:r>
            <a:r>
              <a:rPr lang="en-US" sz="2000" dirty="0"/>
              <a:t> {properties . . </a:t>
            </a:r>
            <a:r>
              <a:rPr lang="en-US" sz="2000" dirty="0" smtClean="0"/>
              <a:t>. </a:t>
            </a:r>
            <a:r>
              <a:rPr lang="en-US" sz="2000" dirty="0"/>
              <a:t>}) </a:t>
            </a:r>
          </a:p>
          <a:p>
            <a:pPr marL="0" indent="0">
              <a:buNone/>
            </a:pPr>
            <a:r>
              <a:rPr lang="en-US" sz="2000" dirty="0"/>
              <a:t>REMOVE </a:t>
            </a:r>
            <a:r>
              <a:rPr lang="en-US" sz="2000" dirty="0" err="1"/>
              <a:t>node:label</a:t>
            </a:r>
            <a:r>
              <a:rPr lang="en-US" sz="2000" dirty="0"/>
              <a:t> </a:t>
            </a:r>
          </a:p>
          <a:p>
            <a:pPr marL="0" indent="0">
              <a:buNone/>
            </a:pPr>
            <a:r>
              <a:rPr lang="en-US" sz="2000" dirty="0"/>
              <a:t>RETURN </a:t>
            </a:r>
            <a:r>
              <a:rPr lang="en-US" sz="2000" dirty="0" smtClean="0"/>
              <a:t>node</a:t>
            </a:r>
            <a:endParaRPr lang="ru-RU" sz="2000" dirty="0" smtClean="0"/>
          </a:p>
          <a:p>
            <a:pPr marL="0" indent="0">
              <a:buNone/>
            </a:pPr>
            <a:endParaRPr lang="ru-RU" sz="2000" dirty="0" smtClean="0"/>
          </a:p>
          <a:p>
            <a:pPr marL="457200" indent="-457200">
              <a:buFont typeface="+mj-lt"/>
              <a:buAutoNum type="arabicPeriod" startAt="3"/>
            </a:pPr>
            <a:r>
              <a:rPr lang="ru-RU" sz="2000" b="1" dirty="0" smtClean="0"/>
              <a:t>Удаление нескольких меток</a:t>
            </a:r>
            <a:r>
              <a:rPr lang="en-US" sz="2000" b="1" dirty="0" smtClean="0"/>
              <a:t> </a:t>
            </a:r>
            <a:endParaRPr lang="ru-RU" sz="2000" b="1" dirty="0" smtClean="0"/>
          </a:p>
          <a:p>
            <a:pPr marL="0" indent="0">
              <a:buNone/>
            </a:pPr>
            <a:r>
              <a:rPr lang="ru-RU" sz="2000" dirty="0"/>
              <a:t>Синтаксис</a:t>
            </a:r>
            <a:r>
              <a:rPr lang="ru-RU" sz="2000" dirty="0" smtClean="0"/>
              <a:t>:</a:t>
            </a:r>
          </a:p>
          <a:p>
            <a:pPr marL="0" indent="0">
              <a:buNone/>
            </a:pPr>
            <a:r>
              <a:rPr lang="en-US" sz="2000" dirty="0"/>
              <a:t>MATCH (node:label1:label2 {properties . . </a:t>
            </a:r>
            <a:r>
              <a:rPr lang="en-US" sz="2000" dirty="0" smtClean="0"/>
              <a:t>. </a:t>
            </a:r>
            <a:r>
              <a:rPr lang="en-US" sz="2000" dirty="0"/>
              <a:t>}) </a:t>
            </a:r>
          </a:p>
          <a:p>
            <a:pPr marL="0" indent="0">
              <a:buNone/>
            </a:pPr>
            <a:r>
              <a:rPr lang="en-US" sz="2000" dirty="0"/>
              <a:t>REMOVE node:label1:label2 </a:t>
            </a:r>
          </a:p>
          <a:p>
            <a:pPr marL="0" indent="0">
              <a:buNone/>
            </a:pPr>
            <a:r>
              <a:rPr lang="en-US" sz="2000" dirty="0"/>
              <a:t>RETURN </a:t>
            </a:r>
            <a:r>
              <a:rPr lang="en-US" sz="2000" dirty="0" smtClean="0"/>
              <a:t>node</a:t>
            </a:r>
            <a:endParaRPr lang="ru-RU" sz="2000" dirty="0" smtClean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17AA6-4229-42BD-B489-C47A37C1D2C9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12453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613185"/>
          </a:xfrm>
        </p:spPr>
        <p:txBody>
          <a:bodyPr>
            <a:normAutofit/>
          </a:bodyPr>
          <a:lstStyle/>
          <a:p>
            <a:pPr algn="ctr"/>
            <a:r>
              <a:rPr lang="ru-RU" sz="3200" dirty="0" smtClean="0">
                <a:solidFill>
                  <a:srgbClr val="FF0000"/>
                </a:solidFill>
              </a:rPr>
              <a:t>10. </a:t>
            </a:r>
            <a:r>
              <a:rPr lang="ru-RU" sz="3200" dirty="0" smtClean="0">
                <a:solidFill>
                  <a:srgbClr val="FF0000"/>
                </a:solidFill>
              </a:rPr>
              <a:t>Фраза </a:t>
            </a:r>
            <a:r>
              <a:rPr lang="en-US" sz="3200" dirty="0">
                <a:solidFill>
                  <a:srgbClr val="FF0000"/>
                </a:solidFill>
              </a:rPr>
              <a:t>FOREACH</a:t>
            </a:r>
            <a:endParaRPr lang="ru-RU" sz="3200" dirty="0">
              <a:solidFill>
                <a:srgbClr val="FF000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56534" y="462579"/>
            <a:ext cx="10515600" cy="6282466"/>
          </a:xfrm>
        </p:spPr>
        <p:txBody>
          <a:bodyPr>
            <a:normAutofit fontScale="92500" lnSpcReduction="10000"/>
          </a:bodyPr>
          <a:lstStyle/>
          <a:p>
            <a:pPr marL="0" indent="360000">
              <a:buNone/>
            </a:pPr>
            <a:r>
              <a:rPr lang="ru-RU" sz="2200" dirty="0" smtClean="0"/>
              <a:t>Фраза </a:t>
            </a:r>
            <a:r>
              <a:rPr lang="ru-RU" sz="2200" dirty="0"/>
              <a:t>FOREACH </a:t>
            </a:r>
            <a:r>
              <a:rPr lang="ru-RU" sz="2200" dirty="0" smtClean="0"/>
              <a:t>позволяет обновлять данные </a:t>
            </a:r>
            <a:r>
              <a:rPr lang="ru-RU" sz="2200" dirty="0"/>
              <a:t>в списке, </a:t>
            </a:r>
            <a:r>
              <a:rPr lang="ru-RU" sz="2200" dirty="0" smtClean="0"/>
              <a:t>представляющем компоненты </a:t>
            </a:r>
            <a:r>
              <a:rPr lang="ru-RU" sz="2200" dirty="0"/>
              <a:t>пути или результат агрегирования</a:t>
            </a:r>
            <a:r>
              <a:rPr lang="ru-RU" sz="2200" dirty="0" smtClean="0"/>
              <a:t>. Синтаксис:</a:t>
            </a:r>
          </a:p>
          <a:p>
            <a:pPr marL="0" indent="0">
              <a:buNone/>
            </a:pPr>
            <a:r>
              <a:rPr lang="en-US" sz="2200" dirty="0"/>
              <a:t>MATCH p = (start node)-[*]-&gt;(end node) </a:t>
            </a:r>
          </a:p>
          <a:p>
            <a:pPr marL="0" indent="0">
              <a:buNone/>
            </a:pPr>
            <a:r>
              <a:rPr lang="en-US" sz="2200" dirty="0"/>
              <a:t>WHERE </a:t>
            </a:r>
            <a:r>
              <a:rPr lang="en-US" sz="2200" dirty="0" err="1"/>
              <a:t>start.node</a:t>
            </a:r>
            <a:r>
              <a:rPr lang="en-US" sz="2200" dirty="0"/>
              <a:t> = "</a:t>
            </a:r>
            <a:r>
              <a:rPr lang="en-US" sz="2200" dirty="0" err="1"/>
              <a:t>node_name</a:t>
            </a:r>
            <a:r>
              <a:rPr lang="en-US" sz="2200" dirty="0"/>
              <a:t>" AND </a:t>
            </a:r>
            <a:r>
              <a:rPr lang="en-US" sz="2200" dirty="0" err="1"/>
              <a:t>end.node</a:t>
            </a:r>
            <a:r>
              <a:rPr lang="en-US" sz="2200" dirty="0"/>
              <a:t> = "</a:t>
            </a:r>
            <a:r>
              <a:rPr lang="en-US" sz="2200" dirty="0" err="1"/>
              <a:t>node_name</a:t>
            </a:r>
            <a:r>
              <a:rPr lang="en-US" sz="2200" dirty="0"/>
              <a:t>" </a:t>
            </a:r>
          </a:p>
          <a:p>
            <a:pPr marL="0" indent="0">
              <a:buNone/>
            </a:pPr>
            <a:r>
              <a:rPr lang="en-US" sz="2200" dirty="0"/>
              <a:t>FOREACH (n IN nodes(p)| SET </a:t>
            </a:r>
            <a:r>
              <a:rPr lang="en-US" sz="2200" dirty="0" err="1"/>
              <a:t>n.marked</a:t>
            </a:r>
            <a:r>
              <a:rPr lang="en-US" sz="2200" dirty="0"/>
              <a:t> = TRUE) </a:t>
            </a:r>
            <a:endParaRPr lang="ru-RU" sz="2200" dirty="0" smtClean="0"/>
          </a:p>
          <a:p>
            <a:pPr marL="0" indent="0">
              <a:buNone/>
            </a:pPr>
            <a:r>
              <a:rPr lang="ru-RU" sz="2200" u="sng" dirty="0"/>
              <a:t>Пример</a:t>
            </a:r>
            <a:r>
              <a:rPr lang="ru-RU" sz="2200" dirty="0"/>
              <a:t>: </a:t>
            </a:r>
            <a:r>
              <a:rPr lang="ru-RU" sz="2200" dirty="0" smtClean="0"/>
              <a:t>Создадим </a:t>
            </a:r>
            <a:r>
              <a:rPr lang="ru-RU" sz="2200" dirty="0"/>
              <a:t>путь </a:t>
            </a:r>
            <a:r>
              <a:rPr lang="ru-RU" sz="2200" dirty="0" smtClean="0"/>
              <a:t>p с тремя узлами и двумя связями:</a:t>
            </a:r>
          </a:p>
          <a:p>
            <a:pPr marL="0" indent="0">
              <a:buNone/>
            </a:pPr>
            <a:r>
              <a:rPr lang="en-US" sz="2200" dirty="0"/>
              <a:t>CREATE p = (</a:t>
            </a:r>
            <a:r>
              <a:rPr lang="en-US" sz="2200" dirty="0" err="1"/>
              <a:t>Dhawan</a:t>
            </a:r>
            <a:r>
              <a:rPr lang="en-US" sz="2200" dirty="0"/>
              <a:t> {</a:t>
            </a:r>
            <a:r>
              <a:rPr lang="en-US" sz="2200" dirty="0" err="1"/>
              <a:t>name:"Shikar</a:t>
            </a:r>
            <a:r>
              <a:rPr lang="en-US" sz="2200" dirty="0"/>
              <a:t> </a:t>
            </a:r>
            <a:r>
              <a:rPr lang="en-US" sz="2200" dirty="0" err="1"/>
              <a:t>Dhawan</a:t>
            </a:r>
            <a:r>
              <a:rPr lang="en-US" sz="2200" dirty="0"/>
              <a:t>"})-[:TOPSCORRER_OF]-&gt;(</a:t>
            </a:r>
            <a:r>
              <a:rPr lang="en-US" sz="2200" dirty="0" err="1"/>
              <a:t>Ind</a:t>
            </a:r>
            <a:r>
              <a:rPr lang="en-US" sz="2200" dirty="0"/>
              <a:t>{name: </a:t>
            </a:r>
          </a:p>
          <a:p>
            <a:pPr marL="0" indent="0">
              <a:buNone/>
            </a:pPr>
            <a:r>
              <a:rPr lang="en-US" sz="2200" dirty="0"/>
              <a:t>   "India"})-[:WINNER_OF]-&gt;(CT2013{name: "Champions Trophy 2013"}) </a:t>
            </a:r>
          </a:p>
          <a:p>
            <a:pPr marL="0" indent="0">
              <a:buNone/>
            </a:pPr>
            <a:r>
              <a:rPr lang="en-US" sz="2200" dirty="0"/>
              <a:t>RETURN p </a:t>
            </a:r>
            <a:endParaRPr lang="ru-RU" sz="2200" dirty="0" smtClean="0"/>
          </a:p>
          <a:p>
            <a:pPr marL="0" indent="360000">
              <a:buNone/>
            </a:pPr>
            <a:r>
              <a:rPr lang="ru-RU" sz="2200" dirty="0" smtClean="0"/>
              <a:t>Просмотрите результат, нажав на значок </a:t>
            </a:r>
          </a:p>
          <a:p>
            <a:pPr marL="0" indent="360000">
              <a:buNone/>
            </a:pPr>
            <a:r>
              <a:rPr lang="ru-RU" sz="2200" dirty="0" smtClean="0"/>
              <a:t>Запрос с фразой </a:t>
            </a:r>
            <a:r>
              <a:rPr lang="en-US" sz="2200" dirty="0" smtClean="0"/>
              <a:t>FOREACH</a:t>
            </a:r>
            <a:r>
              <a:rPr lang="ru-RU" sz="2200" dirty="0" smtClean="0"/>
              <a:t> добавляющий свойство всем узлам пути:</a:t>
            </a:r>
          </a:p>
          <a:p>
            <a:pPr marL="0" indent="0">
              <a:buNone/>
            </a:pPr>
            <a:r>
              <a:rPr lang="en-US" sz="2200" dirty="0"/>
              <a:t>MATCH p = (</a:t>
            </a:r>
            <a:r>
              <a:rPr lang="en-US" sz="2200" dirty="0" err="1"/>
              <a:t>Dhawan</a:t>
            </a:r>
            <a:r>
              <a:rPr lang="en-US" sz="2200" dirty="0"/>
              <a:t>)-[*]-&gt;(CT2013) </a:t>
            </a:r>
          </a:p>
          <a:p>
            <a:pPr marL="0" indent="0">
              <a:buNone/>
            </a:pPr>
            <a:r>
              <a:rPr lang="en-US" sz="2200" dirty="0"/>
              <a:t>   WHERE Dhawan.name = "Shikar </a:t>
            </a:r>
            <a:r>
              <a:rPr lang="en-US" sz="2200" dirty="0" err="1"/>
              <a:t>Dhawan</a:t>
            </a:r>
            <a:r>
              <a:rPr lang="en-US" sz="2200" dirty="0"/>
              <a:t>" AND CT2013.name = "Champions Trophy 2013" </a:t>
            </a:r>
          </a:p>
          <a:p>
            <a:pPr marL="0" indent="0">
              <a:buNone/>
            </a:pPr>
            <a:r>
              <a:rPr lang="en-US" sz="2200" dirty="0"/>
              <a:t>FOREACH (n IN nodes(p)| SET </a:t>
            </a:r>
            <a:r>
              <a:rPr lang="en-US" sz="2200" dirty="0" err="1"/>
              <a:t>n.marked</a:t>
            </a:r>
            <a:r>
              <a:rPr lang="en-US" sz="2200" dirty="0"/>
              <a:t> = TRUE)</a:t>
            </a:r>
            <a:endParaRPr lang="ru-RU" sz="2200" dirty="0" smtClean="0"/>
          </a:p>
          <a:p>
            <a:pPr marL="0" indent="360000">
              <a:buNone/>
            </a:pPr>
            <a:r>
              <a:rPr lang="ru-RU" sz="2200" dirty="0" smtClean="0"/>
              <a:t>Для просмотра результата, как всегда, исполните </a:t>
            </a:r>
          </a:p>
          <a:p>
            <a:pPr marL="0" indent="0">
              <a:buNone/>
            </a:pPr>
            <a:r>
              <a:rPr lang="en-US" sz="2200" dirty="0" smtClean="0"/>
              <a:t>MATCH </a:t>
            </a:r>
            <a:r>
              <a:rPr lang="en-US" sz="2200" dirty="0"/>
              <a:t>(n) RETURN </a:t>
            </a:r>
            <a:r>
              <a:rPr lang="en-US" sz="2200" dirty="0" smtClean="0"/>
              <a:t>n</a:t>
            </a:r>
            <a:endParaRPr lang="ru-RU" sz="2200" dirty="0" smtClean="0"/>
          </a:p>
          <a:p>
            <a:pPr marL="0" indent="0">
              <a:buNone/>
            </a:pPr>
            <a:r>
              <a:rPr lang="ru-RU" sz="2200" dirty="0"/>
              <a:t>и</a:t>
            </a:r>
            <a:r>
              <a:rPr lang="ru-RU" sz="2200" dirty="0" smtClean="0"/>
              <a:t> нажмите на значок</a:t>
            </a:r>
            <a:r>
              <a:rPr lang="ru-RU" sz="2000" dirty="0" smtClean="0"/>
              <a:t> </a:t>
            </a:r>
            <a:endParaRPr lang="en-US" sz="2000" dirty="0"/>
          </a:p>
          <a:p>
            <a:pPr marL="0" indent="360000">
              <a:buNone/>
            </a:pPr>
            <a:endParaRPr lang="ru-RU" sz="2000" dirty="0" smtClean="0"/>
          </a:p>
          <a:p>
            <a:pPr marL="0" indent="0">
              <a:buNone/>
            </a:pPr>
            <a:endParaRPr lang="ru-RU" sz="2000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1526" y="3235673"/>
            <a:ext cx="545615" cy="736278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2266" y="6007365"/>
            <a:ext cx="542591" cy="737680"/>
          </a:xfrm>
          <a:prstGeom prst="rect">
            <a:avLst/>
          </a:prstGeom>
        </p:spPr>
      </p:pic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17AA6-4229-42BD-B489-C47A37C1D2C9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80302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688489"/>
          </a:xfrm>
        </p:spPr>
        <p:txBody>
          <a:bodyPr>
            <a:normAutofit/>
          </a:bodyPr>
          <a:lstStyle/>
          <a:p>
            <a:pPr algn="ctr"/>
            <a:r>
              <a:rPr lang="ru-RU" sz="3200" dirty="0" smtClean="0">
                <a:solidFill>
                  <a:srgbClr val="FF0000"/>
                </a:solidFill>
              </a:rPr>
              <a:t>11. </a:t>
            </a:r>
            <a:r>
              <a:rPr lang="ru-RU" sz="3200" dirty="0">
                <a:solidFill>
                  <a:srgbClr val="FF0000"/>
                </a:solidFill>
              </a:rPr>
              <a:t>Фраза </a:t>
            </a:r>
            <a:r>
              <a:rPr lang="en-US" sz="3200" dirty="0">
                <a:solidFill>
                  <a:srgbClr val="FF0000"/>
                </a:solidFill>
              </a:rPr>
              <a:t>OPTIONAL MATCH </a:t>
            </a:r>
            <a:endParaRPr lang="ru-RU" sz="3200" dirty="0">
              <a:solidFill>
                <a:srgbClr val="FF000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688489"/>
            <a:ext cx="10515600" cy="5488474"/>
          </a:xfrm>
        </p:spPr>
        <p:txBody>
          <a:bodyPr>
            <a:normAutofit/>
          </a:bodyPr>
          <a:lstStyle/>
          <a:p>
            <a:pPr marL="0" indent="360000">
              <a:buNone/>
            </a:pPr>
            <a:r>
              <a:rPr lang="ru-RU" sz="2000" dirty="0" smtClean="0"/>
              <a:t>Фраза OPTIONAL </a:t>
            </a:r>
            <a:r>
              <a:rPr lang="ru-RU" sz="2000" dirty="0"/>
              <a:t>MATCH </a:t>
            </a:r>
            <a:r>
              <a:rPr lang="ru-RU" sz="2000" dirty="0" smtClean="0"/>
              <a:t>отличается от MATCH тем, </a:t>
            </a:r>
            <a:r>
              <a:rPr lang="ru-RU" sz="2000" dirty="0"/>
              <a:t>что </a:t>
            </a:r>
            <a:r>
              <a:rPr lang="ru-RU" sz="2000" dirty="0" smtClean="0"/>
              <a:t>она </a:t>
            </a:r>
            <a:r>
              <a:rPr lang="ru-RU" sz="2000" dirty="0"/>
              <a:t>возвращает </a:t>
            </a:r>
            <a:r>
              <a:rPr lang="en-US" sz="2000" dirty="0" smtClean="0"/>
              <a:t>NULL</a:t>
            </a:r>
            <a:r>
              <a:rPr lang="ru-RU" sz="2000" dirty="0" smtClean="0"/>
              <a:t> на месте </a:t>
            </a:r>
            <a:r>
              <a:rPr lang="ru-RU" sz="2000" dirty="0"/>
              <a:t>пропущенных частей шаблона</a:t>
            </a:r>
            <a:r>
              <a:rPr lang="ru-RU" sz="2000" dirty="0" smtClean="0"/>
              <a:t>.</a:t>
            </a:r>
          </a:p>
          <a:p>
            <a:pPr marL="0" indent="360000">
              <a:buNone/>
            </a:pPr>
            <a:r>
              <a:rPr lang="ru-RU" sz="2000" dirty="0" smtClean="0"/>
              <a:t>Синтаксис:</a:t>
            </a:r>
          </a:p>
          <a:p>
            <a:pPr marL="0" indent="0">
              <a:buNone/>
            </a:pPr>
            <a:r>
              <a:rPr lang="en-US" sz="2000" dirty="0"/>
              <a:t>MATCH (</a:t>
            </a:r>
            <a:r>
              <a:rPr lang="en-US" sz="2000" dirty="0" err="1"/>
              <a:t>node:label</a:t>
            </a:r>
            <a:r>
              <a:rPr lang="en-US" sz="2000" dirty="0"/>
              <a:t> {</a:t>
            </a:r>
            <a:r>
              <a:rPr lang="en-US" sz="2000" dirty="0" smtClean="0"/>
              <a:t>properties</a:t>
            </a:r>
            <a:r>
              <a:rPr lang="ru-RU" sz="2000" dirty="0" smtClean="0"/>
              <a:t> </a:t>
            </a:r>
            <a:r>
              <a:rPr lang="en-US" sz="2000" dirty="0" smtClean="0"/>
              <a:t>. </a:t>
            </a:r>
            <a:r>
              <a:rPr lang="en-US" sz="2000" dirty="0"/>
              <a:t>. . </a:t>
            </a:r>
            <a:r>
              <a:rPr lang="en-US" sz="2000" dirty="0" smtClean="0"/>
              <a:t>}) </a:t>
            </a:r>
            <a:endParaRPr lang="en-US" sz="2000" dirty="0"/>
          </a:p>
          <a:p>
            <a:pPr marL="0" indent="0">
              <a:buNone/>
            </a:pPr>
            <a:r>
              <a:rPr lang="en-US" sz="2000" dirty="0"/>
              <a:t>OPTIONAL MATCH (node)--&gt;(x) </a:t>
            </a:r>
          </a:p>
          <a:p>
            <a:pPr marL="0" indent="0">
              <a:buNone/>
            </a:pPr>
            <a:r>
              <a:rPr lang="en-US" sz="2000" dirty="0" smtClean="0"/>
              <a:t>RETURN x</a:t>
            </a:r>
            <a:endParaRPr lang="ru-RU" sz="2000" dirty="0" smtClean="0"/>
          </a:p>
          <a:p>
            <a:pPr marL="0" indent="0">
              <a:buNone/>
            </a:pPr>
            <a:endParaRPr lang="ru-RU" sz="200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17AA6-4229-42BD-B489-C47A37C1D2C9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005610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634701"/>
          </a:xfrm>
        </p:spPr>
        <p:txBody>
          <a:bodyPr>
            <a:normAutofit/>
          </a:bodyPr>
          <a:lstStyle/>
          <a:p>
            <a:pPr algn="ctr"/>
            <a:r>
              <a:rPr lang="en-US" sz="3200" dirty="0" smtClean="0">
                <a:solidFill>
                  <a:srgbClr val="FF0000"/>
                </a:solidFill>
              </a:rPr>
              <a:t>1</a:t>
            </a:r>
            <a:r>
              <a:rPr lang="ru-RU" sz="3200" dirty="0" smtClean="0">
                <a:solidFill>
                  <a:srgbClr val="FF0000"/>
                </a:solidFill>
              </a:rPr>
              <a:t>2</a:t>
            </a:r>
            <a:r>
              <a:rPr lang="en-US" sz="3200" dirty="0" smtClean="0">
                <a:solidFill>
                  <a:srgbClr val="FF0000"/>
                </a:solidFill>
              </a:rPr>
              <a:t>. </a:t>
            </a:r>
            <a:r>
              <a:rPr lang="ru-RU" sz="3200" dirty="0" smtClean="0">
                <a:solidFill>
                  <a:srgbClr val="FF0000"/>
                </a:solidFill>
              </a:rPr>
              <a:t>Фраза </a:t>
            </a:r>
            <a:r>
              <a:rPr lang="en-US" sz="3200" dirty="0" smtClean="0">
                <a:solidFill>
                  <a:srgbClr val="FF0000"/>
                </a:solidFill>
              </a:rPr>
              <a:t>WHERE</a:t>
            </a:r>
            <a:endParaRPr lang="ru-RU" sz="3200" dirty="0">
              <a:solidFill>
                <a:srgbClr val="FF000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634701"/>
            <a:ext cx="10515600" cy="6016620"/>
          </a:xfrm>
        </p:spPr>
        <p:txBody>
          <a:bodyPr>
            <a:normAutofit lnSpcReduction="10000"/>
          </a:bodyPr>
          <a:lstStyle/>
          <a:p>
            <a:pPr marL="0" indent="360000">
              <a:buNone/>
            </a:pPr>
            <a:r>
              <a:rPr lang="ru-RU" sz="2000" dirty="0" smtClean="0"/>
              <a:t> Фраза WHERE, как в </a:t>
            </a:r>
            <a:r>
              <a:rPr lang="en-US" sz="2000" dirty="0" smtClean="0"/>
              <a:t>SQL</a:t>
            </a:r>
            <a:r>
              <a:rPr lang="ru-RU" sz="2000" dirty="0" smtClean="0"/>
              <a:t>, используется в </a:t>
            </a:r>
            <a:r>
              <a:rPr lang="ru-RU" sz="2000" dirty="0"/>
              <a:t>команде </a:t>
            </a:r>
            <a:r>
              <a:rPr lang="ru-RU" sz="2000" dirty="0" smtClean="0"/>
              <a:t>MATCH </a:t>
            </a:r>
            <a:r>
              <a:rPr lang="ru-RU" sz="2000" dirty="0"/>
              <a:t>для фильтрации результатов </a:t>
            </a:r>
            <a:r>
              <a:rPr lang="ru-RU" sz="2000" dirty="0" smtClean="0"/>
              <a:t>запроса.</a:t>
            </a:r>
          </a:p>
          <a:p>
            <a:pPr marL="0" indent="360000">
              <a:buNone/>
            </a:pPr>
            <a:r>
              <a:rPr lang="ru-RU" sz="2000" dirty="0" smtClean="0"/>
              <a:t>Синтаксис:</a:t>
            </a:r>
          </a:p>
          <a:p>
            <a:pPr marL="0" indent="0">
              <a:buNone/>
            </a:pPr>
            <a:r>
              <a:rPr lang="en-US" sz="2000" dirty="0"/>
              <a:t>MATCH (label)  </a:t>
            </a:r>
          </a:p>
          <a:p>
            <a:pPr marL="0" indent="0">
              <a:buNone/>
            </a:pPr>
            <a:r>
              <a:rPr lang="en-US" sz="2000" dirty="0"/>
              <a:t>WHERE </a:t>
            </a:r>
            <a:r>
              <a:rPr lang="en-US" sz="2000" dirty="0" err="1"/>
              <a:t>label.country</a:t>
            </a:r>
            <a:r>
              <a:rPr lang="en-US" sz="2000" dirty="0"/>
              <a:t> = "property" </a:t>
            </a:r>
          </a:p>
          <a:p>
            <a:pPr marL="0" indent="0">
              <a:buNone/>
            </a:pPr>
            <a:r>
              <a:rPr lang="en-US" sz="2000" dirty="0"/>
              <a:t>RETURN label </a:t>
            </a:r>
            <a:endParaRPr lang="ru-RU" sz="2000" dirty="0" smtClean="0"/>
          </a:p>
          <a:p>
            <a:pPr marL="0" indent="0">
              <a:buNone/>
            </a:pPr>
            <a:endParaRPr lang="ru-RU" sz="2000" u="sng" dirty="0" smtClean="0"/>
          </a:p>
          <a:p>
            <a:pPr marL="0" indent="0">
              <a:buNone/>
            </a:pPr>
            <a:r>
              <a:rPr lang="ru-RU" sz="2000" u="sng" dirty="0" smtClean="0"/>
              <a:t>Пример</a:t>
            </a:r>
            <a:r>
              <a:rPr lang="ru-RU" sz="2000" dirty="0"/>
              <a:t>: Двухсторонняя связь и использование фразы </a:t>
            </a:r>
            <a:r>
              <a:rPr lang="en-US" sz="2000" dirty="0"/>
              <a:t>WHERE</a:t>
            </a:r>
          </a:p>
          <a:p>
            <a:pPr marL="0" indent="0">
              <a:buNone/>
            </a:pPr>
            <a:r>
              <a:rPr lang="en-US" sz="2000" dirty="0"/>
              <a:t>CREATE (u1:Person {name: "</a:t>
            </a:r>
            <a:r>
              <a:rPr lang="en-US" sz="2000" dirty="0" err="1"/>
              <a:t>Evgeny</a:t>
            </a:r>
            <a:r>
              <a:rPr lang="en-US" sz="2000" dirty="0"/>
              <a:t>", from: "Krasnodar"})</a:t>
            </a:r>
          </a:p>
          <a:p>
            <a:pPr marL="0" indent="0">
              <a:buNone/>
            </a:pPr>
            <a:r>
              <a:rPr lang="en-US" sz="2000" dirty="0"/>
              <a:t>CREATE (u2:Person {name: "Dmitry", from: "Tula"})</a:t>
            </a:r>
          </a:p>
          <a:p>
            <a:pPr marL="0" indent="0">
              <a:buNone/>
            </a:pPr>
            <a:r>
              <a:rPr lang="ru-RU" sz="2000" dirty="0"/>
              <a:t>Теперь запросим все узлы типа </a:t>
            </a:r>
            <a:r>
              <a:rPr lang="en-US" sz="2000" dirty="0"/>
              <a:t>Person </a:t>
            </a:r>
            <a:r>
              <a:rPr lang="ru-RU" sz="2000" dirty="0" smtClean="0"/>
              <a:t>извлекая </a:t>
            </a:r>
            <a:r>
              <a:rPr lang="ru-RU" sz="2000" dirty="0"/>
              <a:t>значения свойства </a:t>
            </a:r>
            <a:r>
              <a:rPr lang="en-US" sz="2000" dirty="0"/>
              <a:t>name:</a:t>
            </a:r>
          </a:p>
          <a:p>
            <a:pPr marL="0" indent="0">
              <a:buNone/>
            </a:pPr>
            <a:r>
              <a:rPr lang="en-US" sz="2000" dirty="0"/>
              <a:t>MATCH (</a:t>
            </a:r>
            <a:r>
              <a:rPr lang="en-US" sz="2000" dirty="0" err="1"/>
              <a:t>ee:Person</a:t>
            </a:r>
            <a:r>
              <a:rPr lang="en-US" sz="2000" dirty="0"/>
              <a:t>) RETURN ee.name</a:t>
            </a:r>
          </a:p>
          <a:p>
            <a:pPr marL="0" indent="0">
              <a:buNone/>
            </a:pPr>
            <a:r>
              <a:rPr lang="ru-RU" sz="2000" dirty="0"/>
              <a:t>Создаём два противоположно направленных ребра:</a:t>
            </a:r>
          </a:p>
          <a:p>
            <a:pPr marL="0" indent="0">
              <a:buNone/>
            </a:pPr>
            <a:r>
              <a:rPr lang="en-US" sz="2000" dirty="0"/>
              <a:t>MATCH (</a:t>
            </a:r>
            <a:r>
              <a:rPr lang="en-US" sz="2000" dirty="0" err="1"/>
              <a:t>e:Person</a:t>
            </a:r>
            <a:r>
              <a:rPr lang="en-US" sz="2000" dirty="0"/>
              <a:t>) WHERE e.name = "</a:t>
            </a:r>
            <a:r>
              <a:rPr lang="en-US" sz="2000" dirty="0" err="1"/>
              <a:t>Evgeny</a:t>
            </a:r>
            <a:r>
              <a:rPr lang="en-US" sz="2000" dirty="0"/>
              <a:t>" MATCH (</a:t>
            </a:r>
            <a:r>
              <a:rPr lang="en-US" sz="2000" dirty="0" err="1"/>
              <a:t>d:Person</a:t>
            </a:r>
            <a:r>
              <a:rPr lang="en-US" sz="2000" dirty="0"/>
              <a:t>) WHERE d.name = "Dmitry" CREATE (e)-[:KNOWS]-&gt;(d), (d)-[:KNOWS]-&gt;(e)</a:t>
            </a:r>
          </a:p>
          <a:p>
            <a:pPr marL="0" indent="0">
              <a:buNone/>
            </a:pPr>
            <a:r>
              <a:rPr lang="ru-RU" sz="2000" dirty="0"/>
              <a:t>Смотрим результат:</a:t>
            </a:r>
          </a:p>
          <a:p>
            <a:pPr marL="0" indent="0">
              <a:buNone/>
            </a:pPr>
            <a:r>
              <a:rPr lang="en-US" sz="2000" dirty="0"/>
              <a:t>MATCH (</a:t>
            </a:r>
            <a:r>
              <a:rPr lang="en-US" sz="2000" dirty="0" err="1"/>
              <a:t>ee:Person</a:t>
            </a:r>
            <a:r>
              <a:rPr lang="en-US" sz="2000" dirty="0"/>
              <a:t>) RETURN </a:t>
            </a:r>
            <a:r>
              <a:rPr lang="en-US" sz="2000" dirty="0" err="1"/>
              <a:t>ee</a:t>
            </a:r>
            <a:endParaRPr lang="en-US" sz="2000" dirty="0"/>
          </a:p>
          <a:p>
            <a:pPr marL="0" indent="0">
              <a:buNone/>
            </a:pPr>
            <a:endParaRPr lang="ru-RU" sz="200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17AA6-4229-42BD-B489-C47A37C1D2C9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983924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879274" y="-106117"/>
            <a:ext cx="5116944" cy="751562"/>
          </a:xfrm>
        </p:spPr>
        <p:txBody>
          <a:bodyPr>
            <a:normAutofit/>
          </a:bodyPr>
          <a:lstStyle/>
          <a:p>
            <a:pPr algn="ctr"/>
            <a:r>
              <a:rPr lang="ru-RU" sz="3200" dirty="0" smtClean="0">
                <a:solidFill>
                  <a:srgbClr val="FF0000"/>
                </a:solidFill>
              </a:rPr>
              <a:t>Экспорт файла результата</a:t>
            </a:r>
            <a:endParaRPr lang="ru-RU" sz="3200" dirty="0">
              <a:solidFill>
                <a:srgbClr val="FF0000"/>
              </a:solidFill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338" y="375782"/>
            <a:ext cx="3082935" cy="3307591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2434" y="4199195"/>
            <a:ext cx="5529272" cy="2417222"/>
          </a:xfrm>
          <a:prstGeom prst="rect">
            <a:avLst/>
          </a:prstGeom>
        </p:spPr>
      </p:pic>
      <p:sp>
        <p:nvSpPr>
          <p:cNvPr id="8" name="Прямоугольник 7"/>
          <p:cNvSpPr/>
          <p:nvPr/>
        </p:nvSpPr>
        <p:spPr>
          <a:xfrm>
            <a:off x="914222" y="164955"/>
            <a:ext cx="3161149" cy="4216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Выбор </a:t>
            </a:r>
            <a:r>
              <a:rPr lang="ru-RU" sz="2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формата экспорта</a:t>
            </a:r>
            <a:endParaRPr lang="ru-RU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5297071" y="1795077"/>
            <a:ext cx="31912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 smtClean="0"/>
              <a:t>Экспортируемый</a:t>
            </a:r>
            <a:r>
              <a:rPr lang="en-US" dirty="0" smtClean="0"/>
              <a:t> </a:t>
            </a:r>
            <a:r>
              <a:rPr lang="ru-RU" dirty="0" smtClean="0"/>
              <a:t>файл </a:t>
            </a:r>
            <a:r>
              <a:rPr lang="en-US" dirty="0" smtClean="0"/>
              <a:t>JASON </a:t>
            </a:r>
            <a:endParaRPr lang="ru-RU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3204" y="164955"/>
            <a:ext cx="2369034" cy="6676944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</p:pic>
      <p:sp>
        <p:nvSpPr>
          <p:cNvPr id="9" name="Стрелка вправо 8"/>
          <p:cNvSpPr/>
          <p:nvPr/>
        </p:nvSpPr>
        <p:spPr>
          <a:xfrm>
            <a:off x="8363841" y="1878143"/>
            <a:ext cx="498542" cy="203200"/>
          </a:xfrm>
          <a:prstGeom prst="rightArrow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364525" y="3503427"/>
            <a:ext cx="5865091" cy="3239282"/>
          </a:xfrm>
          <a:ln w="12700">
            <a:solidFill>
              <a:schemeClr val="bg1"/>
            </a:solidFill>
          </a:ln>
        </p:spPr>
        <p:txBody>
          <a:bodyPr/>
          <a:lstStyle/>
          <a:p>
            <a:pPr marL="0" indent="0">
              <a:buNone/>
            </a:pPr>
            <a:r>
              <a:rPr lang="ru-RU" sz="2000" dirty="0" smtClean="0"/>
              <a:t>В редакторе </a:t>
            </a:r>
            <a:r>
              <a:rPr lang="en-US" sz="2000" dirty="0" smtClean="0"/>
              <a:t>Notepad </a:t>
            </a:r>
            <a:r>
              <a:rPr lang="ru-RU" sz="2000" dirty="0" smtClean="0"/>
              <a:t>экспортируемый файл </a:t>
            </a:r>
            <a:r>
              <a:rPr lang="en-US" sz="2000" dirty="0" smtClean="0"/>
              <a:t>CSV </a:t>
            </a:r>
          </a:p>
          <a:p>
            <a:pPr marL="0" indent="0">
              <a:buNone/>
            </a:pPr>
            <a:r>
              <a:rPr lang="ru-RU" sz="2000" dirty="0" smtClean="0"/>
              <a:t>выглядит так:</a:t>
            </a: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10" name="Номер слайда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17AA6-4229-42BD-B489-C47A37C1D2C9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193620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3200" dirty="0" smtClean="0">
                <a:solidFill>
                  <a:srgbClr val="FF0000"/>
                </a:solidFill>
              </a:rPr>
              <a:t>Примеры с </a:t>
            </a:r>
            <a:r>
              <a:rPr lang="en-US" sz="3200" dirty="0" smtClean="0">
                <a:solidFill>
                  <a:srgbClr val="FF0000"/>
                </a:solidFill>
              </a:rPr>
              <a:t>WHERE</a:t>
            </a:r>
            <a:endParaRPr lang="ru-RU" sz="3200" dirty="0">
              <a:solidFill>
                <a:srgbClr val="FF000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000" dirty="0" smtClean="0"/>
              <a:t>Подсчёт количества узлов, не имеющих входящих рёбер</a:t>
            </a:r>
          </a:p>
          <a:p>
            <a:pPr marL="0" indent="0">
              <a:buNone/>
            </a:pPr>
            <a:r>
              <a:rPr lang="en-US" sz="2000" dirty="0"/>
              <a:t>MATCH (n)--&gt;()</a:t>
            </a:r>
          </a:p>
          <a:p>
            <a:pPr marL="0" indent="0">
              <a:buNone/>
            </a:pPr>
            <a:r>
              <a:rPr lang="en-US" sz="2000" dirty="0"/>
              <a:t>WHERE NOT ()--&gt;(n)</a:t>
            </a:r>
          </a:p>
          <a:p>
            <a:pPr marL="0" indent="0">
              <a:buNone/>
            </a:pPr>
            <a:r>
              <a:rPr lang="en-US" sz="2000" dirty="0"/>
              <a:t>COUNT(DISTINCT n);</a:t>
            </a:r>
            <a:endParaRPr lang="ru-RU" sz="2000" dirty="0"/>
          </a:p>
          <a:p>
            <a:r>
              <a:rPr lang="ru-RU" sz="2000" dirty="0"/>
              <a:t>Подсчёт количества </a:t>
            </a:r>
            <a:r>
              <a:rPr lang="ru-RU" sz="2000" dirty="0" smtClean="0"/>
              <a:t>узлов связанных с отношениями помеченными меткой </a:t>
            </a:r>
            <a:r>
              <a:rPr lang="en-US" sz="2000" dirty="0" smtClean="0"/>
              <a:t>:Person</a:t>
            </a:r>
          </a:p>
          <a:p>
            <a:pPr marL="0" indent="0">
              <a:buNone/>
            </a:pPr>
            <a:r>
              <a:rPr lang="en-US" sz="2000" dirty="0"/>
              <a:t>MATCH (n</a:t>
            </a:r>
            <a:r>
              <a:rPr lang="en-US" sz="2000" dirty="0" smtClean="0"/>
              <a:t>)-[:Person]-()</a:t>
            </a:r>
            <a:endParaRPr lang="en-US" sz="2000" dirty="0"/>
          </a:p>
          <a:p>
            <a:pPr marL="0" indent="0">
              <a:buNone/>
            </a:pPr>
            <a:r>
              <a:rPr lang="en-US" sz="2000" dirty="0"/>
              <a:t>COUNT(DISTINCT n</a:t>
            </a:r>
            <a:r>
              <a:rPr lang="en-US" sz="2000" dirty="0" smtClean="0"/>
              <a:t>); //</a:t>
            </a:r>
            <a:r>
              <a:rPr lang="ru-RU" sz="2000" dirty="0" smtClean="0"/>
              <a:t>Функция </a:t>
            </a:r>
            <a:r>
              <a:rPr lang="en-US" sz="2000" dirty="0" smtClean="0"/>
              <a:t>COUNT</a:t>
            </a:r>
            <a:endParaRPr lang="ru-RU" sz="200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17AA6-4229-42BD-B489-C47A37C1D2C9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446754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548640"/>
          </a:xfrm>
        </p:spPr>
        <p:txBody>
          <a:bodyPr>
            <a:normAutofit/>
          </a:bodyPr>
          <a:lstStyle/>
          <a:p>
            <a:pPr algn="ctr"/>
            <a:r>
              <a:rPr lang="ru-RU" sz="3200" dirty="0" smtClean="0">
                <a:solidFill>
                  <a:srgbClr val="FF0000"/>
                </a:solidFill>
              </a:rPr>
              <a:t>Импорт данных. Фраза </a:t>
            </a:r>
            <a:r>
              <a:rPr lang="en-US" sz="3200" dirty="0" smtClean="0">
                <a:solidFill>
                  <a:srgbClr val="FF0000"/>
                </a:solidFill>
              </a:rPr>
              <a:t>LOAD CSV 1/2</a:t>
            </a:r>
            <a:endParaRPr lang="ru-RU" sz="3200" dirty="0">
              <a:solidFill>
                <a:srgbClr val="FF000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78823" y="548641"/>
            <a:ext cx="11430000" cy="6178730"/>
          </a:xfrm>
        </p:spPr>
        <p:txBody>
          <a:bodyPr>
            <a:normAutofit fontScale="92500" lnSpcReduction="10000"/>
          </a:bodyPr>
          <a:lstStyle/>
          <a:p>
            <a:pPr marL="0" indent="360000">
              <a:buNone/>
            </a:pPr>
            <a:r>
              <a:rPr lang="ru-RU" sz="2000" dirty="0" smtClean="0"/>
              <a:t>В файле </a:t>
            </a:r>
            <a:r>
              <a:rPr lang="en-US" sz="2000" dirty="0" smtClean="0"/>
              <a:t>artists.csv</a:t>
            </a:r>
            <a:r>
              <a:rPr lang="ru-RU" sz="2000" dirty="0" smtClean="0"/>
              <a:t> хранятся такие данные:</a:t>
            </a:r>
          </a:p>
          <a:p>
            <a:pPr marL="0" indent="0">
              <a:buNone/>
            </a:pPr>
            <a:r>
              <a:rPr lang="en-US" sz="2000" dirty="0"/>
              <a:t>1,ABBA,1992</a:t>
            </a:r>
          </a:p>
          <a:p>
            <a:pPr marL="0" indent="0">
              <a:buNone/>
            </a:pPr>
            <a:r>
              <a:rPr lang="en-US" sz="2000" dirty="0"/>
              <a:t>2,Roxette,1986</a:t>
            </a:r>
          </a:p>
          <a:p>
            <a:pPr marL="0" indent="0">
              <a:buNone/>
            </a:pPr>
            <a:r>
              <a:rPr lang="en-US" sz="2000" dirty="0"/>
              <a:t>3,Europe,1979</a:t>
            </a:r>
          </a:p>
          <a:p>
            <a:pPr marL="0" indent="0">
              <a:buNone/>
            </a:pPr>
            <a:r>
              <a:rPr lang="en-US" sz="2000" dirty="0"/>
              <a:t>4,The </a:t>
            </a:r>
            <a:r>
              <a:rPr lang="en-US" sz="2000" dirty="0" smtClean="0"/>
              <a:t>Cardigans,1992</a:t>
            </a:r>
            <a:endParaRPr lang="ru-RU" sz="2000" dirty="0" smtClean="0"/>
          </a:p>
          <a:p>
            <a:pPr marL="0" indent="0">
              <a:buNone/>
            </a:pPr>
            <a:r>
              <a:rPr lang="ru-RU" sz="2000" dirty="0" smtClean="0"/>
              <a:t>Импортируем их в базу:</a:t>
            </a:r>
          </a:p>
          <a:p>
            <a:pPr marL="0" indent="0">
              <a:buNone/>
            </a:pPr>
            <a:r>
              <a:rPr lang="en-US" sz="2000" dirty="0"/>
              <a:t>LOAD CSV FROM 'https://neo4j.com/docs/cypher-manual/4.1/csv/artists.csv' AS line</a:t>
            </a:r>
          </a:p>
          <a:p>
            <a:pPr marL="0" indent="0">
              <a:buNone/>
            </a:pPr>
            <a:r>
              <a:rPr lang="en-US" sz="2000" dirty="0" smtClean="0"/>
              <a:t>CREATE </a:t>
            </a:r>
            <a:r>
              <a:rPr lang="en-US" sz="2000" dirty="0"/>
              <a:t>(:Artist { name: line[1], year: </a:t>
            </a:r>
            <a:r>
              <a:rPr lang="en-US" sz="2000" dirty="0" err="1"/>
              <a:t>toInteger</a:t>
            </a:r>
            <a:r>
              <a:rPr lang="en-US" sz="2000" dirty="0"/>
              <a:t>(line[2</a:t>
            </a:r>
            <a:r>
              <a:rPr lang="en-US" sz="2000" dirty="0" smtClean="0"/>
              <a:t>])})</a:t>
            </a:r>
            <a:endParaRPr lang="ru-RU" sz="2000" dirty="0" smtClean="0"/>
          </a:p>
          <a:p>
            <a:pPr marL="0" indent="360000">
              <a:buNone/>
            </a:pPr>
            <a:r>
              <a:rPr lang="ru-RU" sz="2000" dirty="0" smtClean="0"/>
              <a:t>В файле </a:t>
            </a:r>
            <a:r>
              <a:rPr lang="en-US" sz="2000" dirty="0" smtClean="0"/>
              <a:t>artists-with-headers.csv</a:t>
            </a:r>
            <a:r>
              <a:rPr lang="ru-RU" sz="2000" dirty="0"/>
              <a:t> </a:t>
            </a:r>
            <a:r>
              <a:rPr lang="ru-RU" sz="2000" dirty="0" smtClean="0"/>
              <a:t>хранятся ещё </a:t>
            </a:r>
            <a:r>
              <a:rPr lang="ru-RU" sz="2000" dirty="0"/>
              <a:t>и заголовки. </a:t>
            </a:r>
            <a:endParaRPr lang="en-US" sz="2000" dirty="0" smtClean="0"/>
          </a:p>
          <a:p>
            <a:pPr marL="0" indent="0">
              <a:buNone/>
            </a:pPr>
            <a:r>
              <a:rPr lang="en-US" sz="2000" dirty="0" err="1"/>
              <a:t>Id,Name,Year</a:t>
            </a:r>
            <a:endParaRPr lang="en-US" sz="2000" dirty="0"/>
          </a:p>
          <a:p>
            <a:pPr marL="0" indent="0">
              <a:buNone/>
            </a:pPr>
            <a:r>
              <a:rPr lang="en-US" sz="2000" dirty="0"/>
              <a:t>1,ABBA,1992</a:t>
            </a:r>
          </a:p>
          <a:p>
            <a:pPr marL="0" indent="0">
              <a:buNone/>
            </a:pPr>
            <a:r>
              <a:rPr lang="en-US" sz="2000" dirty="0"/>
              <a:t>2,Roxette,1986</a:t>
            </a:r>
          </a:p>
          <a:p>
            <a:pPr marL="0" indent="0">
              <a:buNone/>
            </a:pPr>
            <a:r>
              <a:rPr lang="en-US" sz="2000" dirty="0"/>
              <a:t>3,Europe,1979</a:t>
            </a:r>
          </a:p>
          <a:p>
            <a:pPr marL="0" indent="0">
              <a:buNone/>
            </a:pPr>
            <a:r>
              <a:rPr lang="en-US" sz="2000" dirty="0"/>
              <a:t>4,The Cardigans,1992</a:t>
            </a:r>
          </a:p>
          <a:p>
            <a:pPr marL="0" indent="360000">
              <a:buNone/>
            </a:pPr>
            <a:r>
              <a:rPr lang="ru-RU" sz="2000" dirty="0" smtClean="0"/>
              <a:t>Импортируем файл </a:t>
            </a:r>
            <a:r>
              <a:rPr lang="ru-RU" sz="2000" dirty="0"/>
              <a:t>в базу</a:t>
            </a:r>
            <a:r>
              <a:rPr lang="ru-RU" sz="2000" dirty="0" smtClean="0"/>
              <a:t>:</a:t>
            </a:r>
            <a:endParaRPr lang="en-US" sz="2000" dirty="0" smtClean="0"/>
          </a:p>
          <a:p>
            <a:pPr marL="0" indent="0">
              <a:buNone/>
            </a:pPr>
            <a:r>
              <a:rPr lang="en-US" sz="2000" dirty="0"/>
              <a:t>LOAD CSV WITH HEADERS FROM 'https://neo4j.com/docs/cypher-manual/4.1/csv/artists-with-headers.csv' AS line</a:t>
            </a:r>
          </a:p>
          <a:p>
            <a:pPr marL="0" indent="0">
              <a:buNone/>
            </a:pPr>
            <a:r>
              <a:rPr lang="en-US" sz="2000" dirty="0"/>
              <a:t>CREATE (:Artist { name: </a:t>
            </a:r>
            <a:r>
              <a:rPr lang="en-US" sz="2000" dirty="0" err="1"/>
              <a:t>line.Name</a:t>
            </a:r>
            <a:r>
              <a:rPr lang="en-US" sz="2000" dirty="0"/>
              <a:t>, year: </a:t>
            </a:r>
            <a:r>
              <a:rPr lang="en-US" sz="2000" dirty="0" err="1"/>
              <a:t>toInteger</a:t>
            </a:r>
            <a:r>
              <a:rPr lang="en-US" sz="2000" dirty="0"/>
              <a:t>(</a:t>
            </a:r>
            <a:r>
              <a:rPr lang="en-US" sz="2000" dirty="0" err="1"/>
              <a:t>line.Year</a:t>
            </a:r>
            <a:r>
              <a:rPr lang="en-US" sz="2000" dirty="0"/>
              <a:t>)})</a:t>
            </a:r>
            <a:endParaRPr lang="ru-RU" sz="2000" dirty="0" smtClean="0"/>
          </a:p>
          <a:p>
            <a:pPr marL="0" indent="0">
              <a:buNone/>
            </a:pPr>
            <a:endParaRPr lang="ru-RU" sz="2000" dirty="0"/>
          </a:p>
          <a:p>
            <a:pPr marL="0" indent="360000">
              <a:buNone/>
            </a:pPr>
            <a:endParaRPr lang="ru-RU" sz="2000" dirty="0" smtClean="0"/>
          </a:p>
          <a:p>
            <a:pPr marL="0" indent="0">
              <a:buNone/>
            </a:pPr>
            <a:endParaRPr lang="ru-RU" sz="200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17AA6-4229-42BD-B489-C47A37C1D2C9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879046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759125"/>
          </a:xfrm>
        </p:spPr>
        <p:txBody>
          <a:bodyPr>
            <a:normAutofit/>
          </a:bodyPr>
          <a:lstStyle/>
          <a:p>
            <a:pPr algn="ctr"/>
            <a:r>
              <a:rPr lang="ru-RU" sz="3200" dirty="0">
                <a:solidFill>
                  <a:srgbClr val="FF0000"/>
                </a:solidFill>
              </a:rPr>
              <a:t>Импорт данных. Фраза LOAD </a:t>
            </a:r>
            <a:r>
              <a:rPr lang="ru-RU" sz="3200" dirty="0" smtClean="0">
                <a:solidFill>
                  <a:srgbClr val="FF0000"/>
                </a:solidFill>
              </a:rPr>
              <a:t>CSV</a:t>
            </a:r>
            <a:r>
              <a:rPr lang="en-US" sz="3200" dirty="0" smtClean="0">
                <a:solidFill>
                  <a:srgbClr val="FF0000"/>
                </a:solidFill>
              </a:rPr>
              <a:t> 2/2</a:t>
            </a:r>
            <a:endParaRPr lang="ru-RU" sz="3200" dirty="0">
              <a:solidFill>
                <a:srgbClr val="FF000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577970"/>
            <a:ext cx="10515600" cy="5598993"/>
          </a:xfrm>
        </p:spPr>
        <p:txBody>
          <a:bodyPr>
            <a:normAutofit/>
          </a:bodyPr>
          <a:lstStyle/>
          <a:p>
            <a:pPr marL="0" indent="360000">
              <a:buNone/>
            </a:pPr>
            <a:r>
              <a:rPr lang="ru-RU" sz="2000" dirty="0" smtClean="0"/>
              <a:t>Иногда, например, для отладки связанной </a:t>
            </a:r>
            <a:r>
              <a:rPr lang="ru-RU" sz="2000" dirty="0"/>
              <a:t>с файлом CSV, </a:t>
            </a:r>
            <a:r>
              <a:rPr lang="ru-RU" sz="2000" dirty="0" smtClean="0"/>
              <a:t>полезно </a:t>
            </a:r>
            <a:r>
              <a:rPr lang="ru-RU" sz="2000" dirty="0"/>
              <a:t>получить абсолютный путь к файлу, с которым работает LOAD CSV. Функция </a:t>
            </a:r>
            <a:r>
              <a:rPr lang="ru-RU" sz="2000" dirty="0" err="1"/>
              <a:t>file</a:t>
            </a:r>
            <a:r>
              <a:rPr lang="ru-RU" sz="2000" dirty="0"/>
              <a:t> () предоставляет </a:t>
            </a:r>
            <a:r>
              <a:rPr lang="ru-RU" sz="2000" dirty="0" smtClean="0"/>
              <a:t>этот путь  </a:t>
            </a:r>
            <a:r>
              <a:rPr lang="ru-RU" sz="2000" dirty="0"/>
              <a:t>или </a:t>
            </a:r>
            <a:r>
              <a:rPr lang="ru-RU" sz="2000" dirty="0" err="1"/>
              <a:t>null</a:t>
            </a:r>
            <a:r>
              <a:rPr lang="ru-RU" sz="2000" dirty="0"/>
              <a:t>, если вызывается без контекста LOAD CSV</a:t>
            </a:r>
            <a:r>
              <a:rPr lang="ru-RU" sz="2000" dirty="0" smtClean="0"/>
              <a:t>.</a:t>
            </a:r>
          </a:p>
          <a:p>
            <a:pPr marL="0" indent="360000">
              <a:buNone/>
            </a:pPr>
            <a:endParaRPr lang="ru-RU" sz="200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17AA6-4229-42BD-B489-C47A37C1D2C9}" type="slidenum">
              <a:rPr lang="ru-RU" smtClean="0"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675157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56534" y="1"/>
            <a:ext cx="10515600" cy="484094"/>
          </a:xfrm>
        </p:spPr>
        <p:txBody>
          <a:bodyPr>
            <a:noAutofit/>
          </a:bodyPr>
          <a:lstStyle/>
          <a:p>
            <a:pPr algn="ctr"/>
            <a:r>
              <a:rPr lang="en-US" sz="3200" dirty="0" smtClean="0">
                <a:solidFill>
                  <a:srgbClr val="FF0000"/>
                </a:solidFill>
              </a:rPr>
              <a:t>1</a:t>
            </a:r>
            <a:r>
              <a:rPr lang="ru-RU" sz="3200" dirty="0" smtClean="0">
                <a:solidFill>
                  <a:srgbClr val="FF0000"/>
                </a:solidFill>
              </a:rPr>
              <a:t>3</a:t>
            </a:r>
            <a:r>
              <a:rPr lang="en-US" sz="3200" dirty="0" smtClean="0">
                <a:solidFill>
                  <a:srgbClr val="FF0000"/>
                </a:solidFill>
              </a:rPr>
              <a:t>. </a:t>
            </a:r>
            <a:r>
              <a:rPr lang="ru-RU" sz="3200" dirty="0" smtClean="0">
                <a:solidFill>
                  <a:srgbClr val="FF0000"/>
                </a:solidFill>
              </a:rPr>
              <a:t>Фраза </a:t>
            </a:r>
            <a:r>
              <a:rPr lang="en-US" sz="3200" dirty="0" smtClean="0">
                <a:solidFill>
                  <a:srgbClr val="FF0000"/>
                </a:solidFill>
              </a:rPr>
              <a:t>ORDER BY</a:t>
            </a:r>
            <a:endParaRPr lang="ru-RU" sz="3200" dirty="0">
              <a:solidFill>
                <a:srgbClr val="FF000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408792"/>
            <a:ext cx="10515600" cy="6449208"/>
          </a:xfrm>
        </p:spPr>
        <p:txBody>
          <a:bodyPr>
            <a:normAutofit lnSpcReduction="10000"/>
          </a:bodyPr>
          <a:lstStyle/>
          <a:p>
            <a:pPr marL="0" indent="360000">
              <a:lnSpc>
                <a:spcPct val="80000"/>
              </a:lnSpc>
              <a:buNone/>
            </a:pPr>
            <a:r>
              <a:rPr lang="ru-RU" sz="2000" dirty="0" smtClean="0"/>
              <a:t>Как и в </a:t>
            </a:r>
            <a:r>
              <a:rPr lang="en-US" sz="2000" dirty="0" smtClean="0"/>
              <a:t>SQL </a:t>
            </a:r>
            <a:r>
              <a:rPr lang="ru-RU" sz="2000" dirty="0" smtClean="0"/>
              <a:t>фраза </a:t>
            </a:r>
            <a:r>
              <a:rPr lang="en-US" sz="2000" dirty="0" smtClean="0"/>
              <a:t>ORDER BY </a:t>
            </a:r>
            <a:r>
              <a:rPr lang="ru-RU" sz="2000" dirty="0" smtClean="0"/>
              <a:t>обеспечивает упорядочение результата. Синтаксис: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2000" dirty="0"/>
              <a:t>MATCH (n)  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2000" dirty="0"/>
              <a:t>RETURN n.property1, n.property2 . . . </a:t>
            </a:r>
            <a:r>
              <a:rPr lang="en-US" sz="2000" dirty="0" smtClean="0"/>
              <a:t>  </a:t>
            </a:r>
            <a:endParaRPr lang="en-US" sz="2000" dirty="0"/>
          </a:p>
          <a:p>
            <a:pPr marL="0" indent="0">
              <a:lnSpc>
                <a:spcPct val="80000"/>
              </a:lnSpc>
              <a:buNone/>
            </a:pPr>
            <a:r>
              <a:rPr lang="en-US" sz="2000" dirty="0"/>
              <a:t>ORDER BY n.property </a:t>
            </a:r>
            <a:r>
              <a:rPr lang="en-US" sz="2000" dirty="0" smtClean="0"/>
              <a:t>[DESC]</a:t>
            </a:r>
            <a:endParaRPr lang="ru-RU" sz="2000" dirty="0" smtClean="0"/>
          </a:p>
          <a:p>
            <a:pPr marL="0" indent="0">
              <a:lnSpc>
                <a:spcPct val="80000"/>
              </a:lnSpc>
              <a:buNone/>
            </a:pPr>
            <a:r>
              <a:rPr lang="ru-RU" sz="2000" u="sng" dirty="0" smtClean="0"/>
              <a:t>Пример</a:t>
            </a:r>
            <a:r>
              <a:rPr lang="ru-RU" sz="2000" dirty="0" smtClean="0"/>
              <a:t>:</a:t>
            </a:r>
            <a:r>
              <a:rPr lang="en-US" sz="2000" dirty="0" smtClean="0"/>
              <a:t> </a:t>
            </a:r>
            <a:r>
              <a:rPr lang="ru-RU" sz="2000" dirty="0" smtClean="0"/>
              <a:t>Создаём схему из пяти узлов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2000" dirty="0"/>
              <a:t>CREATE(</a:t>
            </a:r>
            <a:r>
              <a:rPr lang="en-US" sz="2000" dirty="0" err="1"/>
              <a:t>Dhawan:player</a:t>
            </a:r>
            <a:r>
              <a:rPr lang="en-US" sz="2000" dirty="0"/>
              <a:t>{</a:t>
            </a:r>
            <a:r>
              <a:rPr lang="en-US" sz="2000" dirty="0" err="1"/>
              <a:t>name:"shikar</a:t>
            </a:r>
            <a:r>
              <a:rPr lang="en-US" sz="2000" dirty="0"/>
              <a:t> </a:t>
            </a:r>
            <a:r>
              <a:rPr lang="en-US" sz="2000" dirty="0" err="1"/>
              <a:t>Dhawan</a:t>
            </a:r>
            <a:r>
              <a:rPr lang="en-US" sz="2000" dirty="0"/>
              <a:t>", YOB: 1985, runs:363, country: "India"})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2000" dirty="0"/>
              <a:t>CREATE(</a:t>
            </a:r>
            <a:r>
              <a:rPr lang="en-US" sz="2000" dirty="0" err="1"/>
              <a:t>Jonathan:player</a:t>
            </a:r>
            <a:r>
              <a:rPr lang="en-US" sz="2000" dirty="0"/>
              <a:t>{</a:t>
            </a:r>
            <a:r>
              <a:rPr lang="en-US" sz="2000" dirty="0" err="1"/>
              <a:t>name:"Jonathan</a:t>
            </a:r>
            <a:r>
              <a:rPr lang="en-US" sz="2000" dirty="0"/>
              <a:t> </a:t>
            </a:r>
            <a:r>
              <a:rPr lang="en-US" sz="2000" dirty="0" err="1"/>
              <a:t>Trott</a:t>
            </a:r>
            <a:r>
              <a:rPr lang="en-US" sz="2000" dirty="0"/>
              <a:t>", YOB:1981, runs:229, </a:t>
            </a:r>
            <a:r>
              <a:rPr lang="en-US" sz="2000" dirty="0" err="1"/>
              <a:t>country:"South</a:t>
            </a:r>
            <a:r>
              <a:rPr lang="en-US" sz="2000" dirty="0"/>
              <a:t> Africa"})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2000" dirty="0"/>
              <a:t>CREATE(</a:t>
            </a:r>
            <a:r>
              <a:rPr lang="en-US" sz="2000" dirty="0" err="1"/>
              <a:t>Sangakkara:player</a:t>
            </a:r>
            <a:r>
              <a:rPr lang="en-US" sz="2000" dirty="0"/>
              <a:t>{</a:t>
            </a:r>
            <a:r>
              <a:rPr lang="en-US" sz="2000" dirty="0" err="1"/>
              <a:t>name:"Kumar</a:t>
            </a:r>
            <a:r>
              <a:rPr lang="en-US" sz="2000" dirty="0"/>
              <a:t> </a:t>
            </a:r>
            <a:r>
              <a:rPr lang="en-US" sz="2000" dirty="0" err="1"/>
              <a:t>Sangakkara</a:t>
            </a:r>
            <a:r>
              <a:rPr lang="en-US" sz="2000" dirty="0"/>
              <a:t>", YOB:1977, runs:222, country:"</a:t>
            </a:r>
            <a:r>
              <a:rPr lang="en-US" sz="2000" dirty="0" err="1"/>
              <a:t>Srilanka</a:t>
            </a:r>
            <a:r>
              <a:rPr lang="en-US" sz="2000" dirty="0"/>
              <a:t>"})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2000" dirty="0"/>
              <a:t>CREATE(</a:t>
            </a:r>
            <a:r>
              <a:rPr lang="en-US" sz="2000" dirty="0" err="1"/>
              <a:t>Rohit:player</a:t>
            </a:r>
            <a:r>
              <a:rPr lang="en-US" sz="2000" dirty="0"/>
              <a:t>{name:"</a:t>
            </a:r>
            <a:r>
              <a:rPr lang="en-US" sz="2000" dirty="0" err="1"/>
              <a:t>Rohit</a:t>
            </a:r>
            <a:r>
              <a:rPr lang="en-US" sz="2000" dirty="0"/>
              <a:t> Sharma", YOB: 1987, runs:177, </a:t>
            </a:r>
            <a:r>
              <a:rPr lang="en-US" sz="2000" dirty="0" err="1"/>
              <a:t>country:"India</a:t>
            </a:r>
            <a:r>
              <a:rPr lang="en-US" sz="2000" dirty="0"/>
              <a:t>"})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2000" dirty="0"/>
              <a:t>CREATE(</a:t>
            </a:r>
            <a:r>
              <a:rPr lang="en-US" sz="2000" dirty="0" err="1"/>
              <a:t>Virat:player</a:t>
            </a:r>
            <a:r>
              <a:rPr lang="en-US" sz="2000" dirty="0"/>
              <a:t>{name:"</a:t>
            </a:r>
            <a:r>
              <a:rPr lang="en-US" sz="2000" dirty="0" err="1"/>
              <a:t>Virat</a:t>
            </a:r>
            <a:r>
              <a:rPr lang="en-US" sz="2000" dirty="0"/>
              <a:t> </a:t>
            </a:r>
            <a:r>
              <a:rPr lang="en-US" sz="2000" dirty="0" err="1"/>
              <a:t>Kohli</a:t>
            </a:r>
            <a:r>
              <a:rPr lang="en-US" sz="2000" dirty="0"/>
              <a:t>", YOB: 1988, runs:176, </a:t>
            </a:r>
            <a:r>
              <a:rPr lang="en-US" sz="2000" dirty="0" err="1"/>
              <a:t>country:"India</a:t>
            </a:r>
            <a:r>
              <a:rPr lang="en-US" sz="2000" dirty="0" smtClean="0"/>
              <a:t>"})</a:t>
            </a:r>
            <a:endParaRPr lang="ru-RU" sz="2000" dirty="0" smtClean="0"/>
          </a:p>
          <a:p>
            <a:pPr marL="0" indent="360000">
              <a:lnSpc>
                <a:spcPct val="80000"/>
              </a:lnSpc>
              <a:buNone/>
            </a:pPr>
            <a:r>
              <a:rPr lang="ru-RU" sz="2000" dirty="0" smtClean="0"/>
              <a:t>Выдаём результат упорядоченный по свойству </a:t>
            </a:r>
            <a:r>
              <a:rPr lang="en-US" sz="2000" dirty="0" smtClean="0"/>
              <a:t>runs: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2000" dirty="0"/>
              <a:t>MATCH (n)  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2000" dirty="0"/>
              <a:t>RETURN n.name, n.runs 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2000" dirty="0"/>
              <a:t>ORDER BY </a:t>
            </a:r>
            <a:r>
              <a:rPr lang="en-US" sz="2000" dirty="0" smtClean="0"/>
              <a:t>n.runs</a:t>
            </a:r>
          </a:p>
          <a:p>
            <a:pPr marL="0" indent="360000">
              <a:buNone/>
            </a:pPr>
            <a:r>
              <a:rPr lang="ru-RU" sz="2000" dirty="0"/>
              <a:t>Выдаём результат упорядоченный по </a:t>
            </a:r>
            <a:r>
              <a:rPr lang="ru-RU" sz="2000" dirty="0" smtClean="0"/>
              <a:t>двум свойствам </a:t>
            </a:r>
            <a:r>
              <a:rPr lang="ru-RU" sz="2000" dirty="0" err="1" smtClean="0"/>
              <a:t>runs</a:t>
            </a:r>
            <a:r>
              <a:rPr lang="ru-RU" sz="2000" dirty="0" smtClean="0"/>
              <a:t> и </a:t>
            </a:r>
            <a:r>
              <a:rPr lang="en-US" sz="2000" dirty="0" smtClean="0"/>
              <a:t>country:</a:t>
            </a:r>
          </a:p>
          <a:p>
            <a:pPr marL="0" indent="0">
              <a:buNone/>
            </a:pPr>
            <a:r>
              <a:rPr lang="en-US" sz="2000" dirty="0"/>
              <a:t>MATCH (n) </a:t>
            </a:r>
          </a:p>
          <a:p>
            <a:pPr marL="0" indent="0">
              <a:buNone/>
            </a:pPr>
            <a:r>
              <a:rPr lang="en-US" sz="2000" dirty="0"/>
              <a:t>RETURN n.name, n.runs, </a:t>
            </a:r>
            <a:r>
              <a:rPr lang="en-US" sz="2000" dirty="0" err="1"/>
              <a:t>n.country</a:t>
            </a:r>
            <a:r>
              <a:rPr lang="en-US" sz="2000" dirty="0"/>
              <a:t> </a:t>
            </a:r>
          </a:p>
          <a:p>
            <a:pPr marL="0" indent="0">
              <a:buNone/>
            </a:pPr>
            <a:r>
              <a:rPr lang="en-US" sz="2000" dirty="0"/>
              <a:t>ORDER BY n.runs, </a:t>
            </a:r>
            <a:r>
              <a:rPr lang="en-US" sz="2000" dirty="0" err="1"/>
              <a:t>n.country</a:t>
            </a:r>
            <a:endParaRPr lang="ru-RU" sz="2000" dirty="0"/>
          </a:p>
          <a:p>
            <a:pPr marL="0" indent="0">
              <a:buNone/>
            </a:pPr>
            <a:endParaRPr lang="ru-RU" sz="200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17AA6-4229-42BD-B489-C47A37C1D2C9}" type="slidenum">
              <a:rPr lang="ru-RU" smtClean="0"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465635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296619" y="903155"/>
            <a:ext cx="6773461" cy="634701"/>
          </a:xfrm>
        </p:spPr>
        <p:txBody>
          <a:bodyPr>
            <a:normAutofit/>
          </a:bodyPr>
          <a:lstStyle/>
          <a:p>
            <a:pPr algn="ctr"/>
            <a:r>
              <a:rPr lang="en-US" sz="3200" dirty="0" smtClean="0">
                <a:solidFill>
                  <a:srgbClr val="FF0000"/>
                </a:solidFill>
              </a:rPr>
              <a:t>1</a:t>
            </a:r>
            <a:r>
              <a:rPr lang="ru-RU" sz="3200" dirty="0" smtClean="0">
                <a:solidFill>
                  <a:srgbClr val="FF0000"/>
                </a:solidFill>
              </a:rPr>
              <a:t>4</a:t>
            </a:r>
            <a:r>
              <a:rPr lang="en-US" sz="3200" dirty="0" smtClean="0">
                <a:solidFill>
                  <a:srgbClr val="FF0000"/>
                </a:solidFill>
              </a:rPr>
              <a:t>. </a:t>
            </a:r>
            <a:r>
              <a:rPr lang="ru-RU" sz="3200" dirty="0" smtClean="0">
                <a:solidFill>
                  <a:srgbClr val="FF0000"/>
                </a:solidFill>
              </a:rPr>
              <a:t>Фраза</a:t>
            </a:r>
            <a:r>
              <a:rPr lang="en-US" sz="3200" dirty="0" smtClean="0">
                <a:solidFill>
                  <a:srgbClr val="FF0000"/>
                </a:solidFill>
              </a:rPr>
              <a:t> LIMIT</a:t>
            </a:r>
            <a:endParaRPr lang="ru-RU" sz="32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199" y="0"/>
            <a:ext cx="10944497" cy="6858000"/>
          </a:xfrm>
        </p:spPr>
        <p:txBody>
          <a:bodyPr>
            <a:normAutofit/>
          </a:bodyPr>
          <a:lstStyle/>
          <a:p>
            <a:pPr marL="0" indent="0">
              <a:lnSpc>
                <a:spcPct val="80000"/>
              </a:lnSpc>
              <a:buNone/>
            </a:pPr>
            <a:r>
              <a:rPr lang="ru-RU" sz="2000" dirty="0" smtClean="0"/>
              <a:t>Фраза </a:t>
            </a:r>
            <a:r>
              <a:rPr lang="ru-RU" sz="2000" dirty="0" err="1"/>
              <a:t>limit</a:t>
            </a:r>
            <a:r>
              <a:rPr lang="ru-RU" sz="2000" dirty="0"/>
              <a:t> </a:t>
            </a:r>
            <a:r>
              <a:rPr lang="ru-RU" sz="2000" dirty="0" smtClean="0"/>
              <a:t>ограничивает количество выводимых строк. Синтаксис: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2000" dirty="0"/>
              <a:t>MATCH (n) 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2000" dirty="0"/>
              <a:t>RETURN n 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2000" dirty="0"/>
              <a:t>ORDER BY n.name 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2000" dirty="0"/>
              <a:t>LIMIT </a:t>
            </a:r>
            <a:r>
              <a:rPr lang="en-US" sz="2000" dirty="0" smtClean="0"/>
              <a:t>3</a:t>
            </a:r>
            <a:endParaRPr lang="ru-RU" sz="2000" dirty="0" smtClean="0"/>
          </a:p>
          <a:p>
            <a:pPr marL="0" indent="0">
              <a:lnSpc>
                <a:spcPct val="80000"/>
              </a:lnSpc>
              <a:buNone/>
            </a:pPr>
            <a:r>
              <a:rPr lang="ru-RU" sz="2000" u="sng" dirty="0" smtClean="0"/>
              <a:t>Пример</a:t>
            </a:r>
            <a:r>
              <a:rPr lang="ru-RU" sz="2000" dirty="0" smtClean="0"/>
              <a:t>: Создаём пять узлов: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2000" dirty="0"/>
              <a:t>CREATE(</a:t>
            </a:r>
            <a:r>
              <a:rPr lang="en-US" sz="2000" dirty="0" err="1"/>
              <a:t>Dhawan:player</a:t>
            </a:r>
            <a:r>
              <a:rPr lang="en-US" sz="2000" dirty="0"/>
              <a:t>{name:"</a:t>
            </a:r>
            <a:r>
              <a:rPr lang="en-US" sz="2000" dirty="0" err="1"/>
              <a:t>shikar</a:t>
            </a:r>
            <a:r>
              <a:rPr lang="en-US" sz="2000" dirty="0"/>
              <a:t> </a:t>
            </a:r>
            <a:r>
              <a:rPr lang="en-US" sz="2000" dirty="0" err="1"/>
              <a:t>Dhawan</a:t>
            </a:r>
            <a:r>
              <a:rPr lang="en-US" sz="2000" dirty="0"/>
              <a:t>", YOB: 1985, runs:363, country: "India"})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2000" dirty="0"/>
              <a:t>CREATE(</a:t>
            </a:r>
            <a:r>
              <a:rPr lang="en-US" sz="2000" dirty="0" err="1"/>
              <a:t>Jonathan:player</a:t>
            </a:r>
            <a:r>
              <a:rPr lang="en-US" sz="2000" dirty="0"/>
              <a:t>{</a:t>
            </a:r>
            <a:r>
              <a:rPr lang="en-US" sz="2000" dirty="0" err="1"/>
              <a:t>name:"Jonathan</a:t>
            </a:r>
            <a:r>
              <a:rPr lang="en-US" sz="2000" dirty="0"/>
              <a:t> </a:t>
            </a:r>
            <a:r>
              <a:rPr lang="en-US" sz="2000" dirty="0" err="1"/>
              <a:t>Trott</a:t>
            </a:r>
            <a:r>
              <a:rPr lang="en-US" sz="2000" dirty="0"/>
              <a:t>", YOB:1981, runs:229, </a:t>
            </a:r>
            <a:r>
              <a:rPr lang="en-US" sz="2000" dirty="0" err="1"/>
              <a:t>country:"South</a:t>
            </a:r>
            <a:r>
              <a:rPr lang="en-US" sz="2000" dirty="0"/>
              <a:t> Africa"})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2000" dirty="0"/>
              <a:t>CREATE(</a:t>
            </a:r>
            <a:r>
              <a:rPr lang="en-US" sz="2000" dirty="0" err="1"/>
              <a:t>Sangakkara:player</a:t>
            </a:r>
            <a:r>
              <a:rPr lang="en-US" sz="2000" dirty="0"/>
              <a:t>{</a:t>
            </a:r>
            <a:r>
              <a:rPr lang="en-US" sz="2000" dirty="0" err="1"/>
              <a:t>name:"Kumar</a:t>
            </a:r>
            <a:r>
              <a:rPr lang="en-US" sz="2000" dirty="0"/>
              <a:t> </a:t>
            </a:r>
            <a:r>
              <a:rPr lang="en-US" sz="2000" dirty="0" err="1"/>
              <a:t>Sangakkara</a:t>
            </a:r>
            <a:r>
              <a:rPr lang="en-US" sz="2000" dirty="0"/>
              <a:t>", YOB:1977, runs:222, country:"</a:t>
            </a:r>
            <a:r>
              <a:rPr lang="en-US" sz="2000" dirty="0" err="1"/>
              <a:t>Srilanka</a:t>
            </a:r>
            <a:r>
              <a:rPr lang="en-US" sz="2000" dirty="0"/>
              <a:t>"})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2000" dirty="0"/>
              <a:t>CREATE(</a:t>
            </a:r>
            <a:r>
              <a:rPr lang="en-US" sz="2000" dirty="0" err="1"/>
              <a:t>Rohit:player</a:t>
            </a:r>
            <a:r>
              <a:rPr lang="en-US" sz="2000" dirty="0"/>
              <a:t>{name:"</a:t>
            </a:r>
            <a:r>
              <a:rPr lang="en-US" sz="2000" dirty="0" err="1"/>
              <a:t>Rohit</a:t>
            </a:r>
            <a:r>
              <a:rPr lang="en-US" sz="2000" dirty="0"/>
              <a:t> Sharma", YOB: 1987, runs:177, </a:t>
            </a:r>
            <a:r>
              <a:rPr lang="en-US" sz="2000" dirty="0" err="1"/>
              <a:t>country:"India</a:t>
            </a:r>
            <a:r>
              <a:rPr lang="en-US" sz="2000" dirty="0"/>
              <a:t>"})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2000" dirty="0"/>
              <a:t>CREATE(</a:t>
            </a:r>
            <a:r>
              <a:rPr lang="en-US" sz="2000" dirty="0" err="1"/>
              <a:t>Virat:player</a:t>
            </a:r>
            <a:r>
              <a:rPr lang="en-US" sz="2000" dirty="0"/>
              <a:t>{name:"</a:t>
            </a:r>
            <a:r>
              <a:rPr lang="en-US" sz="2000" dirty="0" err="1"/>
              <a:t>Virat</a:t>
            </a:r>
            <a:r>
              <a:rPr lang="en-US" sz="2000" dirty="0"/>
              <a:t> </a:t>
            </a:r>
            <a:r>
              <a:rPr lang="en-US" sz="2000" dirty="0" err="1"/>
              <a:t>Kohli</a:t>
            </a:r>
            <a:r>
              <a:rPr lang="en-US" sz="2000" dirty="0"/>
              <a:t>", YOB: 1988, runs:176, </a:t>
            </a:r>
            <a:r>
              <a:rPr lang="en-US" sz="2000" dirty="0" err="1"/>
              <a:t>country:"India</a:t>
            </a:r>
            <a:r>
              <a:rPr lang="en-US" sz="2000" dirty="0" smtClean="0"/>
              <a:t>"})</a:t>
            </a:r>
            <a:endParaRPr lang="ru-RU" sz="2000" dirty="0" smtClean="0"/>
          </a:p>
          <a:p>
            <a:pPr marL="0" indent="0">
              <a:buNone/>
            </a:pPr>
            <a:r>
              <a:rPr lang="ru-RU" sz="2000" dirty="0" smtClean="0"/>
              <a:t>Выдаём три узла в порядке убывания:</a:t>
            </a:r>
          </a:p>
          <a:p>
            <a:pPr marL="0" indent="0">
              <a:buNone/>
            </a:pPr>
            <a:r>
              <a:rPr lang="en-US" sz="2000" dirty="0"/>
              <a:t>MATCH (n)  </a:t>
            </a:r>
          </a:p>
          <a:p>
            <a:pPr marL="0" indent="0">
              <a:buNone/>
            </a:pPr>
            <a:r>
              <a:rPr lang="en-US" sz="2000" dirty="0"/>
              <a:t>RETURN n.name, n.runs </a:t>
            </a:r>
          </a:p>
          <a:p>
            <a:pPr marL="0" indent="0">
              <a:buNone/>
            </a:pPr>
            <a:r>
              <a:rPr lang="en-US" sz="2000" dirty="0"/>
              <a:t>ORDER BY n.runs DESC </a:t>
            </a:r>
            <a:endParaRPr lang="en-US" sz="2000" dirty="0" smtClean="0"/>
          </a:p>
          <a:p>
            <a:pPr marL="0" indent="0">
              <a:buNone/>
            </a:pPr>
            <a:r>
              <a:rPr lang="en-US" sz="2000" dirty="0" smtClean="0"/>
              <a:t>LIMIT 3</a:t>
            </a:r>
            <a:endParaRPr lang="ru-RU" sz="2000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14263" y="4081267"/>
            <a:ext cx="2168433" cy="2776733"/>
          </a:xfrm>
          <a:prstGeom prst="rect">
            <a:avLst/>
          </a:prstGeom>
        </p:spPr>
      </p:pic>
      <p:sp>
        <p:nvSpPr>
          <p:cNvPr id="5" name="Стрелка вправо 4"/>
          <p:cNvSpPr/>
          <p:nvPr/>
        </p:nvSpPr>
        <p:spPr>
          <a:xfrm>
            <a:off x="8582297" y="5247564"/>
            <a:ext cx="705394" cy="222069"/>
          </a:xfrm>
          <a:prstGeom prst="rightArrow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/>
          <p:cNvSpPr/>
          <p:nvPr/>
        </p:nvSpPr>
        <p:spPr>
          <a:xfrm>
            <a:off x="7284240" y="5173932"/>
            <a:ext cx="111517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Результат</a:t>
            </a: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17AA6-4229-42BD-B489-C47A37C1D2C9}" type="slidenum">
              <a:rPr lang="ru-RU" smtClean="0"/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786009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666206"/>
          </a:xfrm>
        </p:spPr>
        <p:txBody>
          <a:bodyPr>
            <a:normAutofit/>
          </a:bodyPr>
          <a:lstStyle/>
          <a:p>
            <a:pPr algn="ctr"/>
            <a:r>
              <a:rPr lang="en-US" sz="3200" dirty="0" smtClean="0">
                <a:solidFill>
                  <a:srgbClr val="FF0000"/>
                </a:solidFill>
              </a:rPr>
              <a:t>15. </a:t>
            </a:r>
            <a:r>
              <a:rPr lang="ru-RU" sz="3200" dirty="0" smtClean="0">
                <a:solidFill>
                  <a:srgbClr val="FF0000"/>
                </a:solidFill>
              </a:rPr>
              <a:t>Фраза</a:t>
            </a:r>
            <a:r>
              <a:rPr lang="en-US" sz="3200" dirty="0" smtClean="0">
                <a:solidFill>
                  <a:srgbClr val="FF0000"/>
                </a:solidFill>
              </a:rPr>
              <a:t> </a:t>
            </a:r>
            <a:r>
              <a:rPr lang="en-US" sz="3200" dirty="0" smtClean="0">
                <a:solidFill>
                  <a:srgbClr val="FF0000"/>
                </a:solidFill>
              </a:rPr>
              <a:t>SKIP</a:t>
            </a:r>
            <a:r>
              <a:rPr lang="ru-RU" sz="3200" dirty="0" smtClean="0">
                <a:solidFill>
                  <a:srgbClr val="FF0000"/>
                </a:solidFill>
              </a:rPr>
              <a:t> </a:t>
            </a:r>
            <a:endParaRPr lang="ru-RU" sz="3200" dirty="0">
              <a:solidFill>
                <a:srgbClr val="FF000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666207"/>
            <a:ext cx="10515600" cy="5510756"/>
          </a:xfrm>
        </p:spPr>
        <p:txBody>
          <a:bodyPr>
            <a:normAutofit/>
          </a:bodyPr>
          <a:lstStyle/>
          <a:p>
            <a:pPr marL="0" indent="360000">
              <a:buNone/>
            </a:pPr>
            <a:r>
              <a:rPr lang="ru-RU" sz="2000" dirty="0" smtClean="0"/>
              <a:t>Фраза SKIP определяет, сколько первых строк пропустить при  </a:t>
            </a:r>
            <a:r>
              <a:rPr lang="ru-RU" sz="2000" dirty="0"/>
              <a:t>выводе</a:t>
            </a:r>
            <a:r>
              <a:rPr lang="ru-RU" sz="2000" dirty="0" smtClean="0"/>
              <a:t>.</a:t>
            </a:r>
          </a:p>
          <a:p>
            <a:pPr marL="0" indent="0">
              <a:buNone/>
            </a:pPr>
            <a:r>
              <a:rPr lang="ru-RU" sz="2000" dirty="0" smtClean="0"/>
              <a:t>Синтаксис/образец:</a:t>
            </a:r>
            <a:endParaRPr lang="en-US" sz="2000" dirty="0" smtClean="0"/>
          </a:p>
          <a:p>
            <a:pPr marL="0" indent="0">
              <a:buNone/>
            </a:pPr>
            <a:r>
              <a:rPr lang="en-US" sz="2000" dirty="0"/>
              <a:t>MATCH (n)  </a:t>
            </a:r>
          </a:p>
          <a:p>
            <a:pPr marL="0" indent="0">
              <a:buNone/>
            </a:pPr>
            <a:r>
              <a:rPr lang="en-US" sz="2000" dirty="0"/>
              <a:t>RETURN </a:t>
            </a:r>
            <a:r>
              <a:rPr lang="en-US" sz="2000" dirty="0" smtClean="0"/>
              <a:t>n.</a:t>
            </a:r>
            <a:r>
              <a:rPr lang="ru-RU" sz="2000" dirty="0" smtClean="0"/>
              <a:t>свойство</a:t>
            </a:r>
            <a:r>
              <a:rPr lang="en-US" sz="2000" dirty="0" smtClean="0"/>
              <a:t>1, n.</a:t>
            </a:r>
            <a:r>
              <a:rPr lang="ru-RU" sz="2000" dirty="0" smtClean="0"/>
              <a:t>свойство</a:t>
            </a:r>
            <a:r>
              <a:rPr lang="en-US" sz="2000" dirty="0" smtClean="0"/>
              <a:t>2 </a:t>
            </a:r>
            <a:endParaRPr lang="en-US" sz="2000" dirty="0"/>
          </a:p>
          <a:p>
            <a:pPr marL="0" indent="0">
              <a:buNone/>
            </a:pPr>
            <a:r>
              <a:rPr lang="en-US" sz="2000" dirty="0"/>
              <a:t>ORDER BY </a:t>
            </a:r>
            <a:r>
              <a:rPr lang="en-US" sz="2000" dirty="0" smtClean="0"/>
              <a:t>n.</a:t>
            </a:r>
            <a:r>
              <a:rPr lang="ru-RU" sz="2000" dirty="0" smtClean="0"/>
              <a:t>свойство1</a:t>
            </a:r>
            <a:r>
              <a:rPr lang="en-US" sz="2000" dirty="0" smtClean="0"/>
              <a:t> </a:t>
            </a:r>
            <a:r>
              <a:rPr lang="en-US" sz="2000" dirty="0"/>
              <a:t>DESC </a:t>
            </a:r>
          </a:p>
          <a:p>
            <a:pPr marL="0" indent="0">
              <a:buNone/>
            </a:pPr>
            <a:r>
              <a:rPr lang="en-US" sz="2000" dirty="0"/>
              <a:t>SKIP </a:t>
            </a:r>
            <a:r>
              <a:rPr lang="ru-RU" sz="2000" dirty="0" err="1" smtClean="0"/>
              <a:t>пропущено_строк</a:t>
            </a:r>
            <a:endParaRPr lang="ru-RU" sz="2000" dirty="0" smtClean="0"/>
          </a:p>
          <a:p>
            <a:pPr marL="0" indent="360000">
              <a:buNone/>
            </a:pPr>
            <a:r>
              <a:rPr lang="en-US" sz="2000" dirty="0" smtClean="0"/>
              <a:t> </a:t>
            </a:r>
            <a:r>
              <a:rPr lang="ru-RU" sz="2000" dirty="0" smtClean="0"/>
              <a:t>Количество пропущенных строк может задаваться выражением.</a:t>
            </a:r>
          </a:p>
          <a:p>
            <a:pPr marL="0" indent="360000">
              <a:buNone/>
            </a:pPr>
            <a:endParaRPr lang="ru-RU" sz="200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17AA6-4229-42BD-B489-C47A37C1D2C9}" type="slidenum">
              <a:rPr lang="ru-RU" smtClean="0"/>
              <a:t>23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914685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554477"/>
          </a:xfrm>
        </p:spPr>
        <p:txBody>
          <a:bodyPr>
            <a:normAutofit/>
          </a:bodyPr>
          <a:lstStyle/>
          <a:p>
            <a:pPr algn="ctr"/>
            <a:r>
              <a:rPr lang="en-US" sz="3200" dirty="0" smtClean="0">
                <a:solidFill>
                  <a:srgbClr val="FF0000"/>
                </a:solidFill>
              </a:rPr>
              <a:t>16. </a:t>
            </a:r>
            <a:r>
              <a:rPr lang="ru-RU" sz="3200" dirty="0" smtClean="0">
                <a:solidFill>
                  <a:srgbClr val="FF0000"/>
                </a:solidFill>
              </a:rPr>
              <a:t>Фраза </a:t>
            </a:r>
            <a:r>
              <a:rPr lang="en-US" sz="3200" dirty="0" smtClean="0">
                <a:solidFill>
                  <a:srgbClr val="FF0000"/>
                </a:solidFill>
              </a:rPr>
              <a:t>CALL</a:t>
            </a:r>
            <a:endParaRPr lang="ru-RU" sz="3200" dirty="0">
              <a:solidFill>
                <a:srgbClr val="FF000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40923" y="677761"/>
            <a:ext cx="10515600" cy="5917591"/>
          </a:xfrm>
        </p:spPr>
        <p:txBody>
          <a:bodyPr>
            <a:normAutofit fontScale="92500" lnSpcReduction="10000"/>
          </a:bodyPr>
          <a:lstStyle/>
          <a:p>
            <a:pPr marL="0" indent="360000">
              <a:buNone/>
            </a:pPr>
            <a:r>
              <a:rPr lang="ru-RU" sz="2000" dirty="0" smtClean="0"/>
              <a:t>Фраза </a:t>
            </a:r>
            <a:r>
              <a:rPr lang="en-US" sz="2000" dirty="0" smtClean="0"/>
              <a:t>CALL </a:t>
            </a:r>
            <a:r>
              <a:rPr lang="ru-RU" sz="2000" dirty="0" smtClean="0"/>
              <a:t>используется для вызова процедур и для включения подзапросов. </a:t>
            </a:r>
            <a:endParaRPr lang="ru-RU" sz="2000" dirty="0"/>
          </a:p>
          <a:p>
            <a:pPr marL="0" indent="360000">
              <a:buNone/>
            </a:pPr>
            <a:r>
              <a:rPr lang="ru-RU" sz="2000" dirty="0" smtClean="0"/>
              <a:t>см</a:t>
            </a:r>
            <a:r>
              <a:rPr lang="ru-RU" sz="2000" dirty="0"/>
              <a:t>. В Разделе 3.16, «CALL {} (подзапрос</a:t>
            </a:r>
            <a:r>
              <a:rPr lang="ru-RU" sz="2000" dirty="0" smtClean="0"/>
              <a:t>)».</a:t>
            </a:r>
          </a:p>
          <a:p>
            <a:pPr marL="0" indent="360000">
              <a:buNone/>
            </a:pPr>
            <a:r>
              <a:rPr lang="ru-RU" sz="2000" dirty="0" smtClean="0"/>
              <a:t>При вызове </a:t>
            </a:r>
            <a:r>
              <a:rPr lang="ru-RU" sz="2000" dirty="0"/>
              <a:t>процедуры </a:t>
            </a:r>
            <a:r>
              <a:rPr lang="ru-RU" sz="2000" dirty="0" smtClean="0"/>
              <a:t>необходимо указать необходимые аргументы. Делается это либо явно списком с разделителем запятая в круглых скобках </a:t>
            </a:r>
            <a:r>
              <a:rPr lang="ru-RU" sz="2000" dirty="0"/>
              <a:t>после имени процедуры, либо неявно, используя доступные параметры запроса в качестве аргументов вызова процедуры. Последняя форма доступна </a:t>
            </a:r>
            <a:r>
              <a:rPr lang="ru-RU" sz="2000" dirty="0" smtClean="0"/>
              <a:t>при вызове </a:t>
            </a:r>
            <a:r>
              <a:rPr lang="ru-RU" sz="2000" dirty="0"/>
              <a:t>автономной процедуры, когда весь запрос состоит из одного предложения CALL</a:t>
            </a:r>
            <a:r>
              <a:rPr lang="ru-RU" sz="2000" dirty="0" smtClean="0"/>
              <a:t>.</a:t>
            </a:r>
          </a:p>
          <a:p>
            <a:pPr marL="0" indent="360000">
              <a:buNone/>
            </a:pPr>
            <a:r>
              <a:rPr lang="ru-RU" sz="2000" dirty="0" smtClean="0"/>
              <a:t>Обычно процедура, как и запрос, </a:t>
            </a:r>
            <a:r>
              <a:rPr lang="ru-RU" sz="2000" dirty="0"/>
              <a:t>возвращают поток записей с фиксированным набором полей </a:t>
            </a:r>
            <a:r>
              <a:rPr lang="ru-RU" sz="2000" dirty="0" smtClean="0"/>
              <a:t>результатов. Фраза YIELD явно указывает, </a:t>
            </a:r>
            <a:r>
              <a:rPr lang="ru-RU" sz="2000" dirty="0"/>
              <a:t>какие из доступных полей результатов возвращаются </a:t>
            </a:r>
            <a:r>
              <a:rPr lang="ru-RU" sz="2000" dirty="0" smtClean="0"/>
              <a:t>при вызове процедуры как </a:t>
            </a:r>
            <a:r>
              <a:rPr lang="ru-RU" sz="2000" dirty="0"/>
              <a:t>вновь связанные </a:t>
            </a:r>
            <a:r>
              <a:rPr lang="ru-RU" sz="2000" dirty="0" smtClean="0"/>
              <a:t>переменные либо пользователю, либо </a:t>
            </a:r>
            <a:r>
              <a:rPr lang="ru-RU" sz="2000" dirty="0"/>
              <a:t>для дальнейшей обработки </a:t>
            </a:r>
            <a:r>
              <a:rPr lang="ru-RU" sz="2000" dirty="0" smtClean="0"/>
              <a:t>остальной частью запроса. </a:t>
            </a:r>
            <a:r>
              <a:rPr lang="ru-RU" sz="2000" dirty="0"/>
              <a:t>Каждое полученное поле результата может быть </a:t>
            </a:r>
            <a:r>
              <a:rPr lang="ru-RU" sz="2000" dirty="0" smtClean="0"/>
              <a:t>переименовано </a:t>
            </a:r>
            <a:r>
              <a:rPr lang="ru-RU" sz="2000" dirty="0"/>
              <a:t>с использованием псевдонима (например, </a:t>
            </a:r>
            <a:r>
              <a:rPr lang="ru-RU" sz="2000" dirty="0" err="1"/>
              <a:t>resultFieldName</a:t>
            </a:r>
            <a:r>
              <a:rPr lang="ru-RU" sz="2000" dirty="0"/>
              <a:t> </a:t>
            </a:r>
            <a:r>
              <a:rPr lang="en-US" sz="2000" dirty="0" smtClean="0"/>
              <a:t>AS</a:t>
            </a:r>
            <a:r>
              <a:rPr lang="ru-RU" sz="2000" dirty="0" smtClean="0"/>
              <a:t> </a:t>
            </a:r>
            <a:r>
              <a:rPr lang="ru-RU" sz="2000" dirty="0" err="1"/>
              <a:t>newName</a:t>
            </a:r>
            <a:r>
              <a:rPr lang="ru-RU" sz="2000" dirty="0"/>
              <a:t>). </a:t>
            </a:r>
            <a:endParaRPr lang="en-US" sz="2000" dirty="0" smtClean="0"/>
          </a:p>
          <a:p>
            <a:pPr marL="0" indent="360000">
              <a:buNone/>
            </a:pPr>
            <a:r>
              <a:rPr lang="ru-RU" sz="2000" dirty="0" smtClean="0"/>
              <a:t>Все </a:t>
            </a:r>
            <a:r>
              <a:rPr lang="ru-RU" sz="2000" dirty="0"/>
              <a:t>новые переменные, связанные вызовом процедуры, добавляются к набору переменных, уже связанных в текущей области. </a:t>
            </a:r>
            <a:r>
              <a:rPr lang="ru-RU" sz="2000" dirty="0" smtClean="0"/>
              <a:t>Если </a:t>
            </a:r>
            <a:r>
              <a:rPr lang="ru-RU" sz="2000" dirty="0"/>
              <a:t>вызов процедуры </a:t>
            </a:r>
            <a:r>
              <a:rPr lang="ru-RU" sz="2000" dirty="0" smtClean="0"/>
              <a:t>попытается </a:t>
            </a:r>
            <a:r>
              <a:rPr lang="ru-RU" sz="2000" dirty="0"/>
              <a:t>повторно привязать ранее связанную </a:t>
            </a:r>
            <a:r>
              <a:rPr lang="ru-RU" sz="2000" dirty="0" smtClean="0"/>
              <a:t>переменную, возникает ошибка.</a:t>
            </a:r>
            <a:endParaRPr lang="en-US" sz="2000" dirty="0" smtClean="0"/>
          </a:p>
          <a:p>
            <a:pPr marL="0" indent="360000">
              <a:buNone/>
            </a:pPr>
            <a:r>
              <a:rPr lang="ru-RU" sz="2000" dirty="0"/>
              <a:t>Примеры:</a:t>
            </a:r>
          </a:p>
          <a:p>
            <a:pPr marL="0" indent="360000">
              <a:buNone/>
            </a:pPr>
            <a:r>
              <a:rPr lang="ru-RU" sz="2000" dirty="0"/>
              <a:t>1. Вызов встроенной процедуры </a:t>
            </a:r>
            <a:r>
              <a:rPr lang="ru-RU" sz="2000" dirty="0" err="1"/>
              <a:t>db.labels</a:t>
            </a:r>
            <a:r>
              <a:rPr lang="ru-RU" sz="2000" dirty="0"/>
              <a:t> перечисляющей метки используемые в базе данных:</a:t>
            </a:r>
          </a:p>
          <a:p>
            <a:pPr marL="0" indent="360000">
              <a:buNone/>
            </a:pPr>
            <a:r>
              <a:rPr lang="ru-RU" sz="2000" dirty="0"/>
              <a:t>CALL </a:t>
            </a:r>
            <a:r>
              <a:rPr lang="ru-RU" sz="2000" dirty="0" err="1"/>
              <a:t>db.labels</a:t>
            </a:r>
            <a:endParaRPr lang="ru-RU" sz="2000" dirty="0"/>
          </a:p>
          <a:p>
            <a:pPr marL="0" indent="360000">
              <a:buNone/>
            </a:pPr>
            <a:r>
              <a:rPr lang="ru-RU" sz="2000" dirty="0"/>
              <a:t>2. </a:t>
            </a:r>
          </a:p>
          <a:p>
            <a:pPr marL="0" indent="360000">
              <a:buNone/>
            </a:pPr>
            <a:endParaRPr lang="en-US" sz="2000" dirty="0" smtClean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17AA6-4229-42BD-B489-C47A37C1D2C9}" type="slidenum">
              <a:rPr lang="ru-RU" smtClean="0"/>
              <a:t>24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294958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29640" y="1"/>
            <a:ext cx="10515600" cy="548640"/>
          </a:xfrm>
        </p:spPr>
        <p:txBody>
          <a:bodyPr>
            <a:normAutofit/>
          </a:bodyPr>
          <a:lstStyle/>
          <a:p>
            <a:pPr algn="ctr"/>
            <a:r>
              <a:rPr lang="en-US" sz="3200" dirty="0" smtClean="0">
                <a:solidFill>
                  <a:srgbClr val="FF0000"/>
                </a:solidFill>
              </a:rPr>
              <a:t>17. </a:t>
            </a:r>
            <a:r>
              <a:rPr lang="ru-RU" sz="3200" dirty="0" smtClean="0">
                <a:solidFill>
                  <a:srgbClr val="FF0000"/>
                </a:solidFill>
              </a:rPr>
              <a:t>Ограничения </a:t>
            </a:r>
            <a:r>
              <a:rPr lang="ru-RU" sz="3200" dirty="0" smtClean="0">
                <a:solidFill>
                  <a:srgbClr val="FF0000"/>
                </a:solidFill>
              </a:rPr>
              <a:t>(</a:t>
            </a:r>
            <a:r>
              <a:rPr lang="en-US" sz="3200" dirty="0" smtClean="0">
                <a:solidFill>
                  <a:srgbClr val="FF0000"/>
                </a:solidFill>
              </a:rPr>
              <a:t>CONSTRAINTS</a:t>
            </a:r>
            <a:r>
              <a:rPr lang="ru-RU" sz="3200" dirty="0" smtClean="0">
                <a:solidFill>
                  <a:srgbClr val="FF0000"/>
                </a:solidFill>
              </a:rPr>
              <a:t>)</a:t>
            </a:r>
            <a:r>
              <a:rPr lang="en-US" sz="3200" dirty="0" smtClean="0">
                <a:solidFill>
                  <a:srgbClr val="FF0000"/>
                </a:solidFill>
              </a:rPr>
              <a:t> 1/3</a:t>
            </a:r>
            <a:endParaRPr lang="ru-RU" sz="3200" dirty="0">
              <a:solidFill>
                <a:srgbClr val="FF000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548641"/>
            <a:ext cx="10515600" cy="5812970"/>
          </a:xfrm>
        </p:spPr>
        <p:txBody>
          <a:bodyPr>
            <a:normAutofit lnSpcReduction="10000"/>
          </a:bodyPr>
          <a:lstStyle/>
          <a:p>
            <a:pPr marL="0" indent="360000">
              <a:buNone/>
            </a:pPr>
            <a:r>
              <a:rPr lang="ru-RU" sz="2000" dirty="0" smtClean="0"/>
              <a:t>Во всех версиях </a:t>
            </a:r>
            <a:r>
              <a:rPr lang="en-US" sz="2000" dirty="0" smtClean="0"/>
              <a:t>Nod4j </a:t>
            </a:r>
            <a:r>
              <a:rPr lang="ru-RU" sz="2000" dirty="0" smtClean="0"/>
              <a:t>могут быть заданы </a:t>
            </a:r>
            <a:r>
              <a:rPr lang="ru-RU" sz="2000" b="1" dirty="0" smtClean="0"/>
              <a:t>ограничения уникальности для свойств узла</a:t>
            </a:r>
            <a:r>
              <a:rPr lang="ru-RU" sz="2000" dirty="0" smtClean="0"/>
              <a:t>. То есть, </a:t>
            </a:r>
            <a:r>
              <a:rPr lang="ru-RU" sz="2000" dirty="0"/>
              <a:t>значения свойств уникальны для всех узлов </a:t>
            </a:r>
            <a:r>
              <a:rPr lang="ru-RU" sz="2000" dirty="0" smtClean="0"/>
              <a:t>имеющих определенную метку. Аналог в </a:t>
            </a:r>
            <a:r>
              <a:rPr lang="en-US" sz="2000" dirty="0" smtClean="0"/>
              <a:t>SQL – </a:t>
            </a:r>
            <a:r>
              <a:rPr lang="ru-RU" sz="2000" dirty="0" smtClean="0"/>
              <a:t>уникальный ключ. Уникальные </a:t>
            </a:r>
            <a:r>
              <a:rPr lang="ru-RU" sz="2000" dirty="0"/>
              <a:t>ограничения не </a:t>
            </a:r>
            <a:r>
              <a:rPr lang="ru-RU" sz="2000" dirty="0" smtClean="0"/>
              <a:t>предполагают</a:t>
            </a:r>
            <a:r>
              <a:rPr lang="ru-RU" sz="2000" dirty="0"/>
              <a:t>, что все узлы </a:t>
            </a:r>
            <a:r>
              <a:rPr lang="ru-RU" sz="2000" dirty="0" smtClean="0"/>
              <a:t>с данной меткой должны </a:t>
            </a:r>
            <a:r>
              <a:rPr lang="ru-RU" sz="2000" dirty="0"/>
              <a:t>иметь </a:t>
            </a:r>
            <a:r>
              <a:rPr lang="ru-RU" sz="2000" dirty="0" smtClean="0"/>
              <a:t>свойство, на которое создано ограничение.</a:t>
            </a:r>
          </a:p>
          <a:p>
            <a:pPr marL="0" indent="360000">
              <a:buNone/>
            </a:pPr>
            <a:r>
              <a:rPr lang="ru-RU" sz="2000" dirty="0"/>
              <a:t>При создании ограничения уникальности можно указать </a:t>
            </a:r>
            <a:r>
              <a:rPr lang="ru-RU" sz="2000" dirty="0" smtClean="0"/>
              <a:t>его имя</a:t>
            </a:r>
            <a:r>
              <a:rPr lang="ru-RU" sz="2000" dirty="0"/>
              <a:t>. Ограничение гарантирует, что </a:t>
            </a:r>
            <a:r>
              <a:rPr lang="ru-RU" sz="2000" dirty="0" smtClean="0"/>
              <a:t>база </a:t>
            </a:r>
            <a:r>
              <a:rPr lang="ru-RU" sz="2000" dirty="0"/>
              <a:t>данных </a:t>
            </a:r>
            <a:r>
              <a:rPr lang="ru-RU" sz="2000" dirty="0" smtClean="0"/>
              <a:t>не </a:t>
            </a:r>
            <a:r>
              <a:rPr lang="ru-RU" sz="2000" dirty="0"/>
              <a:t>будет содержать более одного узла с определенной меткой и одним значением свойства.</a:t>
            </a:r>
            <a:endParaRPr lang="ru-RU" sz="2000" dirty="0" smtClean="0"/>
          </a:p>
          <a:p>
            <a:pPr marL="0" indent="360000">
              <a:buNone/>
            </a:pPr>
            <a:r>
              <a:rPr lang="ru-RU" sz="2000" dirty="0" smtClean="0"/>
              <a:t>В </a:t>
            </a:r>
            <a:r>
              <a:rPr lang="en-US" sz="2000" dirty="0" smtClean="0"/>
              <a:t>Enterprise edition </a:t>
            </a:r>
            <a:r>
              <a:rPr lang="ru-RU" sz="2000" dirty="0" smtClean="0"/>
              <a:t>возможны ещё ограничения:</a:t>
            </a:r>
          </a:p>
          <a:p>
            <a:r>
              <a:rPr lang="ru-RU" sz="2000" dirty="0"/>
              <a:t>на существование свойств </a:t>
            </a:r>
            <a:r>
              <a:rPr lang="ru-RU" sz="2000" dirty="0" smtClean="0"/>
              <a:t>узла; гарантируется, </a:t>
            </a:r>
            <a:r>
              <a:rPr lang="ru-RU" sz="2000" dirty="0"/>
              <a:t>что свойство существует </a:t>
            </a:r>
            <a:r>
              <a:rPr lang="ru-RU" sz="2000" dirty="0" smtClean="0"/>
              <a:t>у </a:t>
            </a:r>
            <a:r>
              <a:rPr lang="ru-RU" sz="2000" dirty="0"/>
              <a:t>всех узлов с </a:t>
            </a:r>
            <a:r>
              <a:rPr lang="ru-RU" sz="2000" dirty="0" smtClean="0"/>
              <a:t>одной  меткой</a:t>
            </a:r>
            <a:r>
              <a:rPr lang="ru-RU" sz="2000" dirty="0"/>
              <a:t>;</a:t>
            </a:r>
            <a:endParaRPr lang="ru-RU" sz="2000" dirty="0" smtClean="0"/>
          </a:p>
          <a:p>
            <a:r>
              <a:rPr lang="ru-RU" sz="2000" dirty="0" smtClean="0"/>
              <a:t>на существования </a:t>
            </a:r>
            <a:r>
              <a:rPr lang="ru-RU" sz="2000" dirty="0"/>
              <a:t>свойства </a:t>
            </a:r>
            <a:r>
              <a:rPr lang="ru-RU" sz="2000" dirty="0" smtClean="0"/>
              <a:t>отношения; гарантируется, </a:t>
            </a:r>
            <a:r>
              <a:rPr lang="ru-RU" sz="2000" dirty="0"/>
              <a:t>что свойство существует для всех отношений с определенным </a:t>
            </a:r>
            <a:r>
              <a:rPr lang="ru-RU" sz="2000" dirty="0" smtClean="0"/>
              <a:t>типом;</a:t>
            </a:r>
          </a:p>
          <a:p>
            <a:r>
              <a:rPr lang="ru-RU" sz="2000" dirty="0"/>
              <a:t> Ограничения ключа </a:t>
            </a:r>
            <a:r>
              <a:rPr lang="ru-RU" sz="2000" dirty="0" smtClean="0"/>
              <a:t>для узла (аналог </a:t>
            </a:r>
            <a:r>
              <a:rPr lang="en-US" sz="2000" dirty="0" smtClean="0"/>
              <a:t>PK </a:t>
            </a:r>
            <a:r>
              <a:rPr lang="ru-RU" sz="2000" dirty="0" smtClean="0"/>
              <a:t>в </a:t>
            </a:r>
            <a:r>
              <a:rPr lang="en-US" sz="2000" dirty="0" smtClean="0"/>
              <a:t>SQL)</a:t>
            </a:r>
            <a:r>
              <a:rPr lang="ru-RU" sz="2000" dirty="0" smtClean="0"/>
              <a:t>; гарантируется, </a:t>
            </a:r>
            <a:r>
              <a:rPr lang="ru-RU" sz="2000" dirty="0"/>
              <a:t>что для данной метки и набора свойств:</a:t>
            </a:r>
          </a:p>
          <a:p>
            <a:pPr marL="0" indent="0">
              <a:buNone/>
            </a:pPr>
            <a:r>
              <a:rPr lang="ru-RU" sz="2000" dirty="0" smtClean="0"/>
              <a:t>     -- все </a:t>
            </a:r>
            <a:r>
              <a:rPr lang="ru-RU" sz="2000" dirty="0"/>
              <a:t>свойства существуют на всех узлах с этой </a:t>
            </a:r>
            <a:r>
              <a:rPr lang="ru-RU" sz="2000" dirty="0" smtClean="0"/>
              <a:t>меткой;</a:t>
            </a:r>
          </a:p>
          <a:p>
            <a:pPr marL="0" indent="0">
              <a:buNone/>
            </a:pPr>
            <a:r>
              <a:rPr lang="ru-RU" sz="2000" dirty="0"/>
              <a:t> </a:t>
            </a:r>
            <a:r>
              <a:rPr lang="ru-RU" sz="2000" dirty="0" smtClean="0"/>
              <a:t>    -- значения </a:t>
            </a:r>
            <a:r>
              <a:rPr lang="ru-RU" sz="2000" dirty="0"/>
              <a:t>свойств </a:t>
            </a:r>
            <a:r>
              <a:rPr lang="ru-RU" sz="2000" dirty="0" smtClean="0"/>
              <a:t>уникальны</a:t>
            </a:r>
            <a:r>
              <a:rPr lang="ru-RU" sz="2000" dirty="0" smtClean="0">
                <a:solidFill>
                  <a:srgbClr val="FF0000"/>
                </a:solidFill>
              </a:rPr>
              <a:t>.???</a:t>
            </a:r>
          </a:p>
          <a:p>
            <a:pPr marL="0" indent="0">
              <a:buNone/>
            </a:pPr>
            <a:r>
              <a:rPr lang="ru-RU" sz="2000" dirty="0" smtClean="0"/>
              <a:t>Замечание: Базы </a:t>
            </a:r>
            <a:r>
              <a:rPr lang="ru-RU" sz="2000" dirty="0"/>
              <a:t>данных, содержащие один из этих типов </a:t>
            </a:r>
            <a:r>
              <a:rPr lang="ru-RU" sz="2000" dirty="0" smtClean="0"/>
              <a:t>ограничений, предназначенных для </a:t>
            </a:r>
            <a:r>
              <a:rPr lang="en-US" sz="2000" dirty="0" smtClean="0"/>
              <a:t>Enterprise edition</a:t>
            </a:r>
            <a:r>
              <a:rPr lang="ru-RU" sz="2000" dirty="0" smtClean="0"/>
              <a:t>, </a:t>
            </a:r>
            <a:r>
              <a:rPr lang="ru-RU" sz="2000" dirty="0"/>
              <a:t>нельзя открыть с помощью Neo4j </a:t>
            </a:r>
            <a:r>
              <a:rPr lang="ru-RU" sz="2000" dirty="0" err="1"/>
              <a:t>Community</a:t>
            </a:r>
            <a:r>
              <a:rPr lang="ru-RU" sz="2000" dirty="0"/>
              <a:t> </a:t>
            </a:r>
            <a:r>
              <a:rPr lang="ru-RU" sz="2000" dirty="0" err="1"/>
              <a:t>Edition</a:t>
            </a:r>
            <a:r>
              <a:rPr lang="ru-RU" sz="2000" dirty="0" smtClean="0"/>
              <a:t>.</a:t>
            </a:r>
          </a:p>
          <a:p>
            <a:pPr marL="0" indent="0">
              <a:buNone/>
            </a:pPr>
            <a:endParaRPr lang="ru-RU" sz="200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17AA6-4229-42BD-B489-C47A37C1D2C9}" type="slidenum">
              <a:rPr lang="ru-RU" smtClean="0"/>
              <a:t>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149778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457200"/>
          </a:xfrm>
        </p:spPr>
        <p:txBody>
          <a:bodyPr>
            <a:noAutofit/>
          </a:bodyPr>
          <a:lstStyle/>
          <a:p>
            <a:pPr algn="ctr"/>
            <a:r>
              <a:rPr lang="ru-RU" sz="3200" dirty="0">
                <a:solidFill>
                  <a:srgbClr val="FF0000"/>
                </a:solidFill>
              </a:rPr>
              <a:t>Ограничения (</a:t>
            </a:r>
            <a:r>
              <a:rPr lang="en-US" sz="3200" dirty="0">
                <a:solidFill>
                  <a:srgbClr val="FF0000"/>
                </a:solidFill>
              </a:rPr>
              <a:t>CONSTRAINTS</a:t>
            </a:r>
            <a:r>
              <a:rPr lang="en-US" sz="3200" dirty="0" smtClean="0">
                <a:solidFill>
                  <a:srgbClr val="FF0000"/>
                </a:solidFill>
              </a:rPr>
              <a:t>) 2/3</a:t>
            </a:r>
            <a:endParaRPr lang="ru-RU" sz="3200" dirty="0">
              <a:solidFill>
                <a:srgbClr val="FF000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122315" y="5940538"/>
            <a:ext cx="10020302" cy="81813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ru-RU" sz="2000" dirty="0"/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3277427"/>
              </p:ext>
            </p:extLst>
          </p:nvPr>
        </p:nvGraphicFramePr>
        <p:xfrm>
          <a:off x="1396635" y="457200"/>
          <a:ext cx="9745982" cy="5334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872991"/>
                <a:gridCol w="4872991"/>
              </a:tblGrid>
              <a:tr h="384272">
                <a:tc>
                  <a:txBody>
                    <a:bodyPr/>
                    <a:lstStyle/>
                    <a:p>
                      <a:pPr algn="l" fontAlgn="t"/>
                      <a:r>
                        <a:rPr lang="ru-RU" sz="2000" dirty="0" smtClean="0">
                          <a:solidFill>
                            <a:srgbClr val="222222"/>
                          </a:solidFill>
                          <a:effectLst/>
                          <a:latin typeface="+mn-lt"/>
                        </a:rPr>
                        <a:t>Команда</a:t>
                      </a:r>
                      <a:endParaRPr lang="en-US" sz="2000" dirty="0">
                        <a:solidFill>
                          <a:srgbClr val="222222"/>
                        </a:solidFill>
                        <a:effectLst/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2000" dirty="0" smtClean="0">
                          <a:solidFill>
                            <a:srgbClr val="222222"/>
                          </a:solidFill>
                          <a:effectLst/>
                          <a:latin typeface="+mn-lt"/>
                        </a:rPr>
                        <a:t>Описание</a:t>
                      </a:r>
                      <a:endParaRPr lang="en-US" sz="2000" dirty="0">
                        <a:solidFill>
                          <a:srgbClr val="222222"/>
                        </a:solidFill>
                        <a:effectLst/>
                        <a:latin typeface="+mn-lt"/>
                      </a:endParaRPr>
                    </a:p>
                  </a:txBody>
                  <a:tcPr/>
                </a:tc>
              </a:tr>
              <a:tr h="886781"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latin typeface="+mn-lt"/>
                        </a:rPr>
                        <a:t>CREATE CONSTRAINT [</a:t>
                      </a:r>
                      <a:r>
                        <a:rPr lang="en-US" sz="1800" dirty="0" err="1" smtClean="0">
                          <a:latin typeface="+mn-lt"/>
                        </a:rPr>
                        <a:t>constraint_name</a:t>
                      </a:r>
                      <a:r>
                        <a:rPr lang="en-US" sz="1800" dirty="0" smtClean="0">
                          <a:latin typeface="+mn-lt"/>
                        </a:rPr>
                        <a:t>]</a:t>
                      </a:r>
                    </a:p>
                    <a:p>
                      <a:r>
                        <a:rPr lang="en-US" sz="1800" dirty="0" smtClean="0">
                          <a:latin typeface="+mn-lt"/>
                        </a:rPr>
                        <a:t>ON (</a:t>
                      </a:r>
                      <a:r>
                        <a:rPr lang="en-US" sz="1800" dirty="0" err="1" smtClean="0">
                          <a:latin typeface="+mn-lt"/>
                        </a:rPr>
                        <a:t>n:LabelName</a:t>
                      </a:r>
                      <a:r>
                        <a:rPr lang="en-US" sz="1800" dirty="0" smtClean="0">
                          <a:latin typeface="+mn-lt"/>
                        </a:rPr>
                        <a:t>)</a:t>
                      </a:r>
                    </a:p>
                    <a:p>
                      <a:r>
                        <a:rPr lang="en-US" sz="1800" dirty="0" smtClean="0">
                          <a:latin typeface="+mn-lt"/>
                        </a:rPr>
                        <a:t>ASSERT </a:t>
                      </a:r>
                      <a:r>
                        <a:rPr lang="en-US" sz="1800" dirty="0" err="1" smtClean="0">
                          <a:latin typeface="+mn-lt"/>
                        </a:rPr>
                        <a:t>n.propertyName</a:t>
                      </a:r>
                      <a:r>
                        <a:rPr lang="en-US" sz="1800" dirty="0" smtClean="0">
                          <a:latin typeface="+mn-lt"/>
                        </a:rPr>
                        <a:t> IS UNIQUE</a:t>
                      </a:r>
                      <a:endParaRPr lang="ru-RU" sz="18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+mn-lt"/>
                        </a:rPr>
                        <a:t>Create a unique node property constraint.</a:t>
                      </a:r>
                      <a:endParaRPr lang="ru-RU" sz="2000" dirty="0">
                        <a:latin typeface="+mn-lt"/>
                      </a:endParaRPr>
                    </a:p>
                  </a:txBody>
                  <a:tcPr/>
                </a:tc>
              </a:tr>
              <a:tr h="384272"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latin typeface="+mn-lt"/>
                        </a:rPr>
                        <a:t>DROP CONSTRAINT </a:t>
                      </a:r>
                      <a:r>
                        <a:rPr lang="en-US" sz="1800" dirty="0" err="1" smtClean="0">
                          <a:latin typeface="+mn-lt"/>
                        </a:rPr>
                        <a:t>constraint_name</a:t>
                      </a:r>
                      <a:endParaRPr lang="ru-RU" sz="18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+mn-lt"/>
                        </a:rPr>
                        <a:t>Drop a constraint.</a:t>
                      </a:r>
                      <a:endParaRPr lang="ru-RU" sz="2000" dirty="0">
                        <a:latin typeface="+mn-lt"/>
                      </a:endParaRPr>
                    </a:p>
                  </a:txBody>
                  <a:tcPr/>
                </a:tc>
              </a:tr>
              <a:tr h="886781"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latin typeface="+mn-lt"/>
                        </a:rPr>
                        <a:t>DROP CONSTRAINT</a:t>
                      </a:r>
                    </a:p>
                    <a:p>
                      <a:r>
                        <a:rPr lang="en-US" sz="1800" dirty="0" smtClean="0">
                          <a:latin typeface="+mn-lt"/>
                        </a:rPr>
                        <a:t>ON (</a:t>
                      </a:r>
                      <a:r>
                        <a:rPr lang="en-US" sz="1800" dirty="0" err="1" smtClean="0">
                          <a:latin typeface="+mn-lt"/>
                        </a:rPr>
                        <a:t>n:LabelName</a:t>
                      </a:r>
                      <a:r>
                        <a:rPr lang="en-US" sz="1800" dirty="0" smtClean="0">
                          <a:latin typeface="+mn-lt"/>
                        </a:rPr>
                        <a:t>)</a:t>
                      </a:r>
                    </a:p>
                    <a:p>
                      <a:r>
                        <a:rPr lang="en-US" sz="1800" dirty="0" smtClean="0">
                          <a:latin typeface="+mn-lt"/>
                        </a:rPr>
                        <a:t>ASSERT </a:t>
                      </a:r>
                      <a:r>
                        <a:rPr lang="en-US" sz="1800" dirty="0" err="1" smtClean="0">
                          <a:latin typeface="+mn-lt"/>
                        </a:rPr>
                        <a:t>n.propertyName</a:t>
                      </a:r>
                      <a:r>
                        <a:rPr lang="en-US" sz="1800" dirty="0" smtClean="0">
                          <a:latin typeface="+mn-lt"/>
                        </a:rPr>
                        <a:t> IS UNIQUE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+mn-lt"/>
                        </a:rPr>
                        <a:t>Drop a unique constraint without specifying a name.</a:t>
                      </a:r>
                      <a:endParaRPr lang="ru-RU" sz="2000" dirty="0">
                        <a:latin typeface="+mn-lt"/>
                      </a:endParaRPr>
                    </a:p>
                  </a:txBody>
                  <a:tcPr/>
                </a:tc>
              </a:tr>
              <a:tr h="679866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DROP CONSTRAINT ON (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n:LabelName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) ASSERT EXISTS (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n.propertyName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dirty="0">
                          <a:solidFill>
                            <a:srgbClr val="222222"/>
                          </a:solidFill>
                          <a:effectLst/>
                          <a:latin typeface="+mn-lt"/>
                        </a:rPr>
                        <a:t>Drop an exists constraint without specifying a name.</a:t>
                      </a:r>
                    </a:p>
                  </a:txBody>
                  <a:tcPr/>
                </a:tc>
              </a:tr>
              <a:tr h="1950919"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latin typeface="+mn-lt"/>
                        </a:rPr>
                        <a:t>DROP CONSTRAINT</a:t>
                      </a:r>
                    </a:p>
                    <a:p>
                      <a:r>
                        <a:rPr lang="en-US" sz="1800" dirty="0" smtClean="0">
                          <a:latin typeface="+mn-lt"/>
                        </a:rPr>
                        <a:t>ON (</a:t>
                      </a:r>
                      <a:r>
                        <a:rPr lang="en-US" sz="1800" dirty="0" err="1" smtClean="0">
                          <a:latin typeface="+mn-lt"/>
                        </a:rPr>
                        <a:t>n:LabelName</a:t>
                      </a:r>
                      <a:r>
                        <a:rPr lang="en-US" sz="1800" dirty="0" smtClean="0">
                          <a:latin typeface="+mn-lt"/>
                        </a:rPr>
                        <a:t>)</a:t>
                      </a:r>
                    </a:p>
                    <a:p>
                      <a:r>
                        <a:rPr lang="en-US" sz="1800" dirty="0" smtClean="0">
                          <a:latin typeface="+mn-lt"/>
                        </a:rPr>
                        <a:t>ASSERT (n.propertyName_1,</a:t>
                      </a:r>
                    </a:p>
                    <a:p>
                      <a:r>
                        <a:rPr lang="en-US" sz="1800" dirty="0" smtClean="0">
                          <a:latin typeface="+mn-lt"/>
                        </a:rPr>
                        <a:t>n.propertyName_2,</a:t>
                      </a:r>
                    </a:p>
                    <a:p>
                      <a:r>
                        <a:rPr lang="en-US" sz="1800" dirty="0" smtClean="0">
                          <a:latin typeface="+mn-lt"/>
                        </a:rPr>
                        <a:t>…</a:t>
                      </a:r>
                    </a:p>
                    <a:p>
                      <a:r>
                        <a:rPr lang="en-US" sz="1800" dirty="0" err="1" smtClean="0">
                          <a:latin typeface="+mn-lt"/>
                        </a:rPr>
                        <a:t>n.propertyName_n</a:t>
                      </a:r>
                      <a:r>
                        <a:rPr lang="en-US" sz="1800" dirty="0" smtClean="0">
                          <a:latin typeface="+mn-lt"/>
                        </a:rPr>
                        <a:t>)</a:t>
                      </a:r>
                    </a:p>
                    <a:p>
                      <a:r>
                        <a:rPr lang="en-US" sz="1800" dirty="0" smtClean="0">
                          <a:latin typeface="+mn-lt"/>
                        </a:rPr>
                        <a:t>IS NODE KEY</a:t>
                      </a:r>
                      <a:endParaRPr lang="ru-RU" sz="18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+mn-lt"/>
                        </a:rPr>
                        <a:t>Drop a node key constraint without specifying a name.</a:t>
                      </a:r>
                      <a:endParaRPr lang="ru-RU" sz="2000" dirty="0">
                        <a:latin typeface="+mn-lt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17AA6-4229-42BD-B489-C47A37C1D2C9}" type="slidenum">
              <a:rPr lang="ru-RU" smtClean="0"/>
              <a:t>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907143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692331"/>
          </a:xfrm>
        </p:spPr>
        <p:txBody>
          <a:bodyPr>
            <a:normAutofit/>
          </a:bodyPr>
          <a:lstStyle/>
          <a:p>
            <a:pPr algn="ctr"/>
            <a:r>
              <a:rPr lang="ru-RU" sz="3200" dirty="0">
                <a:solidFill>
                  <a:srgbClr val="FF0000"/>
                </a:solidFill>
              </a:rPr>
              <a:t>Ограничения (</a:t>
            </a:r>
            <a:r>
              <a:rPr lang="en-US" sz="3200" dirty="0">
                <a:solidFill>
                  <a:srgbClr val="FF0000"/>
                </a:solidFill>
              </a:rPr>
              <a:t>CONSTRAINTS) </a:t>
            </a:r>
            <a:r>
              <a:rPr lang="en-US" sz="3200" dirty="0" smtClean="0">
                <a:solidFill>
                  <a:srgbClr val="FF0000"/>
                </a:solidFill>
              </a:rPr>
              <a:t>3/3</a:t>
            </a:r>
            <a:endParaRPr lang="ru-RU" sz="3200" dirty="0">
              <a:solidFill>
                <a:srgbClr val="FF000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836023"/>
            <a:ext cx="10515600" cy="534094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u="sng" dirty="0" smtClean="0"/>
              <a:t>Пример</a:t>
            </a:r>
            <a:r>
              <a:rPr lang="ru-RU" sz="2000" dirty="0"/>
              <a:t>: </a:t>
            </a:r>
            <a:endParaRPr lang="en-US" sz="2000" dirty="0" smtClean="0"/>
          </a:p>
          <a:p>
            <a:pPr marL="0" indent="360000">
              <a:buNone/>
            </a:pPr>
            <a:r>
              <a:rPr lang="ru-RU" sz="2000" dirty="0" smtClean="0"/>
              <a:t>Создаём </a:t>
            </a:r>
            <a:r>
              <a:rPr lang="ru-RU" sz="2000" dirty="0"/>
              <a:t>узел  </a:t>
            </a:r>
            <a:endParaRPr lang="en-US" sz="2000" dirty="0" smtClean="0"/>
          </a:p>
          <a:p>
            <a:pPr marL="0" indent="0">
              <a:buNone/>
            </a:pPr>
            <a:r>
              <a:rPr lang="en-US" sz="2000" dirty="0" smtClean="0"/>
              <a:t>CREATE </a:t>
            </a:r>
            <a:r>
              <a:rPr lang="en-US" sz="2000" dirty="0"/>
              <a:t>(</a:t>
            </a:r>
            <a:r>
              <a:rPr lang="en-US" sz="2000" dirty="0" err="1"/>
              <a:t>a:Artist</a:t>
            </a:r>
            <a:r>
              <a:rPr lang="en-US" sz="2000" dirty="0"/>
              <a:t> { Name : "Strapping Young Lad" }), </a:t>
            </a:r>
            <a:endParaRPr lang="en-US" sz="2000" dirty="0" smtClean="0"/>
          </a:p>
          <a:p>
            <a:pPr marL="0" indent="0">
              <a:buNone/>
            </a:pPr>
            <a:r>
              <a:rPr lang="ru-RU" sz="2000" dirty="0" smtClean="0"/>
              <a:t>затем ограничение</a:t>
            </a:r>
            <a:r>
              <a:rPr lang="en-US" sz="2000" dirty="0" smtClean="0"/>
              <a:t> </a:t>
            </a:r>
            <a:r>
              <a:rPr lang="ru-RU" sz="2000" dirty="0" smtClean="0"/>
              <a:t>на </a:t>
            </a:r>
            <a:r>
              <a:rPr lang="ru-RU" sz="2000" dirty="0"/>
              <a:t>свойство для всех узлов с меткой </a:t>
            </a:r>
            <a:r>
              <a:rPr lang="en-US" sz="2000" dirty="0"/>
              <a:t>name</a:t>
            </a:r>
          </a:p>
          <a:p>
            <a:pPr marL="0" indent="0">
              <a:buNone/>
            </a:pPr>
            <a:r>
              <a:rPr lang="en-US" sz="2000" dirty="0"/>
              <a:t>CREATE CONSTRAINT ON (</a:t>
            </a:r>
            <a:r>
              <a:rPr lang="en-US" sz="2000" dirty="0" err="1"/>
              <a:t>a:Artist</a:t>
            </a:r>
            <a:r>
              <a:rPr lang="en-US" sz="2000" dirty="0"/>
              <a:t>) ASSERT </a:t>
            </a:r>
            <a:r>
              <a:rPr lang="en-US" sz="2000" dirty="0" err="1"/>
              <a:t>a.Name</a:t>
            </a:r>
            <a:r>
              <a:rPr lang="en-US" sz="2000" dirty="0"/>
              <a:t> IS </a:t>
            </a:r>
            <a:r>
              <a:rPr lang="en-US" sz="2000" dirty="0" smtClean="0"/>
              <a:t>UNIQUE</a:t>
            </a:r>
            <a:endParaRPr lang="ru-RU" sz="2000" dirty="0" smtClean="0"/>
          </a:p>
          <a:p>
            <a:pPr marL="0" indent="360000">
              <a:buNone/>
            </a:pPr>
            <a:r>
              <a:rPr lang="ru-RU" sz="2000" dirty="0" smtClean="0"/>
              <a:t>Попробуем создать ещё один узел с тем же значением имени:</a:t>
            </a:r>
          </a:p>
          <a:p>
            <a:pPr marL="0" indent="0">
              <a:buNone/>
            </a:pPr>
            <a:r>
              <a:rPr lang="en-US" sz="2000" dirty="0"/>
              <a:t>CREATE </a:t>
            </a:r>
            <a:r>
              <a:rPr lang="en-US" sz="2000" dirty="0" smtClean="0"/>
              <a:t>(</a:t>
            </a:r>
            <a:r>
              <a:rPr lang="en-US" sz="2000" dirty="0" err="1"/>
              <a:t>b</a:t>
            </a:r>
            <a:r>
              <a:rPr lang="en-US" sz="2000" dirty="0" err="1" smtClean="0"/>
              <a:t>:Artist</a:t>
            </a:r>
            <a:r>
              <a:rPr lang="en-US" sz="2000" dirty="0" smtClean="0"/>
              <a:t> </a:t>
            </a:r>
            <a:r>
              <a:rPr lang="en-US" sz="2000" dirty="0"/>
              <a:t>{ Name : "Strapping Young Lad" </a:t>
            </a:r>
            <a:r>
              <a:rPr lang="en-US" sz="2000" dirty="0" smtClean="0"/>
              <a:t>})</a:t>
            </a:r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endParaRPr lang="en-US" sz="2000" dirty="0"/>
          </a:p>
          <a:p>
            <a:pPr marL="0" indent="360000">
              <a:buNone/>
            </a:pPr>
            <a:endParaRPr lang="en-US" sz="2000" dirty="0" smtClean="0"/>
          </a:p>
          <a:p>
            <a:pPr marL="0" indent="360000">
              <a:buNone/>
            </a:pPr>
            <a:endParaRPr lang="en-US" sz="2000" dirty="0" smtClean="0"/>
          </a:p>
          <a:p>
            <a:pPr marL="0" indent="360000">
              <a:buNone/>
            </a:pPr>
            <a:r>
              <a:rPr lang="ru-RU" sz="2000" dirty="0" smtClean="0"/>
              <a:t>Когда создаётся </a:t>
            </a:r>
            <a:r>
              <a:rPr lang="ru-RU" sz="2000" dirty="0"/>
              <a:t>ограничение, Neo4j создаст индекс. </a:t>
            </a:r>
            <a:r>
              <a:rPr lang="ru-RU" sz="2000" dirty="0" smtClean="0"/>
              <a:t>Если индекс уже существует, то при попытке создать ограничение появится сообщение об ошибке.</a:t>
            </a:r>
          </a:p>
          <a:p>
            <a:pPr marL="0" indent="360000">
              <a:buNone/>
            </a:pPr>
            <a:endParaRPr lang="ru-RU" sz="2000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676311"/>
            <a:ext cx="10856679" cy="1406944"/>
          </a:xfrm>
          <a:prstGeom prst="rect">
            <a:avLst/>
          </a:prstGeom>
        </p:spPr>
      </p:pic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17AA6-4229-42BD-B489-C47A37C1D2C9}" type="slidenum">
              <a:rPr lang="ru-RU" smtClean="0"/>
              <a:t>27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005382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639192"/>
          </a:xfrm>
        </p:spPr>
        <p:txBody>
          <a:bodyPr>
            <a:normAutofit/>
          </a:bodyPr>
          <a:lstStyle/>
          <a:p>
            <a:pPr algn="ctr"/>
            <a:r>
              <a:rPr lang="en-US" sz="3200" dirty="0" smtClean="0">
                <a:solidFill>
                  <a:srgbClr val="FF0000"/>
                </a:solidFill>
              </a:rPr>
              <a:t>18. </a:t>
            </a:r>
            <a:r>
              <a:rPr lang="ru-RU" sz="3200" dirty="0" smtClean="0">
                <a:solidFill>
                  <a:srgbClr val="FF0000"/>
                </a:solidFill>
              </a:rPr>
              <a:t>Фраза </a:t>
            </a:r>
            <a:r>
              <a:rPr lang="en-US" sz="3200" dirty="0" smtClean="0">
                <a:solidFill>
                  <a:srgbClr val="FF0000"/>
                </a:solidFill>
              </a:rPr>
              <a:t>UNWIND</a:t>
            </a:r>
            <a:endParaRPr lang="ru-RU" sz="3200" dirty="0">
              <a:solidFill>
                <a:srgbClr val="FF000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639193"/>
            <a:ext cx="5027023" cy="6062052"/>
          </a:xfrm>
          <a:ln w="12700"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marL="0" indent="360000">
              <a:buNone/>
            </a:pPr>
            <a:r>
              <a:rPr lang="ru-RU" sz="2000" dirty="0" smtClean="0"/>
              <a:t>Фраза UNWIND (размотать) может </a:t>
            </a:r>
          </a:p>
          <a:p>
            <a:pPr marL="0" indent="0">
              <a:buNone/>
            </a:pPr>
            <a:r>
              <a:rPr lang="ru-RU" sz="2000" dirty="0"/>
              <a:t>п</a:t>
            </a:r>
            <a:r>
              <a:rPr lang="ru-RU" sz="2000" dirty="0" smtClean="0"/>
              <a:t>реобразовать любой </a:t>
            </a:r>
            <a:r>
              <a:rPr lang="ru-RU" sz="2000" dirty="0"/>
              <a:t>список </a:t>
            </a:r>
            <a:r>
              <a:rPr lang="ru-RU" sz="2000" dirty="0" smtClean="0"/>
              <a:t>в набор строк.</a:t>
            </a:r>
          </a:p>
          <a:p>
            <a:pPr marL="0" indent="0">
              <a:buNone/>
            </a:pPr>
            <a:r>
              <a:rPr lang="ru-RU" sz="2000" dirty="0" smtClean="0"/>
              <a:t>Синтаксис:  </a:t>
            </a:r>
          </a:p>
          <a:p>
            <a:pPr marL="0" indent="0">
              <a:buNone/>
            </a:pPr>
            <a:r>
              <a:rPr lang="en-US" sz="2000" dirty="0" smtClean="0"/>
              <a:t>UNWIND [</a:t>
            </a:r>
            <a:r>
              <a:rPr lang="ru-RU" sz="2000" dirty="0" smtClean="0"/>
              <a:t>список</a:t>
            </a:r>
            <a:r>
              <a:rPr lang="en-US" sz="2000" dirty="0" smtClean="0"/>
              <a:t>] </a:t>
            </a:r>
            <a:r>
              <a:rPr lang="en-US" sz="2000" dirty="0"/>
              <a:t>AS </a:t>
            </a:r>
            <a:r>
              <a:rPr lang="ru-RU" sz="2000" dirty="0" smtClean="0"/>
              <a:t>имя</a:t>
            </a:r>
            <a:endParaRPr lang="en-US" sz="2000" dirty="0"/>
          </a:p>
          <a:p>
            <a:pPr marL="0" indent="0">
              <a:buNone/>
            </a:pPr>
            <a:r>
              <a:rPr lang="ru-RU" sz="2000" u="sng" dirty="0" smtClean="0"/>
              <a:t>Пример 1</a:t>
            </a:r>
            <a:r>
              <a:rPr lang="ru-RU" sz="2000" dirty="0" smtClean="0"/>
              <a:t>:</a:t>
            </a:r>
          </a:p>
          <a:p>
            <a:pPr marL="0" indent="0">
              <a:buNone/>
            </a:pPr>
            <a:r>
              <a:rPr lang="en-US" sz="2000" dirty="0"/>
              <a:t>UNWIND [0, 1, 2] AS x</a:t>
            </a:r>
          </a:p>
          <a:p>
            <a:pPr marL="0" indent="0">
              <a:buNone/>
            </a:pPr>
            <a:r>
              <a:rPr lang="en-US" sz="2000" dirty="0"/>
              <a:t>RETURN </a:t>
            </a:r>
            <a:r>
              <a:rPr lang="en-US" sz="2000" dirty="0" smtClean="0"/>
              <a:t>x</a:t>
            </a:r>
            <a:endParaRPr lang="ru-RU" sz="2000" dirty="0" smtClean="0"/>
          </a:p>
          <a:p>
            <a:pPr marL="0" indent="0">
              <a:buNone/>
            </a:pPr>
            <a:r>
              <a:rPr lang="ru-RU" sz="2000" u="sng" dirty="0"/>
              <a:t>Пример </a:t>
            </a:r>
            <a:r>
              <a:rPr lang="ru-RU" sz="2000" u="sng" dirty="0" smtClean="0"/>
              <a:t>2</a:t>
            </a:r>
            <a:r>
              <a:rPr lang="ru-RU" sz="2000" dirty="0" smtClean="0"/>
              <a:t>:</a:t>
            </a:r>
            <a:endParaRPr lang="ru-RU" sz="2000" dirty="0"/>
          </a:p>
          <a:p>
            <a:pPr marL="0" indent="0">
              <a:buNone/>
            </a:pPr>
            <a:r>
              <a:rPr lang="en-US" sz="2000" dirty="0"/>
              <a:t>UNWIND [1, 2, 3, NULL ] AS x</a:t>
            </a:r>
          </a:p>
          <a:p>
            <a:pPr marL="0" indent="0">
              <a:buNone/>
            </a:pPr>
            <a:r>
              <a:rPr lang="en-US" sz="2000" dirty="0"/>
              <a:t>RETURN x, '</a:t>
            </a:r>
            <a:r>
              <a:rPr lang="en-US" sz="2000" dirty="0" err="1"/>
              <a:t>val</a:t>
            </a:r>
            <a:r>
              <a:rPr lang="en-US" sz="2000" dirty="0"/>
              <a:t>' AS </a:t>
            </a:r>
            <a:r>
              <a:rPr lang="en-US" sz="2000" dirty="0" smtClean="0"/>
              <a:t>y</a:t>
            </a:r>
            <a:endParaRPr lang="ru-RU" sz="2000" dirty="0" smtClean="0"/>
          </a:p>
          <a:p>
            <a:pPr marL="0" indent="0">
              <a:buNone/>
            </a:pPr>
            <a:r>
              <a:rPr lang="ru-RU" sz="2000" u="sng" dirty="0" smtClean="0"/>
              <a:t>Пример 3:</a:t>
            </a:r>
            <a:endParaRPr lang="ru-RU" sz="2000" u="sng" dirty="0"/>
          </a:p>
          <a:p>
            <a:pPr marL="0" indent="0">
              <a:buNone/>
            </a:pPr>
            <a:r>
              <a:rPr lang="en-US" sz="2000" dirty="0"/>
              <a:t>WITH [1, 1, 2, 2] AS </a:t>
            </a:r>
            <a:r>
              <a:rPr lang="en-US" sz="2000" dirty="0" err="1"/>
              <a:t>coll</a:t>
            </a:r>
            <a:endParaRPr lang="en-US" sz="2000" dirty="0"/>
          </a:p>
          <a:p>
            <a:pPr marL="0" indent="0">
              <a:buNone/>
            </a:pPr>
            <a:r>
              <a:rPr lang="en-US" sz="2000" dirty="0"/>
              <a:t>UNWIND </a:t>
            </a:r>
            <a:r>
              <a:rPr lang="en-US" sz="2000" dirty="0" err="1"/>
              <a:t>coll</a:t>
            </a:r>
            <a:r>
              <a:rPr lang="en-US" sz="2000" dirty="0"/>
              <a:t> AS x</a:t>
            </a:r>
          </a:p>
          <a:p>
            <a:pPr marL="0" indent="0">
              <a:buNone/>
            </a:pPr>
            <a:r>
              <a:rPr lang="en-US" sz="2000" dirty="0"/>
              <a:t>WITH DISTINCT x</a:t>
            </a:r>
          </a:p>
          <a:p>
            <a:pPr marL="0" indent="0">
              <a:buNone/>
            </a:pPr>
            <a:r>
              <a:rPr lang="en-US" sz="2000" dirty="0"/>
              <a:t>RETURN collect(x) AS </a:t>
            </a:r>
            <a:r>
              <a:rPr lang="en-US" sz="2000" dirty="0" err="1"/>
              <a:t>setOfVals</a:t>
            </a:r>
            <a:endParaRPr lang="ru-RU" sz="2000" dirty="0" smtClean="0"/>
          </a:p>
          <a:p>
            <a:pPr marL="0" indent="0">
              <a:buNone/>
            </a:pPr>
            <a:endParaRPr lang="ru-RU" sz="2000" dirty="0"/>
          </a:p>
        </p:txBody>
      </p:sp>
      <p:sp>
        <p:nvSpPr>
          <p:cNvPr id="5" name="Объект 2"/>
          <p:cNvSpPr txBox="1">
            <a:spLocks/>
          </p:cNvSpPr>
          <p:nvPr/>
        </p:nvSpPr>
        <p:spPr>
          <a:xfrm>
            <a:off x="6096000" y="639192"/>
            <a:ext cx="5539048" cy="6062053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ru-RU" sz="2000" u="sng" dirty="0" smtClean="0"/>
              <a:t>Пример 4</a:t>
            </a:r>
            <a:r>
              <a:rPr lang="ru-RU" sz="2000" dirty="0" smtClean="0"/>
              <a:t>: Два списка </a:t>
            </a:r>
            <a:r>
              <a:rPr lang="en-US" sz="2000" dirty="0" smtClean="0"/>
              <a:t>a </a:t>
            </a:r>
            <a:r>
              <a:rPr lang="ru-RU" sz="2000" dirty="0" smtClean="0"/>
              <a:t>и </a:t>
            </a:r>
            <a:r>
              <a:rPr lang="en-US" sz="2000" dirty="0" smtClean="0"/>
              <a:t>b</a:t>
            </a:r>
            <a:r>
              <a:rPr lang="ru-RU" sz="2000" dirty="0" smtClean="0"/>
              <a:t> конкатенируют образуя новый список. С ним работает </a:t>
            </a:r>
            <a:r>
              <a:rPr lang="en-US" sz="2000" dirty="0" smtClean="0"/>
              <a:t>UNWIND</a:t>
            </a:r>
            <a:endParaRPr lang="ru-RU" sz="2000" dirty="0" smtClean="0"/>
          </a:p>
          <a:p>
            <a:pPr marL="0" indent="0">
              <a:buNone/>
            </a:pPr>
            <a:r>
              <a:rPr lang="en-US" sz="2000" dirty="0"/>
              <a:t>WITH [1, 2] AS a,[3, 4] AS b</a:t>
            </a:r>
          </a:p>
          <a:p>
            <a:pPr marL="0" indent="0">
              <a:buNone/>
            </a:pPr>
            <a:r>
              <a:rPr lang="en-US" sz="2000" dirty="0"/>
              <a:t>UNWIND (a + b) AS x</a:t>
            </a:r>
          </a:p>
          <a:p>
            <a:pPr marL="0" indent="0">
              <a:buNone/>
            </a:pPr>
            <a:r>
              <a:rPr lang="en-US" sz="2000" dirty="0"/>
              <a:t>RETURN </a:t>
            </a:r>
            <a:r>
              <a:rPr lang="en-US" sz="2000" dirty="0" smtClean="0"/>
              <a:t>x</a:t>
            </a:r>
          </a:p>
          <a:p>
            <a:pPr marL="0" indent="0">
              <a:buNone/>
            </a:pPr>
            <a:r>
              <a:rPr lang="ru-RU" sz="2000" u="sng" dirty="0" smtClean="0"/>
              <a:t>Пример 5</a:t>
            </a:r>
            <a:r>
              <a:rPr lang="ru-RU" sz="2000" dirty="0" smtClean="0"/>
              <a:t>: Работа со списком списков.</a:t>
            </a:r>
          </a:p>
          <a:p>
            <a:pPr marL="0" indent="0">
              <a:buNone/>
            </a:pPr>
            <a:r>
              <a:rPr lang="ru-RU" sz="2000" dirty="0" smtClean="0"/>
              <a:t>Две фразы </a:t>
            </a:r>
            <a:r>
              <a:rPr lang="en-US" sz="2000" dirty="0" smtClean="0"/>
              <a:t>UNWIND</a:t>
            </a:r>
            <a:r>
              <a:rPr lang="ru-RU" sz="2000" dirty="0" smtClean="0"/>
              <a:t>. Первая разворачивает список во фразе </a:t>
            </a:r>
            <a:r>
              <a:rPr lang="en-US" sz="2000" dirty="0" smtClean="0"/>
              <a:t>WITH. </a:t>
            </a:r>
            <a:r>
              <a:rPr lang="ru-RU" sz="2000" dirty="0" smtClean="0"/>
              <a:t>Вторая разворачивает входящие списки.</a:t>
            </a:r>
            <a:endParaRPr lang="en-US" sz="2000" dirty="0"/>
          </a:p>
          <a:p>
            <a:pPr marL="0" indent="0">
              <a:buNone/>
            </a:pPr>
            <a:r>
              <a:rPr lang="en-US" sz="2000" dirty="0" smtClean="0"/>
              <a:t>WITH </a:t>
            </a:r>
            <a:r>
              <a:rPr lang="en-US" sz="2000" dirty="0"/>
              <a:t>[[1, 2],[3, 4], 5] AS nested</a:t>
            </a:r>
          </a:p>
          <a:p>
            <a:pPr marL="0" indent="0">
              <a:buNone/>
            </a:pPr>
            <a:r>
              <a:rPr lang="en-US" sz="2000" dirty="0"/>
              <a:t>UNWIND nested AS x</a:t>
            </a:r>
          </a:p>
          <a:p>
            <a:pPr marL="0" indent="0">
              <a:buNone/>
            </a:pPr>
            <a:r>
              <a:rPr lang="en-US" sz="2000" dirty="0"/>
              <a:t>UNWIND x AS y</a:t>
            </a:r>
          </a:p>
          <a:p>
            <a:pPr marL="0" indent="0">
              <a:buNone/>
            </a:pPr>
            <a:r>
              <a:rPr lang="en-US" sz="2000" dirty="0"/>
              <a:t>RETURN </a:t>
            </a:r>
            <a:r>
              <a:rPr lang="en-US" sz="2000" dirty="0" smtClean="0"/>
              <a:t>y</a:t>
            </a:r>
          </a:p>
          <a:p>
            <a:pPr marL="0" indent="0">
              <a:buNone/>
            </a:pPr>
            <a:r>
              <a:rPr lang="ru-RU" sz="2000" dirty="0" smtClean="0"/>
              <a:t>Сравните:</a:t>
            </a:r>
          </a:p>
          <a:p>
            <a:pPr marL="0" indent="0">
              <a:buNone/>
            </a:pPr>
            <a:r>
              <a:rPr lang="en-US" sz="2000" dirty="0"/>
              <a:t>WITH [[1, 2],[3, 4], 5] AS nested</a:t>
            </a:r>
          </a:p>
          <a:p>
            <a:pPr marL="0" indent="0">
              <a:buNone/>
            </a:pPr>
            <a:r>
              <a:rPr lang="en-US" sz="2000" dirty="0"/>
              <a:t>UNWIND nested AS x</a:t>
            </a:r>
          </a:p>
          <a:p>
            <a:pPr marL="0" indent="0">
              <a:buNone/>
            </a:pPr>
            <a:r>
              <a:rPr lang="en-US" sz="2000" dirty="0"/>
              <a:t>RETURN x</a:t>
            </a:r>
            <a:endParaRPr lang="ru-RU" sz="200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17AA6-4229-42BD-B489-C47A37C1D2C9}" type="slidenum">
              <a:rPr lang="ru-RU" smtClean="0"/>
              <a:t>28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73782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29640" y="1"/>
            <a:ext cx="10515600" cy="548640"/>
          </a:xfrm>
        </p:spPr>
        <p:txBody>
          <a:bodyPr>
            <a:normAutofit/>
          </a:bodyPr>
          <a:lstStyle/>
          <a:p>
            <a:pPr algn="ctr"/>
            <a:r>
              <a:rPr lang="ru-RU" sz="3200" dirty="0" smtClean="0">
                <a:solidFill>
                  <a:srgbClr val="FF0000"/>
                </a:solidFill>
              </a:rPr>
              <a:t>Фраза </a:t>
            </a:r>
            <a:r>
              <a:rPr lang="en-US" sz="3200" dirty="0" smtClean="0">
                <a:solidFill>
                  <a:srgbClr val="FF0000"/>
                </a:solidFill>
              </a:rPr>
              <a:t>MERGE</a:t>
            </a:r>
            <a:endParaRPr lang="ru-RU" sz="3200" dirty="0">
              <a:solidFill>
                <a:srgbClr val="FF000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548641"/>
            <a:ext cx="10515600" cy="5628322"/>
          </a:xfrm>
        </p:spPr>
        <p:txBody>
          <a:bodyPr>
            <a:normAutofit/>
          </a:bodyPr>
          <a:lstStyle/>
          <a:p>
            <a:pPr marL="0" indent="360000">
              <a:buNone/>
            </a:pPr>
            <a:r>
              <a:rPr lang="ru-RU" sz="2000" dirty="0" smtClean="0"/>
              <a:t>Фраза MERGE это объединение CREATE </a:t>
            </a:r>
            <a:r>
              <a:rPr lang="ru-RU" sz="2000" dirty="0"/>
              <a:t>и MATCH. </a:t>
            </a:r>
            <a:r>
              <a:rPr lang="ru-RU" sz="2000" dirty="0" smtClean="0"/>
              <a:t>Она ищет </a:t>
            </a:r>
            <a:r>
              <a:rPr lang="ru-RU" sz="2000" dirty="0"/>
              <a:t>заданный шаблон в графе. Если </a:t>
            </a:r>
            <a:r>
              <a:rPr lang="ru-RU" sz="2000" dirty="0" smtClean="0"/>
              <a:t>найдет, то </a:t>
            </a:r>
            <a:r>
              <a:rPr lang="ru-RU" sz="2000" dirty="0"/>
              <a:t>возвращает </a:t>
            </a:r>
            <a:r>
              <a:rPr lang="ru-RU" sz="2000" dirty="0" smtClean="0"/>
              <a:t>соответствующие данные. Если не найдёт, то </a:t>
            </a:r>
            <a:r>
              <a:rPr lang="en-US" sz="2000" dirty="0" smtClean="0"/>
              <a:t>MERGE</a:t>
            </a:r>
            <a:r>
              <a:rPr lang="ru-RU" sz="2000" dirty="0" smtClean="0"/>
              <a:t> создает </a:t>
            </a:r>
            <a:r>
              <a:rPr lang="ru-RU" sz="2000" dirty="0"/>
              <a:t>новый </a:t>
            </a:r>
            <a:r>
              <a:rPr lang="ru-RU" sz="2000" dirty="0" smtClean="0"/>
              <a:t>узел, либо </a:t>
            </a:r>
            <a:r>
              <a:rPr lang="ru-RU" sz="2000" dirty="0"/>
              <a:t>отношение и возвращает результаты</a:t>
            </a:r>
            <a:r>
              <a:rPr lang="ru-RU" sz="2000" dirty="0" smtClean="0"/>
              <a:t>.</a:t>
            </a:r>
          </a:p>
          <a:p>
            <a:pPr marL="0" indent="360000">
              <a:buNone/>
            </a:pPr>
            <a:r>
              <a:rPr lang="ru-RU" sz="2000" dirty="0" smtClean="0"/>
              <a:t>Синтаксис:</a:t>
            </a:r>
          </a:p>
          <a:p>
            <a:pPr marL="0" indent="0">
              <a:buNone/>
            </a:pPr>
            <a:r>
              <a:rPr lang="en-US" sz="2000" dirty="0"/>
              <a:t>MERGE (node: label {properties . . </a:t>
            </a:r>
            <a:r>
              <a:rPr lang="en-US" sz="2000" dirty="0" smtClean="0"/>
              <a:t>. </a:t>
            </a:r>
            <a:r>
              <a:rPr lang="en-US" sz="2000" dirty="0"/>
              <a:t>}) </a:t>
            </a:r>
            <a:endParaRPr lang="ru-RU" sz="200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17AA6-4229-42BD-B489-C47A37C1D2C9}" type="slidenum">
              <a:rPr lang="ru-RU" smtClean="0"/>
              <a:t>29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11722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7407"/>
          </a:xfrm>
        </p:spPr>
        <p:txBody>
          <a:bodyPr>
            <a:normAutofit/>
          </a:bodyPr>
          <a:lstStyle/>
          <a:p>
            <a:pPr algn="ctr"/>
            <a:r>
              <a:rPr lang="ru-RU" sz="3200" dirty="0" smtClean="0">
                <a:solidFill>
                  <a:srgbClr val="FF0000"/>
                </a:solidFill>
              </a:rPr>
              <a:t>Самостоятельная работа</a:t>
            </a:r>
            <a:endParaRPr lang="ru-RU" sz="3200" dirty="0">
              <a:solidFill>
                <a:srgbClr val="FF000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360000">
              <a:buNone/>
            </a:pPr>
            <a:r>
              <a:rPr lang="ru-RU" sz="2000" dirty="0" smtClean="0"/>
              <a:t>Разделы, изучаемые самостоятельно:</a:t>
            </a:r>
          </a:p>
          <a:p>
            <a:r>
              <a:rPr lang="ru-RU" sz="2000" dirty="0"/>
              <a:t>Строковые </a:t>
            </a:r>
            <a:r>
              <a:rPr lang="ru-RU" sz="2000" dirty="0" smtClean="0"/>
              <a:t>функции</a:t>
            </a:r>
          </a:p>
          <a:p>
            <a:r>
              <a:rPr lang="ru-RU" sz="2000" dirty="0" smtClean="0"/>
              <a:t>Функции агрегации</a:t>
            </a:r>
          </a:p>
          <a:p>
            <a:r>
              <a:rPr lang="ru-RU" sz="2000" dirty="0"/>
              <a:t>Контекст выполнения операторов </a:t>
            </a:r>
            <a:r>
              <a:rPr lang="ru-RU" sz="2000" dirty="0" err="1"/>
              <a:t>Cypher</a:t>
            </a:r>
            <a:r>
              <a:rPr lang="ru-RU" sz="2000" dirty="0"/>
              <a:t>. </a:t>
            </a:r>
            <a:r>
              <a:rPr lang="ru-RU" sz="2000" dirty="0" smtClean="0"/>
              <a:t>Управление </a:t>
            </a:r>
            <a:r>
              <a:rPr lang="ru-RU" sz="2000" dirty="0"/>
              <a:t>транзакциями. Использование параметров</a:t>
            </a:r>
            <a:r>
              <a:rPr lang="ru-RU" sz="2000" dirty="0" smtClean="0"/>
              <a:t>.</a:t>
            </a:r>
          </a:p>
          <a:p>
            <a:r>
              <a:rPr lang="en-US" sz="2000" dirty="0"/>
              <a:t>Backup and </a:t>
            </a:r>
            <a:r>
              <a:rPr lang="en-US" sz="2000" dirty="0" smtClean="0"/>
              <a:t>Recovery</a:t>
            </a:r>
            <a:endParaRPr lang="ru-RU" sz="2000" dirty="0" smtClean="0"/>
          </a:p>
          <a:p>
            <a:endParaRPr lang="ru-RU" sz="200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17AA6-4229-42BD-B489-C47A37C1D2C9}" type="slidenum">
              <a:rPr lang="ru-RU" smtClean="0"/>
              <a:t>30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8513344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40084"/>
            <a:ext cx="10515600" cy="445168"/>
          </a:xfrm>
        </p:spPr>
        <p:txBody>
          <a:bodyPr>
            <a:noAutofit/>
          </a:bodyPr>
          <a:lstStyle/>
          <a:p>
            <a:pPr algn="ctr"/>
            <a:r>
              <a:rPr lang="ru-RU" sz="3200" dirty="0" smtClean="0">
                <a:solidFill>
                  <a:srgbClr val="FF0000"/>
                </a:solidFill>
              </a:rPr>
              <a:t>Обзор языка </a:t>
            </a:r>
            <a:r>
              <a:rPr lang="en-US" sz="3200" dirty="0" smtClean="0">
                <a:solidFill>
                  <a:srgbClr val="FF0000"/>
                </a:solidFill>
              </a:rPr>
              <a:t>Cypher</a:t>
            </a:r>
            <a:endParaRPr lang="ru-RU" sz="3200" dirty="0">
              <a:solidFill>
                <a:srgbClr val="FF000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974558"/>
            <a:ext cx="10515600" cy="5192486"/>
          </a:xfrm>
        </p:spPr>
        <p:txBody>
          <a:bodyPr>
            <a:normAutofit/>
          </a:bodyPr>
          <a:lstStyle/>
          <a:p>
            <a:pPr marL="0" indent="360000">
              <a:buNone/>
            </a:pPr>
            <a:r>
              <a:rPr lang="ru-RU" sz="2000" dirty="0" smtClean="0"/>
              <a:t>Ключевые </a:t>
            </a:r>
            <a:r>
              <a:rPr lang="ru-RU" sz="2000" dirty="0"/>
              <a:t>элементы </a:t>
            </a:r>
            <a:r>
              <a:rPr lang="ru-RU" sz="2000" dirty="0" err="1" smtClean="0"/>
              <a:t>Cypher</a:t>
            </a:r>
            <a:r>
              <a:rPr lang="ru-RU" sz="2000" dirty="0" smtClean="0"/>
              <a:t>:</a:t>
            </a:r>
            <a:endParaRPr lang="ru-RU" sz="2000" dirty="0"/>
          </a:p>
          <a:p>
            <a:pPr marL="0" indent="0">
              <a:buNone/>
            </a:pPr>
            <a:r>
              <a:rPr lang="ru-RU" sz="2000" dirty="0"/>
              <a:t>• модель данных, включающая значения, </a:t>
            </a:r>
            <a:r>
              <a:rPr lang="ru-RU" sz="2000" dirty="0" smtClean="0"/>
              <a:t>граф</a:t>
            </a:r>
            <a:r>
              <a:rPr lang="ru-RU" sz="2000" dirty="0"/>
              <a:t>ы</a:t>
            </a:r>
            <a:r>
              <a:rPr lang="ru-RU" sz="2000" dirty="0" smtClean="0"/>
              <a:t> </a:t>
            </a:r>
            <a:r>
              <a:rPr lang="ru-RU" sz="2000" dirty="0"/>
              <a:t>и таблицы;</a:t>
            </a:r>
          </a:p>
          <a:p>
            <a:pPr marL="0" indent="0">
              <a:buNone/>
            </a:pPr>
            <a:r>
              <a:rPr lang="ru-RU" sz="2000" dirty="0"/>
              <a:t>• язык запросов, который включает выражения, шаблоны, предложения и запросы.</a:t>
            </a:r>
          </a:p>
          <a:p>
            <a:pPr marL="0" indent="360000">
              <a:buNone/>
            </a:pPr>
            <a:r>
              <a:rPr lang="ru-RU" sz="2000" dirty="0" err="1" smtClean="0"/>
              <a:t>Cypher</a:t>
            </a:r>
            <a:r>
              <a:rPr lang="ru-RU" sz="2000" dirty="0" smtClean="0"/>
              <a:t> работает с графами свойств, которые состоят из </a:t>
            </a:r>
            <a:r>
              <a:rPr lang="ru-RU" sz="2000" dirty="0"/>
              <a:t>узлов, </a:t>
            </a:r>
            <a:r>
              <a:rPr lang="ru-RU" sz="2000" dirty="0" smtClean="0"/>
              <a:t>связанных </a:t>
            </a:r>
            <a:r>
              <a:rPr lang="ru-RU" sz="2000" dirty="0"/>
              <a:t>направленными ребрами, называемыми </a:t>
            </a:r>
            <a:r>
              <a:rPr lang="ru-RU" sz="2000" dirty="0" smtClean="0"/>
              <a:t>отношениями. Отношения </a:t>
            </a:r>
            <a:r>
              <a:rPr lang="ru-RU" sz="2000" dirty="0"/>
              <a:t>имеют типы, узлы имеют метки, и оба могут иметь свойства, </a:t>
            </a:r>
            <a:r>
              <a:rPr lang="ru-RU" sz="2000" dirty="0" smtClean="0"/>
              <a:t>задаваемые парами </a:t>
            </a:r>
            <a:r>
              <a:rPr lang="ru-RU" sz="2000" dirty="0"/>
              <a:t>ключ-значение. Выражения обозначают </a:t>
            </a:r>
            <a:r>
              <a:rPr lang="ru-RU" sz="2000" dirty="0" smtClean="0"/>
              <a:t>значения</a:t>
            </a:r>
            <a:r>
              <a:rPr lang="ru-RU" sz="2000" dirty="0"/>
              <a:t>. Значения могут быть простыми, например, строками и целыми числами, или составными, например списками и картами. </a:t>
            </a:r>
            <a:endParaRPr lang="ru-RU" sz="2000" dirty="0" smtClean="0"/>
          </a:p>
          <a:p>
            <a:pPr marL="0" indent="360000">
              <a:buNone/>
            </a:pPr>
            <a:r>
              <a:rPr lang="ru-RU" sz="2000" dirty="0" smtClean="0"/>
              <a:t>Шаблоны </a:t>
            </a:r>
            <a:r>
              <a:rPr lang="ru-RU" sz="2000" dirty="0"/>
              <a:t>встречаются в предложениях </a:t>
            </a:r>
            <a:r>
              <a:rPr lang="ru-RU" sz="2000" dirty="0" smtClean="0"/>
              <a:t>MATCH. Запросы </a:t>
            </a:r>
            <a:r>
              <a:rPr lang="ru-RU" sz="2000" dirty="0"/>
              <a:t>- это последовательности предложений. Таблицы - это пакеты с записями, которые являются частичными функциями от имен (столбцов) до значений; другими словами, таблицы не являются строковыми</a:t>
            </a:r>
            <a:r>
              <a:rPr lang="ru-RU" sz="2000" dirty="0" smtClean="0"/>
              <a:t>. Каждое </a:t>
            </a:r>
            <a:r>
              <a:rPr lang="ru-RU" sz="2000" dirty="0"/>
              <a:t>предложение обозначает функцию от таблиц к таблицам, и каждый запрос возвращает таблицу</a:t>
            </a:r>
            <a:r>
              <a:rPr lang="ru-RU" sz="2000" dirty="0" smtClean="0"/>
              <a:t>.</a:t>
            </a:r>
            <a:endParaRPr lang="ru-RU" sz="2000" dirty="0" smtClean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17AA6-4229-42BD-B489-C47A37C1D2C9}" type="slidenum">
              <a:rPr lang="ru-RU" smtClean="0"/>
              <a:t>31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498929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640080"/>
          </a:xfrm>
        </p:spPr>
        <p:txBody>
          <a:bodyPr>
            <a:normAutofit/>
          </a:bodyPr>
          <a:lstStyle/>
          <a:p>
            <a:pPr algn="ctr"/>
            <a:r>
              <a:rPr lang="ru-RU" sz="3200" dirty="0" smtClean="0">
                <a:solidFill>
                  <a:srgbClr val="FF0000"/>
                </a:solidFill>
              </a:rPr>
              <a:t>Где </a:t>
            </a:r>
            <a:r>
              <a:rPr lang="ru-RU" sz="3200" dirty="0" smtClean="0">
                <a:solidFill>
                  <a:srgbClr val="FF0000"/>
                </a:solidFill>
              </a:rPr>
              <a:t>и как использовать </a:t>
            </a:r>
            <a:r>
              <a:rPr lang="ru-RU" sz="3200" dirty="0" err="1" smtClean="0">
                <a:solidFill>
                  <a:srgbClr val="FF0000"/>
                </a:solidFill>
              </a:rPr>
              <a:t>графовые</a:t>
            </a:r>
            <a:r>
              <a:rPr lang="ru-RU" sz="3200" dirty="0" smtClean="0">
                <a:solidFill>
                  <a:srgbClr val="FF0000"/>
                </a:solidFill>
              </a:rPr>
              <a:t> БД</a:t>
            </a:r>
            <a:endParaRPr lang="ru-RU" sz="3200" dirty="0">
              <a:solidFill>
                <a:srgbClr val="FF000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92629" y="640081"/>
            <a:ext cx="10515600" cy="6113416"/>
          </a:xfrm>
        </p:spPr>
        <p:txBody>
          <a:bodyPr>
            <a:normAutofit fontScale="85000" lnSpcReduction="20000"/>
          </a:bodyPr>
          <a:lstStyle/>
          <a:p>
            <a:pPr marL="0" indent="360000">
              <a:buNone/>
            </a:pPr>
            <a:r>
              <a:rPr lang="ru-RU" sz="2200" dirty="0" smtClean="0"/>
              <a:t>Помните, что выбор </a:t>
            </a:r>
            <a:r>
              <a:rPr lang="ru-RU" sz="2200" dirty="0" err="1" smtClean="0"/>
              <a:t>графовой</a:t>
            </a:r>
            <a:r>
              <a:rPr lang="ru-RU" sz="2200" dirty="0" smtClean="0"/>
              <a:t> модели -- это не решение всех ваших проблем.</a:t>
            </a:r>
          </a:p>
          <a:p>
            <a:pPr marL="0" indent="360000">
              <a:buNone/>
            </a:pPr>
            <a:r>
              <a:rPr lang="ru-RU" sz="2200" dirty="0" smtClean="0"/>
              <a:t>Уже применяют </a:t>
            </a:r>
            <a:r>
              <a:rPr lang="ru-RU" sz="2200" dirty="0" err="1" smtClean="0"/>
              <a:t>графовые</a:t>
            </a:r>
            <a:r>
              <a:rPr lang="ru-RU" sz="2200" dirty="0" smtClean="0"/>
              <a:t> БД в:</a:t>
            </a:r>
          </a:p>
          <a:p>
            <a:r>
              <a:rPr lang="ru-RU" sz="2200" dirty="0"/>
              <a:t>с</a:t>
            </a:r>
            <a:r>
              <a:rPr lang="ru-RU" sz="2200" dirty="0" smtClean="0"/>
              <a:t>оциальных сетях</a:t>
            </a:r>
          </a:p>
          <a:p>
            <a:r>
              <a:rPr lang="ru-RU" sz="2200" dirty="0"/>
              <a:t>с</a:t>
            </a:r>
            <a:r>
              <a:rPr lang="ru-RU" sz="2200" dirty="0" smtClean="0"/>
              <a:t>истемах рекомендаций по приобретению , раскладке товаров и т.д.</a:t>
            </a:r>
          </a:p>
          <a:p>
            <a:r>
              <a:rPr lang="ru-RU" sz="2200" dirty="0" err="1" smtClean="0"/>
              <a:t>биоинформатике</a:t>
            </a:r>
            <a:endParaRPr lang="ru-RU" sz="2200" dirty="0" smtClean="0"/>
          </a:p>
          <a:p>
            <a:r>
              <a:rPr lang="ru-RU" sz="2200" dirty="0" smtClean="0"/>
              <a:t>семантическом вебе, </a:t>
            </a:r>
            <a:r>
              <a:rPr lang="ru-RU" sz="2200" dirty="0" smtClean="0"/>
              <a:t>в том числе в системах обработки </a:t>
            </a:r>
            <a:r>
              <a:rPr lang="ru-RU" sz="2200" dirty="0"/>
              <a:t>пользовательских </a:t>
            </a:r>
            <a:r>
              <a:rPr lang="ru-RU" sz="2200" dirty="0" smtClean="0"/>
              <a:t>данных</a:t>
            </a:r>
            <a:r>
              <a:rPr lang="ru-RU" sz="2200" dirty="0">
                <a:solidFill>
                  <a:srgbClr val="FF0000"/>
                </a:solidFill>
              </a:rPr>
              <a:t>.</a:t>
            </a:r>
            <a:endParaRPr lang="ru-RU" sz="2200" dirty="0" smtClean="0">
              <a:solidFill>
                <a:srgbClr val="FF0000"/>
              </a:solidFill>
            </a:endParaRPr>
          </a:p>
          <a:p>
            <a:pPr marL="0" indent="360000">
              <a:buNone/>
            </a:pPr>
            <a:r>
              <a:rPr lang="ru-RU" sz="2200" dirty="0" smtClean="0"/>
              <a:t>Формальные признаки предпочтения выбора </a:t>
            </a:r>
            <a:r>
              <a:rPr lang="ru-RU" sz="2200" dirty="0" err="1" smtClean="0"/>
              <a:t>графовой</a:t>
            </a:r>
            <a:r>
              <a:rPr lang="ru-RU" sz="2200" dirty="0" smtClean="0"/>
              <a:t> модели: а) в базе много сущностей и связей, в том числе, многие-ко-многим, б) объём данных велик и склонен к дальнейшему росту, в) связи многообразны.</a:t>
            </a:r>
          </a:p>
          <a:p>
            <a:pPr marL="0" indent="360000">
              <a:buNone/>
            </a:pPr>
            <a:r>
              <a:rPr lang="ru-RU" sz="2200" dirty="0" smtClean="0"/>
              <a:t>Достоинства:</a:t>
            </a:r>
          </a:p>
          <a:p>
            <a:pPr>
              <a:lnSpc>
                <a:spcPct val="110000"/>
              </a:lnSpc>
            </a:pPr>
            <a:r>
              <a:rPr lang="ru-RU" sz="2200" dirty="0"/>
              <a:t>п</a:t>
            </a:r>
            <a:r>
              <a:rPr lang="ru-RU" sz="2200" dirty="0" smtClean="0"/>
              <a:t>ростота моделей данных;</a:t>
            </a:r>
          </a:p>
          <a:p>
            <a:pPr>
              <a:lnSpc>
                <a:spcPct val="110000"/>
              </a:lnSpc>
            </a:pPr>
            <a:r>
              <a:rPr lang="ru-RU" sz="2200" dirty="0"/>
              <a:t>п</a:t>
            </a:r>
            <a:r>
              <a:rPr lang="ru-RU" sz="2200" dirty="0" smtClean="0"/>
              <a:t>ростые и наглядные языки запросов;</a:t>
            </a:r>
          </a:p>
          <a:p>
            <a:pPr>
              <a:lnSpc>
                <a:spcPct val="110000"/>
              </a:lnSpc>
            </a:pPr>
            <a:r>
              <a:rPr lang="ru-RU" sz="2200" dirty="0"/>
              <a:t>х</a:t>
            </a:r>
            <a:r>
              <a:rPr lang="ru-RU" sz="2200" dirty="0" smtClean="0"/>
              <a:t>орошая масштабируемость (не у всех, но у </a:t>
            </a:r>
            <a:r>
              <a:rPr lang="en-US" sz="2200" dirty="0" smtClean="0"/>
              <a:t>Neo4j</a:t>
            </a:r>
            <a:r>
              <a:rPr lang="ru-RU" sz="2200" dirty="0" smtClean="0"/>
              <a:t> это так</a:t>
            </a:r>
            <a:r>
              <a:rPr lang="en-US" sz="2200" dirty="0" smtClean="0"/>
              <a:t>);</a:t>
            </a:r>
            <a:endParaRPr lang="ru-RU" sz="2200" dirty="0" smtClean="0"/>
          </a:p>
          <a:p>
            <a:pPr marL="0" indent="360000">
              <a:buNone/>
            </a:pPr>
            <a:r>
              <a:rPr lang="ru-RU" sz="2200" dirty="0" smtClean="0"/>
              <a:t>Недостатки: </a:t>
            </a:r>
          </a:p>
          <a:p>
            <a:r>
              <a:rPr lang="ru-RU" sz="2200" dirty="0" smtClean="0"/>
              <a:t>по сравнению с РБД данные занимают много </a:t>
            </a:r>
            <a:r>
              <a:rPr lang="ru-RU" sz="2200" dirty="0"/>
              <a:t>больше места на </a:t>
            </a:r>
            <a:r>
              <a:rPr lang="ru-RU" sz="2200" dirty="0" smtClean="0"/>
              <a:t>диске;</a:t>
            </a:r>
          </a:p>
          <a:p>
            <a:r>
              <a:rPr lang="ru-RU" sz="2200" dirty="0" smtClean="0"/>
              <a:t>на </a:t>
            </a:r>
            <a:r>
              <a:rPr lang="ru-RU" sz="2200" dirty="0"/>
              <a:t>простых запросах производительность ниже, чем </a:t>
            </a:r>
            <a:r>
              <a:rPr lang="ru-RU" sz="2200" dirty="0" smtClean="0"/>
              <a:t>у РБД;</a:t>
            </a:r>
          </a:p>
          <a:p>
            <a:r>
              <a:rPr lang="ru-RU" sz="2200" dirty="0" smtClean="0"/>
              <a:t>Малая распространенность </a:t>
            </a:r>
            <a:r>
              <a:rPr lang="ru-RU" sz="2200" dirty="0" err="1" smtClean="0"/>
              <a:t>графовых</a:t>
            </a:r>
            <a:r>
              <a:rPr lang="ru-RU" sz="2200" dirty="0" smtClean="0"/>
              <a:t> СУБД и, соответственно, меньше специалистов по сравнению с </a:t>
            </a:r>
            <a:r>
              <a:rPr lang="en-US" sz="2200" dirty="0" smtClean="0"/>
              <a:t>SQL</a:t>
            </a:r>
            <a:r>
              <a:rPr lang="ru-RU" sz="2200" dirty="0" smtClean="0"/>
              <a:t>.</a:t>
            </a:r>
          </a:p>
          <a:p>
            <a:pPr marL="0" indent="360000">
              <a:buNone/>
            </a:pPr>
            <a:r>
              <a:rPr lang="ru-RU" sz="2000" dirty="0" smtClean="0"/>
              <a:t>Удовлетворить разнообразным требованиям можно применяя </a:t>
            </a:r>
            <a:r>
              <a:rPr lang="ru-RU" sz="2000" dirty="0" err="1" smtClean="0"/>
              <a:t>мультимодельные</a:t>
            </a:r>
            <a:r>
              <a:rPr lang="ru-RU" sz="2000" dirty="0" smtClean="0"/>
              <a:t> СУБД.</a:t>
            </a:r>
            <a:endParaRPr lang="ru-RU" sz="2000" dirty="0" smtClean="0"/>
          </a:p>
          <a:p>
            <a:pPr marL="0" indent="0">
              <a:buNone/>
            </a:pPr>
            <a:endParaRPr lang="ru-RU" sz="200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17AA6-4229-42BD-B489-C47A37C1D2C9}" type="slidenum">
              <a:rPr lang="ru-RU" smtClean="0"/>
              <a:t>32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571686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16068</TotalTime>
  <Words>3333</Words>
  <Application>Microsoft Office PowerPoint</Application>
  <PresentationFormat>Широкоэкранный</PresentationFormat>
  <Paragraphs>455</Paragraphs>
  <Slides>32</Slides>
  <Notes>2</Notes>
  <HiddenSlides>1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32</vt:i4>
      </vt:variant>
    </vt:vector>
  </HeadingPairs>
  <TitlesOfParts>
    <vt:vector size="37" baseType="lpstr">
      <vt:lpstr>Arial</vt:lpstr>
      <vt:lpstr>Calibri</vt:lpstr>
      <vt:lpstr>Calibri Light</vt:lpstr>
      <vt:lpstr>Times New Roman</vt:lpstr>
      <vt:lpstr>Тема Office</vt:lpstr>
      <vt:lpstr>Графовая база данных  Neo4j Часть 2</vt:lpstr>
      <vt:lpstr>Оглавление</vt:lpstr>
      <vt:lpstr>7. Работа со свойствами (фраза SET) 1/4</vt:lpstr>
      <vt:lpstr>Работа со свойствами (фраза SET) 2/4</vt:lpstr>
      <vt:lpstr>Работа со свойствами (фраза SET) 3/4</vt:lpstr>
      <vt:lpstr>Работа со свойствами (фраза SET) 4/4</vt:lpstr>
      <vt:lpstr>Объединение результатов запросов фразой UNION </vt:lpstr>
      <vt:lpstr>Создание цепочки фраз с помощью WITH </vt:lpstr>
      <vt:lpstr>Использование индексов</vt:lpstr>
      <vt:lpstr>8. Фраза удаления узлов и рёбер (DELETE) 1/2</vt:lpstr>
      <vt:lpstr>Фраза удаления узлов и рёбер (DELETE) 2/2</vt:lpstr>
      <vt:lpstr>9. Удаление свойств и меток из узлов или связей (REMOVE) 1/2</vt:lpstr>
      <vt:lpstr>Удаление свойств и меток из узлов или связей (REMOVE) 2/2</vt:lpstr>
      <vt:lpstr>10. Фраза FOREACH</vt:lpstr>
      <vt:lpstr>11. Фраза OPTIONAL MATCH </vt:lpstr>
      <vt:lpstr>12. Фраза WHERE</vt:lpstr>
      <vt:lpstr>Экспорт файла результата</vt:lpstr>
      <vt:lpstr>Примеры с WHERE</vt:lpstr>
      <vt:lpstr>Импорт данных. Фраза LOAD CSV 1/2</vt:lpstr>
      <vt:lpstr>Импорт данных. Фраза LOAD CSV 2/2</vt:lpstr>
      <vt:lpstr>13. Фраза ORDER BY</vt:lpstr>
      <vt:lpstr>14. Фраза LIMIT</vt:lpstr>
      <vt:lpstr>15. Фраза SKIP </vt:lpstr>
      <vt:lpstr>16. Фраза CALL</vt:lpstr>
      <vt:lpstr>17. Ограничения (CONSTRAINTS) 1/3</vt:lpstr>
      <vt:lpstr>Ограничения (CONSTRAINTS) 2/3</vt:lpstr>
      <vt:lpstr>Ограничения (CONSTRAINTS) 3/3</vt:lpstr>
      <vt:lpstr>18. Фраза UNWIND</vt:lpstr>
      <vt:lpstr>Фраза MERGE</vt:lpstr>
      <vt:lpstr>Самостоятельная работа</vt:lpstr>
      <vt:lpstr>Обзор языка Cypher</vt:lpstr>
      <vt:lpstr>Где и как использовать графовые БД</vt:lpstr>
    </vt:vector>
  </TitlesOfParts>
  <Company>Microsoft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Neo4j Заготовки</dc:title>
  <dc:creator>Microsoft</dc:creator>
  <cp:lastModifiedBy>Microsoft</cp:lastModifiedBy>
  <cp:revision>348</cp:revision>
  <dcterms:created xsi:type="dcterms:W3CDTF">2020-08-07T08:32:56Z</dcterms:created>
  <dcterms:modified xsi:type="dcterms:W3CDTF">2020-09-18T06:40:26Z</dcterms:modified>
</cp:coreProperties>
</file>