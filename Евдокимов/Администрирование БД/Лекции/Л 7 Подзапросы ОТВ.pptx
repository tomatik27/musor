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  <p:sldMasterId id="2147483674" r:id="rId3"/>
    <p:sldMasterId id="2147483686" r:id="rId4"/>
  </p:sldMasterIdLst>
  <p:notesMasterIdLst>
    <p:notesMasterId r:id="rId41"/>
  </p:notesMasterIdLst>
  <p:sldIdLst>
    <p:sldId id="256" r:id="rId5"/>
    <p:sldId id="263" r:id="rId6"/>
    <p:sldId id="257" r:id="rId7"/>
    <p:sldId id="258" r:id="rId8"/>
    <p:sldId id="259" r:id="rId9"/>
    <p:sldId id="260" r:id="rId10"/>
    <p:sldId id="272" r:id="rId11"/>
    <p:sldId id="273" r:id="rId12"/>
    <p:sldId id="274" r:id="rId13"/>
    <p:sldId id="270" r:id="rId14"/>
    <p:sldId id="261" r:id="rId15"/>
    <p:sldId id="262" r:id="rId16"/>
    <p:sldId id="275" r:id="rId17"/>
    <p:sldId id="267" r:id="rId18"/>
    <p:sldId id="280" r:id="rId19"/>
    <p:sldId id="285" r:id="rId20"/>
    <p:sldId id="295" r:id="rId21"/>
    <p:sldId id="296" r:id="rId22"/>
    <p:sldId id="278" r:id="rId23"/>
    <p:sldId id="265" r:id="rId24"/>
    <p:sldId id="293" r:id="rId25"/>
    <p:sldId id="292" r:id="rId26"/>
    <p:sldId id="279" r:id="rId27"/>
    <p:sldId id="264" r:id="rId28"/>
    <p:sldId id="276" r:id="rId29"/>
    <p:sldId id="269" r:id="rId30"/>
    <p:sldId id="294" r:id="rId31"/>
    <p:sldId id="281" r:id="rId32"/>
    <p:sldId id="277" r:id="rId33"/>
    <p:sldId id="268" r:id="rId34"/>
    <p:sldId id="283" r:id="rId35"/>
    <p:sldId id="284" r:id="rId36"/>
    <p:sldId id="286" r:id="rId37"/>
    <p:sldId id="288" r:id="rId38"/>
    <p:sldId id="287" r:id="rId39"/>
    <p:sldId id="291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4660"/>
  </p:normalViewPr>
  <p:slideViewPr>
    <p:cSldViewPr snapToGrid="0">
      <p:cViewPr>
        <p:scale>
          <a:sx n="100" d="100"/>
          <a:sy n="100" d="100"/>
        </p:scale>
        <p:origin x="264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B3B68-BB92-418E-8657-A13487355F39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0E5AD-2826-4EA3-ADF5-FB6021F93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38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10A8AE-6430-4123-9D02-2CC467DF9394}" type="slidenum">
              <a:rPr lang="ru-RU" altLang="ru-RU" sz="1200" smtClean="0">
                <a:solidFill>
                  <a:srgbClr val="000000"/>
                </a:solidFill>
              </a:rPr>
              <a:pPr/>
              <a:t>3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	</a:t>
            </a:r>
            <a:r>
              <a:rPr lang="ru-RU" altLang="ru-RU" sz="1000">
                <a:latin typeface="Arial" panose="020B0604020202020204" pitchFamily="34" charset="0"/>
              </a:rPr>
              <a:t>Рассмотрим приём построения запроса с подзапросом методом нисходящего проектирования.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000" u="sng">
                <a:latin typeface="Arial" panose="020B0604020202020204" pitchFamily="34" charset="0"/>
              </a:rPr>
              <a:t>Пример</a:t>
            </a:r>
            <a:r>
              <a:rPr lang="ru-RU" altLang="ru-RU" sz="1000">
                <a:latin typeface="Arial" panose="020B0604020202020204" pitchFamily="34" charset="0"/>
              </a:rPr>
              <a:t>: Найдите сотрудников, которые получают зарплату, максимальную для их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должности. Отсортируйте результат в порядке убывания зарплаты.</a:t>
            </a:r>
            <a:endParaRPr lang="en-GB" altLang="ru-RU" sz="10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ru-RU" sz="1000">
                <a:latin typeface="Arial" panose="020B0604020202020204" pitchFamily="34" charset="0"/>
              </a:rPr>
              <a:t>JOB</a:t>
            </a:r>
            <a:r>
              <a:rPr lang="en-US" altLang="ru-RU" sz="1000">
                <a:latin typeface="Arial" panose="020B0604020202020204" pitchFamily="34" charset="0"/>
              </a:rPr>
              <a:t>                </a:t>
            </a:r>
            <a:r>
              <a:rPr lang="en-GB" altLang="ru-RU" sz="1000">
                <a:latin typeface="Arial" panose="020B0604020202020204" pitchFamily="34" charset="0"/>
              </a:rPr>
              <a:t>ENAM</a:t>
            </a:r>
            <a:r>
              <a:rPr lang="en-US" altLang="ru-RU" sz="1000">
                <a:latin typeface="Arial" panose="020B0604020202020204" pitchFamily="34" charset="0"/>
              </a:rPr>
              <a:t>E          SAL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--------------------------------------------</a:t>
            </a:r>
            <a:endParaRPr lang="en-GB" altLang="ru-RU" sz="10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ru-RU" sz="1000">
                <a:latin typeface="Arial" panose="020B0604020202020204" pitchFamily="34" charset="0"/>
              </a:rPr>
              <a:t>PRESIDENT  KING</a:t>
            </a:r>
            <a:r>
              <a:rPr lang="en-US" altLang="ru-RU" sz="1000">
                <a:latin typeface="Arial" panose="020B0604020202020204" pitchFamily="34" charset="0"/>
              </a:rPr>
              <a:t>           </a:t>
            </a:r>
            <a:r>
              <a:rPr lang="en-GB" altLang="ru-RU" sz="1000">
                <a:latin typeface="Arial" panose="020B0604020202020204" pitchFamily="34" charset="0"/>
              </a:rPr>
              <a:t>5,000.00</a:t>
            </a:r>
          </a:p>
          <a:p>
            <a:pPr eaLnBrk="1" hangingPunct="1">
              <a:lnSpc>
                <a:spcPct val="80000"/>
              </a:lnSpc>
            </a:pPr>
            <a:r>
              <a:rPr lang="en-GB" altLang="ru-RU" sz="1000">
                <a:latin typeface="Arial" panose="020B0604020202020204" pitchFamily="34" charset="0"/>
              </a:rPr>
              <a:t>ANALYST</a:t>
            </a:r>
            <a:r>
              <a:rPr lang="en-US" altLang="ru-RU" sz="1000">
                <a:latin typeface="Arial" panose="020B0604020202020204" pitchFamily="34" charset="0"/>
              </a:rPr>
              <a:t>     SCOTT          </a:t>
            </a:r>
            <a:r>
              <a:rPr lang="en-GB" altLang="ru-RU" sz="1000">
                <a:latin typeface="Arial" panose="020B0604020202020204" pitchFamily="34" charset="0"/>
              </a:rPr>
              <a:t>3,000.00</a:t>
            </a:r>
          </a:p>
          <a:p>
            <a:pPr eaLnBrk="1" hangingPunct="1">
              <a:lnSpc>
                <a:spcPct val="80000"/>
              </a:lnSpc>
            </a:pPr>
            <a:r>
              <a:rPr lang="en-GB" altLang="ru-RU" sz="1000">
                <a:latin typeface="Arial" panose="020B0604020202020204" pitchFamily="34" charset="0"/>
              </a:rPr>
              <a:t>ANALYST</a:t>
            </a:r>
            <a:r>
              <a:rPr lang="en-US" altLang="ru-RU" sz="1000">
                <a:latin typeface="Arial" panose="020B0604020202020204" pitchFamily="34" charset="0"/>
              </a:rPr>
              <a:t>     </a:t>
            </a:r>
            <a:r>
              <a:rPr lang="en-GB" altLang="ru-RU" sz="1000">
                <a:latin typeface="Arial" panose="020B0604020202020204" pitchFamily="34" charset="0"/>
              </a:rPr>
              <a:t>FORD</a:t>
            </a:r>
            <a:r>
              <a:rPr lang="en-US" altLang="ru-RU" sz="1000">
                <a:latin typeface="Arial" panose="020B0604020202020204" pitchFamily="34" charset="0"/>
              </a:rPr>
              <a:t>           </a:t>
            </a:r>
            <a:r>
              <a:rPr lang="en-GB" altLang="ru-RU" sz="1000">
                <a:latin typeface="Arial" panose="020B0604020202020204" pitchFamily="34" charset="0"/>
              </a:rPr>
              <a:t>3,000.00</a:t>
            </a:r>
            <a:endParaRPr lang="en-US" altLang="ru-RU" sz="10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M</a:t>
            </a:r>
            <a:r>
              <a:rPr lang="en-GB" altLang="ru-RU" sz="1000">
                <a:latin typeface="Arial" panose="020B0604020202020204" pitchFamily="34" charset="0"/>
              </a:rPr>
              <a:t>ANAGER </a:t>
            </a:r>
            <a:r>
              <a:rPr lang="en-US" altLang="ru-RU" sz="1000">
                <a:latin typeface="Arial" panose="020B0604020202020204" pitchFamily="34" charset="0"/>
              </a:rPr>
              <a:t>  </a:t>
            </a:r>
            <a:r>
              <a:rPr lang="en-GB" altLang="ru-RU" sz="1000">
                <a:latin typeface="Arial" panose="020B0604020202020204" pitchFamily="34" charset="0"/>
              </a:rPr>
              <a:t>JONE</a:t>
            </a:r>
            <a:r>
              <a:rPr lang="en-US" altLang="ru-RU" sz="1000">
                <a:latin typeface="Arial" panose="020B0604020202020204" pitchFamily="34" charset="0"/>
              </a:rPr>
              <a:t>S          </a:t>
            </a:r>
            <a:r>
              <a:rPr lang="en-GB" altLang="ru-RU" sz="1000">
                <a:latin typeface="Arial" panose="020B0604020202020204" pitchFamily="34" charset="0"/>
              </a:rPr>
              <a:t>2,975.00</a:t>
            </a:r>
          </a:p>
          <a:p>
            <a:pPr eaLnBrk="1" hangingPunct="1">
              <a:lnSpc>
                <a:spcPct val="80000"/>
              </a:lnSpc>
            </a:pPr>
            <a:r>
              <a:rPr lang="en-GB" altLang="ru-RU" sz="1000">
                <a:latin typeface="Arial" panose="020B0604020202020204" pitchFamily="34" charset="0"/>
              </a:rPr>
              <a:t>SALESNAN</a:t>
            </a:r>
            <a:r>
              <a:rPr lang="ru-RU" altLang="ru-RU" sz="1000">
                <a:latin typeface="Arial" panose="020B0604020202020204" pitchFamily="34" charset="0"/>
              </a:rPr>
              <a:t>  </a:t>
            </a:r>
            <a:r>
              <a:rPr lang="en-GB" altLang="ru-RU" sz="1000">
                <a:latin typeface="Arial" panose="020B0604020202020204" pitchFamily="34" charset="0"/>
              </a:rPr>
              <a:t>ALLEN</a:t>
            </a:r>
            <a:r>
              <a:rPr lang="ru-RU" altLang="ru-RU" sz="1000">
                <a:latin typeface="Arial" panose="020B0604020202020204" pitchFamily="34" charset="0"/>
              </a:rPr>
              <a:t>          1,600.00</a:t>
            </a:r>
            <a:endParaRPr lang="en-US" altLang="ru-RU" sz="10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CLERK</a:t>
            </a:r>
            <a:r>
              <a:rPr lang="ru-RU" altLang="ru-RU" sz="1000">
                <a:latin typeface="Arial" panose="020B0604020202020204" pitchFamily="34" charset="0"/>
              </a:rPr>
              <a:t>       </a:t>
            </a:r>
            <a:r>
              <a:rPr lang="en-US" altLang="ru-RU" sz="1000">
                <a:latin typeface="Arial" panose="020B0604020202020204" pitchFamily="34" charset="0"/>
              </a:rPr>
              <a:t>  </a:t>
            </a:r>
            <a:r>
              <a:rPr lang="ru-RU" altLang="ru-RU" sz="1000">
                <a:latin typeface="Arial" panose="020B0604020202020204" pitchFamily="34" charset="0"/>
              </a:rPr>
              <a:t> </a:t>
            </a:r>
            <a:r>
              <a:rPr lang="en-US" altLang="ru-RU" sz="1000">
                <a:latin typeface="Arial" panose="020B0604020202020204" pitchFamily="34" charset="0"/>
              </a:rPr>
              <a:t>MILLER</a:t>
            </a:r>
            <a:r>
              <a:rPr lang="ru-RU" altLang="ru-RU" sz="1000">
                <a:latin typeface="Arial" panose="020B0604020202020204" pitchFamily="34" charset="0"/>
              </a:rPr>
              <a:t>    </a:t>
            </a:r>
            <a:r>
              <a:rPr lang="en-US" altLang="ru-RU" sz="1000">
                <a:latin typeface="Arial" panose="020B0604020202020204" pitchFamily="34" charset="0"/>
              </a:rPr>
              <a:t> </a:t>
            </a:r>
            <a:r>
              <a:rPr lang="ru-RU" altLang="ru-RU" sz="1000">
                <a:latin typeface="Arial" panose="020B0604020202020204" pitchFamily="34" charset="0"/>
              </a:rPr>
              <a:t>   </a:t>
            </a:r>
            <a:r>
              <a:rPr lang="en-US" altLang="ru-RU" sz="1000">
                <a:latin typeface="Arial" panose="020B0604020202020204" pitchFamily="34" charset="0"/>
              </a:rPr>
              <a:t> </a:t>
            </a:r>
            <a:r>
              <a:rPr lang="ru-RU" altLang="ru-RU" sz="1000">
                <a:latin typeface="Arial" panose="020B0604020202020204" pitchFamily="34" charset="0"/>
              </a:rPr>
              <a:t>1,300.00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 Если бы у нас уже был составлен список максимальных зарплат по каждой должности </a:t>
            </a:r>
            <a:r>
              <a:rPr lang="en-US" altLang="ru-RU" sz="1000">
                <a:latin typeface="Arial" panose="020B0604020202020204" pitchFamily="34" charset="0"/>
              </a:rPr>
              <a:t>LIST</a:t>
            </a:r>
            <a:r>
              <a:rPr lang="ru-RU" altLang="ru-RU" sz="1000">
                <a:latin typeface="Arial" panose="020B0604020202020204" pitchFamily="34" charset="0"/>
              </a:rPr>
              <a:t>=(</a:t>
            </a:r>
            <a:r>
              <a:rPr lang="en-US" altLang="ru-RU" sz="1000">
                <a:latin typeface="Arial" panose="020B0604020202020204" pitchFamily="34" charset="0"/>
              </a:rPr>
              <a:t>MAX</a:t>
            </a:r>
            <a:r>
              <a:rPr lang="ru-RU" altLang="ru-RU" sz="1000">
                <a:latin typeface="Arial" panose="020B0604020202020204" pitchFamily="34" charset="0"/>
              </a:rPr>
              <a:t>1(</a:t>
            </a:r>
            <a:r>
              <a:rPr lang="en-US" altLang="ru-RU" sz="1000">
                <a:latin typeface="Arial" panose="020B0604020202020204" pitchFamily="34" charset="0"/>
              </a:rPr>
              <a:t>sal</a:t>
            </a:r>
            <a:r>
              <a:rPr lang="ru-RU" altLang="ru-RU" sz="1000">
                <a:latin typeface="Arial" panose="020B0604020202020204" pitchFamily="34" charset="0"/>
              </a:rPr>
              <a:t>),  </a:t>
            </a:r>
            <a:r>
              <a:rPr lang="en-US" altLang="ru-RU" sz="1000">
                <a:latin typeface="Arial" panose="020B0604020202020204" pitchFamily="34" charset="0"/>
              </a:rPr>
              <a:t>job</a:t>
            </a:r>
            <a:r>
              <a:rPr lang="ru-RU" altLang="ru-RU" sz="1000">
                <a:latin typeface="Arial" panose="020B0604020202020204" pitchFamily="34" charset="0"/>
              </a:rPr>
              <a:t>1, .....),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то достаточно было бы написать  запрос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     </a:t>
            </a:r>
            <a:r>
              <a:rPr lang="en-US" altLang="ru-RU" sz="1000">
                <a:latin typeface="Arial" panose="020B0604020202020204" pitchFamily="34" charset="0"/>
              </a:rPr>
              <a:t>SELECT  job, ename, salL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     FROM  EMP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     WHERE  (sal, job)  IN </a:t>
            </a:r>
            <a:r>
              <a:rPr lang="en-US" altLang="ru-RU" sz="1000" b="1">
                <a:latin typeface="Arial" panose="020B0604020202020204" pitchFamily="34" charset="0"/>
              </a:rPr>
              <a:t> LIST  </a:t>
            </a:r>
            <a:endParaRPr lang="en-US" altLang="ru-RU" sz="10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     ORDER  BY  salL  DESC;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             </a:t>
            </a:r>
            <a:r>
              <a:rPr lang="ru-RU" altLang="ru-RU" sz="1000">
                <a:latin typeface="Arial" panose="020B0604020202020204" pitchFamily="34" charset="0"/>
              </a:rPr>
              <a:t>Запрос  получающий   список  </a:t>
            </a:r>
            <a:r>
              <a:rPr lang="en-US" altLang="ru-RU" sz="1000">
                <a:latin typeface="Arial" panose="020B0604020202020204" pitchFamily="34" charset="0"/>
              </a:rPr>
              <a:t>LIST</a:t>
            </a:r>
            <a:endParaRPr lang="ru-RU" altLang="ru-RU" sz="10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     </a:t>
            </a:r>
            <a:r>
              <a:rPr lang="en-US" altLang="ru-RU" sz="1000">
                <a:latin typeface="Arial" panose="020B0604020202020204" pitchFamily="34" charset="0"/>
              </a:rPr>
              <a:t>SELECT</a:t>
            </a:r>
            <a:r>
              <a:rPr lang="ru-RU" altLang="ru-RU" sz="1000">
                <a:latin typeface="Arial" panose="020B0604020202020204" pitchFamily="34" charset="0"/>
              </a:rPr>
              <a:t>  </a:t>
            </a:r>
            <a:r>
              <a:rPr lang="en-US" altLang="ru-RU" sz="1000">
                <a:latin typeface="Arial" panose="020B0604020202020204" pitchFamily="34" charset="0"/>
              </a:rPr>
              <a:t>MAX</a:t>
            </a:r>
            <a:r>
              <a:rPr lang="ru-RU" altLang="ru-RU" sz="1000">
                <a:latin typeface="Arial" panose="020B0604020202020204" pitchFamily="34" charset="0"/>
              </a:rPr>
              <a:t>(</a:t>
            </a:r>
            <a:r>
              <a:rPr lang="en-US" altLang="ru-RU" sz="1000">
                <a:latin typeface="Arial" panose="020B0604020202020204" pitchFamily="34" charset="0"/>
              </a:rPr>
              <a:t>sal</a:t>
            </a:r>
            <a:r>
              <a:rPr lang="ru-RU" altLang="ru-RU" sz="1000">
                <a:latin typeface="Arial" panose="020B0604020202020204" pitchFamily="34" charset="0"/>
              </a:rPr>
              <a:t>),  </a:t>
            </a:r>
            <a:r>
              <a:rPr lang="en-US" altLang="ru-RU" sz="1000">
                <a:latin typeface="Arial" panose="020B0604020202020204" pitchFamily="34" charset="0"/>
              </a:rPr>
              <a:t>job</a:t>
            </a:r>
            <a:endParaRPr lang="ru-RU" altLang="ru-RU" sz="10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     </a:t>
            </a:r>
            <a:r>
              <a:rPr lang="en-US" altLang="ru-RU" sz="1000">
                <a:latin typeface="Arial" panose="020B0604020202020204" pitchFamily="34" charset="0"/>
              </a:rPr>
              <a:t>FROM  EMP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     GROUP  BY  job;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u-RU" sz="1000">
                <a:latin typeface="Arial" panose="020B0604020202020204" pitchFamily="34" charset="0"/>
              </a:rPr>
              <a:t>             </a:t>
            </a:r>
            <a:r>
              <a:rPr lang="ru-RU" altLang="ru-RU" sz="1000">
                <a:latin typeface="Arial" panose="020B0604020202020204" pitchFamily="34" charset="0"/>
              </a:rPr>
              <a:t>Остается  вставить  этот  запрос  в  предыдущий  вместо  заглушки  </a:t>
            </a:r>
            <a:r>
              <a:rPr lang="en-US" altLang="ru-RU" sz="1000" b="1">
                <a:latin typeface="Arial" panose="020B0604020202020204" pitchFamily="34" charset="0"/>
              </a:rPr>
              <a:t>LIST</a:t>
            </a:r>
            <a:r>
              <a:rPr lang="ru-RU" altLang="ru-RU" sz="1000" b="1">
                <a:latin typeface="Arial" panose="020B0604020202020204" pitchFamily="34" charset="0"/>
              </a:rPr>
              <a:t>.</a:t>
            </a:r>
            <a:endParaRPr lang="en-US" altLang="ru-RU" sz="1000" b="1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Замечание: Если мы хотим иметь запрос, работающий на всех стадиях его разработки,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000">
                <a:latin typeface="Arial" panose="020B0604020202020204" pitchFamily="34" charset="0"/>
              </a:rPr>
              <a:t>вместо </a:t>
            </a:r>
            <a:r>
              <a:rPr lang="en-US" altLang="ru-RU" sz="1000">
                <a:latin typeface="Arial" panose="020B0604020202020204" pitchFamily="34" charset="0"/>
              </a:rPr>
              <a:t>LIST</a:t>
            </a:r>
            <a:r>
              <a:rPr lang="ru-RU" altLang="ru-RU" sz="1000">
                <a:latin typeface="Arial" panose="020B0604020202020204" pitchFamily="34" charset="0"/>
              </a:rPr>
              <a:t> следует написать конкретный список.</a:t>
            </a:r>
          </a:p>
        </p:txBody>
      </p:sp>
    </p:spTree>
    <p:extLst>
      <p:ext uri="{BB962C8B-B14F-4D97-AF65-F5344CB8AC3E}">
        <p14:creationId xmlns:p14="http://schemas.microsoft.com/office/powerpoint/2010/main" val="3021797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1F52C0-7024-4D24-9112-88F38DBE7EB2}" type="slidenum">
              <a:rPr lang="ru-RU" altLang="ru-RU" sz="1200" smtClean="0">
                <a:solidFill>
                  <a:srgbClr val="000000"/>
                </a:solidFill>
              </a:rPr>
              <a:pPr/>
              <a:t>4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66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A4E2B4-F295-46B4-87D9-3A5E64617BB1}" type="slidenum">
              <a:rPr lang="ru-RU" altLang="ru-RU" sz="1200" smtClean="0">
                <a:solidFill>
                  <a:srgbClr val="000000"/>
                </a:solidFill>
              </a:rPr>
              <a:pPr/>
              <a:t>5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328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7EC33D-433F-4D7C-A9FA-C43ECC164BE3}" type="slidenum">
              <a:rPr lang="ru-RU" altLang="ru-RU" sz="1200" smtClean="0">
                <a:solidFill>
                  <a:srgbClr val="000000"/>
                </a:solidFill>
              </a:rPr>
              <a:pPr/>
              <a:t>6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48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8E8E35-292E-43A4-A8A1-ADA3C8149286}" type="slidenum">
              <a:rPr lang="ru-RU" altLang="ru-RU" sz="1200" smtClean="0">
                <a:solidFill>
                  <a:srgbClr val="000000"/>
                </a:solidFill>
              </a:rPr>
              <a:pPr/>
              <a:t>11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80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1B84F3-73CE-4602-A520-CA4152AE503F}" type="slidenum">
              <a:rPr lang="ru-RU" altLang="ru-RU" sz="1200" smtClean="0">
                <a:solidFill>
                  <a:srgbClr val="000000"/>
                </a:solidFill>
              </a:rPr>
              <a:pPr/>
              <a:t>12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Проектирование запроса с коррелированным подзапросом методом сверху вниз.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 u="sng">
                <a:latin typeface="Arial" panose="020B0604020202020204" pitchFamily="34" charset="0"/>
              </a:rPr>
              <a:t>Пример</a:t>
            </a:r>
            <a:r>
              <a:rPr lang="ru-RU" altLang="ru-RU" sz="800">
                <a:latin typeface="Arial" panose="020B0604020202020204" pitchFamily="34" charset="0"/>
              </a:rPr>
              <a:t>: Выведите указанную информацию о сотрудниках, у которых зарплата выше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средней по их отделу. Упорядочьте результат по номерам отделов.</a:t>
            </a:r>
            <a:endParaRPr lang="en-GB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en-GB" altLang="ru-RU" sz="800">
                <a:latin typeface="Arial" panose="020B0604020202020204" pitchFamily="34" charset="0"/>
              </a:rPr>
              <a:t>ENAME                 SALARY    D</a:t>
            </a:r>
            <a:r>
              <a:rPr lang="en-US" altLang="ru-RU" sz="800">
                <a:latin typeface="Arial" panose="020B0604020202020204" pitchFamily="34" charset="0"/>
              </a:rPr>
              <a:t>E</a:t>
            </a:r>
            <a:r>
              <a:rPr lang="en-GB" altLang="ru-RU" sz="800">
                <a:latin typeface="Arial" panose="020B0604020202020204" pitchFamily="34" charset="0"/>
              </a:rPr>
              <a:t>PTNO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GB" altLang="ru-RU" sz="800">
                <a:latin typeface="Arial" panose="020B0604020202020204" pitchFamily="34" charset="0"/>
              </a:rPr>
              <a:t>-----------------------------------------------------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GB" altLang="ru-RU" sz="800">
                <a:latin typeface="Arial" panose="020B0604020202020204" pitchFamily="34" charset="0"/>
              </a:rPr>
              <a:t>KING                     5000              10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GB" altLang="ru-RU" sz="800">
                <a:latin typeface="Arial" panose="020B0604020202020204" pitchFamily="34" charset="0"/>
              </a:rPr>
              <a:t>JONE</a:t>
            </a:r>
            <a:r>
              <a:rPr lang="en-US" altLang="ru-RU" sz="800">
                <a:latin typeface="Arial" panose="020B0604020202020204" pitchFamily="34" charset="0"/>
              </a:rPr>
              <a:t>S</a:t>
            </a:r>
            <a:r>
              <a:rPr lang="en-GB" altLang="ru-RU" sz="800">
                <a:latin typeface="Arial" panose="020B0604020202020204" pitchFamily="34" charset="0"/>
              </a:rPr>
              <a:t>                   2975              20</a:t>
            </a:r>
            <a:endParaRPr lang="en-US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SCOTT                   3000              20</a:t>
            </a:r>
            <a:endParaRPr lang="en-GB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en-GB" altLang="ru-RU" sz="800">
                <a:latin typeface="Arial" panose="020B0604020202020204" pitchFamily="34" charset="0"/>
              </a:rPr>
              <a:t>FORD                   </a:t>
            </a:r>
            <a:r>
              <a:rPr lang="ru-RU" altLang="ru-RU" sz="800">
                <a:latin typeface="Arial" panose="020B0604020202020204" pitchFamily="34" charset="0"/>
              </a:rPr>
              <a:t> </a:t>
            </a:r>
            <a:r>
              <a:rPr lang="en-US" altLang="ru-RU" sz="800">
                <a:latin typeface="Arial" panose="020B0604020202020204" pitchFamily="34" charset="0"/>
              </a:rPr>
              <a:t>3000              20</a:t>
            </a:r>
            <a:r>
              <a:rPr lang="en-GB" altLang="ru-RU" sz="800">
                <a:latin typeface="Arial" panose="020B0604020202020204" pitchFamily="34" charset="0"/>
              </a:rPr>
              <a:t> 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GB" altLang="ru-RU" sz="800">
                <a:latin typeface="Arial" panose="020B0604020202020204" pitchFamily="34" charset="0"/>
              </a:rPr>
              <a:t>ALLEN</a:t>
            </a:r>
            <a:r>
              <a:rPr lang="en-US" altLang="ru-RU" sz="800">
                <a:latin typeface="Arial" panose="020B0604020202020204" pitchFamily="34" charset="0"/>
              </a:rPr>
              <a:t>                   1600             </a:t>
            </a:r>
            <a:r>
              <a:rPr lang="ru-RU" altLang="ru-RU" sz="800">
                <a:latin typeface="Arial" panose="020B0604020202020204" pitchFamily="34" charset="0"/>
              </a:rPr>
              <a:t> </a:t>
            </a:r>
            <a:r>
              <a:rPr lang="en-US" altLang="ru-RU" sz="800">
                <a:latin typeface="Arial" panose="020B0604020202020204" pitchFamily="34" charset="0"/>
              </a:rPr>
              <a:t>30</a:t>
            </a:r>
            <a:endParaRPr lang="en-GB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en-GB" altLang="ru-RU" sz="800">
                <a:latin typeface="Arial" panose="020B0604020202020204" pitchFamily="34" charset="0"/>
              </a:rPr>
              <a:t>BLAKE</a:t>
            </a:r>
            <a:r>
              <a:rPr lang="en-US" altLang="ru-RU" sz="800">
                <a:latin typeface="Arial" panose="020B0604020202020204" pitchFamily="34" charset="0"/>
              </a:rPr>
              <a:t>                   2850              30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 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Пусть  нам  известна   </a:t>
            </a:r>
            <a:r>
              <a:rPr lang="ru-RU" altLang="ru-RU" sz="800" b="1">
                <a:latin typeface="Arial" panose="020B0604020202020204" pitchFamily="34" charset="0"/>
              </a:rPr>
              <a:t>средняя_заработная_плата</a:t>
            </a:r>
            <a:r>
              <a:rPr lang="ru-RU" altLang="ru-RU" sz="800">
                <a:latin typeface="Arial" panose="020B0604020202020204" pitchFamily="34" charset="0"/>
              </a:rPr>
              <a:t>  по  каждому  отделу.  Тогда</a:t>
            </a:r>
            <a:r>
              <a:rPr lang="en-US" altLang="ru-RU" sz="800">
                <a:latin typeface="Arial" panose="020B0604020202020204" pitchFamily="34" charset="0"/>
              </a:rPr>
              <a:t>  </a:t>
            </a:r>
            <a:r>
              <a:rPr lang="ru-RU" altLang="ru-RU" sz="800">
                <a:latin typeface="Arial" panose="020B0604020202020204" pitchFamily="34" charset="0"/>
              </a:rPr>
              <a:t>внешний</a:t>
            </a:r>
            <a:r>
              <a:rPr lang="en-US" altLang="ru-RU" sz="800">
                <a:latin typeface="Arial" panose="020B0604020202020204" pitchFamily="34" charset="0"/>
              </a:rPr>
              <a:t>  </a:t>
            </a:r>
            <a:r>
              <a:rPr lang="ru-RU" altLang="ru-RU" sz="800">
                <a:latin typeface="Arial" panose="020B0604020202020204" pitchFamily="34" charset="0"/>
              </a:rPr>
              <a:t>запрос</a:t>
            </a:r>
            <a:endParaRPr lang="en-US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SELECT  ENAME,  SAL  SALARY,  DEPTNO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     FROM  EMP  E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     WHERE</a:t>
            </a:r>
            <a:r>
              <a:rPr lang="ru-RU" altLang="ru-RU" sz="800">
                <a:latin typeface="Arial" panose="020B0604020202020204" pitchFamily="34" charset="0"/>
              </a:rPr>
              <a:t>  </a:t>
            </a:r>
            <a:r>
              <a:rPr lang="en-US" altLang="ru-RU" sz="800">
                <a:latin typeface="Arial" panose="020B0604020202020204" pitchFamily="34" charset="0"/>
              </a:rPr>
              <a:t>SAL</a:t>
            </a:r>
            <a:r>
              <a:rPr lang="ru-RU" altLang="ru-RU" sz="800">
                <a:latin typeface="Arial" panose="020B0604020202020204" pitchFamily="34" charset="0"/>
              </a:rPr>
              <a:t>&gt; </a:t>
            </a:r>
            <a:r>
              <a:rPr lang="ru-RU" altLang="ru-RU" sz="800" b="1">
                <a:latin typeface="Arial" panose="020B0604020202020204" pitchFamily="34" charset="0"/>
              </a:rPr>
              <a:t>средняя_заработная_плата(отдел)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 b="1">
                <a:latin typeface="Arial" panose="020B0604020202020204" pitchFamily="34" charset="0"/>
              </a:rPr>
              <a:t>     </a:t>
            </a:r>
            <a:r>
              <a:rPr lang="en-US" altLang="ru-RU" sz="800">
                <a:latin typeface="Arial" panose="020B0604020202020204" pitchFamily="34" charset="0"/>
              </a:rPr>
              <a:t>ORDER</a:t>
            </a:r>
            <a:r>
              <a:rPr lang="ru-RU" altLang="ru-RU" sz="800">
                <a:latin typeface="Arial" panose="020B0604020202020204" pitchFamily="34" charset="0"/>
              </a:rPr>
              <a:t>  </a:t>
            </a:r>
            <a:r>
              <a:rPr lang="en-US" altLang="ru-RU" sz="800">
                <a:latin typeface="Arial" panose="020B0604020202020204" pitchFamily="34" charset="0"/>
              </a:rPr>
              <a:t>BY</a:t>
            </a:r>
            <a:r>
              <a:rPr lang="ru-RU" altLang="ru-RU" sz="800">
                <a:latin typeface="Arial" panose="020B0604020202020204" pitchFamily="34" charset="0"/>
              </a:rPr>
              <a:t>  </a:t>
            </a:r>
            <a:r>
              <a:rPr lang="en-US" altLang="ru-RU" sz="800">
                <a:latin typeface="Arial" panose="020B0604020202020204" pitchFamily="34" charset="0"/>
              </a:rPr>
              <a:t>DEPTNO</a:t>
            </a:r>
            <a:endParaRPr lang="ru-RU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          Псевдоним  </a:t>
            </a:r>
            <a:r>
              <a:rPr lang="en-US" altLang="ru-RU" sz="800">
                <a:latin typeface="Arial" panose="020B0604020202020204" pitchFamily="34" charset="0"/>
              </a:rPr>
              <a:t>E</a:t>
            </a:r>
            <a:r>
              <a:rPr lang="ru-RU" altLang="ru-RU" sz="800">
                <a:latin typeface="Arial" panose="020B0604020202020204" pitchFamily="34" charset="0"/>
              </a:rPr>
              <a:t>  для  </a:t>
            </a:r>
            <a:r>
              <a:rPr lang="en-US" altLang="ru-RU" sz="800">
                <a:latin typeface="Arial" panose="020B0604020202020204" pitchFamily="34" charset="0"/>
              </a:rPr>
              <a:t>EMP</a:t>
            </a:r>
            <a:r>
              <a:rPr lang="ru-RU" altLang="ru-RU" sz="800">
                <a:latin typeface="Arial" panose="020B0604020202020204" pitchFamily="34" charset="0"/>
              </a:rPr>
              <a:t>  подставлен для  будущего  подзапроса.  Мы  ведь  знаем,  что 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1. во внутреннем коррелированном запросе обязательно будет использован столбец из внешнего запроса;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2. внутренний запрос, вычисляющий среднюю заработную плату будет использовать </a:t>
            </a:r>
            <a:endParaRPr lang="en-US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ту же таблицу  </a:t>
            </a:r>
            <a:r>
              <a:rPr lang="en-US" altLang="ru-RU" sz="800">
                <a:latin typeface="Arial" panose="020B0604020202020204" pitchFamily="34" charset="0"/>
              </a:rPr>
              <a:t>EMP; </a:t>
            </a:r>
            <a:r>
              <a:rPr lang="ru-RU" altLang="ru-RU" sz="800">
                <a:latin typeface="Arial" panose="020B0604020202020204" pitchFamily="34" charset="0"/>
              </a:rPr>
              <a:t>поэтому она выступает как две -- один экземпляр </a:t>
            </a:r>
            <a:r>
              <a:rPr lang="en-US" altLang="ru-RU" sz="800">
                <a:latin typeface="Arial" panose="020B0604020202020204" pitchFamily="34" charset="0"/>
              </a:rPr>
              <a:t>EMP </a:t>
            </a:r>
            <a:r>
              <a:rPr lang="ru-RU" altLang="ru-RU" sz="800">
                <a:latin typeface="Arial" panose="020B0604020202020204" pitchFamily="34" charset="0"/>
              </a:rPr>
              <a:t>для </a:t>
            </a:r>
            <a:endParaRPr lang="en-US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подзапроса, другой для внешнего запроса.  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         Остается написать подзапрос, вычисляющий </a:t>
            </a:r>
            <a:r>
              <a:rPr lang="ru-RU" altLang="ru-RU" sz="800" b="1">
                <a:latin typeface="Arial" panose="020B0604020202020204" pitchFamily="34" charset="0"/>
              </a:rPr>
              <a:t>среднюю_заработную_плату</a:t>
            </a:r>
            <a:r>
              <a:rPr lang="ru-RU" altLang="ru-RU" sz="800">
                <a:latin typeface="Arial" panose="020B0604020202020204" pitchFamily="34" charset="0"/>
              </a:rPr>
              <a:t> для </a:t>
            </a:r>
            <a:endParaRPr lang="en-US" altLang="ru-RU" sz="800">
              <a:latin typeface="Arial" panose="020B0604020202020204" pitchFamily="34" charset="0"/>
            </a:endParaRPr>
          </a:p>
          <a:p>
            <a:pPr marL="228600" indent="-228600" eaLnBrk="1" hangingPunct="1">
              <a:lnSpc>
                <a:spcPct val="80000"/>
              </a:lnSpc>
            </a:pPr>
            <a:r>
              <a:rPr lang="ru-RU" altLang="ru-RU" sz="800">
                <a:latin typeface="Arial" panose="020B0604020202020204" pitchFamily="34" charset="0"/>
              </a:rPr>
              <a:t>отдела</a:t>
            </a:r>
            <a:r>
              <a:rPr lang="en-US" altLang="ru-RU" sz="800">
                <a:latin typeface="Arial" panose="020B0604020202020204" pitchFamily="34" charset="0"/>
              </a:rPr>
              <a:t> </a:t>
            </a:r>
            <a:r>
              <a:rPr lang="ru-RU" altLang="ru-RU" sz="800">
                <a:latin typeface="Arial" panose="020B0604020202020204" pitchFamily="34" charset="0"/>
              </a:rPr>
              <a:t>с номером </a:t>
            </a:r>
            <a:r>
              <a:rPr lang="en-US" altLang="ru-RU" sz="800">
                <a:latin typeface="Arial" panose="020B0604020202020204" pitchFamily="34" charset="0"/>
              </a:rPr>
              <a:t>E.DEPTNO, </a:t>
            </a:r>
            <a:r>
              <a:rPr lang="ru-RU" altLang="ru-RU" sz="800">
                <a:latin typeface="Arial" panose="020B0604020202020204" pitchFamily="34" charset="0"/>
              </a:rPr>
              <a:t>определенным внешним запросом: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SELECT  AVG(SAL)  FROM  EMP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  </a:t>
            </a:r>
            <a:r>
              <a:rPr lang="ru-RU" altLang="ru-RU" sz="800">
                <a:latin typeface="Arial" panose="020B0604020202020204" pitchFamily="34" charset="0"/>
              </a:rPr>
              <a:t> </a:t>
            </a:r>
            <a:r>
              <a:rPr lang="en-US" altLang="ru-RU" sz="800">
                <a:latin typeface="Arial" panose="020B0604020202020204" pitchFamily="34" charset="0"/>
              </a:rPr>
              <a:t> WHERE  DEPTNO=E.DEPTNO</a:t>
            </a:r>
          </a:p>
          <a:p>
            <a:pPr marL="228600" indent="-228600" eaLnBrk="1" hangingPunct="1">
              <a:lnSpc>
                <a:spcPct val="80000"/>
              </a:lnSpc>
            </a:pPr>
            <a:r>
              <a:rPr lang="en-US" altLang="ru-RU" sz="800">
                <a:latin typeface="Arial" panose="020B0604020202020204" pitchFamily="34" charset="0"/>
              </a:rPr>
              <a:t>          </a:t>
            </a:r>
            <a:r>
              <a:rPr lang="ru-RU" altLang="ru-RU" sz="800">
                <a:latin typeface="Arial" panose="020B0604020202020204" pitchFamily="34" charset="0"/>
              </a:rPr>
              <a:t>Теперь заменяем им заглушку во внешнем запросе.</a:t>
            </a:r>
          </a:p>
        </p:txBody>
      </p:sp>
    </p:spTree>
    <p:extLst>
      <p:ext uri="{BB962C8B-B14F-4D97-AF65-F5344CB8AC3E}">
        <p14:creationId xmlns:p14="http://schemas.microsoft.com/office/powerpoint/2010/main" val="161068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03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77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09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90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30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28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88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54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82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93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2C89C-6E1B-4648-BE5D-637E2C7E408E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AB6AD-BA69-4EF6-B661-138280069E88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01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DA602-C0BA-4FBE-AE46-BFCAD6D2A492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10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A11EA-47ED-4172-B30A-EBC585191815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097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4A518D-346A-4E64-AC0E-6EAF3EDC72CD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677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91CA1-EE0F-423B-8213-4618A1EC4D88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402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7CA9F-7B28-4507-8B02-AB9A6A62FEB1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104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A3966-62D0-419E-B472-B8D695A6CB1D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26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38612-0B18-4A59-BA32-0183D7D01FA7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0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D84C0-91A1-4783-9D3E-0A804478081D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272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8C807-D8CF-4EB0-825D-661C7E20F9C2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5924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1FE44-C011-45B8-A567-D21998B34596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80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07A66-B640-42B9-BFAC-5446434BD64B}" type="slidenum">
              <a:rPr lang="ru-RU" alt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0255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1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8975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467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868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2296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289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9693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803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2415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1218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919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4924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5030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0547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479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2884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3437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1123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201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552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4071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F1026-F8B4-4845-A58B-3D7BF2E815E3}" type="datetimeFigureOut">
              <a:rPr lang="ru-RU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2256-7FDE-408F-90DE-0369EF77B26A}" type="slidenum">
              <a:rPr lang="ru-R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29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89556-2D74-492B-A8E2-FD4F7B69A636}" type="datetimeFigureOut">
              <a:rPr lang="ru-RU" smtClean="0"/>
              <a:t>11.11.2021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82C7E-E2C3-4E19-8FD6-FFFDD97AF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07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>
                <a:latin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>
                <a:latin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562065-7387-4AF6-9801-9946F8773515}" type="slidenum">
              <a:rPr lang="ru-RU" alt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318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F1026-F8B4-4845-A58B-3D7BF2E815E3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2256-7FDE-408F-90DE-0369EF77B26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40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F1026-F8B4-4845-A58B-3D7BF2E815E3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11.11.2021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2256-7FDE-408F-90DE-0369EF77B26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7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citforum.ru/database/oracle/recursive/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79680"/>
            <a:ext cx="9144000" cy="2838423"/>
          </a:xfrm>
        </p:spPr>
        <p:txBody>
          <a:bodyPr>
            <a:normAutofit/>
          </a:bodyPr>
          <a:lstStyle/>
          <a:p>
            <a:r>
              <a:rPr lang="ru-RU" sz="4400" dirty="0"/>
              <a:t>Подзапросы</a:t>
            </a:r>
            <a:br>
              <a:rPr lang="ru-RU" sz="4400" dirty="0"/>
            </a:br>
            <a:r>
              <a:rPr lang="ru-RU" sz="4400" dirty="0"/>
              <a:t>Обобщённые табличные выражения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906838"/>
            <a:ext cx="9144000" cy="1655762"/>
          </a:xfrm>
        </p:spPr>
        <p:txBody>
          <a:bodyPr/>
          <a:lstStyle/>
          <a:p>
            <a:r>
              <a:rPr lang="ru-RU" dirty="0"/>
              <a:t>Бессарабов Н.В.</a:t>
            </a:r>
          </a:p>
          <a:p>
            <a:r>
              <a:rPr lang="ru-RU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1799096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6471"/>
          </a:xfrm>
        </p:spPr>
        <p:txBody>
          <a:bodyPr/>
          <a:lstStyle/>
          <a:p>
            <a:pPr algn="ctr"/>
            <a:r>
              <a:rPr lang="ru-RU" altLang="ru-RU" sz="3600" kern="0" dirty="0">
                <a:solidFill>
                  <a:srgbClr val="CE2816"/>
                </a:solidFill>
                <a:latin typeface="Arial"/>
              </a:rPr>
              <a:t>Подзапросы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96471"/>
            <a:ext cx="10515600" cy="5280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i="1" dirty="0">
                <a:latin typeface="Times New Roman" panose="02020603050405020304" pitchFamily="18" charset="0"/>
              </a:rPr>
              <a:t>     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Подзапрос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или вложенный запрос – это запрос, результат которого передается в качестве аргумента в другую инструкцию, в частности в запрос. </a:t>
            </a: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     Подзапрос можно использовать в инструкции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создания копий таблиц. </a:t>
            </a: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  создать копию таблицы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 именем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newdept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newdept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deptno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AS SELECT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deptno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newdept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dname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AS SELECT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dname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deptno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&gt;1;</a:t>
            </a:r>
          </a:p>
          <a:p>
            <a:pPr marL="0" indent="0">
              <a:buNone/>
            </a:pPr>
            <a:r>
              <a:rPr lang="ru-RU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Подзапросы</a:t>
            </a:r>
            <a:r>
              <a:rPr lang="ru-RU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можно использовать:</a:t>
            </a:r>
          </a:p>
          <a:p>
            <a:pPr lvl="0"/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инструкциях INSERT или CREATE TABLE для определения множества строк, вставляемых в целевую таблицу. </a:t>
            </a:r>
          </a:p>
          <a:p>
            <a:pPr lvl="0"/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инструкции UPDATE для определения новых значений для существующих строк.</a:t>
            </a:r>
          </a:p>
          <a:p>
            <a:pPr lvl="0"/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 фразах WHERE, HAVING инструкций SELECT, UPDATE, и DELETE для формирования  необходимых условий. </a:t>
            </a:r>
          </a:p>
          <a:p>
            <a:pPr marL="0" lvl="0" indent="0">
              <a:buNone/>
            </a:pPr>
            <a:endParaRPr lang="en-US" sz="20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4221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2F1F28-10CC-415C-A6DF-604D106D56DF}" type="slidenum">
              <a:rPr lang="ru-RU" altLang="ru-RU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206469"/>
            <a:ext cx="8229600" cy="476250"/>
          </a:xfrm>
        </p:spPr>
        <p:txBody>
          <a:bodyPr/>
          <a:lstStyle/>
          <a:p>
            <a:pPr eaLnBrk="1" hangingPunct="1"/>
            <a:r>
              <a:rPr lang="ru-RU" altLang="ru-RU" sz="3200" dirty="0">
                <a:solidFill>
                  <a:srgbClr val="CE2816"/>
                </a:solidFill>
              </a:rPr>
              <a:t>Подзапросы в запросах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68188"/>
            <a:ext cx="8853488" cy="5700900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altLang="ru-RU" sz="2000" dirty="0"/>
              <a:t>	Подзапрос - это  инструкция  </a:t>
            </a:r>
            <a:r>
              <a:rPr lang="en-US" altLang="ru-RU" sz="2000" dirty="0"/>
              <a:t>SELECT</a:t>
            </a:r>
            <a:r>
              <a:rPr lang="ru-RU" altLang="ru-RU" sz="2000" dirty="0"/>
              <a:t>,  вложенная  в  другую </a:t>
            </a:r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altLang="ru-RU" sz="2000" dirty="0">
                <a:solidFill>
                  <a:srgbClr val="000000"/>
                </a:solidFill>
              </a:rPr>
              <a:t>инструкцию</a:t>
            </a:r>
            <a:r>
              <a:rPr lang="ru-RU" altLang="ru-RU" sz="2000" dirty="0"/>
              <a:t>   </a:t>
            </a:r>
            <a:r>
              <a:rPr lang="en-US" altLang="ru-RU" sz="2000" dirty="0"/>
              <a:t>SELECT  </a:t>
            </a:r>
            <a:r>
              <a:rPr lang="ru-RU" altLang="ru-RU" sz="2000" dirty="0"/>
              <a:t>для  получения  промежуточных  результатов. Подзапросы  всегда  выполняются  от  внутренних  к  внешним  (за  </a:t>
            </a:r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altLang="ru-RU" sz="2000" dirty="0"/>
              <a:t>исключением  коррелированных  подзапросов.  </a:t>
            </a:r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altLang="ru-RU" sz="2000" dirty="0"/>
              <a:t>	Подзапрос может быть вложен:</a:t>
            </a:r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</a:pPr>
            <a:r>
              <a:rPr lang="ru-RU" altLang="ru-RU" sz="2000" dirty="0"/>
              <a:t>во фразу </a:t>
            </a:r>
            <a:r>
              <a:rPr lang="en-US" altLang="ru-RU" sz="2000" dirty="0"/>
              <a:t>FROM;</a:t>
            </a:r>
            <a:r>
              <a:rPr lang="ru-RU" altLang="ru-RU" sz="2000" dirty="0"/>
              <a:t> подзапрос готовит промежуточную таблицу, данные которой использует основной запрос;</a:t>
            </a:r>
            <a:endParaRPr lang="en-US" altLang="ru-RU" sz="2000" dirty="0"/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</a:pPr>
            <a:r>
              <a:rPr lang="ru-RU" altLang="ru-RU" sz="2000" dirty="0"/>
              <a:t>во фразы </a:t>
            </a:r>
            <a:r>
              <a:rPr lang="en-US" altLang="ru-RU" sz="2000" dirty="0"/>
              <a:t>WHERE </a:t>
            </a:r>
            <a:r>
              <a:rPr lang="ru-RU" altLang="ru-RU" sz="2000" dirty="0"/>
              <a:t>и </a:t>
            </a:r>
            <a:r>
              <a:rPr lang="en-US" altLang="ru-RU" sz="2000" dirty="0"/>
              <a:t>HAVING</a:t>
            </a:r>
            <a:r>
              <a:rPr lang="ru-RU" altLang="ru-RU" sz="2000" dirty="0"/>
              <a:t>,</a:t>
            </a:r>
            <a:r>
              <a:rPr lang="en-US" altLang="ru-RU" sz="2000" dirty="0"/>
              <a:t> </a:t>
            </a:r>
            <a:r>
              <a:rPr lang="ru-RU" altLang="ru-RU" sz="2000" dirty="0"/>
              <a:t>в условиях сравнения; подзапрос выбирает одну или несколько строк сравниваемых основным запросом (в том числе используя </a:t>
            </a:r>
            <a:r>
              <a:rPr lang="en-US" altLang="ru-RU" sz="2000" dirty="0"/>
              <a:t>IN </a:t>
            </a:r>
            <a:r>
              <a:rPr lang="ru-RU" altLang="ru-RU" sz="2000" dirty="0"/>
              <a:t>и </a:t>
            </a:r>
            <a:r>
              <a:rPr lang="en-US" altLang="ru-RU" sz="2000" dirty="0"/>
              <a:t>BETWEEN </a:t>
            </a:r>
            <a:r>
              <a:rPr lang="ru-RU" altLang="ru-RU" sz="2000" dirty="0"/>
              <a:t>);</a:t>
            </a:r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</a:pPr>
            <a:r>
              <a:rPr lang="ru-RU" altLang="ru-RU" sz="2000" dirty="0"/>
              <a:t>во фразу </a:t>
            </a:r>
            <a:r>
              <a:rPr lang="en-GB" altLang="ru-RU" sz="2000" dirty="0"/>
              <a:t>SELECT </a:t>
            </a:r>
            <a:r>
              <a:rPr lang="ru-RU" altLang="ru-RU" sz="2000" dirty="0"/>
              <a:t>(имеет смысл только коррелированный подзапрос).</a:t>
            </a:r>
            <a:endParaRPr lang="en-US" altLang="ru-RU" sz="2000" dirty="0"/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altLang="ru-RU" sz="2000" dirty="0"/>
              <a:t>Синтаксис простого подзапроса, включённого во фразу </a:t>
            </a:r>
            <a:r>
              <a:rPr lang="en-US" altLang="ru-RU" sz="2000" dirty="0"/>
              <a:t>WHERE</a:t>
            </a:r>
            <a:r>
              <a:rPr lang="ru-RU" altLang="ru-RU" sz="2000" dirty="0"/>
              <a:t>:</a:t>
            </a:r>
          </a:p>
          <a:p>
            <a:pPr marL="381000" indent="-3810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altLang="ru-RU" sz="2000" dirty="0"/>
              <a:t>      </a:t>
            </a:r>
            <a:r>
              <a:rPr lang="en-US" altLang="ru-RU" sz="2000" dirty="0"/>
              <a:t>SELECT</a:t>
            </a:r>
            <a:r>
              <a:rPr lang="ru-RU" altLang="ru-RU" sz="2000" dirty="0"/>
              <a:t>  .......                                            </a:t>
            </a:r>
            <a:endParaRPr lang="en-US" altLang="ru-RU" sz="2000" dirty="0"/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ru-RU" sz="2000" dirty="0"/>
              <a:t>    </a:t>
            </a:r>
            <a:r>
              <a:rPr lang="ru-RU" altLang="ru-RU" sz="2000" dirty="0"/>
              <a:t> </a:t>
            </a:r>
            <a:r>
              <a:rPr lang="en-US" altLang="ru-RU" sz="2000" dirty="0"/>
              <a:t> FROM   </a:t>
            </a:r>
            <a:r>
              <a:rPr lang="ru-RU" altLang="ru-RU" sz="2000" dirty="0"/>
              <a:t>имя</a:t>
            </a:r>
            <a:r>
              <a:rPr lang="en-US" altLang="ru-RU" sz="2000" dirty="0"/>
              <a:t>_</a:t>
            </a:r>
            <a:r>
              <a:rPr lang="ru-RU" altLang="ru-RU" sz="2000" dirty="0" err="1"/>
              <a:t>табл</a:t>
            </a:r>
            <a:r>
              <a:rPr lang="en-US" altLang="ru-RU" sz="2000" dirty="0"/>
              <a:t>1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ru-RU" sz="2000" dirty="0"/>
              <a:t>     </a:t>
            </a:r>
            <a:r>
              <a:rPr lang="ru-RU" altLang="ru-RU" sz="2000" dirty="0"/>
              <a:t> </a:t>
            </a:r>
            <a:r>
              <a:rPr lang="en-US" altLang="ru-RU" sz="2000" dirty="0"/>
              <a:t>WHERE </a:t>
            </a:r>
            <a:r>
              <a:rPr lang="ru-RU" altLang="ru-RU" sz="2000" dirty="0"/>
              <a:t>имя сравнение </a:t>
            </a:r>
            <a:r>
              <a:rPr lang="en-US" altLang="ru-RU" sz="2000" dirty="0"/>
              <a:t>(SELECT </a:t>
            </a:r>
            <a:r>
              <a:rPr lang="ru-RU" altLang="ru-RU" sz="2000" dirty="0"/>
              <a:t>столбец</a:t>
            </a:r>
            <a:r>
              <a:rPr lang="en-US" altLang="ru-RU" sz="2000" dirty="0"/>
              <a:t>           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altLang="ru-RU" sz="2000" dirty="0"/>
              <a:t>                                 FROM</a:t>
            </a:r>
            <a:r>
              <a:rPr lang="ru-RU" altLang="ru-RU" sz="2000" dirty="0"/>
              <a:t> табл2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ru-RU" altLang="ru-RU" sz="2000" dirty="0"/>
              <a:t>                                 </a:t>
            </a:r>
            <a:r>
              <a:rPr lang="en-US" altLang="ru-RU" sz="2000" dirty="0"/>
              <a:t>WHERE</a:t>
            </a:r>
            <a:r>
              <a:rPr lang="ru-RU" altLang="ru-RU" sz="2000" dirty="0"/>
              <a:t> условие )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ru-RU" altLang="ru-RU" sz="2000" dirty="0"/>
              <a:t>	</a:t>
            </a:r>
            <a:r>
              <a:rPr lang="ru-RU" altLang="ru-RU" sz="2000" u="sng" dirty="0"/>
              <a:t>Напоминаем</a:t>
            </a:r>
            <a:r>
              <a:rPr lang="ru-RU" altLang="ru-RU" sz="2000" dirty="0"/>
              <a:t>: Во фразе </a:t>
            </a:r>
            <a:r>
              <a:rPr lang="en-US" altLang="ru-RU" sz="2000" dirty="0"/>
              <a:t>SELECT</a:t>
            </a:r>
            <a:r>
              <a:rPr lang="ru-RU" altLang="ru-RU" sz="2000" dirty="0"/>
              <a:t> имеет смысл только коррелированный 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r>
              <a:rPr lang="ru-RU" altLang="ru-RU" sz="2000" dirty="0"/>
              <a:t>подзапрос. Подумайте, почему так?</a:t>
            </a:r>
          </a:p>
        </p:txBody>
      </p:sp>
    </p:spTree>
    <p:extLst>
      <p:ext uri="{BB962C8B-B14F-4D97-AF65-F5344CB8AC3E}">
        <p14:creationId xmlns:p14="http://schemas.microsoft.com/office/powerpoint/2010/main" val="1791253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69AAF8-BD14-410D-BCFD-4653F60F6D78}" type="slidenum">
              <a:rPr lang="ru-RU" altLang="ru-RU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pPr eaLnBrk="1" hangingPunct="1"/>
            <a:r>
              <a:rPr lang="ru-RU" altLang="ru-RU" sz="4000">
                <a:solidFill>
                  <a:srgbClr val="CE2816"/>
                </a:solidFill>
              </a:rPr>
              <a:t>Однострочные подзапросы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143001"/>
            <a:ext cx="8229600" cy="49831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b="1"/>
              <a:t>	Однострочный</a:t>
            </a:r>
            <a:r>
              <a:rPr lang="en-US" altLang="ru-RU" sz="2000" b="1"/>
              <a:t> </a:t>
            </a:r>
            <a:r>
              <a:rPr lang="ru-RU" altLang="ru-RU" sz="2000" b="1"/>
              <a:t>подзапрос</a:t>
            </a:r>
            <a:r>
              <a:rPr lang="ru-RU" altLang="ru-RU" sz="2000"/>
              <a:t> возвращает ровно одну строку.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/>
              <a:t>	С однострочными подзапросами используются однострочные </a:t>
            </a:r>
            <a:endParaRPr lang="en-US" altLang="ru-RU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/>
              <a:t>операторы</a:t>
            </a:r>
            <a:r>
              <a:rPr lang="en-US" altLang="ru-RU" sz="2000"/>
              <a:t> </a:t>
            </a:r>
            <a:r>
              <a:rPr lang="ru-RU" altLang="ru-RU" sz="2000"/>
              <a:t>сравнения: </a:t>
            </a:r>
            <a:r>
              <a:rPr lang="en-US" altLang="ru-RU" sz="2000"/>
              <a:t>&gt;, =, &gt;=, &lt;, &lt;&gt;, &lt;=</a:t>
            </a:r>
            <a:endParaRPr lang="ru-RU" altLang="ru-RU" sz="200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 u="sng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u="sng"/>
              <a:t>Пример однострочного подзапроса</a:t>
            </a:r>
            <a:r>
              <a:rPr lang="ru-RU" altLang="ru-RU" sz="2000" i="1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SELECT  ename, job, sal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FROM     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WHERE  mgr</a:t>
            </a:r>
            <a:r>
              <a:rPr lang="ru-RU" altLang="ru-RU" sz="2000"/>
              <a:t> </a:t>
            </a:r>
            <a:r>
              <a:rPr lang="en-US" altLang="ru-RU" sz="2000"/>
              <a:t>=</a:t>
            </a:r>
            <a:r>
              <a:rPr lang="ru-RU" altLang="ru-RU" sz="2000"/>
              <a:t> </a:t>
            </a:r>
            <a:r>
              <a:rPr lang="en-US" altLang="ru-RU" sz="2000"/>
              <a:t>(SELECT empno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			</a:t>
            </a:r>
            <a:r>
              <a:rPr lang="ru-RU" altLang="ru-RU" sz="2000"/>
              <a:t>  </a:t>
            </a:r>
            <a:r>
              <a:rPr lang="en-US" altLang="ru-RU" sz="2000"/>
              <a:t>FROM 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			</a:t>
            </a:r>
            <a:r>
              <a:rPr lang="ru-RU" altLang="ru-RU" sz="2000"/>
              <a:t>  </a:t>
            </a:r>
            <a:r>
              <a:rPr lang="en-US" altLang="ru-RU" sz="2000"/>
              <a:t>WHERE ename=‘FORD’)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AND sal</a:t>
            </a:r>
            <a:r>
              <a:rPr lang="ru-RU" altLang="ru-RU" sz="2000"/>
              <a:t> </a:t>
            </a:r>
            <a:r>
              <a:rPr lang="en-US" altLang="ru-RU" sz="2000"/>
              <a:t>&gt;</a:t>
            </a:r>
            <a:r>
              <a:rPr lang="ru-RU" altLang="ru-RU" sz="2000"/>
              <a:t> </a:t>
            </a:r>
            <a:r>
              <a:rPr lang="en-US" altLang="ru-RU" sz="2000"/>
              <a:t>(SELECT sal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		        </a:t>
            </a:r>
            <a:r>
              <a:rPr lang="ru-RU" altLang="ru-RU" sz="2000"/>
              <a:t> </a:t>
            </a:r>
            <a:r>
              <a:rPr lang="en-US" altLang="ru-RU" sz="2000"/>
              <a:t> </a:t>
            </a:r>
            <a:r>
              <a:rPr lang="ru-RU" altLang="ru-RU" sz="2000"/>
              <a:t> </a:t>
            </a:r>
            <a:r>
              <a:rPr lang="en-US" altLang="ru-RU" sz="2000"/>
              <a:t>FROM 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		         </a:t>
            </a:r>
            <a:r>
              <a:rPr lang="ru-RU" altLang="ru-RU" sz="2000"/>
              <a:t>  </a:t>
            </a:r>
            <a:r>
              <a:rPr lang="en-US" altLang="ru-RU" sz="2000"/>
              <a:t>WHERE empno=7654)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	</a:t>
            </a:r>
            <a:r>
              <a:rPr lang="ru-RU" altLang="ru-RU" sz="2000"/>
              <a:t>Обязательно запишите задание, по которому составлен этот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/>
              <a:t>не слишком </a:t>
            </a:r>
            <a:r>
              <a:rPr lang="en-US" altLang="ru-RU" sz="2000"/>
              <a:t>“</a:t>
            </a:r>
            <a:r>
              <a:rPr lang="ru-RU" altLang="ru-RU" sz="2000"/>
              <a:t>умный</a:t>
            </a:r>
            <a:r>
              <a:rPr lang="en-US" altLang="ru-RU" sz="2000"/>
              <a:t>” </a:t>
            </a:r>
            <a:r>
              <a:rPr lang="ru-RU" altLang="ru-RU" sz="2000"/>
              <a:t>запрос.</a:t>
            </a:r>
          </a:p>
        </p:txBody>
      </p:sp>
    </p:spTree>
    <p:extLst>
      <p:ext uri="{BB962C8B-B14F-4D97-AF65-F5344CB8AC3E}">
        <p14:creationId xmlns:p14="http://schemas.microsoft.com/office/powerpoint/2010/main" val="136275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7CEDB2-7BCF-40FD-BB34-2B501DB7131F}" type="slidenum">
              <a:rPr lang="ru-RU" altLang="ru-RU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1"/>
            <a:ext cx="8229600" cy="715963"/>
          </a:xfrm>
        </p:spPr>
        <p:txBody>
          <a:bodyPr/>
          <a:lstStyle/>
          <a:p>
            <a:pPr eaLnBrk="1" hangingPunct="1"/>
            <a:r>
              <a:rPr lang="ru-RU" altLang="ru-RU" sz="4000">
                <a:solidFill>
                  <a:srgbClr val="CE2816"/>
                </a:solidFill>
              </a:rPr>
              <a:t>Многострочные подзапросы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692150"/>
            <a:ext cx="8496300" cy="60721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b="1"/>
              <a:t>	Многострочный подзапрос</a:t>
            </a:r>
            <a:r>
              <a:rPr lang="ru-RU" altLang="ru-RU" sz="2000"/>
              <a:t> может вернуть несколько строк.</a:t>
            </a:r>
            <a:endParaRPr lang="en-US" altLang="ru-RU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/>
              <a:t>	Операторы сравнения для многострочных подзапросов: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IN</a:t>
            </a:r>
            <a:r>
              <a:rPr lang="ru-RU" altLang="ru-RU" sz="2000"/>
              <a:t> </a:t>
            </a:r>
            <a:r>
              <a:rPr lang="en-US" altLang="ru-RU" sz="2000"/>
              <a:t>(</a:t>
            </a:r>
            <a:r>
              <a:rPr lang="ru-RU" altLang="ru-RU" sz="2000"/>
              <a:t>подзапрос) - равенство любому из значений; можно понимать 		 	 так: </a:t>
            </a:r>
            <a:r>
              <a:rPr lang="en-US" altLang="ru-RU" sz="2000"/>
              <a:t>“</a:t>
            </a:r>
            <a:r>
              <a:rPr lang="ru-RU" altLang="ru-RU" sz="2000"/>
              <a:t>находится в списке, полученном подзапросом</a:t>
            </a:r>
            <a:r>
              <a:rPr lang="en-US" altLang="ru-RU" sz="2000"/>
              <a:t>”</a:t>
            </a:r>
            <a:r>
              <a:rPr lang="ru-RU" altLang="ru-RU" sz="200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ANY/SOME </a:t>
            </a:r>
            <a:r>
              <a:rPr lang="ru-RU" altLang="ru-RU" sz="2000"/>
              <a:t>    </a:t>
            </a:r>
            <a:r>
              <a:rPr lang="en-US" altLang="ru-RU" sz="2000"/>
              <a:t> - </a:t>
            </a:r>
            <a:r>
              <a:rPr lang="ru-RU" altLang="ru-RU" sz="2000"/>
              <a:t>сравнение выполняется хоть для какого-нибудь 			 значения из списка, полученного подзапросом;</a:t>
            </a:r>
            <a:endParaRPr lang="en-US" altLang="ru-RU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ALL </a:t>
            </a:r>
            <a:r>
              <a:rPr lang="ru-RU" altLang="ru-RU" sz="2000"/>
              <a:t>                  - сравнение верно для всех значений;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EXISTS </a:t>
            </a:r>
            <a:r>
              <a:rPr lang="ru-RU" altLang="ru-RU" sz="2000"/>
              <a:t>            -</a:t>
            </a:r>
            <a:r>
              <a:rPr lang="en-US" altLang="ru-RU" sz="2000"/>
              <a:t> </a:t>
            </a:r>
            <a:r>
              <a:rPr lang="ru-RU" altLang="ru-RU" sz="2000"/>
              <a:t>значение существует в списке, полученном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/>
              <a:t>			  подзапросом;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NOT EXISTS </a:t>
            </a:r>
            <a:r>
              <a:rPr lang="ru-RU" altLang="ru-RU" sz="2000"/>
              <a:t>   -</a:t>
            </a:r>
            <a:r>
              <a:rPr lang="en-US" altLang="ru-RU" sz="2000"/>
              <a:t> </a:t>
            </a:r>
            <a:r>
              <a:rPr lang="ru-RU" altLang="ru-RU" sz="2000"/>
              <a:t>значение не существует в списке, полученном 			  подзапросом.</a:t>
            </a:r>
            <a:endParaRPr lang="en-US" altLang="ru-RU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u="sng"/>
              <a:t>Пример</a:t>
            </a:r>
            <a:r>
              <a:rPr lang="ru-RU" altLang="ru-RU" sz="2000" i="1"/>
              <a:t> </a:t>
            </a:r>
            <a:r>
              <a:rPr lang="ru-RU" altLang="ru-RU" sz="2000"/>
              <a:t>многострочного подзапроса с оператором сравнения </a:t>
            </a:r>
            <a:r>
              <a:rPr lang="en-US" altLang="ru-RU" sz="2000"/>
              <a:t>IN</a:t>
            </a:r>
            <a:r>
              <a:rPr lang="ru-RU" altLang="ru-RU" sz="200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SELECT ename, sal, deptno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FROM 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WHERE sal IN (SELECT MIN(sal)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			     FROM 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/>
              <a:t>			     GROUP BY deptno)</a:t>
            </a:r>
            <a:endParaRPr lang="ru-RU" altLang="ru-RU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/>
              <a:t>	Обязательно составьте условие задачи, для которой написан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/>
              <a:t>запрос.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ru-RU" sz="2000" b="1" i="1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000"/>
          </a:p>
        </p:txBody>
      </p:sp>
    </p:spTree>
    <p:extLst>
      <p:ext uri="{BB962C8B-B14F-4D97-AF65-F5344CB8AC3E}">
        <p14:creationId xmlns:p14="http://schemas.microsoft.com/office/powerpoint/2010/main" val="198400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EA5A73-E00F-42C9-B119-C7C78A01294F}" type="slidenum">
              <a:rPr lang="ru-RU" altLang="ru-RU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0"/>
            <a:ext cx="8642350" cy="476250"/>
          </a:xfrm>
        </p:spPr>
        <p:txBody>
          <a:bodyPr/>
          <a:lstStyle/>
          <a:p>
            <a:pPr eaLnBrk="1" hangingPunct="1"/>
            <a:r>
              <a:rPr lang="ru-RU" altLang="ru-RU" sz="3600">
                <a:solidFill>
                  <a:srgbClr val="CE2816"/>
                </a:solidFill>
              </a:rPr>
              <a:t>Примеры многострочных подзапросов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476250"/>
            <a:ext cx="8893175" cy="6192838"/>
          </a:xfrm>
        </p:spPr>
        <p:txBody>
          <a:bodyPr/>
          <a:lstStyle/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 u="sng"/>
              <a:t>Многострочный подзапрос с оператором сравнения </a:t>
            </a:r>
            <a:r>
              <a:rPr lang="en-US" altLang="ru-RU" sz="2000" u="sng"/>
              <a:t>ANY</a:t>
            </a:r>
            <a:r>
              <a:rPr lang="ru-RU" altLang="ru-RU" sz="2000"/>
              <a:t>:</a:t>
            </a:r>
            <a:endParaRPr lang="en-US" altLang="ru-RU" sz="2000"/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SELECT empno, ename, job, sal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FROM emp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WHERE sal</a:t>
            </a:r>
            <a:r>
              <a:rPr lang="ru-RU" altLang="ru-RU" sz="2000"/>
              <a:t> </a:t>
            </a:r>
            <a:r>
              <a:rPr lang="en-US" altLang="ru-RU" sz="2000"/>
              <a:t>&lt;</a:t>
            </a:r>
            <a:r>
              <a:rPr lang="ru-RU" altLang="ru-RU" sz="2000"/>
              <a:t> </a:t>
            </a:r>
            <a:r>
              <a:rPr lang="en-US" altLang="ru-RU" sz="2000"/>
              <a:t>ANY (SELECT sal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			      </a:t>
            </a:r>
            <a:r>
              <a:rPr lang="ru-RU" altLang="ru-RU" sz="2000"/>
              <a:t>  </a:t>
            </a:r>
            <a:r>
              <a:rPr lang="en-US" altLang="ru-RU" sz="2000"/>
              <a:t>FROM emp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			      </a:t>
            </a:r>
            <a:r>
              <a:rPr lang="ru-RU" altLang="ru-RU" sz="2000"/>
              <a:t>  </a:t>
            </a:r>
            <a:r>
              <a:rPr lang="en-US" altLang="ru-RU" sz="2000"/>
              <a:t>WHERE job=‘SALESMAN')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/>
              <a:t>	 </a:t>
            </a:r>
            <a:r>
              <a:rPr lang="en-US" altLang="ru-RU" sz="2000"/>
              <a:t>AND job&lt;&gt;‘ANALYST'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 u="sng"/>
              <a:t>Многострочный подзапрос с оператором сравнения </a:t>
            </a:r>
            <a:r>
              <a:rPr lang="en-US" altLang="ru-RU" sz="2000" u="sng"/>
              <a:t>ALL</a:t>
            </a:r>
            <a:r>
              <a:rPr lang="ru-RU" altLang="ru-RU" sz="2000"/>
              <a:t>:</a:t>
            </a:r>
            <a:endParaRPr lang="en-US" altLang="ru-RU" sz="2000"/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SELECT empno, ename, job, sal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FROM emp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WHERE sal</a:t>
            </a:r>
            <a:r>
              <a:rPr lang="ru-RU" altLang="ru-RU" sz="2000"/>
              <a:t> </a:t>
            </a:r>
            <a:r>
              <a:rPr lang="en-US" altLang="ru-RU" sz="2000"/>
              <a:t>&lt;</a:t>
            </a:r>
            <a:r>
              <a:rPr lang="ru-RU" altLang="ru-RU" sz="2000"/>
              <a:t> </a:t>
            </a:r>
            <a:r>
              <a:rPr lang="en-US" altLang="ru-RU" sz="2000"/>
              <a:t>ALL (SELECT sal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			     </a:t>
            </a:r>
            <a:r>
              <a:rPr lang="ru-RU" altLang="ru-RU" sz="2000"/>
              <a:t>  </a:t>
            </a:r>
            <a:r>
              <a:rPr lang="en-US" altLang="ru-RU" sz="2000"/>
              <a:t>FROM emp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			     </a:t>
            </a:r>
            <a:r>
              <a:rPr lang="ru-RU" altLang="ru-RU" sz="2000"/>
              <a:t>  </a:t>
            </a:r>
            <a:r>
              <a:rPr lang="en-US" altLang="ru-RU" sz="2000"/>
              <a:t>WHERE job=‘SALESMAN')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/>
              <a:t>	  </a:t>
            </a:r>
            <a:r>
              <a:rPr lang="en-US" altLang="ru-RU" sz="2000"/>
              <a:t>AND job&lt;&gt; ‘CLERK'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/>
              <a:t>     Для упорядочиваемого списка сравнение </a:t>
            </a:r>
            <a:r>
              <a:rPr lang="en-US" altLang="ru-RU" sz="2000"/>
              <a:t>“&lt;</a:t>
            </a:r>
            <a:r>
              <a:rPr lang="ru-RU" altLang="ru-RU" sz="2000"/>
              <a:t> </a:t>
            </a:r>
            <a:r>
              <a:rPr lang="en-US" altLang="ru-RU" sz="2000"/>
              <a:t>ALL </a:t>
            </a:r>
            <a:r>
              <a:rPr lang="ru-RU" altLang="ru-RU" sz="2000"/>
              <a:t>(меньше всех 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/>
              <a:t>значений)</a:t>
            </a:r>
            <a:r>
              <a:rPr lang="en-US" altLang="ru-RU" sz="2000"/>
              <a:t>”</a:t>
            </a:r>
            <a:r>
              <a:rPr lang="ru-RU" altLang="ru-RU" sz="2000"/>
              <a:t> эквивалентно сравнению </a:t>
            </a:r>
            <a:r>
              <a:rPr lang="en-US" altLang="ru-RU" sz="2000"/>
              <a:t>“</a:t>
            </a:r>
            <a:r>
              <a:rPr lang="ru-RU" altLang="ru-RU" sz="2000"/>
              <a:t>меньше минимального</a:t>
            </a:r>
            <a:r>
              <a:rPr lang="en-US" altLang="ru-RU" sz="2000"/>
              <a:t> </a:t>
            </a:r>
            <a:r>
              <a:rPr lang="ru-RU" altLang="ru-RU" sz="2000"/>
              <a:t>значения</a:t>
            </a:r>
            <a:r>
              <a:rPr lang="en-US" altLang="ru-RU" sz="2000"/>
              <a:t>”</a:t>
            </a:r>
            <a:r>
              <a:rPr lang="ru-RU" altLang="ru-RU" sz="2000"/>
              <a:t>.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/>
              <a:t>Сравнение </a:t>
            </a:r>
            <a:r>
              <a:rPr lang="en-US" altLang="ru-RU" sz="2000"/>
              <a:t>“&gt; ALL”</a:t>
            </a:r>
            <a:r>
              <a:rPr lang="ru-RU" altLang="ru-RU" sz="2000"/>
              <a:t>(больше всех значений) эквивалентно сравнению 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ru-RU" sz="2000"/>
              <a:t>“</a:t>
            </a:r>
            <a:r>
              <a:rPr lang="ru-RU" altLang="ru-RU" sz="2000"/>
              <a:t>больше максимального</a:t>
            </a:r>
            <a:r>
              <a:rPr lang="en-US" altLang="ru-RU" sz="2000"/>
              <a:t> </a:t>
            </a:r>
            <a:r>
              <a:rPr lang="ru-RU" altLang="ru-RU" sz="2000"/>
              <a:t>значения</a:t>
            </a:r>
            <a:r>
              <a:rPr lang="en-US" altLang="ru-RU" sz="2000"/>
              <a:t>”</a:t>
            </a:r>
            <a:r>
              <a:rPr lang="ru-RU" altLang="ru-RU" sz="2000"/>
              <a:t>.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2000" u="sng"/>
              <a:t>Замечание</a:t>
            </a:r>
            <a:r>
              <a:rPr lang="ru-RU" altLang="ru-RU" sz="2000"/>
              <a:t>: Для </a:t>
            </a:r>
            <a:r>
              <a:rPr lang="en-US" altLang="ru-RU" sz="2000"/>
              <a:t>ANY/SOME</a:t>
            </a:r>
            <a:r>
              <a:rPr lang="ru-RU" altLang="ru-RU" sz="2000"/>
              <a:t> подобных </a:t>
            </a:r>
            <a:r>
              <a:rPr lang="en-US" altLang="ru-RU" sz="2000"/>
              <a:t>“</a:t>
            </a:r>
            <a:r>
              <a:rPr lang="ru-RU" altLang="ru-RU" sz="2000"/>
              <a:t>свёрнутых</a:t>
            </a:r>
            <a:r>
              <a:rPr lang="en-US" altLang="ru-RU" sz="2000"/>
              <a:t>”</a:t>
            </a:r>
            <a:r>
              <a:rPr lang="ru-RU" altLang="ru-RU" sz="2000"/>
              <a:t> правил нет. 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endParaRPr lang="ru-RU" altLang="ru-RU" sz="2000"/>
          </a:p>
        </p:txBody>
      </p:sp>
    </p:spTree>
    <p:extLst>
      <p:ext uri="{BB962C8B-B14F-4D97-AF65-F5344CB8AC3E}">
        <p14:creationId xmlns:p14="http://schemas.microsoft.com/office/powerpoint/2010/main" val="341687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1318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Места прикрепления подзапросов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681319"/>
            <a:ext cx="10972800" cy="5444846"/>
          </a:xfrm>
        </p:spPr>
        <p:txBody>
          <a:bodyPr/>
          <a:lstStyle/>
          <a:p>
            <a:r>
              <a:rPr lang="ru-RU" sz="2000" dirty="0"/>
              <a:t>Фраза </a:t>
            </a:r>
            <a:r>
              <a:rPr lang="en-US" sz="2000" dirty="0"/>
              <a:t>SELECT</a:t>
            </a: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SELECT </a:t>
            </a:r>
            <a:r>
              <a:rPr lang="en-US" sz="2000" dirty="0" err="1">
                <a:latin typeface="Monaco"/>
              </a:rPr>
              <a:t>tbls.owner</a:t>
            </a:r>
            <a:r>
              <a:rPr lang="en-US" sz="2000" dirty="0">
                <a:latin typeface="Monaco"/>
              </a:rPr>
              <a:t>,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 err="1">
                <a:latin typeface="Monaco"/>
              </a:rPr>
              <a:t>tbls.table_name</a:t>
            </a:r>
            <a:r>
              <a:rPr lang="en-US" sz="2000" dirty="0">
                <a:latin typeface="Monaco"/>
              </a:rPr>
              <a:t>,</a:t>
            </a: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  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SELECT COUNT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 err="1">
                <a:latin typeface="Monaco"/>
              </a:rPr>
              <a:t>column_name</a:t>
            </a:r>
            <a:r>
              <a:rPr lang="en-US" sz="2000" dirty="0">
                <a:latin typeface="Monaco"/>
              </a:rPr>
              <a:t>)</a:t>
            </a:r>
            <a:r>
              <a:rPr lang="en-US" sz="2000" dirty="0">
                <a:latin typeface="inherit"/>
              </a:rPr>
              <a:t> AS </a:t>
            </a:r>
            <a:r>
              <a:rPr lang="en-US" sz="2000" dirty="0" err="1">
                <a:latin typeface="Monaco"/>
              </a:rPr>
              <a:t>total_columns</a:t>
            </a:r>
            <a:endParaRPr lang="en-US" sz="2000" dirty="0">
              <a:latin typeface="Monaco"/>
            </a:endParaRP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   FROM </a:t>
            </a:r>
            <a:r>
              <a:rPr lang="en-US" sz="2000" dirty="0" err="1">
                <a:latin typeface="Monaco"/>
              </a:rPr>
              <a:t>all_tab_columns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>
                <a:latin typeface="Monaco"/>
              </a:rPr>
              <a:t>cols</a:t>
            </a: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   WHERE </a:t>
            </a:r>
            <a:r>
              <a:rPr lang="en-US" sz="2000" dirty="0" err="1">
                <a:latin typeface="Monaco"/>
              </a:rPr>
              <a:t>cols.owner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>
                <a:latin typeface="Monaco"/>
              </a:rPr>
              <a:t>=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 err="1">
                <a:latin typeface="Monaco"/>
              </a:rPr>
              <a:t>tbls.owner</a:t>
            </a:r>
            <a:endParaRPr lang="en-US" sz="2000" dirty="0">
              <a:latin typeface="Monaco"/>
            </a:endParaRP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   AND </a:t>
            </a:r>
            <a:r>
              <a:rPr lang="en-US" sz="2000" dirty="0" err="1">
                <a:latin typeface="Monaco"/>
              </a:rPr>
              <a:t>cols.table_name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>
                <a:latin typeface="Monaco"/>
              </a:rPr>
              <a:t>=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 err="1">
                <a:latin typeface="Monaco"/>
              </a:rPr>
              <a:t>tbls.table_name</a:t>
            </a:r>
            <a:r>
              <a:rPr lang="en-US" sz="2000" dirty="0">
                <a:latin typeface="Monaco"/>
              </a:rPr>
              <a:t>)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>
                <a:latin typeface="Monaco"/>
              </a:rPr>
              <a:t>subquery2</a:t>
            </a: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FROM </a:t>
            </a:r>
            <a:r>
              <a:rPr lang="en-US" sz="2000" dirty="0" err="1">
                <a:latin typeface="Monaco"/>
              </a:rPr>
              <a:t>all_tables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 err="1">
                <a:latin typeface="Monaco"/>
              </a:rPr>
              <a:t>tbls</a:t>
            </a:r>
            <a:r>
              <a:rPr lang="en-US" sz="2000" dirty="0">
                <a:latin typeface="Monaco"/>
              </a:rPr>
              <a:t>;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Фраза </a:t>
            </a:r>
            <a:r>
              <a:rPr lang="en-US" sz="2000" dirty="0"/>
              <a:t>WHERE</a:t>
            </a: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SELECT </a:t>
            </a:r>
            <a:r>
              <a:rPr lang="en-US" sz="2000" dirty="0">
                <a:latin typeface="Monaco"/>
              </a:rPr>
              <a:t>*</a:t>
            </a:r>
            <a:r>
              <a:rPr lang="en-US" sz="2000" dirty="0">
                <a:latin typeface="inherit"/>
              </a:rPr>
              <a:t> </a:t>
            </a:r>
            <a:endParaRPr lang="en-US" sz="2000" dirty="0">
              <a:latin typeface="Monaco"/>
            </a:endParaRP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FROM </a:t>
            </a:r>
            <a:r>
              <a:rPr lang="en-US" sz="2000" dirty="0" err="1">
                <a:latin typeface="Monaco"/>
              </a:rPr>
              <a:t>all_tables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>
                <a:latin typeface="Monaco"/>
              </a:rPr>
              <a:t>tabs</a:t>
            </a: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WHERE </a:t>
            </a:r>
            <a:r>
              <a:rPr lang="en-US" sz="2000" dirty="0" err="1">
                <a:latin typeface="Monaco"/>
              </a:rPr>
              <a:t>tabs.table_name</a:t>
            </a:r>
            <a:r>
              <a:rPr lang="en-US" sz="2000" dirty="0">
                <a:latin typeface="inherit"/>
              </a:rPr>
              <a:t> IN 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SELECT </a:t>
            </a:r>
            <a:r>
              <a:rPr lang="en-US" sz="2000" dirty="0" err="1">
                <a:latin typeface="Monaco"/>
              </a:rPr>
              <a:t>cols.table_name</a:t>
            </a:r>
            <a:endParaRPr lang="en-US" sz="2000" dirty="0">
              <a:latin typeface="Monaco"/>
            </a:endParaRP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                          FROM </a:t>
            </a:r>
            <a:r>
              <a:rPr lang="en-US" sz="2000" dirty="0" err="1">
                <a:latin typeface="Monaco"/>
              </a:rPr>
              <a:t>all_tab_columns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>
                <a:latin typeface="Monaco"/>
              </a:rPr>
              <a:t>cols</a:t>
            </a:r>
          </a:p>
          <a:p>
            <a:pPr marL="0" indent="0">
              <a:buNone/>
            </a:pPr>
            <a:r>
              <a:rPr lang="en-US" sz="2000" dirty="0">
                <a:latin typeface="inherit"/>
              </a:rPr>
              <a:t>                          WHERE </a:t>
            </a:r>
            <a:r>
              <a:rPr lang="en-US" sz="2000" dirty="0" err="1">
                <a:latin typeface="Monaco"/>
              </a:rPr>
              <a:t>cols.column_name</a:t>
            </a:r>
            <a:r>
              <a:rPr lang="en-US" sz="2000" dirty="0">
                <a:latin typeface="inherit"/>
              </a:rPr>
              <a:t> </a:t>
            </a:r>
            <a:r>
              <a:rPr lang="en-US" sz="2000" dirty="0">
                <a:latin typeface="Monaco"/>
              </a:rPr>
              <a:t>=</a:t>
            </a:r>
            <a:r>
              <a:rPr lang="en-US" sz="2000" dirty="0">
                <a:latin typeface="inherit"/>
              </a:rPr>
              <a:t> 'SUPPLIER_ID'</a:t>
            </a:r>
            <a:r>
              <a:rPr lang="en-US" sz="2000" dirty="0">
                <a:latin typeface="Monaco"/>
              </a:rPr>
              <a:t>);</a:t>
            </a:r>
          </a:p>
          <a:p>
            <a:r>
              <a:rPr lang="ru-RU" sz="2000" dirty="0"/>
              <a:t>Фраза </a:t>
            </a:r>
            <a:endParaRPr lang="en-US" sz="2000" dirty="0"/>
          </a:p>
          <a:p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21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9556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Синтаксис некоторых подзапросов 1/2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245" y="1318000"/>
            <a:ext cx="5296925" cy="5296925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1344706" y="827978"/>
            <a:ext cx="10237694" cy="59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ru-RU" sz="2000" kern="0" dirty="0">
                <a:solidFill>
                  <a:schemeClr val="tx1"/>
                </a:solidFill>
              </a:rPr>
              <a:t>В простом условии                                          В</a:t>
            </a:r>
            <a:r>
              <a:rPr lang="ru-RU" sz="2000" dirty="0">
                <a:solidFill>
                  <a:srgbClr val="000000"/>
                </a:solidFill>
                <a:latin typeface="Georgia" panose="02040502050405020303" pitchFamily="18" charset="0"/>
              </a:rPr>
              <a:t> условии сравнения групп</a:t>
            </a:r>
          </a:p>
          <a:p>
            <a:pPr algn="l"/>
            <a:r>
              <a:rPr lang="ru-RU" sz="2000" dirty="0">
                <a:solidFill>
                  <a:srgbClr val="000000"/>
                </a:solidFill>
                <a:latin typeface="Georgia" panose="02040502050405020303" pitchFamily="18" charset="0"/>
              </a:rPr>
              <a:t>сравнения</a:t>
            </a:r>
          </a:p>
          <a:p>
            <a:r>
              <a:rPr lang="ru-RU" sz="2000" kern="0" dirty="0">
                <a:solidFill>
                  <a:schemeClr val="tx1"/>
                </a:solidFill>
              </a:rPr>
              <a:t>                   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170" y="1292131"/>
            <a:ext cx="6137918" cy="521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Синтаксис некоторых подзапросов 2/2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3680011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 в условии проверки вхождения элемента во множество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b="1" dirty="0">
                <a:solidFill>
                  <a:srgbClr val="000000"/>
                </a:solidFill>
                <a:latin typeface="Georgia" panose="02040502050405020303" pitchFamily="18" charset="0"/>
              </a:rPr>
              <a:t>в условии </a:t>
            </a:r>
            <a:r>
              <a:rPr lang="en-US" sz="2000" b="1" dirty="0">
                <a:solidFill>
                  <a:srgbClr val="000000"/>
                </a:solidFill>
                <a:latin typeface="Georgia" panose="02040502050405020303" pitchFamily="18" charset="0"/>
              </a:rPr>
              <a:t>EXISTS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2050" name="Picture 2" descr="https://works.doklad.ru/images/JixuvzyRBME/39d9bb7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04" y="1748684"/>
            <a:ext cx="7524529" cy="185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704" y="4273642"/>
            <a:ext cx="4788470" cy="47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21976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  <a:ea typeface="+mn-ea"/>
                <a:cs typeface="+mn-cs"/>
              </a:rPr>
              <a:t>Построение запроса с подзапросом методом нисходящего проектирования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021976"/>
            <a:ext cx="10972800" cy="5699498"/>
          </a:xfrm>
        </p:spPr>
        <p:txBody>
          <a:bodyPr/>
          <a:lstStyle/>
          <a:p>
            <a:pPr marL="0" indent="0">
              <a:buNone/>
            </a:pPr>
            <a:r>
              <a:rPr lang="ru-RU" sz="2000" u="sng" dirty="0"/>
              <a:t>Пример</a:t>
            </a:r>
            <a:r>
              <a:rPr lang="ru-RU" sz="2000" dirty="0"/>
              <a:t>: Найдите сотрудников (столбцы </a:t>
            </a:r>
            <a:r>
              <a:rPr lang="en-US" sz="2000" dirty="0"/>
              <a:t>JOB, ENAME, SAL</a:t>
            </a:r>
            <a:r>
              <a:rPr lang="ru-RU" sz="2000" dirty="0"/>
              <a:t>), которые получают зарплату, максимальную для их</a:t>
            </a:r>
            <a:r>
              <a:rPr lang="en-US" sz="2000" dirty="0"/>
              <a:t> </a:t>
            </a:r>
            <a:r>
              <a:rPr lang="ru-RU" sz="2000" dirty="0"/>
              <a:t>должности. Отсортируйте результат в порядке убывания зарплаты.</a:t>
            </a:r>
          </a:p>
          <a:p>
            <a:pPr marL="0" indent="0">
              <a:buNone/>
            </a:pPr>
            <a:r>
              <a:rPr lang="ru-RU" sz="2000" dirty="0"/>
              <a:t>Если бы уже был составлен список </a:t>
            </a:r>
            <a:r>
              <a:rPr lang="en-US" sz="2000" dirty="0"/>
              <a:t>LIST </a:t>
            </a:r>
            <a:r>
              <a:rPr lang="ru-RU" sz="2000" dirty="0"/>
              <a:t>максимальных зарплат по каждой должности LIST=(MAX1(</a:t>
            </a:r>
            <a:r>
              <a:rPr lang="ru-RU" sz="2000" dirty="0" err="1"/>
              <a:t>sal</a:t>
            </a:r>
            <a:r>
              <a:rPr lang="ru-RU" sz="2000" dirty="0"/>
              <a:t>),  job1, .....), </a:t>
            </a:r>
          </a:p>
          <a:p>
            <a:pPr marL="0" indent="0">
              <a:buNone/>
            </a:pPr>
            <a:r>
              <a:rPr lang="ru-RU" sz="2000" dirty="0"/>
              <a:t>то достаточно было бы написать  запрос</a:t>
            </a:r>
          </a:p>
          <a:p>
            <a:pPr marL="0" indent="0">
              <a:buNone/>
            </a:pPr>
            <a:r>
              <a:rPr lang="ru-RU" sz="2000" dirty="0"/>
              <a:t>     SELECT  </a:t>
            </a:r>
            <a:r>
              <a:rPr lang="ru-RU" sz="2000" dirty="0" err="1"/>
              <a:t>job</a:t>
            </a:r>
            <a:r>
              <a:rPr lang="ru-RU" sz="2000" dirty="0"/>
              <a:t>, </a:t>
            </a:r>
            <a:r>
              <a:rPr lang="ru-RU" sz="2000" dirty="0" err="1"/>
              <a:t>ename</a:t>
            </a:r>
            <a:r>
              <a:rPr lang="ru-RU" sz="2000" dirty="0"/>
              <a:t>, </a:t>
            </a:r>
            <a:r>
              <a:rPr lang="ru-RU" sz="2000" dirty="0" err="1"/>
              <a:t>salL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FROM  EMP</a:t>
            </a:r>
          </a:p>
          <a:p>
            <a:pPr marL="0" indent="0">
              <a:buNone/>
            </a:pPr>
            <a:r>
              <a:rPr lang="ru-RU" sz="2000" dirty="0"/>
              <a:t>     WHERE  (</a:t>
            </a:r>
            <a:r>
              <a:rPr lang="ru-RU" sz="2000" dirty="0" err="1"/>
              <a:t>sal</a:t>
            </a:r>
            <a:r>
              <a:rPr lang="ru-RU" sz="2000" dirty="0"/>
              <a:t>, </a:t>
            </a:r>
            <a:r>
              <a:rPr lang="ru-RU" sz="2000" dirty="0" err="1"/>
              <a:t>job</a:t>
            </a:r>
            <a:r>
              <a:rPr lang="ru-RU" sz="2000" dirty="0"/>
              <a:t>)  IN  LIST  </a:t>
            </a:r>
          </a:p>
          <a:p>
            <a:pPr marL="0" indent="0">
              <a:buNone/>
            </a:pPr>
            <a:r>
              <a:rPr lang="ru-RU" sz="2000" dirty="0"/>
              <a:t>     ORDER  BY  </a:t>
            </a:r>
            <a:r>
              <a:rPr lang="ru-RU" sz="2000" dirty="0" err="1"/>
              <a:t>salL</a:t>
            </a:r>
            <a:r>
              <a:rPr lang="ru-RU" sz="2000" dirty="0"/>
              <a:t>  DESC;</a:t>
            </a:r>
          </a:p>
          <a:p>
            <a:pPr marL="0" indent="0">
              <a:buNone/>
            </a:pPr>
            <a:r>
              <a:rPr lang="ru-RU" sz="2000" dirty="0"/>
              <a:t>           Пишем запрос  получающий  этот самый список  LIST:</a:t>
            </a:r>
          </a:p>
          <a:p>
            <a:pPr marL="0" indent="0">
              <a:buNone/>
            </a:pPr>
            <a:r>
              <a:rPr lang="ru-RU" sz="2000" dirty="0"/>
              <a:t>     SELECT  MAX(</a:t>
            </a:r>
            <a:r>
              <a:rPr lang="ru-RU" sz="2000" dirty="0" err="1"/>
              <a:t>sal</a:t>
            </a:r>
            <a:r>
              <a:rPr lang="ru-RU" sz="2000" dirty="0"/>
              <a:t>),  </a:t>
            </a:r>
            <a:r>
              <a:rPr lang="ru-RU" sz="2000" dirty="0" err="1"/>
              <a:t>job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FROM  EMP</a:t>
            </a:r>
          </a:p>
          <a:p>
            <a:pPr marL="0" indent="0">
              <a:buNone/>
            </a:pPr>
            <a:r>
              <a:rPr lang="ru-RU" sz="2000" dirty="0"/>
              <a:t>     GROUP  BY  </a:t>
            </a:r>
            <a:r>
              <a:rPr lang="ru-RU" sz="2000" dirty="0" err="1"/>
              <a:t>job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r>
              <a:rPr lang="ru-RU" sz="2000" dirty="0"/>
              <a:t>             Остается  вставить  этот  запрос  в  предыдущий  вместо  заглушки  LIST.</a:t>
            </a:r>
          </a:p>
          <a:p>
            <a:pPr marL="0" indent="0">
              <a:buNone/>
            </a:pPr>
            <a:r>
              <a:rPr lang="ru-RU" sz="2000" u="sng" dirty="0"/>
              <a:t>Замечание</a:t>
            </a:r>
            <a:r>
              <a:rPr lang="ru-RU" sz="2000" dirty="0"/>
              <a:t>: Если мы хотим иметь запрос, работающий на всех стадиях его разработки, </a:t>
            </a:r>
          </a:p>
          <a:p>
            <a:pPr marL="0" indent="0">
              <a:buNone/>
            </a:pPr>
            <a:r>
              <a:rPr lang="ru-RU" sz="2000" dirty="0"/>
              <a:t>вместо LIST следует написать конкретный список.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 bwMode="auto">
          <a:xfrm>
            <a:off x="6974541" y="2312894"/>
            <a:ext cx="3460378" cy="1272988"/>
          </a:xfrm>
          <a:prstGeom prst="roundRect">
            <a:avLst>
              <a:gd name="adj" fmla="val 26526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Мы декомпозировали 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задачу, сведя её к</a:t>
            </a:r>
            <a:r>
              <a:rPr kumimoji="0" lang="ru-RU" sz="2000" b="0" i="0" u="none" strike="noStrike" cap="none" normalizeH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 двум 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более простым задачам!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14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4DA211-15B0-4D28-8851-55875C9EE48E}" type="slidenum">
              <a:rPr lang="ru-RU" altLang="ru-RU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792163"/>
          </a:xfrm>
        </p:spPr>
        <p:txBody>
          <a:bodyPr/>
          <a:lstStyle/>
          <a:p>
            <a:pPr eaLnBrk="1" hangingPunct="1"/>
            <a:r>
              <a:rPr lang="ru-RU" altLang="ru-RU" sz="4000">
                <a:solidFill>
                  <a:srgbClr val="CE2816"/>
                </a:solidFill>
              </a:rPr>
              <a:t>Коррелированные подзапросы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685800"/>
            <a:ext cx="8713788" cy="2311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000"/>
              <a:t>	</a:t>
            </a:r>
            <a:r>
              <a:rPr lang="ru-RU" altLang="ru-RU" sz="2000"/>
              <a:t>Обычный подзапрос выполняется</a:t>
            </a:r>
            <a:r>
              <a:rPr lang="ru-RU" altLang="ru-RU" sz="2000" b="1"/>
              <a:t> </a:t>
            </a:r>
            <a:r>
              <a:rPr lang="ru-RU" altLang="ru-RU" sz="2000"/>
              <a:t>первым, внешний запрос вторым.</a:t>
            </a:r>
          </a:p>
          <a:p>
            <a:pPr eaLnBrk="1" hangingPunct="1">
              <a:buFontTx/>
              <a:buNone/>
            </a:pPr>
            <a:r>
              <a:rPr lang="en-US" altLang="ru-RU" sz="2000" b="1"/>
              <a:t>	</a:t>
            </a:r>
            <a:r>
              <a:rPr lang="ru-RU" altLang="ru-RU" sz="2000" b="1"/>
              <a:t>Коррелированными</a:t>
            </a:r>
            <a:r>
              <a:rPr lang="ru-RU" altLang="ru-RU" sz="2000"/>
              <a:t>  называются  подзапросы,  выполняющиеся</a:t>
            </a:r>
            <a:r>
              <a:rPr lang="en-US" altLang="ru-RU" sz="2000"/>
              <a:t> 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для</a:t>
            </a:r>
            <a:r>
              <a:rPr lang="en-US" altLang="ru-RU" sz="2000"/>
              <a:t> </a:t>
            </a:r>
            <a:r>
              <a:rPr lang="ru-RU" altLang="ru-RU" sz="2000"/>
              <a:t>каждой  строки-кандидата  из  внешнего  запроса.</a:t>
            </a:r>
          </a:p>
          <a:p>
            <a:pPr eaLnBrk="1" hangingPunct="1">
              <a:buFontTx/>
              <a:buNone/>
            </a:pPr>
            <a:r>
              <a:rPr lang="en-US" altLang="ru-RU" sz="2000"/>
              <a:t>	</a:t>
            </a:r>
            <a:r>
              <a:rPr lang="ru-RU" altLang="ru-RU" sz="2000"/>
              <a:t>Отсюда  вытекает необходимый  признак: </a:t>
            </a:r>
            <a:endParaRPr lang="en-US" altLang="ru-RU" sz="2000"/>
          </a:p>
          <a:p>
            <a:pPr eaLnBrk="1" hangingPunct="1">
              <a:buFontTx/>
              <a:buNone/>
            </a:pPr>
            <a:r>
              <a:rPr lang="ru-RU" altLang="ru-RU" sz="2000" i="1"/>
              <a:t>Коррелированный  подзапрос</a:t>
            </a:r>
            <a:r>
              <a:rPr lang="en-US" altLang="ru-RU" sz="2000" i="1"/>
              <a:t> </a:t>
            </a:r>
            <a:r>
              <a:rPr lang="ru-RU" altLang="ru-RU" sz="2000" i="1"/>
              <a:t>содержит  столбец  из  внешнего  </a:t>
            </a:r>
            <a:endParaRPr lang="en-US" altLang="ru-RU" sz="2000" i="1"/>
          </a:p>
          <a:p>
            <a:pPr eaLnBrk="1" hangingPunct="1">
              <a:buFontTx/>
              <a:buNone/>
            </a:pPr>
            <a:r>
              <a:rPr lang="ru-RU" altLang="ru-RU" sz="2000" i="1"/>
              <a:t>запроса</a:t>
            </a:r>
            <a:r>
              <a:rPr lang="ru-RU" altLang="ru-RU" sz="2000"/>
              <a:t>.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	Процесс выполнения  коррелированного  запроса:</a:t>
            </a:r>
          </a:p>
          <a:p>
            <a:pPr eaLnBrk="1" hangingPunct="1">
              <a:buFontTx/>
              <a:buNone/>
            </a:pPr>
            <a:endParaRPr lang="ru-RU" altLang="ru-RU"/>
          </a:p>
          <a:p>
            <a:pPr eaLnBrk="1" hangingPunct="1">
              <a:buFontTx/>
              <a:buNone/>
            </a:pPr>
            <a:endParaRPr lang="ru-RU" altLang="ru-RU"/>
          </a:p>
        </p:txBody>
      </p:sp>
      <p:sp>
        <p:nvSpPr>
          <p:cNvPr id="81926" name="AutoShape 5"/>
          <p:cNvSpPr>
            <a:spLocks noChangeArrowheads="1"/>
          </p:cNvSpPr>
          <p:nvPr/>
        </p:nvSpPr>
        <p:spPr bwMode="auto">
          <a:xfrm>
            <a:off x="6096000" y="3141664"/>
            <a:ext cx="4032250" cy="719137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endParaRPr lang="ru-RU" altLang="ru-RU" sz="2000">
              <a:solidFill>
                <a:srgbClr val="000000"/>
              </a:solidFill>
            </a:endParaRPr>
          </a:p>
        </p:txBody>
      </p:sp>
      <p:grpSp>
        <p:nvGrpSpPr>
          <p:cNvPr id="81927" name="Group 6"/>
          <p:cNvGrpSpPr>
            <a:grpSpLocks/>
          </p:cNvGrpSpPr>
          <p:nvPr/>
        </p:nvGrpSpPr>
        <p:grpSpPr bwMode="auto">
          <a:xfrm>
            <a:off x="2208214" y="3429001"/>
            <a:ext cx="7272337" cy="3190875"/>
            <a:chOff x="431" y="1933"/>
            <a:chExt cx="4581" cy="2010"/>
          </a:xfrm>
        </p:grpSpPr>
        <p:grpSp>
          <p:nvGrpSpPr>
            <p:cNvPr id="81928" name="Group 7"/>
            <p:cNvGrpSpPr>
              <a:grpSpLocks/>
            </p:cNvGrpSpPr>
            <p:nvPr/>
          </p:nvGrpSpPr>
          <p:grpSpPr bwMode="auto">
            <a:xfrm>
              <a:off x="431" y="1933"/>
              <a:ext cx="4445" cy="2010"/>
              <a:chOff x="431" y="1936"/>
              <a:chExt cx="4445" cy="2010"/>
            </a:xfrm>
          </p:grpSpPr>
          <p:sp>
            <p:nvSpPr>
              <p:cNvPr id="81930" name="Rectangle 8"/>
              <p:cNvSpPr>
                <a:spLocks noChangeArrowheads="1"/>
              </p:cNvSpPr>
              <p:nvPr/>
            </p:nvSpPr>
            <p:spPr bwMode="auto">
              <a:xfrm>
                <a:off x="612" y="2689"/>
                <a:ext cx="999" cy="710"/>
              </a:xfrm>
              <a:prstGeom prst="rect">
                <a:avLst/>
              </a:prstGeom>
              <a:solidFill>
                <a:srgbClr val="A6A6A6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Aft>
                    <a:spcPct val="0"/>
                  </a:spcAft>
                  <a:buFontTx/>
                  <a:buNone/>
                </a:pPr>
                <a:r>
                  <a:rPr lang="ru-RU" altLang="ru-RU" sz="1600">
                    <a:solidFill>
                      <a:srgbClr val="000000"/>
                    </a:solidFill>
                  </a:rPr>
                  <a:t>Выбор строки-</a:t>
                </a:r>
              </a:p>
              <a:p>
                <a:pPr fontAlgn="base">
                  <a:spcAft>
                    <a:spcPct val="0"/>
                  </a:spcAft>
                  <a:buFontTx/>
                  <a:buNone/>
                </a:pPr>
                <a:r>
                  <a:rPr lang="ru-RU" altLang="ru-RU" sz="1600">
                    <a:solidFill>
                      <a:srgbClr val="000000"/>
                    </a:solidFill>
                  </a:rPr>
                  <a:t>кандидата </a:t>
                </a:r>
              </a:p>
              <a:p>
                <a:pPr fontAlgn="base">
                  <a:spcAft>
                    <a:spcPct val="0"/>
                  </a:spcAft>
                  <a:buFontTx/>
                  <a:buNone/>
                </a:pPr>
                <a:r>
                  <a:rPr lang="ru-RU" altLang="ru-RU" sz="1600">
                    <a:solidFill>
                      <a:srgbClr val="000000"/>
                    </a:solidFill>
                  </a:rPr>
                  <a:t>(внеш.запрос)</a:t>
                </a:r>
              </a:p>
            </p:txBody>
          </p:sp>
          <p:sp>
            <p:nvSpPr>
              <p:cNvPr id="81931" name="AutoShape 9"/>
              <p:cNvSpPr>
                <a:spLocks noChangeArrowheads="1"/>
              </p:cNvSpPr>
              <p:nvPr/>
            </p:nvSpPr>
            <p:spPr bwMode="auto">
              <a:xfrm>
                <a:off x="1066" y="1936"/>
                <a:ext cx="1602" cy="473"/>
              </a:xfrm>
              <a:prstGeom prst="wedgeRoundRectCallout">
                <a:avLst>
                  <a:gd name="adj1" fmla="val -4806"/>
                  <a:gd name="adj2" fmla="val 108560"/>
                  <a:gd name="adj3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ru-RU" altLang="ru-RU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Данные  из  внешнего 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ru-RU" altLang="ru-RU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запроса во внутренний</a:t>
                </a:r>
              </a:p>
            </p:txBody>
          </p:sp>
          <p:grpSp>
            <p:nvGrpSpPr>
              <p:cNvPr id="81932" name="Group 10"/>
              <p:cNvGrpSpPr>
                <a:grpSpLocks/>
              </p:cNvGrpSpPr>
              <p:nvPr/>
            </p:nvGrpSpPr>
            <p:grpSpPr bwMode="auto">
              <a:xfrm>
                <a:off x="431" y="2689"/>
                <a:ext cx="4445" cy="1257"/>
                <a:chOff x="431" y="2689"/>
                <a:chExt cx="4445" cy="1257"/>
              </a:xfrm>
            </p:grpSpPr>
            <p:sp>
              <p:nvSpPr>
                <p:cNvPr id="81933" name="Rectangle 11"/>
                <p:cNvSpPr>
                  <a:spLocks noChangeArrowheads="1"/>
                </p:cNvSpPr>
                <p:nvPr/>
              </p:nvSpPr>
              <p:spPr bwMode="auto">
                <a:xfrm>
                  <a:off x="1973" y="2689"/>
                  <a:ext cx="1270" cy="710"/>
                </a:xfrm>
                <a:prstGeom prst="rect">
                  <a:avLst/>
                </a:prstGeom>
                <a:solidFill>
                  <a:srgbClr val="A6A6A6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marL="342900" indent="-3429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fontAlgn="base"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1600">
                      <a:solidFill>
                        <a:srgbClr val="000000"/>
                      </a:solidFill>
                    </a:rPr>
                    <a:t>Подзапрос для зна</a:t>
                  </a:r>
                </a:p>
                <a:p>
                  <a:pPr fontAlgn="base"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1600">
                      <a:solidFill>
                        <a:srgbClr val="000000"/>
                      </a:solidFill>
                    </a:rPr>
                    <a:t>чений, полученных</a:t>
                  </a:r>
                </a:p>
                <a:p>
                  <a:pPr fontAlgn="base"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1600">
                      <a:solidFill>
                        <a:srgbClr val="000000"/>
                      </a:solidFill>
                    </a:rPr>
                    <a:t>внешним.запросом </a:t>
                  </a:r>
                </a:p>
              </p:txBody>
            </p:sp>
            <p:sp>
              <p:nvSpPr>
                <p:cNvPr id="81934" name="Rectangle 12"/>
                <p:cNvSpPr>
                  <a:spLocks noChangeArrowheads="1"/>
                </p:cNvSpPr>
                <p:nvPr/>
              </p:nvSpPr>
              <p:spPr bwMode="auto">
                <a:xfrm>
                  <a:off x="3515" y="2689"/>
                  <a:ext cx="1180" cy="710"/>
                </a:xfrm>
                <a:prstGeom prst="rect">
                  <a:avLst/>
                </a:prstGeom>
                <a:solidFill>
                  <a:srgbClr val="A6A6A6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marL="342900" indent="-3429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fontAlgn="base"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1600">
                      <a:solidFill>
                        <a:srgbClr val="000000"/>
                      </a:solidFill>
                    </a:rPr>
                    <a:t>Использование </a:t>
                  </a:r>
                </a:p>
                <a:p>
                  <a:pPr fontAlgn="base"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1600">
                      <a:solidFill>
                        <a:srgbClr val="000000"/>
                      </a:solidFill>
                    </a:rPr>
                    <a:t>рез-та внутр.зап-</a:t>
                  </a:r>
                </a:p>
                <a:p>
                  <a:pPr fontAlgn="base"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1600">
                      <a:solidFill>
                        <a:srgbClr val="000000"/>
                      </a:solidFill>
                    </a:rPr>
                    <a:t>роса во внешнем </a:t>
                  </a:r>
                </a:p>
                <a:p>
                  <a:pPr fontAlgn="base"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1600">
                      <a:solidFill>
                        <a:srgbClr val="000000"/>
                      </a:solidFill>
                    </a:rPr>
                    <a:t>(с проверкой)</a:t>
                  </a:r>
                </a:p>
              </p:txBody>
            </p:sp>
            <p:sp>
              <p:nvSpPr>
                <p:cNvPr id="81935" name="Line 13"/>
                <p:cNvSpPr>
                  <a:spLocks noChangeShapeType="1"/>
                </p:cNvSpPr>
                <p:nvPr/>
              </p:nvSpPr>
              <p:spPr bwMode="auto">
                <a:xfrm>
                  <a:off x="431" y="2925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36" name="Line 14"/>
                <p:cNvSpPr>
                  <a:spLocks noChangeShapeType="1"/>
                </p:cNvSpPr>
                <p:nvPr/>
              </p:nvSpPr>
              <p:spPr bwMode="auto">
                <a:xfrm>
                  <a:off x="1610" y="3043"/>
                  <a:ext cx="36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37" name="Line 15"/>
                <p:cNvSpPr>
                  <a:spLocks noChangeShapeType="1"/>
                </p:cNvSpPr>
                <p:nvPr/>
              </p:nvSpPr>
              <p:spPr bwMode="auto">
                <a:xfrm>
                  <a:off x="3243" y="3043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38" name="Line 16"/>
                <p:cNvSpPr>
                  <a:spLocks noChangeShapeType="1"/>
                </p:cNvSpPr>
                <p:nvPr/>
              </p:nvSpPr>
              <p:spPr bwMode="auto">
                <a:xfrm>
                  <a:off x="4694" y="3043"/>
                  <a:ext cx="182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39" name="Line 17"/>
                <p:cNvSpPr>
                  <a:spLocks noChangeShapeType="1"/>
                </p:cNvSpPr>
                <p:nvPr/>
              </p:nvSpPr>
              <p:spPr bwMode="auto">
                <a:xfrm>
                  <a:off x="4875" y="3043"/>
                  <a:ext cx="1" cy="59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40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31" y="3634"/>
                  <a:ext cx="44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4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31" y="3280"/>
                  <a:ext cx="1" cy="35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42" name="Line 20"/>
                <p:cNvSpPr>
                  <a:spLocks noChangeShapeType="1"/>
                </p:cNvSpPr>
                <p:nvPr/>
              </p:nvSpPr>
              <p:spPr bwMode="auto">
                <a:xfrm>
                  <a:off x="431" y="3280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43" name="Line 21"/>
                <p:cNvSpPr>
                  <a:spLocks noChangeShapeType="1"/>
                </p:cNvSpPr>
                <p:nvPr/>
              </p:nvSpPr>
              <p:spPr bwMode="auto">
                <a:xfrm>
                  <a:off x="1066" y="3397"/>
                  <a:ext cx="1" cy="35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sz="2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94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68" y="3696"/>
                  <a:ext cx="81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ru-RU" altLang="ru-RU" sz="20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Выход</a:t>
                  </a:r>
                </a:p>
              </p:txBody>
            </p:sp>
          </p:grpSp>
        </p:grpSp>
        <p:sp>
          <p:nvSpPr>
            <p:cNvPr id="81929" name="AutoShape 23"/>
            <p:cNvSpPr>
              <a:spLocks noChangeArrowheads="1"/>
            </p:cNvSpPr>
            <p:nvPr/>
          </p:nvSpPr>
          <p:spPr bwMode="auto">
            <a:xfrm>
              <a:off x="3016" y="1933"/>
              <a:ext cx="1996" cy="454"/>
            </a:xfrm>
            <a:prstGeom prst="wedgeRoundRectCallout">
              <a:avLst>
                <a:gd name="adj1" fmla="val -33495"/>
                <a:gd name="adj2" fmla="val 104185"/>
                <a:gd name="adj3" fmla="val 1666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Aft>
                  <a:spcPct val="0"/>
                </a:spcAft>
                <a:buFontTx/>
                <a:buNone/>
              </a:pPr>
              <a:r>
                <a:rPr lang="ru-RU" altLang="ru-RU" sz="1600">
                  <a:solidFill>
                    <a:srgbClr val="000000"/>
                  </a:solidFill>
                </a:rPr>
                <a:t>Данные из подзапроса </a:t>
              </a:r>
            </a:p>
            <a:p>
              <a:pPr algn="ctr" fontAlgn="base">
                <a:spcAft>
                  <a:spcPct val="0"/>
                </a:spcAft>
                <a:buFontTx/>
                <a:buNone/>
              </a:pPr>
              <a:r>
                <a:rPr lang="ru-RU" altLang="ru-RU" sz="1600">
                  <a:solidFill>
                    <a:srgbClr val="000000"/>
                  </a:solidFill>
                </a:rPr>
                <a:t>для вставки во внеш. запрос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343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178BA4-1DC4-4627-8D39-57524E628984}" type="slidenum">
              <a:rPr lang="ru-RU" altLang="ru-RU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1514475" y="28576"/>
            <a:ext cx="9144000" cy="563563"/>
          </a:xfrm>
        </p:spPr>
        <p:txBody>
          <a:bodyPr/>
          <a:lstStyle/>
          <a:p>
            <a:pPr eaLnBrk="1" hangingPunct="1"/>
            <a:r>
              <a:rPr lang="ru-RU" altLang="ru-RU" sz="3600">
                <a:solidFill>
                  <a:srgbClr val="CE2816"/>
                </a:solidFill>
              </a:rPr>
              <a:t>Пример коррелированного подзапроса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0" y="620714"/>
            <a:ext cx="8229600" cy="59769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dirty="0"/>
              <a:t>	Найдите всех работников, которые получают зарплату выше </a:t>
            </a:r>
          </a:p>
          <a:p>
            <a:pPr eaLnBrk="1" hangingPunct="1">
              <a:buFontTx/>
              <a:buNone/>
            </a:pPr>
            <a:r>
              <a:rPr lang="ru-RU" altLang="ru-RU" sz="2000" dirty="0"/>
              <a:t>средней в своем отделе</a:t>
            </a:r>
            <a:r>
              <a:rPr lang="en-US" altLang="ru-RU" sz="2000" dirty="0"/>
              <a:t>:</a:t>
            </a:r>
            <a:endParaRPr lang="ru-RU" altLang="ru-RU" sz="2000" dirty="0"/>
          </a:p>
          <a:p>
            <a:pPr eaLnBrk="1" hangingPunct="1">
              <a:buFontTx/>
              <a:buNone/>
            </a:pPr>
            <a:r>
              <a:rPr lang="en-US" altLang="ru-RU" sz="2000" dirty="0"/>
              <a:t>SELECT  ENAME,  SAL  SALARY,  DEPTNO</a:t>
            </a:r>
          </a:p>
          <a:p>
            <a:pPr eaLnBrk="1" hangingPunct="1">
              <a:buFontTx/>
              <a:buNone/>
            </a:pPr>
            <a:r>
              <a:rPr lang="en-US" altLang="ru-RU" sz="2000" dirty="0"/>
              <a:t>      FROM  EMP  E</a:t>
            </a:r>
          </a:p>
          <a:p>
            <a:pPr eaLnBrk="1" hangingPunct="1">
              <a:buFontTx/>
              <a:buNone/>
            </a:pPr>
            <a:r>
              <a:rPr lang="ru-RU" altLang="ru-RU" sz="2000" dirty="0"/>
              <a:t> </a:t>
            </a:r>
            <a:r>
              <a:rPr lang="en-US" altLang="ru-RU" sz="2000" dirty="0"/>
              <a:t>     WHERE</a:t>
            </a:r>
            <a:r>
              <a:rPr lang="ru-RU" altLang="ru-RU" sz="2000" dirty="0"/>
              <a:t>  </a:t>
            </a:r>
            <a:r>
              <a:rPr lang="en-US" altLang="ru-RU" sz="2000" dirty="0"/>
              <a:t>SAL</a:t>
            </a:r>
            <a:r>
              <a:rPr lang="ru-RU" altLang="ru-RU" sz="2000" dirty="0"/>
              <a:t>&gt; (</a:t>
            </a:r>
            <a:r>
              <a:rPr lang="en-US" altLang="ru-RU" sz="2000" dirty="0"/>
              <a:t>SELECT  AVG(SAL)  FROM  EMP</a:t>
            </a:r>
          </a:p>
          <a:p>
            <a:pPr eaLnBrk="1" hangingPunct="1">
              <a:buFontTx/>
              <a:buNone/>
            </a:pPr>
            <a:r>
              <a:rPr lang="en-US" altLang="ru-RU" sz="2000" dirty="0"/>
              <a:t> </a:t>
            </a:r>
            <a:r>
              <a:rPr lang="ru-RU" altLang="ru-RU" sz="2000" dirty="0"/>
              <a:t>                             </a:t>
            </a:r>
            <a:r>
              <a:rPr lang="en-US" altLang="ru-RU" sz="2000" dirty="0"/>
              <a:t>  WHERE  DEPTNO=</a:t>
            </a:r>
            <a:r>
              <a:rPr lang="en-US" altLang="ru-RU" sz="2000" dirty="0">
                <a:solidFill>
                  <a:srgbClr val="800000"/>
                </a:solidFill>
              </a:rPr>
              <a:t>E.DEPTNO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eaLnBrk="1" hangingPunct="1">
              <a:buFontTx/>
              <a:buNone/>
            </a:pPr>
            <a:r>
              <a:rPr lang="ru-RU" altLang="ru-RU" sz="2000" b="1" dirty="0"/>
              <a:t>     </a:t>
            </a:r>
            <a:r>
              <a:rPr lang="en-US" altLang="ru-RU" sz="2000" dirty="0"/>
              <a:t>ORDER</a:t>
            </a:r>
            <a:r>
              <a:rPr lang="ru-RU" altLang="ru-RU" sz="2000" dirty="0"/>
              <a:t>  </a:t>
            </a:r>
            <a:r>
              <a:rPr lang="en-US" altLang="ru-RU" sz="2000" dirty="0"/>
              <a:t>BY</a:t>
            </a:r>
            <a:r>
              <a:rPr lang="ru-RU" altLang="ru-RU" sz="2000" dirty="0"/>
              <a:t>  </a:t>
            </a:r>
            <a:r>
              <a:rPr lang="en-US" altLang="ru-RU" sz="2000" dirty="0"/>
              <a:t>DEPTNO</a:t>
            </a:r>
            <a:r>
              <a:rPr lang="ru-RU" altLang="ru-RU" sz="2000" dirty="0"/>
              <a:t>;</a:t>
            </a:r>
          </a:p>
          <a:p>
            <a:pPr eaLnBrk="1" hangingPunct="1">
              <a:buFontTx/>
              <a:buNone/>
            </a:pPr>
            <a:endParaRPr lang="ru-RU" altLang="ru-RU" sz="2000" dirty="0"/>
          </a:p>
          <a:p>
            <a:pPr eaLnBrk="1" hangingPunct="1">
              <a:buFontTx/>
              <a:buNone/>
            </a:pPr>
            <a:r>
              <a:rPr lang="ru-RU" altLang="ru-RU" sz="2000" u="sng" dirty="0"/>
              <a:t>Замечание</a:t>
            </a:r>
            <a:r>
              <a:rPr lang="ru-RU" altLang="ru-RU" sz="2000" dirty="0"/>
              <a:t>: Наличие в подзапросе столбца из вмещающего </a:t>
            </a:r>
          </a:p>
          <a:p>
            <a:pPr eaLnBrk="1" hangingPunct="1">
              <a:buFontTx/>
              <a:buNone/>
            </a:pPr>
            <a:r>
              <a:rPr lang="ru-RU" altLang="ru-RU" sz="2000" dirty="0"/>
              <a:t>запроса – характерный признак коррелированного подзапроса.</a:t>
            </a:r>
          </a:p>
          <a:p>
            <a:pPr eaLnBrk="1" hangingPunct="1">
              <a:buFontTx/>
              <a:buNone/>
            </a:pPr>
            <a:r>
              <a:rPr lang="ru-RU" altLang="ru-RU" sz="2000" u="sng" dirty="0"/>
              <a:t>Задание для самостоятельной работы</a:t>
            </a:r>
            <a:r>
              <a:rPr lang="ru-RU" altLang="ru-RU" sz="2000" dirty="0"/>
              <a:t>: </a:t>
            </a:r>
            <a:r>
              <a:rPr lang="ru-RU" altLang="ru-RU" sz="2000" dirty="0">
                <a:solidFill>
                  <a:srgbClr val="000000"/>
                </a:solidFill>
              </a:rPr>
              <a:t>Найдите всех работников, </a:t>
            </a:r>
          </a:p>
          <a:p>
            <a:pPr eaLnBrk="1" hangingPunct="1">
              <a:buFontTx/>
              <a:buNone/>
            </a:pPr>
            <a:r>
              <a:rPr lang="ru-RU" altLang="ru-RU" sz="2000" dirty="0">
                <a:solidFill>
                  <a:srgbClr val="000000"/>
                </a:solidFill>
              </a:rPr>
              <a:t>которые получают зарплату равную средней зарплате в своем </a:t>
            </a:r>
          </a:p>
          <a:p>
            <a:pPr eaLnBrk="1" hangingPunct="1">
              <a:buFontTx/>
              <a:buNone/>
            </a:pPr>
            <a:r>
              <a:rPr lang="ru-RU" altLang="ru-RU" sz="2000" dirty="0">
                <a:solidFill>
                  <a:srgbClr val="000000"/>
                </a:solidFill>
              </a:rPr>
              <a:t>отделе. </a:t>
            </a:r>
          </a:p>
          <a:p>
            <a:pPr eaLnBrk="1" hangingPunct="1">
              <a:buFontTx/>
              <a:buNone/>
            </a:pPr>
            <a:r>
              <a:rPr lang="ru-RU" altLang="ru-RU" sz="2000" dirty="0"/>
              <a:t>     Получите ответ. Разберитесь с семантикой запроса.</a:t>
            </a:r>
          </a:p>
          <a:p>
            <a:pPr eaLnBrk="1" hangingPunct="1">
              <a:buFontTx/>
              <a:buNone/>
            </a:pPr>
            <a:r>
              <a:rPr lang="ru-RU" altLang="ru-RU" sz="2000" u="sng" dirty="0"/>
              <a:t>Задание</a:t>
            </a:r>
            <a:r>
              <a:rPr lang="ru-RU" altLang="ru-RU" sz="2000" dirty="0"/>
              <a:t>: обязательно разберитесь с методом нисходящего </a:t>
            </a:r>
          </a:p>
          <a:p>
            <a:pPr eaLnBrk="1" hangingPunct="1">
              <a:buFontTx/>
              <a:buNone/>
            </a:pPr>
            <a:r>
              <a:rPr lang="ru-RU" altLang="ru-RU" sz="2000" dirty="0"/>
              <a:t>проектирования. </a:t>
            </a:r>
          </a:p>
        </p:txBody>
      </p:sp>
      <p:sp>
        <p:nvSpPr>
          <p:cNvPr id="45062" name="AutoShape 5"/>
          <p:cNvSpPr>
            <a:spLocks noChangeArrowheads="1"/>
          </p:cNvSpPr>
          <p:nvPr/>
        </p:nvSpPr>
        <p:spPr bwMode="auto">
          <a:xfrm>
            <a:off x="6383338" y="2997200"/>
            <a:ext cx="3168650" cy="395288"/>
          </a:xfrm>
          <a:prstGeom prst="wedgeRoundRectCallout">
            <a:avLst>
              <a:gd name="adj1" fmla="val -22807"/>
              <a:gd name="adj2" fmla="val -116668"/>
              <a:gd name="adj3" fmla="val 16667"/>
            </a:avLst>
          </a:prstGeom>
          <a:noFill/>
          <a:ln w="9525" algn="ctr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  <a:defRPr/>
            </a:pPr>
            <a:r>
              <a:rPr lang="ru-RU" altLang="ru-RU" sz="1600" dirty="0">
                <a:solidFill>
                  <a:srgbClr val="BBE0E3">
                    <a:lumMod val="50000"/>
                  </a:srgbClr>
                </a:solidFill>
              </a:rPr>
              <a:t>Столбец из внешнего запроса</a:t>
            </a:r>
          </a:p>
        </p:txBody>
      </p:sp>
    </p:spTree>
    <p:extLst>
      <p:ext uri="{BB962C8B-B14F-4D97-AF65-F5344CB8AC3E}">
        <p14:creationId xmlns:p14="http://schemas.microsoft.com/office/powerpoint/2010/main" val="49626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0010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Какой запрос лучше?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3450" y="800100"/>
            <a:ext cx="10648950" cy="60579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SELECT ENAME, SAL SALARY, DEPTNO</a:t>
            </a:r>
          </a:p>
          <a:p>
            <a:pPr marL="0" indent="0">
              <a:buNone/>
            </a:pPr>
            <a:r>
              <a:rPr lang="en-US" sz="2000" dirty="0"/>
              <a:t>      FROM EMP E</a:t>
            </a:r>
          </a:p>
          <a:p>
            <a:pPr marL="0" indent="0">
              <a:buNone/>
            </a:pPr>
            <a:r>
              <a:rPr lang="en-US" sz="2000" dirty="0"/>
              <a:t>      WHERE SAL=(SELECT MAX(SAL) FROM EMP</a:t>
            </a:r>
          </a:p>
          <a:p>
            <a:pPr marL="0" indent="0">
              <a:buNone/>
            </a:pPr>
            <a:r>
              <a:rPr lang="en-US" sz="2000" dirty="0"/>
              <a:t>                                 WHERE DEPTNO=E.DEPTNO)</a:t>
            </a:r>
          </a:p>
          <a:p>
            <a:pPr marL="0" indent="0">
              <a:buNone/>
            </a:pPr>
            <a:r>
              <a:rPr lang="en-US" sz="2000" dirty="0"/>
              <a:t>     ORDER BY DEPTNO;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ENAME, SAL SALARY, DEPTNO</a:t>
            </a:r>
          </a:p>
          <a:p>
            <a:pPr marL="0" indent="0">
              <a:buNone/>
            </a:pPr>
            <a:r>
              <a:rPr lang="en-US" sz="2000" dirty="0"/>
              <a:t>      FROM EMP E</a:t>
            </a:r>
          </a:p>
          <a:p>
            <a:pPr marL="0" indent="0">
              <a:buNone/>
            </a:pPr>
            <a:r>
              <a:rPr lang="en-US" sz="2000" dirty="0"/>
              <a:t>      WHERE (DEPTNO, SAL) IN (SELECT DEPTNO, MAX(SAL) FROM EMP</a:t>
            </a:r>
          </a:p>
          <a:p>
            <a:pPr marL="0" indent="0">
              <a:buNone/>
            </a:pPr>
            <a:r>
              <a:rPr lang="en-US" sz="2000" dirty="0"/>
              <a:t>                                 GROUP BY DEPTNO)</a:t>
            </a:r>
          </a:p>
          <a:p>
            <a:pPr marL="0" indent="0">
              <a:buNone/>
            </a:pPr>
            <a:r>
              <a:rPr lang="en-US" sz="2000" dirty="0"/>
              <a:t>     ORDER BY DEPTNO;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Результат один и тот же !!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u="sng" dirty="0"/>
              <a:t>Задание</a:t>
            </a:r>
            <a:r>
              <a:rPr lang="ru-RU" sz="2000" dirty="0"/>
              <a:t>: Удастся ли в запросе</a:t>
            </a:r>
          </a:p>
          <a:p>
            <a:pPr marL="0" indent="0">
              <a:buNone/>
            </a:pPr>
            <a:r>
              <a:rPr lang="ru-RU" sz="2000" dirty="0"/>
              <a:t>предыдущего слайда изменить </a:t>
            </a:r>
          </a:p>
          <a:p>
            <a:pPr marL="0" indent="0">
              <a:buNone/>
            </a:pPr>
            <a:r>
              <a:rPr lang="ru-RU" sz="2000" dirty="0"/>
              <a:t>тип запроса?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828165"/>
            <a:ext cx="5602164" cy="165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39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"/>
            <a:ext cx="10972800" cy="633974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Примеры коррелированных и обычных подзапросов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633975"/>
            <a:ext cx="10972800" cy="6224025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Для каждого менеджера выведите его порядковый номер, имя и наиболее высоко-</a:t>
            </a:r>
          </a:p>
          <a:p>
            <a:pPr marL="0" indent="0">
              <a:buNone/>
            </a:pPr>
            <a:r>
              <a:rPr lang="ru-RU" sz="2000" dirty="0"/>
              <a:t>оплачиваемого подчинённого. Сотрудники не имеющие менеджера не учитываются:</a:t>
            </a:r>
          </a:p>
          <a:p>
            <a:r>
              <a:rPr lang="ru-RU" sz="2000" dirty="0"/>
              <a:t>Коррелированный запрос:</a:t>
            </a:r>
          </a:p>
          <a:p>
            <a:pPr marL="0" indent="0">
              <a:buNone/>
            </a:pPr>
            <a:r>
              <a:rPr lang="en-US" sz="2000" dirty="0"/>
              <a:t>SELECT e1.employee_id, e1.first_name, e2.first_name, e2.salary</a:t>
            </a:r>
          </a:p>
          <a:p>
            <a:pPr marL="0" indent="0">
              <a:buNone/>
            </a:pPr>
            <a:r>
              <a:rPr lang="en-US" sz="2000" dirty="0"/>
              <a:t>FROM</a:t>
            </a:r>
            <a:r>
              <a:rPr lang="ru-RU" sz="2000" dirty="0"/>
              <a:t> </a:t>
            </a:r>
            <a:r>
              <a:rPr lang="en-US" sz="2000" dirty="0"/>
              <a:t>employees e1 JOIN employees e2 ON (e1.employee_id=e2.manager_id)</a:t>
            </a:r>
          </a:p>
          <a:p>
            <a:pPr marL="0" indent="0">
              <a:buNone/>
            </a:pPr>
            <a:r>
              <a:rPr lang="en-US" sz="2000" dirty="0"/>
              <a:t>WHERE</a:t>
            </a:r>
            <a:r>
              <a:rPr lang="ru-RU" sz="2000" dirty="0"/>
              <a:t> </a:t>
            </a:r>
            <a:r>
              <a:rPr lang="en-US" sz="2000" dirty="0"/>
              <a:t>e2.salary =</a:t>
            </a:r>
          </a:p>
          <a:p>
            <a:pPr marL="0" indent="0">
              <a:buNone/>
            </a:pPr>
            <a:r>
              <a:rPr lang="en-US" sz="2000" dirty="0"/>
              <a:t>(SELECT max(e3.salary) FROM employees e3</a:t>
            </a:r>
            <a:r>
              <a:rPr lang="ru-RU" sz="2000" dirty="0"/>
              <a:t> </a:t>
            </a:r>
            <a:r>
              <a:rPr lang="en-US" sz="2000" dirty="0"/>
              <a:t> WHERE e3.manager_id = e1.employee_id)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ru-RU" sz="2000" dirty="0"/>
              <a:t>Обычный запрос:</a:t>
            </a:r>
          </a:p>
          <a:p>
            <a:pPr marL="0" indent="0">
              <a:buNone/>
            </a:pPr>
            <a:r>
              <a:rPr lang="en-US" sz="2000" dirty="0"/>
              <a:t>SELECT e3.first_name, e4.first_name, e4.salary</a:t>
            </a:r>
          </a:p>
          <a:p>
            <a:pPr marL="0" indent="0">
              <a:buNone/>
            </a:pPr>
            <a:r>
              <a:rPr lang="en-US" sz="2000" dirty="0"/>
              <a:t>FROM (</a:t>
            </a:r>
          </a:p>
          <a:p>
            <a:pPr marL="0" indent="0">
              <a:buNone/>
            </a:pPr>
            <a:r>
              <a:rPr lang="en-US" sz="2000" dirty="0"/>
              <a:t>SELECT e1.employee_id, MAX(e2.salary) AS </a:t>
            </a:r>
            <a:r>
              <a:rPr lang="en-US" sz="2000" dirty="0" err="1"/>
              <a:t>maxsalary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hr.employees</a:t>
            </a:r>
            <a:r>
              <a:rPr lang="en-US" sz="2000" dirty="0"/>
              <a:t> e1 JOIN </a:t>
            </a:r>
            <a:r>
              <a:rPr lang="en-US" sz="2000" dirty="0" err="1"/>
              <a:t>hr.employees</a:t>
            </a:r>
            <a:r>
              <a:rPr lang="en-US" sz="2000" dirty="0"/>
              <a:t> e2 ON(e1.employee_id = e2.manager_id)</a:t>
            </a:r>
          </a:p>
          <a:p>
            <a:pPr marL="0" indent="0">
              <a:buNone/>
            </a:pPr>
            <a:r>
              <a:rPr lang="en-US" sz="2000" dirty="0"/>
              <a:t>GROUP BY e1.employee_id ) </a:t>
            </a:r>
            <a:r>
              <a:rPr lang="en-US" sz="2000" dirty="0" err="1"/>
              <a:t>ntable</a:t>
            </a:r>
            <a:r>
              <a:rPr lang="en-US" sz="2000" dirty="0"/>
              <a:t> /* </a:t>
            </a:r>
            <a:r>
              <a:rPr lang="ru-RU" sz="2000" dirty="0"/>
              <a:t>Подзапрос выполнится один раз*/</a:t>
            </a:r>
          </a:p>
          <a:p>
            <a:pPr marL="0" indent="0">
              <a:buNone/>
            </a:pPr>
            <a:r>
              <a:rPr lang="en-US" sz="2000" dirty="0"/>
              <a:t>INNER JOIN </a:t>
            </a:r>
            <a:r>
              <a:rPr lang="en-US" sz="2000" dirty="0" err="1"/>
              <a:t>hr.employees</a:t>
            </a:r>
            <a:r>
              <a:rPr lang="en-US" sz="2000" dirty="0"/>
              <a:t> e3 ON (</a:t>
            </a:r>
            <a:r>
              <a:rPr lang="en-US" sz="2000" dirty="0" err="1"/>
              <a:t>ntable.employee_id</a:t>
            </a:r>
            <a:r>
              <a:rPr lang="en-US" sz="2000" dirty="0"/>
              <a:t>=e3.employee_id) INNER JOIN</a:t>
            </a:r>
          </a:p>
          <a:p>
            <a:pPr marL="0" indent="0">
              <a:buNone/>
            </a:pPr>
            <a:r>
              <a:rPr lang="en-US" sz="2000" dirty="0" err="1"/>
              <a:t>hr.employees</a:t>
            </a:r>
            <a:r>
              <a:rPr lang="en-US" sz="2000" dirty="0"/>
              <a:t> e4 ON(e3.employee_id = e4.manager_id)</a:t>
            </a:r>
          </a:p>
          <a:p>
            <a:pPr marL="0" indent="0">
              <a:buNone/>
            </a:pPr>
            <a:r>
              <a:rPr lang="en-US" sz="2000" dirty="0"/>
              <a:t>WHERE </a:t>
            </a:r>
            <a:r>
              <a:rPr lang="en-US" sz="2000" dirty="0" err="1"/>
              <a:t>ntable.maxsalary</a:t>
            </a:r>
            <a:r>
              <a:rPr lang="en-US" sz="2000"/>
              <a:t> = e4.salary;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999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Иерархии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9768" y="1600201"/>
            <a:ext cx="11512296" cy="4525963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Пример: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to_date</a:t>
            </a:r>
            <a:r>
              <a:rPr lang="en-US" sz="2000" dirty="0"/>
              <a:t>('01.01.2008','dd.mm.yyyy') + Level - 1,to_date('01.01.2008','dd.mm.yyyy') + Level - 1 FROM dual CONNECT BY LEVEL &lt;= sysdate - </a:t>
            </a:r>
            <a:r>
              <a:rPr lang="en-US" sz="2000" dirty="0" err="1"/>
              <a:t>to_date</a:t>
            </a:r>
            <a:r>
              <a:rPr lang="en-US" sz="2000" dirty="0"/>
              <a:t>('01.01.2008','dd.mm.yyyy') + 1;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Установки для работы с датами: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ALTER SESSION SET </a:t>
            </a:r>
            <a:r>
              <a:rPr lang="en-US" sz="2000" dirty="0" err="1"/>
              <a:t>nls_territory</a:t>
            </a:r>
            <a:r>
              <a:rPr lang="en-US" sz="2000" dirty="0"/>
              <a:t>='RUSSIA';</a:t>
            </a:r>
          </a:p>
          <a:p>
            <a:pPr marL="0" indent="0">
              <a:buNone/>
            </a:pPr>
            <a:r>
              <a:rPr lang="en-US" sz="2000" dirty="0"/>
              <a:t>ALTER SESSION SET </a:t>
            </a:r>
            <a:r>
              <a:rPr lang="en-US" sz="2000" dirty="0" err="1"/>
              <a:t>nls_language</a:t>
            </a:r>
            <a:r>
              <a:rPr lang="en-US" sz="2000" dirty="0"/>
              <a:t>='RUSSIAN';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542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22976" y="247271"/>
            <a:ext cx="5971032" cy="1042098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Пример. Даты текущего месяца без рекурсии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910328" cy="7114244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4832" y="2093976"/>
            <a:ext cx="9497568" cy="3584132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Даты текущего месяца</a:t>
            </a:r>
            <a:r>
              <a:rPr lang="en-US" sz="2000" dirty="0"/>
              <a:t> </a:t>
            </a:r>
            <a:r>
              <a:rPr lang="ru-RU" sz="2000" dirty="0"/>
              <a:t>без рекурсии:</a:t>
            </a:r>
          </a:p>
          <a:p>
            <a:pPr marL="0" indent="0">
              <a:buNone/>
            </a:pPr>
            <a:r>
              <a:rPr lang="en-US" sz="2000" dirty="0"/>
              <a:t>SELECT TRUNC(SYSDATE, 'MM') + ROWNUM - 1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all_objects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WHERE ROWNUM &lt;= TO_NUMBER(TO_CHAR(LAST_DAY(SYSDATE), 'DD'))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13895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422" y="1112291"/>
            <a:ext cx="7144499" cy="280207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45720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Календарь на текущий год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537172"/>
            <a:ext cx="10972800" cy="632082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SELECT TRUNC (SYSDATE, '</a:t>
            </a:r>
            <a:r>
              <a:rPr lang="en-US" sz="2000" dirty="0" err="1"/>
              <a:t>yyyy</a:t>
            </a:r>
            <a:r>
              <a:rPr lang="en-US" sz="2000" dirty="0"/>
              <a:t>') + LEVEL - 1 AS </a:t>
            </a:r>
            <a:r>
              <a:rPr lang="en-US" sz="2000" dirty="0" err="1"/>
              <a:t>this_year</a:t>
            </a:r>
            <a:r>
              <a:rPr lang="ru-RU" sz="2000" dirty="0"/>
              <a:t> </a:t>
            </a:r>
            <a:r>
              <a:rPr lang="en-US" sz="2000" dirty="0"/>
              <a:t>FROM dual</a:t>
            </a:r>
          </a:p>
          <a:p>
            <a:pPr marL="0" indent="0">
              <a:buNone/>
            </a:pPr>
            <a:r>
              <a:rPr lang="en-US" sz="2000" dirty="0"/>
              <a:t>CONNECT BY LEVEL &lt;</a:t>
            </a:r>
          </a:p>
          <a:p>
            <a:pPr marL="0" indent="0">
              <a:buNone/>
            </a:pPr>
            <a:r>
              <a:rPr lang="en-US" sz="2000" dirty="0"/>
              <a:t>  ADD_MONTHS (TRUNC (SYSDATE, '</a:t>
            </a:r>
            <a:r>
              <a:rPr lang="en-US" sz="2000" dirty="0" err="1"/>
              <a:t>yyyy</a:t>
            </a:r>
            <a:r>
              <a:rPr lang="en-US" sz="2000" dirty="0"/>
              <a:t>'), 12)</a:t>
            </a:r>
          </a:p>
          <a:p>
            <a:pPr marL="0" indent="0">
              <a:buNone/>
            </a:pPr>
            <a:r>
              <a:rPr lang="en-US" sz="2000" dirty="0"/>
              <a:t>  - TRUNC (SYSDATE, '</a:t>
            </a:r>
            <a:r>
              <a:rPr lang="en-US" sz="2000" dirty="0" err="1"/>
              <a:t>yyyy</a:t>
            </a:r>
            <a:r>
              <a:rPr lang="en-US" sz="2000" dirty="0"/>
              <a:t>') + 1;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ADD_MONTHS(TRUNC(SYSDATE,'</a:t>
            </a:r>
            <a:r>
              <a:rPr lang="en-US" sz="2000" dirty="0" err="1"/>
              <a:t>yyyy</a:t>
            </a:r>
            <a:r>
              <a:rPr lang="en-US" sz="2000" dirty="0"/>
              <a:t>'),level-1) d</a:t>
            </a:r>
          </a:p>
          <a:p>
            <a:pPr marL="0" indent="0">
              <a:buNone/>
            </a:pPr>
            <a:r>
              <a:rPr lang="en-US" sz="2000" dirty="0"/>
              <a:t>   FROM dual</a:t>
            </a:r>
          </a:p>
          <a:p>
            <a:pPr marL="0" indent="0">
              <a:buNone/>
            </a:pPr>
            <a:r>
              <a:rPr lang="en-US" sz="2000" dirty="0"/>
              <a:t>   CONNECT BY level&lt;=12;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821" y="3376864"/>
            <a:ext cx="4244100" cy="384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58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Календарь на текущий месяц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000" dirty="0"/>
              <a:t>Все дни текущего месяца: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TRUNC(SYSDATE, 'MM') + ROWNUM - 1</a:t>
            </a:r>
          </a:p>
          <a:p>
            <a:pPr marL="0" indent="0">
              <a:buNone/>
            </a:pPr>
            <a:r>
              <a:rPr lang="en-US" sz="2000" dirty="0"/>
              <a:t>  FROM </a:t>
            </a:r>
            <a:r>
              <a:rPr lang="en-US" sz="2000" dirty="0" err="1"/>
              <a:t>all_objects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WHERE ROWNUM &lt;= TO_NUMBER(TO_CHAR(LAST_DAY(SYSDATE), 'DD'))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864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7161"/>
            <a:ext cx="10515600" cy="768096"/>
          </a:xfrm>
        </p:spPr>
        <p:txBody>
          <a:bodyPr>
            <a:norm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Что такое обобщенное табличное выражение?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33856" y="1035825"/>
            <a:ext cx="10341864" cy="4321595"/>
          </a:xfrm>
          <a:prstGeom prst="rect">
            <a:avLst/>
          </a:prstGeom>
          <a:solidFill>
            <a:srgbClr val="FC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ru-RU" altLang="ru-RU" sz="2000" b="1" dirty="0">
                <a:solidFill>
                  <a:srgbClr val="0F1C1F"/>
                </a:solidFill>
                <a:latin typeface="Calibri" panose="020F0502020204030204"/>
                <a:cs typeface="Tahoma" panose="020B0604030504040204" pitchFamily="34" charset="0"/>
              </a:rPr>
              <a:t>     Обобщенное табличное выражение</a:t>
            </a:r>
            <a:r>
              <a:rPr lang="ru-RU" altLang="ru-RU" sz="2000" dirty="0">
                <a:solidFill>
                  <a:srgbClr val="0F1C1F"/>
                </a:solidFill>
                <a:latin typeface="Calibri" panose="020F0502020204030204"/>
                <a:cs typeface="Tahoma" panose="020B0604030504040204" pitchFamily="34" charset="0"/>
              </a:rPr>
              <a:t> (</a:t>
            </a:r>
            <a:r>
              <a:rPr lang="ru-RU" altLang="ru-RU" sz="2000" i="1" dirty="0">
                <a:solidFill>
                  <a:srgbClr val="0F1C1F"/>
                </a:solidFill>
                <a:latin typeface="Calibri" panose="020F0502020204030204"/>
                <a:cs typeface="Tahoma" panose="020B0604030504040204" pitchFamily="34" charset="0"/>
              </a:rPr>
              <a:t>OTB</a:t>
            </a:r>
            <a:r>
              <a:rPr lang="ru-RU" altLang="ru-RU" sz="2000" dirty="0">
                <a:solidFill>
                  <a:srgbClr val="0F1C1F"/>
                </a:solidFill>
                <a:latin typeface="Calibri" panose="020F0502020204030204"/>
                <a:cs typeface="Tahoma" panose="020B0604030504040204" pitchFamily="34" charset="0"/>
              </a:rPr>
              <a:t>) оно же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Common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Table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Expression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 (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CTE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)  – это временный результат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 выполнения SQL подзапроса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, который не сохраняется в БД, но к которому можно обращаться внутри запроса.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ru-RU" altLang="ru-RU" sz="2000" dirty="0">
                <a:solidFill>
                  <a:srgbClr val="0F1C1F"/>
                </a:solidFill>
                <a:latin typeface="Calibri" panose="020F0502020204030204"/>
                <a:cs typeface="Tahoma" panose="020B0604030504040204" pitchFamily="34" charset="0"/>
              </a:rPr>
              <a:t>     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Для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чего предназначены ОТВ: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82B2F"/>
                </a:solidFill>
                <a:effectLst/>
                <a:latin typeface="+mn-lt"/>
                <a:cs typeface="Tahoma" panose="020B0604030504040204" pitchFamily="34" charset="0"/>
              </a:rPr>
              <a:t> для написания рекурсивных запросов;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82B2F"/>
                </a:solidFill>
                <a:effectLst/>
                <a:latin typeface="+mn-lt"/>
                <a:cs typeface="Tahoma" panose="020B0604030504040204" pitchFamily="34" charset="0"/>
              </a:rPr>
              <a:t> для замены представлений (VIEW), когда нет необходимости сохранять в базе SQL запрос определяющий представления;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82B2F"/>
                </a:solidFill>
                <a:effectLst/>
                <a:latin typeface="+mn-lt"/>
                <a:cs typeface="Tahoma" panose="020B0604030504040204" pitchFamily="34" charset="0"/>
              </a:rPr>
              <a:t>     Обобщенные табличные выражения повышают читаемость кода путем разделения запроса на модули, и тем самым упрощают работу со сложными запросами;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82B2F"/>
                </a:solidFill>
                <a:effectLst/>
                <a:latin typeface="+mn-lt"/>
                <a:cs typeface="Tahoma" panose="020B0604030504040204" pitchFamily="34" charset="0"/>
              </a:rPr>
              <a:t>     OTB допускают многократные ссылки на результирующие данные из одной SQL инструкции.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     ОТВ определяются с помощью 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конструкции WITH 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размещённой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C1F"/>
                </a:solidFill>
                <a:effectLst/>
                <a:latin typeface="+mn-lt"/>
                <a:cs typeface="Tahoma" panose="020B0604030504040204" pitchFamily="34" charset="0"/>
              </a:rPr>
              <a:t>как в запросах, так и в функциях, хранимых процедурах, триггерах и представлениях.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9060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484094"/>
          </a:xfrm>
        </p:spPr>
        <p:txBody>
          <a:bodyPr/>
          <a:lstStyle/>
          <a:p>
            <a:r>
              <a:rPr lang="ru-RU" sz="3600" dirty="0">
                <a:solidFill>
                  <a:srgbClr val="FF0000"/>
                </a:solidFill>
              </a:rPr>
              <a:t>Фраза </a:t>
            </a:r>
            <a:r>
              <a:rPr lang="en-US" sz="3600" dirty="0">
                <a:solidFill>
                  <a:srgbClr val="FF0000"/>
                </a:solidFill>
              </a:rPr>
              <a:t>WITH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484094"/>
            <a:ext cx="10972800" cy="6373906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      Фраза WITH называемая </a:t>
            </a:r>
            <a:r>
              <a:rPr lang="ru-RU" sz="2000" dirty="0">
                <a:solidFill>
                  <a:srgbClr val="000000"/>
                </a:solidFill>
              </a:rPr>
              <a:t>subquery_factoring_clause </a:t>
            </a:r>
            <a:r>
              <a:rPr lang="ru-RU" sz="2000" dirty="0"/>
              <a:t>помещается перед основным запросом и позволяет определить подзапрос  до его применения. В частности, подзапрос встречающийся более одного раза, можно записать один раз и обращаться к нему многократно.</a:t>
            </a:r>
            <a:r>
              <a:rPr lang="ru-RU" sz="2000" dirty="0">
                <a:solidFill>
                  <a:srgbClr val="000000"/>
                </a:solidFill>
              </a:rPr>
              <a:t> Это особенно удобно, когда используются объединения и агрегирования.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515151"/>
                </a:solidFill>
                <a:latin typeface="Source Sans Pro"/>
              </a:rPr>
              <a:t>      </a:t>
            </a:r>
            <a:r>
              <a:rPr lang="ru-RU" sz="2000" dirty="0">
                <a:latin typeface="Source Sans Pro"/>
              </a:rPr>
              <a:t>Применение </a:t>
            </a:r>
            <a:r>
              <a:rPr lang="ru-RU" sz="2000" dirty="0"/>
              <a:t>WITH у</a:t>
            </a:r>
            <a:r>
              <a:rPr lang="ru-RU" sz="2000" dirty="0">
                <a:latin typeface="Source Sans Pro"/>
              </a:rPr>
              <a:t>прощает чтение запроса.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Результаты подзапроса из фразы WITH сохраняются во временной табличной области пользователя. Это ускоряет работу запроса.</a:t>
            </a:r>
          </a:p>
          <a:p>
            <a:pPr marL="0" lv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      Синтаксис при использовании одного подзапроса:.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WITH </a:t>
            </a:r>
            <a:endParaRPr lang="ru-RU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&lt;</a:t>
            </a:r>
            <a:r>
              <a:rPr lang="en-US" sz="2000" dirty="0" err="1">
                <a:solidFill>
                  <a:srgbClr val="000000"/>
                </a:solidFill>
              </a:rPr>
              <a:t>alias_name</a:t>
            </a:r>
            <a:r>
              <a:rPr lang="en-US" sz="2000" dirty="0">
                <a:solidFill>
                  <a:srgbClr val="000000"/>
                </a:solidFill>
              </a:rPr>
              <a:t>&gt; AS (</a:t>
            </a:r>
            <a:r>
              <a:rPr lang="en-US" sz="2000" dirty="0" err="1">
                <a:solidFill>
                  <a:srgbClr val="000000"/>
                </a:solidFill>
              </a:rPr>
              <a:t>sql_subquery_statement</a:t>
            </a:r>
            <a:r>
              <a:rPr lang="en-US" sz="2000" dirty="0">
                <a:solidFill>
                  <a:srgbClr val="000000"/>
                </a:solidFill>
              </a:rPr>
              <a:t>)</a:t>
            </a:r>
            <a:r>
              <a:rPr lang="ru-RU" sz="2000" dirty="0">
                <a:solidFill>
                  <a:srgbClr val="000000"/>
                </a:solidFill>
              </a:rPr>
              <a:t>         --- подзапрос</a:t>
            </a:r>
            <a:endParaRPr lang="en-US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SELECT </a:t>
            </a:r>
            <a:r>
              <a:rPr lang="en-US" sz="2000" dirty="0" err="1">
                <a:solidFill>
                  <a:srgbClr val="000000"/>
                </a:solidFill>
              </a:rPr>
              <a:t>column_list</a:t>
            </a:r>
            <a:r>
              <a:rPr lang="en-US" sz="2000" dirty="0">
                <a:solidFill>
                  <a:srgbClr val="000000"/>
                </a:solidFill>
              </a:rPr>
              <a:t> FROM &lt;</a:t>
            </a:r>
            <a:r>
              <a:rPr lang="en-US" sz="2000" dirty="0" err="1">
                <a:solidFill>
                  <a:srgbClr val="000000"/>
                </a:solidFill>
              </a:rPr>
              <a:t>alias_name</a:t>
            </a:r>
            <a:r>
              <a:rPr lang="en-US" sz="2000" dirty="0">
                <a:solidFill>
                  <a:srgbClr val="000000"/>
                </a:solidFill>
              </a:rPr>
              <a:t>&gt;[,</a:t>
            </a:r>
            <a:r>
              <a:rPr lang="en-US" sz="2000" dirty="0" err="1">
                <a:solidFill>
                  <a:srgbClr val="000000"/>
                </a:solidFill>
              </a:rPr>
              <a:t>tablename</a:t>
            </a:r>
            <a:r>
              <a:rPr lang="en-US" sz="2000" dirty="0">
                <a:solidFill>
                  <a:srgbClr val="000000"/>
                </a:solidFill>
              </a:rPr>
              <a:t>]</a:t>
            </a:r>
            <a:r>
              <a:rPr lang="ru-RU" sz="2000" dirty="0">
                <a:solidFill>
                  <a:srgbClr val="000000"/>
                </a:solidFill>
              </a:rPr>
              <a:t>  --- основной запрос</a:t>
            </a:r>
            <a:endParaRPr lang="en-US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[WHERE &lt;</a:t>
            </a:r>
            <a:r>
              <a:rPr lang="en-US" sz="2000" dirty="0" err="1">
                <a:solidFill>
                  <a:srgbClr val="000000"/>
                </a:solidFill>
              </a:rPr>
              <a:t>join_condition</a:t>
            </a:r>
            <a:r>
              <a:rPr lang="en-US" sz="2000" dirty="0">
                <a:solidFill>
                  <a:srgbClr val="000000"/>
                </a:solidFill>
              </a:rPr>
              <a:t>&gt;]</a:t>
            </a:r>
          </a:p>
          <a:p>
            <a:pPr marL="0" lv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      Синтаксис для нескольких подзапросов: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WITH </a:t>
            </a:r>
            <a:endParaRPr lang="ru-RU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&lt;</a:t>
            </a:r>
            <a:r>
              <a:rPr lang="en-US" sz="2000" dirty="0" err="1">
                <a:solidFill>
                  <a:srgbClr val="000000"/>
                </a:solidFill>
              </a:rPr>
              <a:t>alias_name_A</a:t>
            </a:r>
            <a:r>
              <a:rPr lang="en-US" sz="2000" dirty="0">
                <a:solidFill>
                  <a:srgbClr val="000000"/>
                </a:solidFill>
              </a:rPr>
              <a:t>&gt; AS (</a:t>
            </a:r>
            <a:r>
              <a:rPr lang="en-US" sz="2000" dirty="0" err="1">
                <a:solidFill>
                  <a:srgbClr val="000000"/>
                </a:solidFill>
              </a:rPr>
              <a:t>sql_subquery_statement</a:t>
            </a:r>
            <a:r>
              <a:rPr lang="en-US" sz="2000" dirty="0">
                <a:solidFill>
                  <a:srgbClr val="000000"/>
                </a:solidFill>
              </a:rPr>
              <a:t>),</a:t>
            </a:r>
            <a:r>
              <a:rPr lang="ru-RU" sz="2000" dirty="0">
                <a:solidFill>
                  <a:srgbClr val="000000"/>
                </a:solidFill>
              </a:rPr>
              <a:t>    --- первый подзапрос</a:t>
            </a:r>
            <a:endParaRPr lang="en-US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&lt;</a:t>
            </a:r>
            <a:r>
              <a:rPr lang="en-US" sz="2000" dirty="0" err="1">
                <a:solidFill>
                  <a:srgbClr val="000000"/>
                </a:solidFill>
              </a:rPr>
              <a:t>alias_name_B</a:t>
            </a:r>
            <a:r>
              <a:rPr lang="en-US" sz="2000" dirty="0">
                <a:solidFill>
                  <a:srgbClr val="000000"/>
                </a:solidFill>
              </a:rPr>
              <a:t>&gt; AS(</a:t>
            </a:r>
            <a:r>
              <a:rPr lang="en-US" sz="2000" dirty="0" err="1">
                <a:solidFill>
                  <a:srgbClr val="000000"/>
                </a:solidFill>
              </a:rPr>
              <a:t>sql_subquery_statement_from_alias_name_A</a:t>
            </a:r>
            <a:r>
              <a:rPr lang="ru-RU" sz="2000" dirty="0">
                <a:solidFill>
                  <a:srgbClr val="000000"/>
                </a:solidFill>
              </a:rPr>
              <a:t>  --- второй подзапрос</a:t>
            </a:r>
            <a:endParaRPr lang="en-US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or </a:t>
            </a:r>
            <a:r>
              <a:rPr lang="en-US" sz="2000" dirty="0" err="1">
                <a:solidFill>
                  <a:srgbClr val="000000"/>
                </a:solidFill>
              </a:rPr>
              <a:t>sql_subquery_statement</a:t>
            </a:r>
            <a:r>
              <a:rPr lang="en-US" sz="2000" dirty="0">
                <a:solidFill>
                  <a:srgbClr val="000000"/>
                </a:solidFill>
              </a:rPr>
              <a:t> )</a:t>
            </a:r>
            <a:r>
              <a:rPr lang="ru-RU" sz="2000" dirty="0">
                <a:solidFill>
                  <a:srgbClr val="000000"/>
                </a:solidFill>
              </a:rPr>
              <a:t>                               --- основного запроса или подзапроса А</a:t>
            </a:r>
            <a:endParaRPr lang="en-US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SELECT &lt;</a:t>
            </a:r>
            <a:r>
              <a:rPr lang="en-US" sz="2000" dirty="0" err="1">
                <a:solidFill>
                  <a:srgbClr val="000000"/>
                </a:solidFill>
              </a:rPr>
              <a:t>column_list</a:t>
            </a:r>
            <a:r>
              <a:rPr lang="en-US" sz="2000" dirty="0">
                <a:solidFill>
                  <a:srgbClr val="000000"/>
                </a:solidFill>
              </a:rPr>
              <a:t>&gt;</a:t>
            </a:r>
            <a:r>
              <a:rPr lang="ru-RU" sz="2000" dirty="0">
                <a:solidFill>
                  <a:srgbClr val="000000"/>
                </a:solidFill>
              </a:rPr>
              <a:t>                                        --- основной запрос с двумя подзапросами</a:t>
            </a:r>
            <a:endParaRPr lang="en-US" sz="2000" dirty="0">
              <a:solidFill>
                <a:srgbClr val="000000"/>
              </a:solidFill>
            </a:endParaRP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FROM &lt;</a:t>
            </a:r>
            <a:r>
              <a:rPr lang="en-US" sz="2000" dirty="0" err="1">
                <a:solidFill>
                  <a:srgbClr val="000000"/>
                </a:solidFill>
              </a:rPr>
              <a:t>alias_name_A</a:t>
            </a:r>
            <a:r>
              <a:rPr lang="en-US" sz="2000" dirty="0">
                <a:solidFill>
                  <a:srgbClr val="000000"/>
                </a:solidFill>
              </a:rPr>
              <a:t>&gt;, &lt;</a:t>
            </a:r>
            <a:r>
              <a:rPr lang="en-US" sz="2000" dirty="0" err="1">
                <a:solidFill>
                  <a:srgbClr val="000000"/>
                </a:solidFill>
              </a:rPr>
              <a:t>alias_name_B</a:t>
            </a:r>
            <a:r>
              <a:rPr lang="en-US" sz="2000" dirty="0">
                <a:solidFill>
                  <a:srgbClr val="000000"/>
                </a:solidFill>
              </a:rPr>
              <a:t>&gt;, [</a:t>
            </a:r>
            <a:r>
              <a:rPr lang="en-US" sz="2000" dirty="0" err="1">
                <a:solidFill>
                  <a:srgbClr val="000000"/>
                </a:solidFill>
              </a:rPr>
              <a:t>tablenames</a:t>
            </a:r>
            <a:r>
              <a:rPr lang="en-US" sz="2000" dirty="0">
                <a:solidFill>
                  <a:srgbClr val="000000"/>
                </a:solidFill>
              </a:rPr>
              <a:t>]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[WHERE &lt;</a:t>
            </a:r>
            <a:r>
              <a:rPr lang="en-US" sz="2000" dirty="0" err="1">
                <a:solidFill>
                  <a:srgbClr val="000000"/>
                </a:solidFill>
              </a:rPr>
              <a:t>join_condition</a:t>
            </a:r>
            <a:r>
              <a:rPr lang="en-US" sz="2000" dirty="0">
                <a:solidFill>
                  <a:srgbClr val="000000"/>
                </a:solidFill>
              </a:rPr>
              <a:t>&gt;]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Скругленная прямоугольная выноска 4"/>
          <p:cNvSpPr/>
          <p:nvPr/>
        </p:nvSpPr>
        <p:spPr bwMode="auto">
          <a:xfrm>
            <a:off x="7835153" y="4016188"/>
            <a:ext cx="2743200" cy="466165"/>
          </a:xfrm>
          <a:prstGeom prst="wedgeRoundRect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6" name="Скругленная прямоугольная выноска 5"/>
          <p:cNvSpPr/>
          <p:nvPr/>
        </p:nvSpPr>
        <p:spPr bwMode="auto">
          <a:xfrm>
            <a:off x="7835153" y="4016188"/>
            <a:ext cx="2940423" cy="753036"/>
          </a:xfrm>
          <a:prstGeom prst="wedgeRoundRect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Скругленная прямоугольная выноска 6"/>
          <p:cNvSpPr/>
          <p:nvPr/>
        </p:nvSpPr>
        <p:spPr bwMode="auto">
          <a:xfrm>
            <a:off x="7061200" y="4034117"/>
            <a:ext cx="3352800" cy="591671"/>
          </a:xfrm>
          <a:prstGeom prst="wedgeRoundRectCallout">
            <a:avLst>
              <a:gd name="adj1" fmla="val -79121"/>
              <a:gd name="adj2" fmla="val 120425"/>
              <a:gd name="adj3" fmla="val 16667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Подзапросы разделяются</a:t>
            </a:r>
            <a:r>
              <a:rPr kumimoji="0" lang="ru-RU" sz="2000" b="0" i="0" u="none" strike="noStrike" cap="none" normalizeH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 запятой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410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85906" y="0"/>
            <a:ext cx="5006094" cy="1490472"/>
          </a:xfrm>
        </p:spPr>
        <p:txBody>
          <a:bodyPr>
            <a:noAutofit/>
          </a:bodyPr>
          <a:lstStyle/>
          <a:p>
            <a:pPr algn="ctr"/>
            <a:r>
              <a:rPr lang="ru-RU" altLang="ru-RU" sz="32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rPr>
              <a:t>Как работают обобщенные табличные выражения</a:t>
            </a:r>
            <a:br>
              <a:rPr lang="ru-RU" altLang="ru-RU" sz="32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rPr>
            </a:br>
            <a:r>
              <a:rPr lang="ru-RU" altLang="ru-RU" sz="32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rPr>
              <a:t>без рекурсии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1753" y="57661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Совсем</a:t>
            </a:r>
            <a:r>
              <a:rPr lang="en-US" sz="2000" dirty="0"/>
              <a:t> </a:t>
            </a:r>
            <a:r>
              <a:rPr lang="en-US" sz="2000" dirty="0" err="1"/>
              <a:t>простой</a:t>
            </a:r>
            <a:r>
              <a:rPr lang="ru-RU" sz="2000" dirty="0"/>
              <a:t> запрос с </a:t>
            </a:r>
            <a:r>
              <a:rPr lang="en-US" sz="2000" dirty="0"/>
              <a:t>WITH:</a:t>
            </a:r>
          </a:p>
          <a:p>
            <a:pPr marL="0" indent="0">
              <a:buNone/>
            </a:pPr>
            <a:r>
              <a:rPr lang="en-US" sz="2000" dirty="0"/>
              <a:t>WITH t AS (</a:t>
            </a:r>
          </a:p>
          <a:p>
            <a:pPr marL="0" indent="0">
              <a:buNone/>
            </a:pPr>
            <a:r>
              <a:rPr lang="en-US" sz="2000" dirty="0"/>
              <a:t>SELECT '1', '301,391,303' FROM DUAL UNION ALL</a:t>
            </a:r>
          </a:p>
          <a:p>
            <a:pPr marL="0" indent="0">
              <a:buNone/>
            </a:pPr>
            <a:r>
              <a:rPr lang="en-US" sz="2000" dirty="0"/>
              <a:t>SELECT '2', '301' FROM dual UNION All</a:t>
            </a:r>
          </a:p>
          <a:p>
            <a:pPr marL="0" indent="0">
              <a:buNone/>
            </a:pPr>
            <a:r>
              <a:rPr lang="en-US" sz="2000" dirty="0"/>
              <a:t>SELECT '3', '307' FROM dual UNION ALL</a:t>
            </a:r>
          </a:p>
          <a:p>
            <a:pPr marL="0" indent="0">
              <a:buNone/>
            </a:pPr>
            <a:r>
              <a:rPr lang="en-US" sz="2000" dirty="0"/>
              <a:t>SELECT '4', '808' FROM dual</a:t>
            </a:r>
          </a:p>
          <a:p>
            <a:pPr marL="0" indent="0">
              <a:buNone/>
            </a:pP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SELECT * FROM t;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1810512" y="868679"/>
            <a:ext cx="5650992" cy="383091"/>
          </a:xfrm>
          <a:prstGeom prst="wedgeRoundRectCallout">
            <a:avLst>
              <a:gd name="adj1" fmla="val -11724"/>
              <a:gd name="adj2" fmla="val 93789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Создана первая строка внутреннего </a:t>
            </a:r>
            <a:r>
              <a:rPr lang="en-US" dirty="0">
                <a:solidFill>
                  <a:schemeClr val="tx1"/>
                </a:solidFill>
              </a:rPr>
              <a:t>view (</a:t>
            </a:r>
            <a:r>
              <a:rPr lang="ru-RU" dirty="0">
                <a:solidFill>
                  <a:schemeClr val="tx1"/>
                </a:solidFill>
              </a:rPr>
              <a:t>то есть ОТН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429767" y="3047989"/>
            <a:ext cx="4298173" cy="364331"/>
          </a:xfrm>
          <a:prstGeom prst="wedgeRoundRectCallout">
            <a:avLst>
              <a:gd name="adj1" fmla="val 13479"/>
              <a:gd name="adj2" fmla="val -77815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Создание </a:t>
            </a:r>
            <a:r>
              <a:rPr lang="ru-RU" dirty="0">
                <a:solidFill>
                  <a:prstClr val="black"/>
                </a:solidFill>
              </a:rPr>
              <a:t>внутреннего </a:t>
            </a:r>
            <a:r>
              <a:rPr lang="en-US" dirty="0">
                <a:solidFill>
                  <a:prstClr val="black"/>
                </a:solidFill>
              </a:rPr>
              <a:t>view </a:t>
            </a:r>
            <a:r>
              <a:rPr lang="ru-RU" dirty="0">
                <a:solidFill>
                  <a:schemeClr val="tx1"/>
                </a:solidFill>
              </a:rPr>
              <a:t>закончено</a:t>
            </a: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1566673" y="3987969"/>
            <a:ext cx="2938272" cy="364331"/>
          </a:xfrm>
          <a:prstGeom prst="wedgeRoundRectCallout">
            <a:avLst>
              <a:gd name="adj1" fmla="val -33513"/>
              <a:gd name="adj2" fmla="val -120481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Читаем все строки ОТН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3" y="1707265"/>
            <a:ext cx="6089412" cy="505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4300"/>
            <a:ext cx="10972800" cy="471488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При использовании </a:t>
            </a:r>
            <a:r>
              <a:rPr lang="en-US" sz="3200" dirty="0">
                <a:solidFill>
                  <a:srgbClr val="FF0000"/>
                </a:solidFill>
              </a:rPr>
              <a:t>WITH </a:t>
            </a:r>
            <a:r>
              <a:rPr lang="ru-RU" sz="3200" dirty="0">
                <a:solidFill>
                  <a:srgbClr val="FF0000"/>
                </a:solidFill>
              </a:rPr>
              <a:t>план исполнения не меняется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757238"/>
            <a:ext cx="10972800" cy="5865017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Установите </a:t>
            </a:r>
            <a:r>
              <a:rPr lang="en-US" sz="2000" dirty="0"/>
              <a:t>AUTOTRACE </a:t>
            </a:r>
            <a:r>
              <a:rPr lang="ru-RU" sz="2000" dirty="0"/>
              <a:t>в </a:t>
            </a:r>
            <a:r>
              <a:rPr lang="en-US" sz="2000" dirty="0"/>
              <a:t>ON</a:t>
            </a:r>
            <a:r>
              <a:rPr lang="ru-RU" sz="2000" dirty="0"/>
              <a:t> и исполните два эквивалентных запроса:</a:t>
            </a:r>
          </a:p>
          <a:p>
            <a:pPr marL="0" indent="0">
              <a:lnSpc>
                <a:spcPct val="70000"/>
              </a:lnSpc>
              <a:buNone/>
            </a:pPr>
            <a:endParaRPr lang="ru-RU" sz="1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SELECT </a:t>
            </a:r>
            <a:r>
              <a:rPr lang="en-US" sz="2000" dirty="0" err="1"/>
              <a:t>e.ename</a:t>
            </a:r>
            <a:r>
              <a:rPr lang="en-US" sz="2000" dirty="0"/>
              <a:t> AS </a:t>
            </a:r>
            <a:r>
              <a:rPr lang="en-US" sz="2000" dirty="0" err="1"/>
              <a:t>employee_name</a:t>
            </a:r>
            <a:r>
              <a:rPr lang="en-US" sz="2000" dirty="0"/>
              <a:t>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  </a:t>
            </a:r>
            <a:r>
              <a:rPr lang="en-US" sz="2000" dirty="0" err="1"/>
              <a:t>dc.dept_count</a:t>
            </a:r>
            <a:r>
              <a:rPr lang="en-US" sz="2000" dirty="0"/>
              <a:t> AS </a:t>
            </a:r>
            <a:r>
              <a:rPr lang="en-US" sz="2000" dirty="0" err="1"/>
              <a:t>emp_dept_count</a:t>
            </a: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FROM   </a:t>
            </a:r>
            <a:r>
              <a:rPr lang="en-US" sz="2000" dirty="0" err="1"/>
              <a:t>emp</a:t>
            </a:r>
            <a:r>
              <a:rPr lang="en-US" sz="2000" dirty="0"/>
              <a:t> 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  JOIN (SELECT </a:t>
            </a:r>
            <a:r>
              <a:rPr lang="en-US" sz="2000" dirty="0" err="1"/>
              <a:t>deptno</a:t>
            </a:r>
            <a:r>
              <a:rPr lang="en-US" sz="2000" dirty="0"/>
              <a:t>, COUNT(*) AS </a:t>
            </a:r>
            <a:r>
              <a:rPr lang="en-US" sz="2000" dirty="0" err="1"/>
              <a:t>dept_count</a:t>
            </a: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        FROM   </a:t>
            </a:r>
            <a:r>
              <a:rPr lang="en-US" sz="2000" dirty="0" err="1"/>
              <a:t>emp</a:t>
            </a: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        GROUP BY </a:t>
            </a:r>
            <a:r>
              <a:rPr lang="en-US" sz="2000" dirty="0" err="1"/>
              <a:t>deptno</a:t>
            </a:r>
            <a:r>
              <a:rPr lang="en-US" sz="2000" dirty="0"/>
              <a:t>) dc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    ON </a:t>
            </a:r>
            <a:r>
              <a:rPr lang="en-US" sz="2000" dirty="0" err="1"/>
              <a:t>e.deptno</a:t>
            </a:r>
            <a:r>
              <a:rPr lang="en-US" sz="2000" dirty="0"/>
              <a:t> = </a:t>
            </a:r>
            <a:r>
              <a:rPr lang="en-US" sz="2000" dirty="0" err="1"/>
              <a:t>dc.deptno</a:t>
            </a:r>
            <a:r>
              <a:rPr lang="en-US" sz="2000" dirty="0"/>
              <a:t>;</a:t>
            </a:r>
            <a:endParaRPr lang="ru-RU" sz="2000" dirty="0"/>
          </a:p>
          <a:p>
            <a:pPr marL="0" indent="0">
              <a:lnSpc>
                <a:spcPct val="70000"/>
              </a:lnSpc>
              <a:buNone/>
            </a:pP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/>
              <a:t>И запрос с  </a:t>
            </a:r>
            <a:r>
              <a:rPr lang="en-US" sz="2000" dirty="0"/>
              <a:t>WITH:</a:t>
            </a:r>
          </a:p>
          <a:p>
            <a:pPr marL="0" indent="0">
              <a:lnSpc>
                <a:spcPct val="70000"/>
              </a:lnSpc>
              <a:buNone/>
            </a:pPr>
            <a:endParaRPr lang="en-US" sz="1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WITH </a:t>
            </a:r>
            <a:r>
              <a:rPr lang="en-US" sz="2000" dirty="0" err="1"/>
              <a:t>dept_count</a:t>
            </a:r>
            <a:r>
              <a:rPr lang="en-US" sz="2000" dirty="0"/>
              <a:t> AS (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SELECT </a:t>
            </a:r>
            <a:r>
              <a:rPr lang="en-US" sz="2000" dirty="0" err="1"/>
              <a:t>deptno</a:t>
            </a:r>
            <a:r>
              <a:rPr lang="en-US" sz="2000" dirty="0"/>
              <a:t>, COUNT(*) AS </a:t>
            </a:r>
            <a:r>
              <a:rPr lang="en-US" sz="2000" dirty="0" err="1"/>
              <a:t>dept_count</a:t>
            </a: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FROM   </a:t>
            </a:r>
            <a:r>
              <a:rPr lang="en-US" sz="2000" dirty="0" err="1"/>
              <a:t>emp</a:t>
            </a: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GROUP BY </a:t>
            </a:r>
            <a:r>
              <a:rPr lang="en-US" sz="2000" dirty="0" err="1"/>
              <a:t>deptno</a:t>
            </a:r>
            <a:r>
              <a:rPr lang="en-US" sz="2000" dirty="0"/>
              <a:t>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SELECT </a:t>
            </a:r>
            <a:r>
              <a:rPr lang="en-US" sz="2000" dirty="0" err="1"/>
              <a:t>e.ename</a:t>
            </a:r>
            <a:r>
              <a:rPr lang="en-US" sz="2000" dirty="0"/>
              <a:t> AS </a:t>
            </a:r>
            <a:r>
              <a:rPr lang="en-US" sz="2000" dirty="0" err="1"/>
              <a:t>employee_name</a:t>
            </a:r>
            <a:r>
              <a:rPr lang="en-US" sz="2000" dirty="0"/>
              <a:t>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  </a:t>
            </a:r>
            <a:r>
              <a:rPr lang="en-US" sz="2000" dirty="0" err="1"/>
              <a:t>dc.dept_count</a:t>
            </a:r>
            <a:r>
              <a:rPr lang="en-US" sz="2000" dirty="0"/>
              <a:t> AS </a:t>
            </a:r>
            <a:r>
              <a:rPr lang="en-US" sz="2000" dirty="0" err="1"/>
              <a:t>emp_dept_count</a:t>
            </a: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FROM   </a:t>
            </a:r>
            <a:r>
              <a:rPr lang="en-US" sz="2000" dirty="0" err="1"/>
              <a:t>emp</a:t>
            </a:r>
            <a:r>
              <a:rPr lang="en-US" sz="2000" dirty="0"/>
              <a:t> 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      JOIN </a:t>
            </a:r>
            <a:r>
              <a:rPr lang="en-US" sz="2000" dirty="0" err="1"/>
              <a:t>dept_count</a:t>
            </a:r>
            <a:r>
              <a:rPr lang="en-US" sz="2000" dirty="0"/>
              <a:t> dc ON </a:t>
            </a:r>
            <a:r>
              <a:rPr lang="en-US" sz="2000" dirty="0" err="1"/>
              <a:t>e.deptno</a:t>
            </a:r>
            <a:r>
              <a:rPr lang="en-US" sz="2000" dirty="0"/>
              <a:t> = </a:t>
            </a:r>
            <a:r>
              <a:rPr lang="en-US" sz="2000" dirty="0" err="1"/>
              <a:t>dc.deptno</a:t>
            </a:r>
            <a:r>
              <a:rPr lang="en-US" sz="2000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endParaRPr lang="ru-RU" sz="2000" dirty="0"/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/>
              <a:t>Сравните планы исполнения!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019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4943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Примеры</a:t>
            </a:r>
            <a:r>
              <a:rPr lang="en-US" sz="3200" dirty="0">
                <a:solidFill>
                  <a:srgbClr val="FF0000"/>
                </a:solidFill>
              </a:rPr>
              <a:t> WITH </a:t>
            </a:r>
            <a:r>
              <a:rPr lang="ru-RU" sz="3200" dirty="0">
                <a:solidFill>
                  <a:srgbClr val="FF0000"/>
                </a:solidFill>
              </a:rPr>
              <a:t>без рекурсии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95528"/>
            <a:ext cx="10936224" cy="561003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u="sng" dirty="0"/>
              <a:t>Пример </a:t>
            </a:r>
            <a:r>
              <a:rPr lang="en-US" sz="2000" u="sng" dirty="0"/>
              <a:t>1</a:t>
            </a:r>
            <a:r>
              <a:rPr lang="ru-RU" sz="2000" u="sng" dirty="0"/>
              <a:t>:</a:t>
            </a:r>
          </a:p>
          <a:p>
            <a:pPr marL="0" indent="0">
              <a:buNone/>
            </a:pPr>
            <a:r>
              <a:rPr lang="en-US" sz="2000" dirty="0"/>
              <a:t>WITH T AS (SELECT * FROM ALL_OBJECTS) , </a:t>
            </a:r>
          </a:p>
          <a:p>
            <a:pPr marL="0" indent="0">
              <a:buNone/>
            </a:pPr>
            <a:r>
              <a:rPr lang="en-US" sz="2000" dirty="0"/>
              <a:t>T2 AS (SELECT * FROM ALL_TABLES) </a:t>
            </a:r>
          </a:p>
          <a:p>
            <a:pPr marL="0" indent="0">
              <a:buNone/>
            </a:pPr>
            <a:r>
              <a:rPr lang="en-US" sz="2000" dirty="0"/>
              <a:t>SELECT * FROM T, T2 WHERE </a:t>
            </a:r>
            <a:r>
              <a:rPr lang="en-US" sz="2000" dirty="0" err="1"/>
              <a:t>T.object_name</a:t>
            </a:r>
            <a:r>
              <a:rPr lang="en-US" sz="2000" dirty="0"/>
              <a:t> = T2.table_name AND ROWNUM&lt;2;</a:t>
            </a:r>
          </a:p>
          <a:p>
            <a:pPr marL="0" lvl="0" indent="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900" u="sng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900" u="sng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Пример 1</a:t>
            </a:r>
            <a:r>
              <a:rPr lang="ru-RU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endParaRPr lang="ru-RU" sz="19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 AS(SELECT * FROM ALL_OBJECTS) , </a:t>
            </a:r>
            <a:endParaRPr lang="ru-RU" sz="19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T2 AS</a:t>
            </a:r>
            <a:r>
              <a:rPr lang="ru-RU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(SELECT * FROM ALL_TABLES A, T WHERE </a:t>
            </a:r>
            <a:r>
              <a:rPr lang="en-US" sz="1900" dirty="0" err="1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T.object_name</a:t>
            </a: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900" dirty="0" err="1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A.table_name</a:t>
            </a: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ru-RU" sz="19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900" dirty="0" err="1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1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FROM T2;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000" u="sng" dirty="0"/>
              <a:t>Пример 3:</a:t>
            </a:r>
          </a:p>
          <a:p>
            <a:pPr marL="0" indent="0">
              <a:buNone/>
            </a:pPr>
            <a:r>
              <a:rPr lang="en-US" sz="2000" dirty="0"/>
              <a:t>WITH </a:t>
            </a:r>
          </a:p>
          <a:p>
            <a:pPr marL="0" indent="0">
              <a:buNone/>
            </a:pPr>
            <a:r>
              <a:rPr lang="en-US" sz="2000" dirty="0"/>
              <a:t>t1 AS (SELECT </a:t>
            </a:r>
            <a:r>
              <a:rPr lang="en-US" sz="2000" dirty="0" err="1"/>
              <a:t>object_type</a:t>
            </a:r>
            <a:r>
              <a:rPr lang="en-US" sz="2000" dirty="0"/>
              <a:t>, created </a:t>
            </a:r>
            <a:r>
              <a:rPr lang="en-US" sz="2000" dirty="0" err="1"/>
              <a:t>lstcrdt</a:t>
            </a:r>
            <a:r>
              <a:rPr lang="en-US" sz="2000" dirty="0"/>
              <a:t>  , </a:t>
            </a:r>
            <a:r>
              <a:rPr lang="en-US" sz="2000" dirty="0" err="1"/>
              <a:t>object_name</a:t>
            </a:r>
            <a:r>
              <a:rPr lang="en-US" sz="2000" dirty="0"/>
              <a:t> FROM </a:t>
            </a:r>
            <a:r>
              <a:rPr lang="en-US" sz="2000" dirty="0" err="1"/>
              <a:t>all_objects</a:t>
            </a:r>
            <a:r>
              <a:rPr lang="en-US" sz="2000" dirty="0"/>
              <a:t>),</a:t>
            </a:r>
          </a:p>
          <a:p>
            <a:pPr marL="0" indent="0">
              <a:buNone/>
            </a:pPr>
            <a:r>
              <a:rPr lang="en-US" sz="2000" dirty="0"/>
              <a:t>t2 AS (SELECT </a:t>
            </a:r>
            <a:r>
              <a:rPr lang="en-US" sz="2000" dirty="0" err="1"/>
              <a:t>object_type</a:t>
            </a:r>
            <a:r>
              <a:rPr lang="en-US" sz="2000" dirty="0"/>
              <a:t>, count(</a:t>
            </a:r>
            <a:r>
              <a:rPr lang="en-US" sz="2000" dirty="0" err="1"/>
              <a:t>object_name</a:t>
            </a:r>
            <a:r>
              <a:rPr lang="en-US" sz="2000" dirty="0"/>
              <a:t>) </a:t>
            </a:r>
            <a:r>
              <a:rPr lang="en-US" sz="2000" dirty="0" err="1"/>
              <a:t>cnttype</a:t>
            </a:r>
            <a:r>
              <a:rPr lang="en-US" sz="2000" dirty="0"/>
              <a:t> FROM t1 GROUP BY </a:t>
            </a:r>
            <a:r>
              <a:rPr lang="en-US" sz="2000" dirty="0" err="1"/>
              <a:t>object_type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select * FROM t1 INNER JOIN t2 on t1.object_type = t2.object_type;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852160" y="1188720"/>
            <a:ext cx="2679192" cy="7955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Подзапросы не взаимодействуют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412480" y="3399377"/>
            <a:ext cx="2941320" cy="7955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Подзапрос </a:t>
            </a:r>
            <a:r>
              <a:rPr lang="en-US" dirty="0">
                <a:solidFill>
                  <a:schemeClr val="tx1"/>
                </a:solidFill>
              </a:rPr>
              <a:t>T2 </a:t>
            </a:r>
            <a:r>
              <a:rPr lang="ru-RU" dirty="0">
                <a:solidFill>
                  <a:schemeClr val="tx1"/>
                </a:solidFill>
              </a:rPr>
              <a:t>обращается к подзапросу</a:t>
            </a:r>
            <a:r>
              <a:rPr lang="en-US" dirty="0">
                <a:solidFill>
                  <a:schemeClr val="tx1"/>
                </a:solidFill>
              </a:rPr>
              <a:t> T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573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93679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WITH</a:t>
            </a:r>
            <a:r>
              <a:rPr lang="ru-RU" sz="3200" dirty="0">
                <a:solidFill>
                  <a:srgbClr val="FF0000"/>
                </a:solidFill>
              </a:rPr>
              <a:t>. Подзапрос используется в двух компонентах основного запроса объединяемых </a:t>
            </a:r>
            <a:r>
              <a:rPr lang="en-US" sz="3200" dirty="0">
                <a:solidFill>
                  <a:srgbClr val="FF0000"/>
                </a:solidFill>
              </a:rPr>
              <a:t>UNION 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993679"/>
            <a:ext cx="10972800" cy="549863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WITH </a:t>
            </a:r>
            <a:r>
              <a:rPr lang="en-US" sz="2000" dirty="0" err="1"/>
              <a:t>emps</a:t>
            </a:r>
            <a:r>
              <a:rPr lang="en-US" sz="2000" dirty="0"/>
              <a:t> as </a:t>
            </a:r>
          </a:p>
          <a:p>
            <a:pPr marL="0" indent="0">
              <a:buNone/>
            </a:pPr>
            <a:r>
              <a:rPr lang="en-US" sz="2000" dirty="0"/>
              <a:t>(SELECT </a:t>
            </a:r>
            <a:r>
              <a:rPr lang="en-US" sz="2000" dirty="0" err="1"/>
              <a:t>employee_id</a:t>
            </a:r>
            <a:r>
              <a:rPr lang="en-US" sz="2000" dirty="0"/>
              <a:t>, </a:t>
            </a:r>
            <a:r>
              <a:rPr lang="en-US" sz="2000" dirty="0" err="1"/>
              <a:t>first_name,last_name</a:t>
            </a:r>
            <a:r>
              <a:rPr lang="en-US" sz="2000" dirty="0"/>
              <a:t> FROM employees)</a:t>
            </a:r>
          </a:p>
          <a:p>
            <a:pPr marL="0" indent="0"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emps</a:t>
            </a:r>
            <a:r>
              <a:rPr lang="en-US" sz="2000" dirty="0"/>
              <a:t> WHERE </a:t>
            </a:r>
            <a:r>
              <a:rPr lang="en-US" sz="2000" dirty="0" err="1"/>
              <a:t>employee_ID</a:t>
            </a:r>
            <a:r>
              <a:rPr lang="en-US" sz="2000" dirty="0"/>
              <a:t> &lt; 101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emps</a:t>
            </a:r>
            <a:r>
              <a:rPr lang="en-US" sz="2000" dirty="0"/>
              <a:t> where </a:t>
            </a:r>
            <a:r>
              <a:rPr lang="en-US" sz="2000" dirty="0" err="1"/>
              <a:t>first_name</a:t>
            </a:r>
            <a:r>
              <a:rPr lang="en-US" sz="2000" dirty="0"/>
              <a:t> LIKE '%R%‘;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Попробуйте улучшить запрос!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37" y="3032030"/>
            <a:ext cx="6980502" cy="298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23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488" y="3493008"/>
            <a:ext cx="9022469" cy="325764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36776" y="1"/>
            <a:ext cx="9308592" cy="618565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WITH</a:t>
            </a:r>
            <a:r>
              <a:rPr lang="ru-RU" sz="3200" dirty="0">
                <a:solidFill>
                  <a:srgbClr val="FF0000"/>
                </a:solidFill>
              </a:rPr>
              <a:t>. Подзапрос с параметрами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490550"/>
            <a:ext cx="10972800" cy="4903694"/>
          </a:xfrm>
        </p:spPr>
        <p:txBody>
          <a:bodyPr/>
          <a:lstStyle/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000" u="sng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Подзапрос с параметрами</a:t>
            </a: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WITH t(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n,s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AS (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SELECT 1, '301,391,303'  FROM dual UNION ALL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SELECT 2, '301'  FROM dual UNION ALL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SELECT 3, '307'  FROM dual UNION ALL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SELECT 4, '808' FROM dual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 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id,s,aux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AS (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SELECT 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t.n,SUBSTR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(t.s,1,INSTR(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t.s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||',', ',')-1),SUBSTR(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t.s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||',', INSTR(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t.s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||',', ',')+1) FROM t 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UNION ALL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SELECT r.id, SUBSTR(r.aux,1,INSTR(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r.aux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,',')-1),SUBSTR(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r.aux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INSTR(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r.aux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,',')+1) FROM r WHERE INSTR(</a:t>
            </a:r>
            <a:r>
              <a:rPr 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r.aux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',')&gt;0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60000"/>
              </a:lnSpc>
              <a:spcBef>
                <a:spcPts val="300"/>
              </a:spcBef>
              <a:spcAft>
                <a:spcPts val="3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SELECT ID, s FROM r;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871024" y="1487708"/>
            <a:ext cx="654682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04040"/>
                </a:solidFill>
                <a:latin typeface="Gudea"/>
              </a:rPr>
              <a:t>INSTR возвращает n-е вхождение подстроки в строку</a:t>
            </a:r>
          </a:p>
          <a:p>
            <a:r>
              <a:rPr lang="en-US" dirty="0"/>
              <a:t>INSTR( string, substring [, </a:t>
            </a:r>
            <a:r>
              <a:rPr lang="en-US" dirty="0" err="1"/>
              <a:t>start_position</a:t>
            </a:r>
            <a:r>
              <a:rPr lang="en-US" dirty="0"/>
              <a:t> [, </a:t>
            </a:r>
            <a:r>
              <a:rPr lang="en-US" dirty="0" err="1"/>
              <a:t>nth_appearance</a:t>
            </a:r>
            <a:r>
              <a:rPr lang="en-US" dirty="0"/>
              <a:t> ] ] )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17" y="4105656"/>
            <a:ext cx="2247666" cy="213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70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63388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WITH</a:t>
            </a:r>
            <a:r>
              <a:rPr lang="ru-RU" sz="3200" dirty="0">
                <a:solidFill>
                  <a:srgbClr val="FF0000"/>
                </a:solidFill>
              </a:rPr>
              <a:t>. Два связанных подзапроса</a:t>
            </a:r>
            <a:r>
              <a:rPr lang="en-US" sz="3200" dirty="0">
                <a:solidFill>
                  <a:srgbClr val="FF0000"/>
                </a:solidFill>
              </a:rPr>
              <a:t> (1/2)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79259" y="971550"/>
            <a:ext cx="7203141" cy="574992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WITH</a:t>
            </a:r>
          </a:p>
          <a:p>
            <a:pPr marL="0" indent="0">
              <a:buNone/>
            </a:pPr>
            <a:r>
              <a:rPr lang="en-US" sz="2000" dirty="0" err="1"/>
              <a:t>dept_cost</a:t>
            </a:r>
            <a:r>
              <a:rPr lang="en-US" sz="2000" dirty="0"/>
              <a:t> AS (</a:t>
            </a:r>
          </a:p>
          <a:p>
            <a:pPr marL="0" indent="0">
              <a:buNone/>
            </a:pPr>
            <a:r>
              <a:rPr lang="en-US" sz="2000" dirty="0"/>
              <a:t>    SELECT </a:t>
            </a:r>
            <a:r>
              <a:rPr lang="en-US" sz="2000" dirty="0" err="1"/>
              <a:t>d.department_name</a:t>
            </a:r>
            <a:r>
              <a:rPr lang="en-US" sz="2000" dirty="0"/>
              <a:t>, SUM(</a:t>
            </a:r>
            <a:r>
              <a:rPr lang="en-US" sz="2000" dirty="0" err="1"/>
              <a:t>e.salary</a:t>
            </a:r>
            <a:r>
              <a:rPr lang="en-US" sz="2000" dirty="0"/>
              <a:t>) AS </a:t>
            </a:r>
            <a:r>
              <a:rPr lang="en-US" sz="2000" dirty="0" err="1"/>
              <a:t>dept_total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FROM employees e JOIN departments d</a:t>
            </a:r>
          </a:p>
          <a:p>
            <a:pPr marL="0" indent="0">
              <a:buNone/>
            </a:pPr>
            <a:r>
              <a:rPr lang="en-US" sz="2000" dirty="0"/>
              <a:t>	ON </a:t>
            </a:r>
            <a:r>
              <a:rPr lang="en-US" sz="2000" dirty="0" err="1"/>
              <a:t>e.department_id</a:t>
            </a:r>
            <a:r>
              <a:rPr lang="en-US" sz="2000" dirty="0"/>
              <a:t> = </a:t>
            </a:r>
            <a:r>
              <a:rPr lang="en-US" sz="2000" dirty="0" err="1"/>
              <a:t>d.department_id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	GROUP BY </a:t>
            </a:r>
            <a:r>
              <a:rPr lang="en-US" sz="2000" dirty="0" err="1"/>
              <a:t>d.department_name</a:t>
            </a:r>
            <a:r>
              <a:rPr lang="en-US" sz="2000" dirty="0"/>
              <a:t>),</a:t>
            </a:r>
          </a:p>
          <a:p>
            <a:pPr marL="0" indent="0">
              <a:buNone/>
            </a:pPr>
            <a:r>
              <a:rPr lang="en-US" sz="2000" dirty="0" err="1"/>
              <a:t>avg_cost</a:t>
            </a:r>
            <a:r>
              <a:rPr lang="en-US" sz="2000" dirty="0"/>
              <a:t> AS (</a:t>
            </a:r>
          </a:p>
          <a:p>
            <a:pPr marL="0" indent="0">
              <a:buNone/>
            </a:pPr>
            <a:r>
              <a:rPr lang="en-US" sz="2000" dirty="0"/>
              <a:t>    SELECT SUM(</a:t>
            </a:r>
            <a:r>
              <a:rPr lang="en-US" sz="2000" dirty="0" err="1"/>
              <a:t>dept_total</a:t>
            </a:r>
            <a:r>
              <a:rPr lang="en-US" sz="2000" dirty="0"/>
              <a:t>)/COUNT(*) AS </a:t>
            </a:r>
            <a:r>
              <a:rPr lang="en-US" sz="2000" dirty="0" err="1"/>
              <a:t>dept_avg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FROM </a:t>
            </a:r>
            <a:r>
              <a:rPr lang="en-US" sz="2000" dirty="0" err="1"/>
              <a:t>dept_cost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SELECT * 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dept_cost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WHERE </a:t>
            </a:r>
            <a:r>
              <a:rPr lang="en-US" sz="2000" dirty="0" err="1"/>
              <a:t>dept_total</a:t>
            </a:r>
            <a:r>
              <a:rPr lang="en-US" sz="2000" dirty="0"/>
              <a:t> &gt;</a:t>
            </a:r>
          </a:p>
          <a:p>
            <a:pPr marL="0" indent="0">
              <a:buNone/>
            </a:pPr>
            <a:r>
              <a:rPr lang="en-US" sz="2000" dirty="0"/>
              <a:t>    (SELECT </a:t>
            </a:r>
            <a:r>
              <a:rPr lang="en-US" sz="2000" dirty="0" err="1"/>
              <a:t>dept_avg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	 FROM </a:t>
            </a:r>
            <a:r>
              <a:rPr lang="en-US" sz="2000" dirty="0" err="1"/>
              <a:t>avg_cost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ORDER BY </a:t>
            </a:r>
            <a:r>
              <a:rPr lang="en-US" sz="2000" dirty="0" err="1"/>
              <a:t>department_name</a:t>
            </a:r>
            <a:r>
              <a:rPr lang="en-US" sz="2000" dirty="0"/>
              <a:t>;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64459" y="984190"/>
            <a:ext cx="3945591" cy="2862322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2000" dirty="0"/>
              <a:t> Используя предложение WITH, напишите запрос для отображения названий отделов и совокупного оклада для отделов, совокупный оклад в которых больше среднего оклада по отделам.</a:t>
            </a:r>
          </a:p>
          <a:p>
            <a:r>
              <a:rPr lang="ru-RU" sz="2000" dirty="0"/>
              <a:t>http://sql-oracle.ru/primer-predlozheniya-with.html</a:t>
            </a:r>
          </a:p>
        </p:txBody>
      </p:sp>
    </p:spTree>
    <p:extLst>
      <p:ext uri="{BB962C8B-B14F-4D97-AF65-F5344CB8AC3E}">
        <p14:creationId xmlns:p14="http://schemas.microsoft.com/office/powerpoint/2010/main" val="2899466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80" y="1060704"/>
            <a:ext cx="10623509" cy="564248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30936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WITH</a:t>
            </a:r>
            <a:r>
              <a:rPr lang="ru-RU" sz="3200" dirty="0">
                <a:solidFill>
                  <a:srgbClr val="FF0000"/>
                </a:solidFill>
              </a:rPr>
              <a:t>. Два связанных подзапроса</a:t>
            </a:r>
            <a:r>
              <a:rPr lang="en-US" sz="3200" dirty="0">
                <a:solidFill>
                  <a:srgbClr val="FF0000"/>
                </a:solidFill>
              </a:rPr>
              <a:t> (2/2)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6720" y="649225"/>
            <a:ext cx="10972800" cy="411479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План исполнения запроса предыдущего слайда: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07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8872"/>
            <a:ext cx="10972800" cy="630936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Как работает рекурсивный 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endParaRPr lang="ru-RU" sz="3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685800"/>
            <a:ext cx="10972800" cy="5925311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    Общая </a:t>
            </a:r>
            <a:r>
              <a:rPr lang="ru-RU" sz="2000" b="1" dirty="0">
                <a:latin typeface="Calibri" panose="020F0502020204030204" pitchFamily="34" charset="0"/>
                <a:cs typeface="Calibri" panose="020F0502020204030204" pitchFamily="34" charset="0"/>
              </a:rPr>
              <a:t>форма записи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рекурсивного запроса с WITH: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сначала нерекурсивная часть подзапроса, </a:t>
            </a:r>
          </a:p>
          <a:p>
            <a:pPr lvl="0"/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затем фраза, </a:t>
            </a:r>
            <a:r>
              <a:rPr lang="ru-RU" sz="2000" dirty="0">
                <a:solidFill>
                  <a:srgbClr val="000000"/>
                </a:solidFill>
              </a:rPr>
              <a:t>указывающая способ рекурсивного накопления результата (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UNION, UNION ALL и др.), 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затем рекурсивная часть, в которой содержится ссылка на свой запрос. 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затем вмещающий (основной) запрос.</a:t>
            </a:r>
          </a:p>
          <a:p>
            <a:pPr marL="0" indent="0">
              <a:buNone/>
            </a:pPr>
            <a:endParaRPr lang="ru-RU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    Рекурсивный </a:t>
            </a:r>
            <a:r>
              <a:rPr lang="ru-RU" sz="2000" b="1" dirty="0">
                <a:latin typeface="Calibri" panose="020F0502020204030204" pitchFamily="34" charset="0"/>
                <a:cs typeface="Calibri" panose="020F0502020204030204" pitchFamily="34" charset="0"/>
              </a:rPr>
              <a:t>запрос выполняется так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Выполняется не-рекурсивный запрос, его результат включается в ОТВ.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Остальные строки ОТВ получаются из результатов рекурсивного запроса.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Пока рабочая таблица не окажется пустой, повторяются следующие шаги:</a:t>
            </a:r>
          </a:p>
          <a:p>
            <a:pPr marL="0" indent="0"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     -- Выполняется рекурсивная часть, текущее содержимое рабочей таблицы подставляется для рекурсивной ссылки на саму себя. Для UNION (но не для UNION ALL), отбрасываются текущие дублирующие строки и строки, дублирующие любые предыдущие строки. Все строки результата рекурсивного запроса также помещаются во временную промежуточную таблицу.</a:t>
            </a:r>
          </a:p>
          <a:p>
            <a:pPr marL="0" indent="0">
              <a:buNone/>
            </a:pPr>
            <a:endParaRPr lang="ru-RU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    После выполнения основного запроса промежуточная таблица очищается.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28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05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9788" y="0"/>
            <a:ext cx="6598024" cy="519953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Вспоминаем функцию </a:t>
            </a:r>
            <a:r>
              <a:rPr lang="en-US" sz="3200" dirty="0">
                <a:solidFill>
                  <a:srgbClr val="FF0000"/>
                </a:solidFill>
              </a:rPr>
              <a:t>INSTR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770965"/>
            <a:ext cx="10972800" cy="6087035"/>
          </a:xfrm>
        </p:spPr>
        <p:txBody>
          <a:bodyPr/>
          <a:lstStyle/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inherit"/>
              </a:rPr>
              <a:t>SQL&gt; SELECT 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 дворе 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'а'</a:t>
            </a:r>
            <a:r>
              <a:rPr lang="ru-RU" sz="2000" dirty="0">
                <a:latin typeface="Monaco"/>
              </a:rPr>
              <a:t>)</a:t>
            </a:r>
            <a:r>
              <a:rPr lang="ru-RU" sz="2000" dirty="0">
                <a:latin typeface="inherit"/>
              </a:rPr>
              <a:t> </a:t>
            </a:r>
            <a:r>
              <a:rPr lang="en-US" sz="2000" dirty="0">
                <a:latin typeface="inherit"/>
              </a:rPr>
              <a:t>FROM </a:t>
            </a:r>
            <a:r>
              <a:rPr lang="en-US" sz="2000" dirty="0">
                <a:latin typeface="Monaco"/>
              </a:rPr>
              <a:t>DUAL;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inherit"/>
              </a:rPr>
              <a:t>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НАДВОРЕТРАВА'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'А'</a:t>
            </a:r>
            <a:r>
              <a:rPr lang="ru-RU" sz="2000" dirty="0">
                <a:latin typeface="Monaco"/>
              </a:rPr>
              <a:t>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-------------------------</a:t>
            </a:r>
            <a:endParaRPr lang="ru-RU" sz="2000" dirty="0">
              <a:latin typeface="Monaco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                        </a:t>
            </a:r>
            <a:r>
              <a:rPr lang="ru-RU" sz="2000" dirty="0">
                <a:latin typeface="Monaco"/>
              </a:rPr>
              <a:t>2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Monaco"/>
              </a:rPr>
              <a:t> </a:t>
            </a:r>
            <a:r>
              <a:rPr lang="en-US" sz="2000" dirty="0">
                <a:latin typeface="inherit"/>
              </a:rPr>
              <a:t>SQL&gt; SELECT 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 дворе 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'а'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1,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1)</a:t>
            </a:r>
            <a:r>
              <a:rPr lang="ru-RU" sz="2000" dirty="0">
                <a:latin typeface="inherit"/>
              </a:rPr>
              <a:t> </a:t>
            </a:r>
            <a:r>
              <a:rPr lang="en-US" sz="2000" dirty="0">
                <a:latin typeface="inherit"/>
              </a:rPr>
              <a:t>FROM </a:t>
            </a:r>
            <a:r>
              <a:rPr lang="en-US" sz="2000" dirty="0">
                <a:latin typeface="Monaco"/>
              </a:rPr>
              <a:t>DUAL;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inherit"/>
              </a:rPr>
              <a:t>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НАДВОРЕТРАВА'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'А'</a:t>
            </a:r>
            <a:r>
              <a:rPr lang="ru-RU" sz="2000" dirty="0">
                <a:latin typeface="Monaco"/>
              </a:rPr>
              <a:t>,1,1)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-----------------------------</a:t>
            </a:r>
            <a:endParaRPr lang="ru-RU" sz="2000" dirty="0">
              <a:latin typeface="Monaco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                            </a:t>
            </a:r>
            <a:r>
              <a:rPr lang="ru-RU" sz="2000" dirty="0">
                <a:latin typeface="Monaco"/>
              </a:rPr>
              <a:t>2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Monaco"/>
              </a:rPr>
              <a:t> </a:t>
            </a:r>
            <a:r>
              <a:rPr lang="en-US" sz="2000" dirty="0">
                <a:latin typeface="inherit"/>
              </a:rPr>
              <a:t>SQL&gt; SELECT 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 дворе 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'а'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1,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2)</a:t>
            </a:r>
            <a:r>
              <a:rPr lang="ru-RU" sz="2000" dirty="0">
                <a:latin typeface="inherit"/>
              </a:rPr>
              <a:t> </a:t>
            </a:r>
            <a:r>
              <a:rPr lang="en-US" sz="2000" dirty="0">
                <a:latin typeface="inherit"/>
              </a:rPr>
              <a:t>FROM </a:t>
            </a:r>
            <a:r>
              <a:rPr lang="en-US" sz="2000" dirty="0">
                <a:latin typeface="Monaco"/>
              </a:rPr>
              <a:t>DUAL;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inherit"/>
              </a:rPr>
              <a:t>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НАДВОРЕТРАВА'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'А'</a:t>
            </a:r>
            <a:r>
              <a:rPr lang="ru-RU" sz="2000" dirty="0">
                <a:latin typeface="Monaco"/>
              </a:rPr>
              <a:t>,1,2)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-----------------------------</a:t>
            </a:r>
            <a:endParaRPr lang="ru-RU" sz="2000" dirty="0">
              <a:latin typeface="Monaco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                           </a:t>
            </a:r>
            <a:r>
              <a:rPr lang="ru-RU" sz="2000" dirty="0">
                <a:latin typeface="Monaco"/>
              </a:rPr>
              <a:t>12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Monaco"/>
              </a:rPr>
              <a:t> </a:t>
            </a:r>
            <a:r>
              <a:rPr lang="en-US" sz="2000" dirty="0">
                <a:latin typeface="inherit"/>
              </a:rPr>
              <a:t>SQL&gt; SELECT 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 дворе 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'а'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1,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3)</a:t>
            </a:r>
            <a:r>
              <a:rPr lang="ru-RU" sz="2000" dirty="0">
                <a:latin typeface="inherit"/>
              </a:rPr>
              <a:t> </a:t>
            </a:r>
            <a:r>
              <a:rPr lang="en-US" sz="2000" dirty="0">
                <a:latin typeface="inherit"/>
              </a:rPr>
              <a:t>FROM </a:t>
            </a:r>
            <a:r>
              <a:rPr lang="en-US" sz="2000" dirty="0">
                <a:latin typeface="Monaco"/>
              </a:rPr>
              <a:t>DUAL;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inherit"/>
              </a:rPr>
              <a:t>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НАДВОРЕТРАВА'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'А'</a:t>
            </a:r>
            <a:r>
              <a:rPr lang="ru-RU" sz="2000" dirty="0">
                <a:latin typeface="Monaco"/>
              </a:rPr>
              <a:t>,1,3)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-----------------------------</a:t>
            </a:r>
            <a:endParaRPr lang="ru-RU" sz="2000" dirty="0">
              <a:latin typeface="Monaco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                           </a:t>
            </a:r>
            <a:r>
              <a:rPr lang="ru-RU" sz="2000" dirty="0">
                <a:latin typeface="Monaco"/>
              </a:rPr>
              <a:t>14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Monaco"/>
              </a:rPr>
              <a:t> 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inherit"/>
              </a:rPr>
              <a:t>SQL&gt; SELECT 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 дворе 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'а'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-3,</a:t>
            </a:r>
            <a:r>
              <a:rPr lang="ru-RU" sz="2000" dirty="0">
                <a:latin typeface="inherit"/>
              </a:rPr>
              <a:t> </a:t>
            </a:r>
            <a:r>
              <a:rPr lang="ru-RU" sz="2000" dirty="0">
                <a:latin typeface="Monaco"/>
              </a:rPr>
              <a:t>2)</a:t>
            </a:r>
            <a:r>
              <a:rPr lang="ru-RU" sz="2000" dirty="0">
                <a:latin typeface="inherit"/>
              </a:rPr>
              <a:t> </a:t>
            </a:r>
            <a:r>
              <a:rPr lang="en-US" sz="2000" dirty="0">
                <a:latin typeface="inherit"/>
              </a:rPr>
              <a:t>FROM </a:t>
            </a:r>
            <a:r>
              <a:rPr lang="en-US" sz="2000" dirty="0">
                <a:latin typeface="Monaco"/>
              </a:rPr>
              <a:t>DUAL;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inherit"/>
              </a:rPr>
              <a:t>INSTR</a:t>
            </a:r>
            <a:r>
              <a:rPr lang="en-US" sz="2000" dirty="0">
                <a:latin typeface="Monaco"/>
              </a:rPr>
              <a:t>(</a:t>
            </a:r>
            <a:r>
              <a:rPr lang="en-US" sz="2000" dirty="0">
                <a:latin typeface="inherit"/>
              </a:rPr>
              <a:t>'</a:t>
            </a:r>
            <a:r>
              <a:rPr lang="ru-RU" sz="2000" dirty="0">
                <a:latin typeface="inherit"/>
              </a:rPr>
              <a:t>НАДВОРЕТРАВА'</a:t>
            </a:r>
            <a:r>
              <a:rPr lang="ru-RU" sz="2000" dirty="0">
                <a:latin typeface="Monaco"/>
              </a:rPr>
              <a:t>,</a:t>
            </a:r>
            <a:r>
              <a:rPr lang="ru-RU" sz="2000" dirty="0">
                <a:latin typeface="inherit"/>
              </a:rPr>
              <a:t>'А'</a:t>
            </a:r>
            <a:r>
              <a:rPr lang="ru-RU" sz="2000" dirty="0">
                <a:latin typeface="Monaco"/>
              </a:rPr>
              <a:t>,-3,2)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------------------------------</a:t>
            </a:r>
            <a:endParaRPr lang="ru-RU" sz="2000" dirty="0">
              <a:latin typeface="Monaco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ru-RU" sz="2000" dirty="0">
                <a:latin typeface="inherit"/>
              </a:rPr>
              <a:t>                             </a:t>
            </a:r>
            <a:r>
              <a:rPr lang="ru-RU" sz="2000" dirty="0">
                <a:latin typeface="Monaco"/>
              </a:rPr>
              <a:t>2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97981" y="6488668"/>
            <a:ext cx="40190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http://oracleplsql.ru/instr-function.html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976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86696"/>
            <a:ext cx="10972800" cy="645459"/>
          </a:xfrm>
        </p:spPr>
        <p:txBody>
          <a:bodyPr/>
          <a:lstStyle/>
          <a:p>
            <a:br>
              <a:rPr lang="ru-RU" sz="3200" dirty="0"/>
            </a:br>
            <a:br>
              <a:rPr lang="ru-RU" sz="3200" dirty="0"/>
            </a:br>
            <a:r>
              <a:rPr lang="ru-RU" sz="3200" dirty="0">
                <a:solidFill>
                  <a:srgbClr val="FF0000"/>
                </a:solidFill>
              </a:rPr>
              <a:t>Фраза WITH в рекурсивном запросе:</a:t>
            </a:r>
            <a:br>
              <a:rPr lang="ru-RU" sz="3200" dirty="0"/>
            </a:b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9" y="850392"/>
            <a:ext cx="11319641" cy="600760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WITH</a:t>
            </a:r>
          </a:p>
          <a:p>
            <a:pPr marL="0" indent="0">
              <a:buNone/>
            </a:pPr>
            <a:r>
              <a:rPr lang="en-US" sz="2000" dirty="0"/>
              <a:t>numbers ( n ) AS (</a:t>
            </a:r>
          </a:p>
          <a:p>
            <a:pPr marL="0" indent="0">
              <a:buNone/>
            </a:pPr>
            <a:r>
              <a:rPr lang="en-US" sz="2000" dirty="0"/>
              <a:t>   SELECT 1 AS n FROM dual</a:t>
            </a:r>
            <a:r>
              <a:rPr lang="ru-RU" sz="2000" dirty="0"/>
              <a:t> </a:t>
            </a:r>
            <a:r>
              <a:rPr lang="en-US" sz="2000" dirty="0"/>
              <a:t> -- </a:t>
            </a:r>
            <a:r>
              <a:rPr lang="ru-RU" sz="2000" dirty="0"/>
              <a:t>исходное множество -- одна строка</a:t>
            </a:r>
          </a:p>
          <a:p>
            <a:pPr marL="0" indent="0">
              <a:buNone/>
            </a:pPr>
            <a:r>
              <a:rPr lang="ru-RU" sz="2000" dirty="0"/>
              <a:t>   </a:t>
            </a:r>
            <a:r>
              <a:rPr lang="en-US" sz="2000" dirty="0"/>
              <a:t>UNION ALL                        </a:t>
            </a:r>
            <a:r>
              <a:rPr lang="ru-RU" sz="2000" dirty="0"/>
              <a:t> </a:t>
            </a:r>
            <a:r>
              <a:rPr lang="en-US" sz="2000" dirty="0"/>
              <a:t>   -- </a:t>
            </a:r>
            <a:r>
              <a:rPr lang="ru-RU" sz="2000" dirty="0"/>
              <a:t>символическое «объединение» строк</a:t>
            </a:r>
          </a:p>
          <a:p>
            <a:pPr marL="0" indent="0">
              <a:buNone/>
            </a:pPr>
            <a:r>
              <a:rPr lang="ru-RU" sz="2000" dirty="0"/>
              <a:t>   </a:t>
            </a:r>
            <a:r>
              <a:rPr lang="en-US" sz="2000" dirty="0"/>
              <a:t>SELECT n + 1 AS n               -- </a:t>
            </a:r>
            <a:r>
              <a:rPr lang="ru-RU" sz="2000" dirty="0"/>
              <a:t>рекурсия: добавок к предыдущему результату</a:t>
            </a:r>
          </a:p>
          <a:p>
            <a:pPr marL="0" indent="0">
              <a:buNone/>
            </a:pPr>
            <a:r>
              <a:rPr lang="ru-RU" sz="2000" dirty="0"/>
              <a:t>   </a:t>
            </a:r>
            <a:r>
              <a:rPr lang="en-US" sz="2000" dirty="0"/>
              <a:t>FROM   numbers           </a:t>
            </a:r>
            <a:r>
              <a:rPr lang="ru-RU" sz="2000" dirty="0"/>
              <a:t>  </a:t>
            </a:r>
            <a:r>
              <a:rPr lang="en-US" sz="2000" dirty="0"/>
              <a:t>      -- </a:t>
            </a:r>
            <a:r>
              <a:rPr lang="ru-RU" sz="2000" dirty="0"/>
              <a:t>предыдущий результат в качестве источника данных</a:t>
            </a:r>
          </a:p>
          <a:p>
            <a:pPr marL="0" indent="0">
              <a:buNone/>
            </a:pPr>
            <a:r>
              <a:rPr lang="ru-RU" sz="2000" dirty="0"/>
              <a:t>   </a:t>
            </a:r>
            <a:r>
              <a:rPr lang="en-US" sz="2000" dirty="0"/>
              <a:t>WHERE  n &lt; 5                       -- </a:t>
            </a:r>
            <a:r>
              <a:rPr lang="ru-RU" sz="2000" dirty="0"/>
              <a:t>если не ограничить, будет бесконечная рекурсия</a:t>
            </a:r>
          </a:p>
          <a:p>
            <a:pPr marL="0" indent="0">
              <a:buNone/>
            </a:pPr>
            <a:r>
              <a:rPr lang="ru-RU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SELECT n FROM numbers     -- </a:t>
            </a:r>
            <a:r>
              <a:rPr lang="ru-RU" sz="2000" dirty="0"/>
              <a:t>основной запрос</a:t>
            </a:r>
          </a:p>
          <a:p>
            <a:pPr marL="0" indent="0">
              <a:buNone/>
            </a:pPr>
            <a:r>
              <a:rPr lang="ru-RU" sz="2000" dirty="0"/>
              <a:t>;</a:t>
            </a:r>
          </a:p>
          <a:p>
            <a:pPr algn="just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Строка с n = 1 получена из опорного запроса, а остальные строки из рекурсивного. Возможно зацикливание. При рекурсии с фразой CONNECT BY это невозможно. </a:t>
            </a:r>
          </a:p>
          <a:p>
            <a:pPr algn="just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Рекурсивный подзапрос с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WITH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применим не только к иерархически организованным данным.</a:t>
            </a:r>
          </a:p>
          <a:p>
            <a:pPr marL="0" lvl="0" indent="0">
              <a:buNone/>
            </a:pPr>
            <a:endParaRPr lang="ru-RU" sz="1800" dirty="0">
              <a:solidFill>
                <a:schemeClr val="tx1">
                  <a:lumMod val="65000"/>
                  <a:lumOff val="35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http://citforum.ru/database/oracle/recursive/</a:t>
            </a:r>
            <a:endParaRPr lang="ru-RU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598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292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Вычисляем факториал с промежуточными результатами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429769"/>
            <a:ext cx="10972800" cy="569639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WITH Factorial (</a:t>
            </a:r>
            <a:r>
              <a:rPr lang="en-US" sz="2000" dirty="0" err="1"/>
              <a:t>operand,total_so_far</a:t>
            </a:r>
            <a:r>
              <a:rPr lang="en-US" sz="2000" dirty="0"/>
              <a:t>) AS</a:t>
            </a:r>
          </a:p>
          <a:p>
            <a:pPr marL="0" indent="0">
              <a:buNone/>
            </a:pPr>
            <a:r>
              <a:rPr lang="en-US" sz="2000" dirty="0"/>
              <a:t>(SELECT 5 operand, 5 </a:t>
            </a:r>
            <a:r>
              <a:rPr lang="en-US" sz="2000" dirty="0" err="1"/>
              <a:t>total_so_far</a:t>
            </a:r>
            <a:r>
              <a:rPr lang="en-US" sz="2000" dirty="0"/>
              <a:t> FROM dual    -- Using anchor member to pass in "5"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operand-1, </a:t>
            </a:r>
            <a:r>
              <a:rPr lang="en-US" sz="2000" dirty="0" err="1"/>
              <a:t>total_so_far</a:t>
            </a:r>
            <a:r>
              <a:rPr lang="en-US" sz="2000" dirty="0"/>
              <a:t> * (operand-1) FROM Factorial</a:t>
            </a:r>
          </a:p>
          <a:p>
            <a:pPr marL="0" indent="0">
              <a:buNone/>
            </a:pPr>
            <a:r>
              <a:rPr lang="en-US" sz="2000" dirty="0"/>
              <a:t>WHERE operand &gt; 1)</a:t>
            </a:r>
          </a:p>
          <a:p>
            <a:pPr marL="0" indent="0">
              <a:buNone/>
            </a:pPr>
            <a:r>
              <a:rPr lang="en-US" sz="2000" dirty="0"/>
              <a:t>SELECT * FROM Factorial;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0003536" y="6245225"/>
            <a:ext cx="1947672" cy="476250"/>
          </a:xfrm>
        </p:spPr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ru-RU" altLang="ru-RU" dirty="0">
              <a:solidFill>
                <a:srgbClr val="00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14" y="2711140"/>
            <a:ext cx="10037621" cy="40103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499" y="3702520"/>
            <a:ext cx="7494901" cy="272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3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319"/>
            <a:ext cx="11393424" cy="539177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Факториал без промежуточных результатов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2328" y="704088"/>
            <a:ext cx="9567672" cy="568725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WITH Factorial (operand,</a:t>
            </a:r>
            <a:r>
              <a:rPr lang="ru-RU" sz="2000" dirty="0"/>
              <a:t> </a:t>
            </a:r>
            <a:r>
              <a:rPr lang="en-US" sz="2000" dirty="0" err="1"/>
              <a:t>total_so_far</a:t>
            </a:r>
            <a:r>
              <a:rPr lang="en-US" sz="2000" dirty="0"/>
              <a:t>) AS</a:t>
            </a:r>
          </a:p>
          <a:p>
            <a:pPr marL="0" indent="0">
              <a:buNone/>
            </a:pPr>
            <a:r>
              <a:rPr lang="en-US" sz="2000" dirty="0"/>
              <a:t>(SELECT 5 operand, 5 </a:t>
            </a:r>
            <a:r>
              <a:rPr lang="en-US" sz="2000" dirty="0" err="1"/>
              <a:t>total_so_far</a:t>
            </a:r>
            <a:r>
              <a:rPr lang="en-US" sz="2000" dirty="0"/>
              <a:t> FROM dual    -- Find the factorial of 5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operand-1, </a:t>
            </a:r>
            <a:r>
              <a:rPr lang="en-US" sz="2000" dirty="0" err="1"/>
              <a:t>total_so_far</a:t>
            </a:r>
            <a:r>
              <a:rPr lang="en-US" sz="2000" dirty="0"/>
              <a:t> * (operand-1) FROM Factorial</a:t>
            </a:r>
          </a:p>
          <a:p>
            <a:pPr marL="0" indent="0">
              <a:buNone/>
            </a:pPr>
            <a:r>
              <a:rPr lang="en-US" sz="2000" dirty="0"/>
              <a:t>WHERE operand &gt; 1)</a:t>
            </a:r>
          </a:p>
          <a:p>
            <a:pPr marL="0" indent="0">
              <a:buNone/>
            </a:pPr>
            <a:r>
              <a:rPr lang="en-US" sz="2000" dirty="0"/>
              <a:t>SELECT MAX(operand) || '! = ' || MAX(</a:t>
            </a:r>
            <a:r>
              <a:rPr lang="en-US" sz="2000" dirty="0" err="1"/>
              <a:t>total_so_far</a:t>
            </a:r>
            <a:r>
              <a:rPr lang="en-US" sz="2000" dirty="0"/>
              <a:t>) AS RESULT FROM Factorial;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32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57" y="2915633"/>
            <a:ext cx="10845533" cy="371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98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592" y="1409402"/>
            <a:ext cx="4382950" cy="50556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959" y="1339812"/>
            <a:ext cx="1654633" cy="447098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539496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Ещё один поясняющий 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9209" y="539496"/>
            <a:ext cx="5425440" cy="592531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WITH</a:t>
            </a:r>
          </a:p>
          <a:p>
            <a:pPr marL="0" indent="0">
              <a:buNone/>
            </a:pPr>
            <a:r>
              <a:rPr lang="en-US" sz="1800" dirty="0"/>
              <a:t>      anchor1234 ( n ) AS (   </a:t>
            </a:r>
            <a:r>
              <a:rPr lang="en-US" sz="1800" dirty="0">
                <a:solidFill>
                  <a:srgbClr val="00B0F0"/>
                </a:solidFill>
              </a:rPr>
              <a:t>-- обычный</a:t>
            </a:r>
            <a:r>
              <a:rPr lang="ru-RU" sz="1800" dirty="0">
                <a:solidFill>
                  <a:srgbClr val="00B0F0"/>
                </a:solidFill>
              </a:rPr>
              <a:t> подзапрос</a:t>
            </a:r>
            <a:endParaRPr lang="en-US" sz="1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800" dirty="0"/>
              <a:t>         SELECT 1 FROM dual UNION ALL</a:t>
            </a:r>
          </a:p>
          <a:p>
            <a:pPr marL="0" indent="0">
              <a:buNone/>
            </a:pPr>
            <a:r>
              <a:rPr lang="en-US" sz="1800" dirty="0"/>
              <a:t>         SELECT 2 FROM dual UNION ALL</a:t>
            </a:r>
          </a:p>
          <a:p>
            <a:pPr marL="0" indent="0">
              <a:buNone/>
            </a:pPr>
            <a:r>
              <a:rPr lang="en-US" sz="1800" dirty="0"/>
              <a:t>         SELECT 3 FROM dual UNION ALL</a:t>
            </a:r>
          </a:p>
          <a:p>
            <a:pPr marL="0" indent="0">
              <a:buNone/>
            </a:pPr>
            <a:r>
              <a:rPr lang="en-US" sz="1800" dirty="0"/>
              <a:t>         SELECT 4 FROM dual</a:t>
            </a:r>
          </a:p>
          <a:p>
            <a:pPr marL="0" indent="0">
              <a:buNone/>
            </a:pPr>
            <a:r>
              <a:rPr lang="en-US" sz="1800" dirty="0"/>
              <a:t>      )</a:t>
            </a:r>
          </a:p>
          <a:p>
            <a:pPr marL="0" indent="0">
              <a:buNone/>
            </a:pPr>
            <a:r>
              <a:rPr lang="en-US" sz="1800" dirty="0"/>
              <a:t>    , numbers ( n ) AS (   -- </a:t>
            </a:r>
            <a:r>
              <a:rPr lang="en-US" sz="1800" dirty="0">
                <a:solidFill>
                  <a:srgbClr val="00B0F0"/>
                </a:solidFill>
              </a:rPr>
              <a:t>рекурсивный</a:t>
            </a:r>
            <a:r>
              <a:rPr lang="ru-RU" sz="1800" dirty="0">
                <a:solidFill>
                  <a:srgbClr val="00B0F0"/>
                </a:solidFill>
              </a:rPr>
              <a:t> подзапрос</a:t>
            </a:r>
            <a:endParaRPr lang="en-US" sz="1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800" dirty="0"/>
              <a:t>         SELECT n FROM anchor1234</a:t>
            </a:r>
          </a:p>
          <a:p>
            <a:pPr marL="0" indent="0">
              <a:buNone/>
            </a:pPr>
            <a:r>
              <a:rPr lang="en-US" sz="1800" dirty="0"/>
              <a:t>           UNION ALL</a:t>
            </a:r>
          </a:p>
          <a:p>
            <a:pPr marL="0" indent="0">
              <a:buNone/>
            </a:pPr>
            <a:r>
              <a:rPr lang="en-US" sz="1800" dirty="0"/>
              <a:t>        SELECT n + 1 AS n</a:t>
            </a:r>
          </a:p>
          <a:p>
            <a:pPr marL="0" indent="0">
              <a:buNone/>
            </a:pPr>
            <a:r>
              <a:rPr lang="en-US" sz="1800" dirty="0"/>
              <a:t>        FROM   numbers</a:t>
            </a:r>
          </a:p>
          <a:p>
            <a:pPr marL="0" indent="0">
              <a:buNone/>
            </a:pPr>
            <a:r>
              <a:rPr lang="en-US" sz="1800" dirty="0"/>
              <a:t>        WHERE n &lt; 5</a:t>
            </a:r>
          </a:p>
          <a:p>
            <a:pPr marL="0" indent="0">
              <a:buNone/>
            </a:pPr>
            <a:r>
              <a:rPr lang="en-US" sz="1800" dirty="0"/>
              <a:t>     )</a:t>
            </a:r>
          </a:p>
          <a:p>
            <a:pPr marL="0" indent="0">
              <a:buNone/>
            </a:pPr>
            <a:r>
              <a:rPr lang="en-US" sz="1800" dirty="0"/>
              <a:t>   SELECT n FROM numbers</a:t>
            </a:r>
          </a:p>
          <a:p>
            <a:pPr marL="0" indent="0">
              <a:buNone/>
            </a:pPr>
            <a:r>
              <a:rPr lang="en-US" sz="1800" dirty="0"/>
              <a:t>   ;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60199" y="6298684"/>
            <a:ext cx="4621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http://citforum.ru/database/oracle/recursive/</a:t>
            </a:r>
            <a:endParaRPr lang="ru-RU" dirty="0"/>
          </a:p>
        </p:txBody>
      </p:sp>
      <p:sp>
        <p:nvSpPr>
          <p:cNvPr id="9" name="Скругленная прямоугольная выноска 8"/>
          <p:cNvSpPr/>
          <p:nvPr/>
        </p:nvSpPr>
        <p:spPr bwMode="auto">
          <a:xfrm>
            <a:off x="8737600" y="651004"/>
            <a:ext cx="2088896" cy="758397"/>
          </a:xfrm>
          <a:prstGeom prst="wedgeRoundRectCallout">
            <a:avLst>
              <a:gd name="adj1" fmla="val -15580"/>
              <a:gd name="adj2" fmla="val 105266"/>
              <a:gd name="adj3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Объяснение ответа</a:t>
            </a:r>
          </a:p>
        </p:txBody>
      </p:sp>
      <p:sp>
        <p:nvSpPr>
          <p:cNvPr id="10" name="Скругленная прямоугольная выноска 9"/>
          <p:cNvSpPr/>
          <p:nvPr/>
        </p:nvSpPr>
        <p:spPr bwMode="auto">
          <a:xfrm>
            <a:off x="6191275" y="685546"/>
            <a:ext cx="941832" cy="466196"/>
          </a:xfrm>
          <a:prstGeom prst="wedgeRoundRectCallout">
            <a:avLst>
              <a:gd name="adj1" fmla="val -15580"/>
              <a:gd name="adj2" fmla="val 105266"/>
              <a:gd name="adj3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Ответ</a:t>
            </a:r>
          </a:p>
        </p:txBody>
      </p:sp>
    </p:spTree>
    <p:extLst>
      <p:ext uri="{BB962C8B-B14F-4D97-AF65-F5344CB8AC3E}">
        <p14:creationId xmlns:p14="http://schemas.microsoft.com/office/powerpoint/2010/main" val="1134763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914" y="508627"/>
            <a:ext cx="6150350" cy="634937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-60570"/>
            <a:ext cx="10972800" cy="508626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584" y="1"/>
            <a:ext cx="8275320" cy="4851876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emp_data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ename,empno,mgr,l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AS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(SELECT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empno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mgr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lvl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mgr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NULL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UNION ALL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SELECT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emp.ename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emp.empno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emp.mgr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ed.l+1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FROM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emp_data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WHERE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emp.mgr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ed.empno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SEARCH DEPTH FIRST BY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SET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order_by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SELECT l,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lpad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('*' ,2*l, '*')||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nm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FROM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emp_data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ORDER BY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order_by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311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03504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Рекурсия по дате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8472" y="521208"/>
            <a:ext cx="4940808" cy="612648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WITH data(r)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  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  (SELECT 1 r FROM dual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  UNION ALL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  SELECT r+1 FROM data WHERE r &lt; 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  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SELECT r, sysdate + r FROM data;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2000" dirty="0"/>
              <a:t> 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2000" dirty="0"/>
              <a:t>   Что изменится в запросе ?</a:t>
            </a: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data(r)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AS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(SELECT </a:t>
            </a: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 FROM dual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UNION ALL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SELECT r+1 FROM data WHERE r &lt; 5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r, sysdate + r FROM data;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ru-RU" altLang="ru-RU">
              <a:solidFill>
                <a:srgbClr val="00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271" y="749265"/>
            <a:ext cx="5310826" cy="492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4738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0588" y="536"/>
            <a:ext cx="10972800" cy="482543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А планы исполнения в </a:t>
            </a:r>
            <a:r>
              <a:rPr lang="ru-RU" sz="3200">
                <a:solidFill>
                  <a:srgbClr val="FF0000"/>
                </a:solidFill>
              </a:rPr>
              <a:t>ОТВ сложнее </a:t>
            </a:r>
            <a:endParaRPr lang="ru-RU" sz="3200" dirty="0">
              <a:solidFill>
                <a:srgbClr val="FF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80" y="490335"/>
            <a:ext cx="10499408" cy="623114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AB6AD-BA69-4EF6-B661-138280069E88}" type="slidenum">
              <a:rPr lang="ru-RU" altLang="ru-RU" smtClean="0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ru-RU" altLang="ru-R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277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ru-RU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ru-RU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5841</TotalTime>
  <Words>4225</Words>
  <Application>Microsoft Office PowerPoint</Application>
  <PresentationFormat>Широкоэкранный</PresentationFormat>
  <Paragraphs>578</Paragraphs>
  <Slides>36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36</vt:i4>
      </vt:variant>
    </vt:vector>
  </HeadingPairs>
  <TitlesOfParts>
    <vt:vector size="49" baseType="lpstr">
      <vt:lpstr>Arial</vt:lpstr>
      <vt:lpstr>Calibri</vt:lpstr>
      <vt:lpstr>Calibri Light</vt:lpstr>
      <vt:lpstr>Georgia</vt:lpstr>
      <vt:lpstr>Gudea</vt:lpstr>
      <vt:lpstr>inherit</vt:lpstr>
      <vt:lpstr>Monaco</vt:lpstr>
      <vt:lpstr>Source Sans Pro</vt:lpstr>
      <vt:lpstr>Times New Roman</vt:lpstr>
      <vt:lpstr>Тема Office</vt:lpstr>
      <vt:lpstr>Оформление по умолчанию</vt:lpstr>
      <vt:lpstr>1_Тема Office</vt:lpstr>
      <vt:lpstr>2_Тема Office</vt:lpstr>
      <vt:lpstr>Подзапросы Обобщённые табличные выражения</vt:lpstr>
      <vt:lpstr>Подзапросы</vt:lpstr>
      <vt:lpstr>Подзапросы в запросах</vt:lpstr>
      <vt:lpstr>Однострочные подзапросы</vt:lpstr>
      <vt:lpstr>Многострочные подзапросы</vt:lpstr>
      <vt:lpstr>Примеры многострочных подзапросов</vt:lpstr>
      <vt:lpstr>Места прикрепления подзапросов</vt:lpstr>
      <vt:lpstr>Синтаксис некоторых подзапросов 1/2</vt:lpstr>
      <vt:lpstr>Синтаксис некоторых подзапросов 2/2</vt:lpstr>
      <vt:lpstr>Построение запроса с подзапросом методом нисходящего проектирования </vt:lpstr>
      <vt:lpstr>Коррелированные подзапросы</vt:lpstr>
      <vt:lpstr>Пример коррелированного подзапроса</vt:lpstr>
      <vt:lpstr>Какой запрос лучше?</vt:lpstr>
      <vt:lpstr>Примеры коррелированных и обычных подзапросов</vt:lpstr>
      <vt:lpstr>Иерархии</vt:lpstr>
      <vt:lpstr>Пример. Даты текущего месяца без рекурсии</vt:lpstr>
      <vt:lpstr>Календарь на текущий год</vt:lpstr>
      <vt:lpstr>Календарь на текущий месяц</vt:lpstr>
      <vt:lpstr>Что такое обобщенное табличное выражение?</vt:lpstr>
      <vt:lpstr>Фраза WITH</vt:lpstr>
      <vt:lpstr>Как работают обобщенные табличные выражения без рекурсии</vt:lpstr>
      <vt:lpstr>При использовании WITH план исполнения не меняется</vt:lpstr>
      <vt:lpstr>Примеры WITH без рекурсии</vt:lpstr>
      <vt:lpstr>Фраза WITH. Подзапрос используется в двух компонентах основного запроса объединяемых UNION </vt:lpstr>
      <vt:lpstr>Фраза WITH. Подзапрос с параметрами</vt:lpstr>
      <vt:lpstr>Фраза WITH. Два связанных подзапроса (1/2)</vt:lpstr>
      <vt:lpstr>Фраза WITH. Два связанных подзапроса (2/2)</vt:lpstr>
      <vt:lpstr>Как работает рекурсивный WITH</vt:lpstr>
      <vt:lpstr>Вспоминаем функцию INSTR</vt:lpstr>
      <vt:lpstr>  Фраза WITH в рекурсивном запросе:  </vt:lpstr>
      <vt:lpstr>Вычисляем факториал с промежуточными результатами</vt:lpstr>
      <vt:lpstr>Факториал без промежуточных результатов</vt:lpstr>
      <vt:lpstr>Ещё один поясняющий пример</vt:lpstr>
      <vt:lpstr>Пример</vt:lpstr>
      <vt:lpstr>Рекурсия по дате</vt:lpstr>
      <vt:lpstr>А планы исполнения в ОТВ сложнее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Подзапросы</dc:title>
  <dc:creator>Bessarabov</dc:creator>
  <cp:lastModifiedBy>Nikolay Bessarabov</cp:lastModifiedBy>
  <cp:revision>99</cp:revision>
  <dcterms:created xsi:type="dcterms:W3CDTF">2018-07-02T15:15:04Z</dcterms:created>
  <dcterms:modified xsi:type="dcterms:W3CDTF">2021-11-12T10:01:32Z</dcterms:modified>
</cp:coreProperties>
</file>