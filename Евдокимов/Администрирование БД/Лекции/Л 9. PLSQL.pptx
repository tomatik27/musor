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84" r:id="rId3"/>
  </p:sldMasterIdLst>
  <p:notesMasterIdLst>
    <p:notesMasterId r:id="rId54"/>
  </p:notesMasterIdLst>
  <p:sldIdLst>
    <p:sldId id="256" r:id="rId4"/>
    <p:sldId id="257" r:id="rId5"/>
    <p:sldId id="271" r:id="rId6"/>
    <p:sldId id="297" r:id="rId7"/>
    <p:sldId id="298" r:id="rId8"/>
    <p:sldId id="299" r:id="rId9"/>
    <p:sldId id="258" r:id="rId10"/>
    <p:sldId id="259" r:id="rId11"/>
    <p:sldId id="260" r:id="rId12"/>
    <p:sldId id="261" r:id="rId13"/>
    <p:sldId id="262" r:id="rId14"/>
    <p:sldId id="263" r:id="rId15"/>
    <p:sldId id="264" r:id="rId16"/>
    <p:sldId id="312" r:id="rId17"/>
    <p:sldId id="265" r:id="rId18"/>
    <p:sldId id="295" r:id="rId19"/>
    <p:sldId id="300" r:id="rId20"/>
    <p:sldId id="287" r:id="rId21"/>
    <p:sldId id="296" r:id="rId22"/>
    <p:sldId id="288" r:id="rId23"/>
    <p:sldId id="294" r:id="rId24"/>
    <p:sldId id="266" r:id="rId25"/>
    <p:sldId id="280" r:id="rId26"/>
    <p:sldId id="274" r:id="rId27"/>
    <p:sldId id="284" r:id="rId28"/>
    <p:sldId id="285" r:id="rId29"/>
    <p:sldId id="279" r:id="rId30"/>
    <p:sldId id="281" r:id="rId31"/>
    <p:sldId id="283" r:id="rId32"/>
    <p:sldId id="282" r:id="rId33"/>
    <p:sldId id="286" r:id="rId34"/>
    <p:sldId id="289" r:id="rId35"/>
    <p:sldId id="308" r:id="rId36"/>
    <p:sldId id="306" r:id="rId37"/>
    <p:sldId id="302" r:id="rId38"/>
    <p:sldId id="290" r:id="rId39"/>
    <p:sldId id="291" r:id="rId40"/>
    <p:sldId id="292" r:id="rId41"/>
    <p:sldId id="301" r:id="rId42"/>
    <p:sldId id="305" r:id="rId43"/>
    <p:sldId id="293" r:id="rId44"/>
    <p:sldId id="307" r:id="rId45"/>
    <p:sldId id="311" r:id="rId46"/>
    <p:sldId id="303" r:id="rId47"/>
    <p:sldId id="310" r:id="rId48"/>
    <p:sldId id="313" r:id="rId49"/>
    <p:sldId id="314" r:id="rId50"/>
    <p:sldId id="304" r:id="rId51"/>
    <p:sldId id="309" r:id="rId52"/>
    <p:sldId id="315" r:id="rId53"/>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1" autoAdjust="0"/>
    <p:restoredTop sz="94660"/>
  </p:normalViewPr>
  <p:slideViewPr>
    <p:cSldViewPr snapToGrid="0">
      <p:cViewPr varScale="1">
        <p:scale>
          <a:sx n="107" d="100"/>
          <a:sy n="107" d="100"/>
        </p:scale>
        <p:origin x="4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16F1A3-4152-4782-83EE-A662D8B43B05}" type="datetimeFigureOut">
              <a:rPr lang="ru-RU" smtClean="0"/>
              <a:t>10.11.2021</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FF17B9-885E-4375-A70F-1AC097F0008F}" type="slidenum">
              <a:rPr lang="ru-RU" smtClean="0"/>
              <a:t>‹#›</a:t>
            </a:fld>
            <a:endParaRPr lang="ru-RU"/>
          </a:p>
        </p:txBody>
      </p:sp>
    </p:spTree>
    <p:extLst>
      <p:ext uri="{BB962C8B-B14F-4D97-AF65-F5344CB8AC3E}">
        <p14:creationId xmlns:p14="http://schemas.microsoft.com/office/powerpoint/2010/main" val="1771055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10"/>
          </p:nvPr>
        </p:nvSpPr>
        <p:spPr/>
        <p:txBody>
          <a:bodyPr/>
          <a:lstStyle/>
          <a:p>
            <a:fld id="{8DFF17B9-885E-4375-A70F-1AC097F0008F}" type="slidenum">
              <a:rPr lang="ru-RU" smtClean="0"/>
              <a:t>28</a:t>
            </a:fld>
            <a:endParaRPr lang="ru-RU"/>
          </a:p>
        </p:txBody>
      </p:sp>
    </p:spTree>
    <p:extLst>
      <p:ext uri="{BB962C8B-B14F-4D97-AF65-F5344CB8AC3E}">
        <p14:creationId xmlns:p14="http://schemas.microsoft.com/office/powerpoint/2010/main" val="64956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ACFE7422-AE16-4BC5-A16C-900E8FF4A47B}" type="datetime1">
              <a:rPr lang="ru-RU" smtClean="0"/>
              <a:t>10.11.2021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1469361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94FC93E0-666C-4DDD-8DB4-FC8837507490}" type="datetime1">
              <a:rPr lang="ru-RU" smtClean="0"/>
              <a:t>10.11.2021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3457169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A74E5E96-A112-44FD-B783-0D31BB5D9E89}" type="datetime1">
              <a:rPr lang="ru-RU" smtClean="0"/>
              <a:t>10.11.2021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551943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5A0E7EBD-E172-42FC-B4A0-79B420372D99}" type="datetime1">
              <a:rPr lang="ru-RU" smtClean="0"/>
              <a:t>10.11.2021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1211352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5E1CCEAE-EB82-4139-A745-22AE7C5DEE14}" type="datetime1">
              <a:rPr lang="ru-RU" smtClean="0"/>
              <a:t>10.11.2021</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1721475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C97A59F9-1715-463B-A4DB-0A0FC186DBCA}" type="datetime1">
              <a:rPr lang="ru-RU" smtClean="0"/>
              <a:t>10.11.2021</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3257325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0FE37FD-DD5F-4A11-9F56-A9411785E8E0}" type="datetime1">
              <a:rPr lang="ru-RU" smtClean="0"/>
              <a:t>10.11.2021</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277849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30E85BE0-E6DA-433F-AFD2-818B28B69216}" type="datetime1">
              <a:rPr lang="ru-RU" smtClean="0"/>
              <a:t>10.11.2021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3168349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CBA06CEA-845F-4124-9078-48961F36881B}" type="datetime1">
              <a:rPr lang="ru-RU" smtClean="0"/>
              <a:t>10.11.2021</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29334674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15BDEA37-9317-433F-A465-60A0F6E6AAA6}" type="datetime1">
              <a:rPr lang="ru-RU" smtClean="0"/>
              <a:t>10.11.2021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500269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E9B0F65-5EE1-4814-9669-42FF6CDB420E}" type="datetime1">
              <a:rPr lang="ru-RU" smtClean="0"/>
              <a:t>10.11.2021</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F6172113-EA9C-4997-B327-E37F8533BE5A}" type="slidenum">
              <a:rPr lang="ru-RU" smtClean="0"/>
              <a:t>‹#›</a:t>
            </a:fld>
            <a:endParaRPr lang="ru-RU"/>
          </a:p>
        </p:txBody>
      </p:sp>
    </p:spTree>
    <p:extLst>
      <p:ext uri="{BB962C8B-B14F-4D97-AF65-F5344CB8AC3E}">
        <p14:creationId xmlns:p14="http://schemas.microsoft.com/office/powerpoint/2010/main" val="1128169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p>
            <a:r>
              <a:rPr lang="ru-RU"/>
              <a:t>Образец заголовка</a:t>
            </a:r>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8E6AA276-592C-4927-99A9-9AF9AE0BBA5D}"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5041487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6FCA8992-0360-4D88-A682-FEEC3800A73E}"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913861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97490807-DCCB-44DB-BF97-2FFD7CDC954B}"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0103898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AC9B835D-FAD9-41A0-B352-955BEC74C28B}"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8957425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305BFAF7-0E72-413E-B4A4-FDB62242A1DD}" type="datetime1">
              <a:rPr lang="ru-RU" smtClean="0">
                <a:solidFill>
                  <a:prstClr val="black">
                    <a:tint val="75000"/>
                  </a:prstClr>
                </a:solidFill>
              </a:rPr>
              <a:t>10.11.2021</a:t>
            </a:fld>
            <a:endParaRPr lang="ru-RU">
              <a:solidFill>
                <a:prstClr val="black">
                  <a:tint val="75000"/>
                </a:prstClr>
              </a:solidFill>
            </a:endParaRPr>
          </a:p>
        </p:txBody>
      </p:sp>
      <p:sp>
        <p:nvSpPr>
          <p:cNvPr id="8" name="Нижний колонтитул 7"/>
          <p:cNvSpPr>
            <a:spLocks noGrp="1"/>
          </p:cNvSpPr>
          <p:nvPr>
            <p:ph type="ftr" sz="quarter" idx="11"/>
          </p:nvPr>
        </p:nvSpPr>
        <p:spPr/>
        <p:txBody>
          <a:bodyPr/>
          <a:lstStyle/>
          <a:p>
            <a:endParaRPr lang="ru-RU">
              <a:solidFill>
                <a:prstClr val="black">
                  <a:tint val="75000"/>
                </a:prstClr>
              </a:solidFill>
            </a:endParaRPr>
          </a:p>
        </p:txBody>
      </p:sp>
      <p:sp>
        <p:nvSpPr>
          <p:cNvPr id="9" name="Номер слайда 8"/>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034513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8B31B036-950F-49DC-83D1-609C220BCE95}" type="datetime1">
              <a:rPr lang="ru-RU" smtClean="0">
                <a:solidFill>
                  <a:prstClr val="black">
                    <a:tint val="75000"/>
                  </a:prstClr>
                </a:solidFill>
              </a:rPr>
              <a:t>10.11.2021</a:t>
            </a:fld>
            <a:endParaRPr lang="ru-RU">
              <a:solidFill>
                <a:prstClr val="black">
                  <a:tint val="75000"/>
                </a:prstClr>
              </a:solidFill>
            </a:endParaRPr>
          </a:p>
        </p:txBody>
      </p:sp>
      <p:sp>
        <p:nvSpPr>
          <p:cNvPr id="4" name="Нижний колонтитул 3"/>
          <p:cNvSpPr>
            <a:spLocks noGrp="1"/>
          </p:cNvSpPr>
          <p:nvPr>
            <p:ph type="ftr" sz="quarter" idx="11"/>
          </p:nvPr>
        </p:nvSpPr>
        <p:spPr/>
        <p:txBody>
          <a:bodyPr/>
          <a:lstStyle/>
          <a:p>
            <a:endParaRPr lang="ru-RU">
              <a:solidFill>
                <a:prstClr val="black">
                  <a:tint val="75000"/>
                </a:prstClr>
              </a:solidFill>
            </a:endParaRPr>
          </a:p>
        </p:txBody>
      </p:sp>
      <p:sp>
        <p:nvSpPr>
          <p:cNvPr id="5" name="Номер слайда 4"/>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6444494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E57E1C3-3D62-4448-9DE5-9D2C2D9BA4F4}" type="datetime1">
              <a:rPr lang="ru-RU" smtClean="0">
                <a:solidFill>
                  <a:prstClr val="black">
                    <a:tint val="75000"/>
                  </a:prstClr>
                </a:solidFill>
              </a:rPr>
              <a:t>10.11.2021</a:t>
            </a:fld>
            <a:endParaRPr lang="ru-RU">
              <a:solidFill>
                <a:prstClr val="black">
                  <a:tint val="75000"/>
                </a:prstClr>
              </a:solidFill>
            </a:endParaRPr>
          </a:p>
        </p:txBody>
      </p:sp>
      <p:sp>
        <p:nvSpPr>
          <p:cNvPr id="3" name="Нижний колонтитул 2"/>
          <p:cNvSpPr>
            <a:spLocks noGrp="1"/>
          </p:cNvSpPr>
          <p:nvPr>
            <p:ph type="ftr" sz="quarter" idx="11"/>
          </p:nvPr>
        </p:nvSpPr>
        <p:spPr/>
        <p:txBody>
          <a:bodyPr/>
          <a:lstStyle/>
          <a:p>
            <a:endParaRPr lang="ru-RU">
              <a:solidFill>
                <a:prstClr val="black">
                  <a:tint val="75000"/>
                </a:prstClr>
              </a:solidFill>
            </a:endParaRPr>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372978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1" y="273050"/>
            <a:ext cx="4011084"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54FD68DA-ED15-4474-A96A-854D7AEA76B9}"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6284669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89CE032-3629-4DA6-A771-E0D81A77F057}"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6169660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9826569-30FE-4E6C-9EBA-285E0881BD75}"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9768915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39"/>
            <a:ext cx="27432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09600" y="274639"/>
            <a:ext cx="80264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3E5E5569-1AB8-436B-A2D6-1FB8FBDA9997}"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6354473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p>
            <a:r>
              <a:rPr lang="ru-RU"/>
              <a:t>Образец заголовка</a:t>
            </a:r>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ECCCCB72-D46F-4D36-9515-B80E6C1B9828}"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4913657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EA4F853B-E7E8-44BF-85AC-E87ED4869EEE}"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8262527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60E2C4F3-C111-44A3-8FEC-B82BB32E2304}"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7253798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A60FEB47-8B76-43D8-8DD0-C497BDF76C17}"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21043486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45B75677-64C7-48BF-8ACA-B1AE229EC4FD}" type="datetime1">
              <a:rPr lang="ru-RU" smtClean="0">
                <a:solidFill>
                  <a:prstClr val="black">
                    <a:tint val="75000"/>
                  </a:prstClr>
                </a:solidFill>
              </a:rPr>
              <a:t>10.11.2021</a:t>
            </a:fld>
            <a:endParaRPr lang="ru-RU">
              <a:solidFill>
                <a:prstClr val="black">
                  <a:tint val="75000"/>
                </a:prstClr>
              </a:solidFill>
            </a:endParaRPr>
          </a:p>
        </p:txBody>
      </p:sp>
      <p:sp>
        <p:nvSpPr>
          <p:cNvPr id="8" name="Нижний колонтитул 7"/>
          <p:cNvSpPr>
            <a:spLocks noGrp="1"/>
          </p:cNvSpPr>
          <p:nvPr>
            <p:ph type="ftr" sz="quarter" idx="11"/>
          </p:nvPr>
        </p:nvSpPr>
        <p:spPr/>
        <p:txBody>
          <a:bodyPr/>
          <a:lstStyle/>
          <a:p>
            <a:endParaRPr lang="ru-RU">
              <a:solidFill>
                <a:prstClr val="black">
                  <a:tint val="75000"/>
                </a:prstClr>
              </a:solidFill>
            </a:endParaRPr>
          </a:p>
        </p:txBody>
      </p:sp>
      <p:sp>
        <p:nvSpPr>
          <p:cNvPr id="9" name="Номер слайда 8"/>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93802069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1BCA1497-659F-4D6D-86FF-D5B3365888FD}" type="datetime1">
              <a:rPr lang="ru-RU" smtClean="0">
                <a:solidFill>
                  <a:prstClr val="black">
                    <a:tint val="75000"/>
                  </a:prstClr>
                </a:solidFill>
              </a:rPr>
              <a:t>10.11.2021</a:t>
            </a:fld>
            <a:endParaRPr lang="ru-RU">
              <a:solidFill>
                <a:prstClr val="black">
                  <a:tint val="75000"/>
                </a:prstClr>
              </a:solidFill>
            </a:endParaRPr>
          </a:p>
        </p:txBody>
      </p:sp>
      <p:sp>
        <p:nvSpPr>
          <p:cNvPr id="4" name="Нижний колонтитул 3"/>
          <p:cNvSpPr>
            <a:spLocks noGrp="1"/>
          </p:cNvSpPr>
          <p:nvPr>
            <p:ph type="ftr" sz="quarter" idx="11"/>
          </p:nvPr>
        </p:nvSpPr>
        <p:spPr/>
        <p:txBody>
          <a:bodyPr/>
          <a:lstStyle/>
          <a:p>
            <a:endParaRPr lang="ru-RU">
              <a:solidFill>
                <a:prstClr val="black">
                  <a:tint val="75000"/>
                </a:prstClr>
              </a:solidFill>
            </a:endParaRPr>
          </a:p>
        </p:txBody>
      </p:sp>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6383473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406F02CB-ADFE-4A12-A7EF-B5E0968C68B2}" type="datetime1">
              <a:rPr lang="ru-RU" smtClean="0">
                <a:solidFill>
                  <a:prstClr val="black">
                    <a:tint val="75000"/>
                  </a:prstClr>
                </a:solidFill>
              </a:rPr>
              <a:t>10.11.2021</a:t>
            </a:fld>
            <a:endParaRPr lang="ru-RU">
              <a:solidFill>
                <a:prstClr val="black">
                  <a:tint val="75000"/>
                </a:prstClr>
              </a:solidFill>
            </a:endParaRPr>
          </a:p>
        </p:txBody>
      </p:sp>
      <p:sp>
        <p:nvSpPr>
          <p:cNvPr id="3" name="Нижний колонтитул 2"/>
          <p:cNvSpPr>
            <a:spLocks noGrp="1"/>
          </p:cNvSpPr>
          <p:nvPr>
            <p:ph type="ftr" sz="quarter" idx="11"/>
          </p:nvPr>
        </p:nvSpPr>
        <p:spPr/>
        <p:txBody>
          <a:bodyPr/>
          <a:lstStyle/>
          <a:p>
            <a:endParaRPr lang="ru-RU">
              <a:solidFill>
                <a:prstClr val="black">
                  <a:tint val="75000"/>
                </a:prstClr>
              </a:solidFill>
            </a:endParaRP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6713147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1" y="273050"/>
            <a:ext cx="4011084" cy="1162050"/>
          </a:xfrm>
        </p:spPr>
        <p:txBody>
          <a:bodyPr anchor="b"/>
          <a:lstStyle>
            <a:lvl1pPr algn="l">
              <a:defRPr sz="2000" b="1"/>
            </a:lvl1pPr>
          </a:lstStyle>
          <a:p>
            <a:r>
              <a:rPr lang="ru-RU"/>
              <a:t>Образец заголовка</a:t>
            </a:r>
          </a:p>
        </p:txBody>
      </p:sp>
      <p:sp>
        <p:nvSpPr>
          <p:cNvPr id="3" name="Объект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53F52A2F-8821-4105-AB7A-F891F42E7C7F}"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332989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CED63ECA-CCAD-403E-ABD6-DD1E30330232}" type="datetime1">
              <a:rPr lang="ru-RU" smtClean="0">
                <a:solidFill>
                  <a:prstClr val="black">
                    <a:tint val="75000"/>
                  </a:prstClr>
                </a:solidFill>
              </a:rPr>
              <a:t>10.11.2021</a:t>
            </a:fld>
            <a:endParaRPr lang="ru-RU">
              <a:solidFill>
                <a:prstClr val="black">
                  <a:tint val="75000"/>
                </a:prstClr>
              </a:solidFill>
            </a:endParaRPr>
          </a:p>
        </p:txBody>
      </p:sp>
      <p:sp>
        <p:nvSpPr>
          <p:cNvPr id="6" name="Нижний колонтитул 5"/>
          <p:cNvSpPr>
            <a:spLocks noGrp="1"/>
          </p:cNvSpPr>
          <p:nvPr>
            <p:ph type="ftr" sz="quarter" idx="11"/>
          </p:nvPr>
        </p:nvSpPr>
        <p:spPr/>
        <p:txBody>
          <a:bodyPr/>
          <a:lstStyle/>
          <a:p>
            <a:endParaRPr lang="ru-RU">
              <a:solidFill>
                <a:prstClr val="black">
                  <a:tint val="75000"/>
                </a:prstClr>
              </a:solidFill>
            </a:endParaRPr>
          </a:p>
        </p:txBody>
      </p:sp>
      <p:sp>
        <p:nvSpPr>
          <p:cNvPr id="7" name="Номер слайда 6"/>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39854021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7B075E1F-A517-4126-8F76-9AACE9FA49B9}"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8057448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839200" y="274639"/>
            <a:ext cx="27432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09600" y="274639"/>
            <a:ext cx="80264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51E48987-0CB9-404E-9BB4-67A5AC1B5281}"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11"/>
          </p:nvPr>
        </p:nvSpPr>
        <p:spPr/>
        <p:txBody>
          <a:bodyPr/>
          <a:lstStyle/>
          <a:p>
            <a:endParaRPr lang="ru-RU">
              <a:solidFill>
                <a:prstClr val="black">
                  <a:tint val="75000"/>
                </a:prstClr>
              </a:solidFill>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625531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815C8A-A3F7-4363-99AF-51CFFFF50C4A}" type="datetime1">
              <a:rPr lang="ru-RU" smtClean="0"/>
              <a:t>10.11.2021</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172113-EA9C-4997-B327-E37F8533BE5A}" type="slidenum">
              <a:rPr lang="ru-RU" smtClean="0"/>
              <a:t>‹#›</a:t>
            </a:fld>
            <a:endParaRPr lang="ru-RU"/>
          </a:p>
        </p:txBody>
      </p:sp>
    </p:spTree>
    <p:extLst>
      <p:ext uri="{BB962C8B-B14F-4D97-AF65-F5344CB8AC3E}">
        <p14:creationId xmlns:p14="http://schemas.microsoft.com/office/powerpoint/2010/main" val="163738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728838-1B1B-41D8-A1F9-ED678D29B5A9}"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solidFill>
                <a:prstClr val="black">
                  <a:tint val="75000"/>
                </a:prstClr>
              </a:solidFill>
            </a:endParaRPr>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1D3F5A-CB4D-46BC-895C-C3EB119D7FE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2688036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04509-E15D-45BC-B8B5-D9EF6F89AE56}" type="datetime1">
              <a:rPr lang="ru-RU" smtClean="0">
                <a:solidFill>
                  <a:prstClr val="black">
                    <a:tint val="75000"/>
                  </a:prstClr>
                </a:solidFill>
              </a:rPr>
              <a:t>10.11.2021</a:t>
            </a:fld>
            <a:endParaRPr lang="ru-RU">
              <a:solidFill>
                <a:prstClr val="black">
                  <a:tint val="75000"/>
                </a:prstClr>
              </a:solidFill>
            </a:endParaRPr>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solidFill>
                <a:prstClr val="black">
                  <a:tint val="75000"/>
                </a:prstClr>
              </a:solidFill>
            </a:endParaRPr>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7B34-D6E2-4952-A4EE-BEF9CE40CFF9}" type="slidenum">
              <a:rPr lang="ru-RU" smtClean="0">
                <a:solidFill>
                  <a:prstClr val="black">
                    <a:tint val="75000"/>
                  </a:prstClr>
                </a:solidFill>
              </a:rPr>
              <a:pPr/>
              <a:t>‹#›</a:t>
            </a:fld>
            <a:endParaRPr lang="ru-RU">
              <a:solidFill>
                <a:prstClr val="black">
                  <a:tint val="75000"/>
                </a:prstClr>
              </a:solidFill>
            </a:endParaRPr>
          </a:p>
        </p:txBody>
      </p:sp>
    </p:spTree>
    <p:extLst>
      <p:ext uri="{BB962C8B-B14F-4D97-AF65-F5344CB8AC3E}">
        <p14:creationId xmlns:p14="http://schemas.microsoft.com/office/powerpoint/2010/main" val="175183064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slideLayout" Target="../slideLayouts/slideLayout24.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emf"/><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normAutofit/>
          </a:bodyPr>
          <a:lstStyle/>
          <a:p>
            <a:r>
              <a:rPr lang="en-US" sz="4400" dirty="0">
                <a:solidFill>
                  <a:srgbClr val="FF0000"/>
                </a:solidFill>
              </a:rPr>
              <a:t>PL/SQL</a:t>
            </a:r>
            <a:br>
              <a:rPr lang="en-US" sz="4400" dirty="0">
                <a:solidFill>
                  <a:srgbClr val="FF0000"/>
                </a:solidFill>
              </a:rPr>
            </a:br>
            <a:r>
              <a:rPr lang="ru-RU" sz="4400" dirty="0">
                <a:solidFill>
                  <a:srgbClr val="FF0000"/>
                </a:solidFill>
              </a:rPr>
              <a:t>Введение</a:t>
            </a:r>
          </a:p>
        </p:txBody>
      </p:sp>
      <p:sp>
        <p:nvSpPr>
          <p:cNvPr id="3" name="Подзаголовок 2"/>
          <p:cNvSpPr>
            <a:spLocks noGrp="1"/>
          </p:cNvSpPr>
          <p:nvPr>
            <p:ph type="subTitle" idx="1"/>
          </p:nvPr>
        </p:nvSpPr>
        <p:spPr/>
        <p:txBody>
          <a:bodyPr/>
          <a:lstStyle/>
          <a:p>
            <a:r>
              <a:rPr lang="ru-RU" dirty="0"/>
              <a:t>Бессарабов Н.В.</a:t>
            </a:r>
          </a:p>
          <a:p>
            <a:r>
              <a:rPr lang="ru-RU" dirty="0"/>
              <a:t>2018</a:t>
            </a:r>
          </a:p>
        </p:txBody>
      </p:sp>
      <p:sp>
        <p:nvSpPr>
          <p:cNvPr id="4" name="Номер слайда 3"/>
          <p:cNvSpPr>
            <a:spLocks noGrp="1"/>
          </p:cNvSpPr>
          <p:nvPr>
            <p:ph type="sldNum" sz="quarter" idx="12"/>
          </p:nvPr>
        </p:nvSpPr>
        <p:spPr/>
        <p:txBody>
          <a:bodyPr/>
          <a:lstStyle/>
          <a:p>
            <a:fld id="{F6172113-EA9C-4997-B327-E37F8533BE5A}" type="slidenum">
              <a:rPr lang="ru-RU" smtClean="0"/>
              <a:t>1</a:t>
            </a:fld>
            <a:endParaRPr lang="ru-RU"/>
          </a:p>
        </p:txBody>
      </p:sp>
    </p:spTree>
    <p:extLst>
      <p:ext uri="{BB962C8B-B14F-4D97-AF65-F5344CB8AC3E}">
        <p14:creationId xmlns:p14="http://schemas.microsoft.com/office/powerpoint/2010/main" val="1482256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24000" y="44624"/>
            <a:ext cx="9144000" cy="504056"/>
          </a:xfrm>
        </p:spPr>
        <p:txBody>
          <a:bodyPr>
            <a:normAutofit fontScale="90000"/>
          </a:bodyPr>
          <a:lstStyle/>
          <a:p>
            <a:br>
              <a:rPr lang="ru-RU" dirty="0"/>
            </a:br>
            <a:r>
              <a:rPr lang="ru-RU" dirty="0">
                <a:solidFill>
                  <a:srgbClr val="FF0000"/>
                </a:solidFill>
              </a:rPr>
              <a:t>Блок</a:t>
            </a:r>
            <a:r>
              <a:rPr lang="ru-RU" sz="4000" dirty="0">
                <a:solidFill>
                  <a:srgbClr val="FF0000"/>
                </a:solidFill>
              </a:rPr>
              <a:t> в языке </a:t>
            </a:r>
            <a:r>
              <a:rPr lang="en-US" sz="4000" dirty="0">
                <a:solidFill>
                  <a:srgbClr val="FF0000"/>
                </a:solidFill>
              </a:rPr>
              <a:t>PL</a:t>
            </a:r>
            <a:r>
              <a:rPr lang="ru-RU" sz="4000" dirty="0">
                <a:solidFill>
                  <a:srgbClr val="FF0000"/>
                </a:solidFill>
              </a:rPr>
              <a:t>/</a:t>
            </a:r>
            <a:r>
              <a:rPr lang="en-US" sz="4000" dirty="0">
                <a:solidFill>
                  <a:srgbClr val="FF0000"/>
                </a:solidFill>
              </a:rPr>
              <a:t>SQL</a:t>
            </a:r>
            <a:br>
              <a:rPr lang="ru-RU" b="1" dirty="0">
                <a:solidFill>
                  <a:srgbClr val="FF0000"/>
                </a:solidFill>
              </a:rPr>
            </a:br>
            <a:endParaRPr lang="ru-RU" dirty="0">
              <a:solidFill>
                <a:srgbClr val="FF0000"/>
              </a:solidFill>
            </a:endParaRP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47529" y="620688"/>
            <a:ext cx="8640960" cy="403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Объект 2"/>
          <p:cNvSpPr txBox="1">
            <a:spLocks/>
          </p:cNvSpPr>
          <p:nvPr/>
        </p:nvSpPr>
        <p:spPr>
          <a:xfrm>
            <a:off x="1981200" y="4869160"/>
            <a:ext cx="8229600" cy="15841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ru-RU" sz="2000" dirty="0">
              <a:solidFill>
                <a:prstClr val="black"/>
              </a:solidFill>
            </a:endParaRPr>
          </a:p>
        </p:txBody>
      </p:sp>
      <p:sp>
        <p:nvSpPr>
          <p:cNvPr id="6" name="Объект 2"/>
          <p:cNvSpPr txBox="1">
            <a:spLocks/>
          </p:cNvSpPr>
          <p:nvPr/>
        </p:nvSpPr>
        <p:spPr>
          <a:xfrm>
            <a:off x="1981200" y="4869160"/>
            <a:ext cx="8229600" cy="15841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endParaRPr lang="ru-RU" dirty="0">
              <a:solidFill>
                <a:prstClr val="black"/>
              </a:solidFill>
            </a:endParaRPr>
          </a:p>
        </p:txBody>
      </p:sp>
      <p:sp>
        <p:nvSpPr>
          <p:cNvPr id="4" name="Прямоугольник 3"/>
          <p:cNvSpPr/>
          <p:nvPr/>
        </p:nvSpPr>
        <p:spPr>
          <a:xfrm>
            <a:off x="2063552" y="4842842"/>
            <a:ext cx="8064896" cy="1477328"/>
          </a:xfrm>
          <a:prstGeom prst="rect">
            <a:avLst/>
          </a:prstGeom>
        </p:spPr>
        <p:txBody>
          <a:bodyPr wrap="square">
            <a:spAutoFit/>
          </a:bodyPr>
          <a:lstStyle/>
          <a:p>
            <a:r>
              <a:rPr lang="ru-RU" dirty="0">
                <a:solidFill>
                  <a:prstClr val="black"/>
                </a:solidFill>
              </a:rPr>
              <a:t>     Необязательный раздел обработки исключительных ситуаций мы рассматривать не будем. Конечно, вы понимаете, что реальные программы без секций исключительных ситуаций это просто генераторы неприятностей для пользователя. Но для целей предварительного знакомства можно временно считать, что исключительных ситуаций не бывает.</a:t>
            </a:r>
          </a:p>
        </p:txBody>
      </p:sp>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2</a:t>
            </a:fld>
            <a:endParaRPr lang="ru-RU">
              <a:solidFill>
                <a:prstClr val="black">
                  <a:tint val="75000"/>
                </a:prstClr>
              </a:solidFill>
            </a:endParaRPr>
          </a:p>
        </p:txBody>
      </p:sp>
    </p:spTree>
    <p:extLst>
      <p:ext uri="{BB962C8B-B14F-4D97-AF65-F5344CB8AC3E}">
        <p14:creationId xmlns:p14="http://schemas.microsoft.com/office/powerpoint/2010/main" val="2037147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27017"/>
          </a:xfrm>
        </p:spPr>
        <p:txBody>
          <a:bodyPr>
            <a:normAutofit/>
          </a:bodyPr>
          <a:lstStyle/>
          <a:p>
            <a:r>
              <a:rPr lang="ru-RU" sz="3200" dirty="0">
                <a:solidFill>
                  <a:srgbClr val="FF0000"/>
                </a:solidFill>
              </a:rPr>
              <a:t>Предопределённые типы данных в </a:t>
            </a:r>
            <a:r>
              <a:rPr lang="en-US" sz="3200" dirty="0">
                <a:solidFill>
                  <a:srgbClr val="FF0000"/>
                </a:solidFill>
              </a:rPr>
              <a:t>PL/SQL</a:t>
            </a:r>
            <a:r>
              <a:rPr lang="ru-RU" sz="3200" dirty="0">
                <a:solidFill>
                  <a:srgbClr val="FF0000"/>
                </a:solidFill>
              </a:rPr>
              <a:t>    1/4</a:t>
            </a:r>
          </a:p>
        </p:txBody>
      </p:sp>
      <p:graphicFrame>
        <p:nvGraphicFramePr>
          <p:cNvPr id="6" name="Таблица 5"/>
          <p:cNvGraphicFramePr>
            <a:graphicFrameLocks noGrp="1"/>
          </p:cNvGraphicFramePr>
          <p:nvPr>
            <p:extLst>
              <p:ext uri="{D42A27DB-BD31-4B8C-83A1-F6EECF244321}">
                <p14:modId xmlns:p14="http://schemas.microsoft.com/office/powerpoint/2010/main" val="916087238"/>
              </p:ext>
            </p:extLst>
          </p:nvPr>
        </p:nvGraphicFramePr>
        <p:xfrm>
          <a:off x="1363074" y="627017"/>
          <a:ext cx="9914526" cy="2575560"/>
        </p:xfrm>
        <a:graphic>
          <a:graphicData uri="http://schemas.openxmlformats.org/drawingml/2006/table">
            <a:tbl>
              <a:tblPr/>
              <a:tblGrid>
                <a:gridCol w="1770464">
                  <a:extLst>
                    <a:ext uri="{9D8B030D-6E8A-4147-A177-3AD203B41FA5}">
                      <a16:colId xmlns:a16="http://schemas.microsoft.com/office/drawing/2014/main" val="20000"/>
                    </a:ext>
                  </a:extLst>
                </a:gridCol>
                <a:gridCol w="8144062">
                  <a:extLst>
                    <a:ext uri="{9D8B030D-6E8A-4147-A177-3AD203B41FA5}">
                      <a16:colId xmlns:a16="http://schemas.microsoft.com/office/drawing/2014/main" val="20001"/>
                    </a:ext>
                  </a:extLst>
                </a:gridCol>
              </a:tblGrid>
              <a:tr h="0">
                <a:tc>
                  <a:txBody>
                    <a:bodyPr/>
                    <a:lstStyle/>
                    <a:p>
                      <a:pPr algn="l" rtl="0" fontAlgn="t"/>
                      <a:r>
                        <a:rPr lang="en-US" b="1" dirty="0">
                          <a:solidFill>
                            <a:srgbClr val="222222"/>
                          </a:solidFill>
                          <a:effectLst/>
                          <a:latin typeface="+mn-lt"/>
                        </a:rPr>
                        <a:t>Category</a:t>
                      </a:r>
                    </a:p>
                  </a:txBody>
                  <a:tcPr marL="22860" marR="22860" marT="22860" marB="22860">
                    <a:lnL>
                      <a:noFill/>
                    </a:lnL>
                    <a:lnR>
                      <a:noFill/>
                    </a:lnR>
                    <a:lnT>
                      <a:noFill/>
                    </a:lnT>
                    <a:lnB>
                      <a:noFill/>
                    </a:lnB>
                    <a:solidFill>
                      <a:srgbClr val="3F3F3F"/>
                    </a:solidFill>
                  </a:tcPr>
                </a:tc>
                <a:tc>
                  <a:txBody>
                    <a:bodyPr/>
                    <a:lstStyle/>
                    <a:p>
                      <a:pPr algn="l" rtl="0" fontAlgn="t"/>
                      <a:r>
                        <a:rPr lang="en-US" b="1" dirty="0">
                          <a:solidFill>
                            <a:srgbClr val="222222"/>
                          </a:solidFill>
                          <a:effectLst/>
                          <a:latin typeface="+mn-lt"/>
                        </a:rPr>
                        <a:t>Data Description</a:t>
                      </a:r>
                    </a:p>
                  </a:txBody>
                  <a:tcPr marL="22860" marR="22860" marT="22860" marB="22860">
                    <a:lnL>
                      <a:noFill/>
                    </a:lnL>
                    <a:lnR>
                      <a:noFill/>
                    </a:lnR>
                    <a:lnT>
                      <a:noFill/>
                    </a:lnT>
                    <a:lnB>
                      <a:noFill/>
                    </a:lnB>
                    <a:solidFill>
                      <a:srgbClr val="3F3F3F"/>
                    </a:solidFill>
                  </a:tcPr>
                </a:tc>
                <a:extLst>
                  <a:ext uri="{0D108BD9-81ED-4DB2-BD59-A6C34878D82A}">
                    <a16:rowId xmlns:a16="http://schemas.microsoft.com/office/drawing/2014/main" val="10000"/>
                  </a:ext>
                </a:extLst>
              </a:tr>
              <a:tr h="0">
                <a:tc>
                  <a:txBody>
                    <a:bodyPr/>
                    <a:lstStyle/>
                    <a:p>
                      <a:pPr algn="l" rtl="0" fontAlgn="t"/>
                      <a:r>
                        <a:rPr lang="en-US" b="0" dirty="0">
                          <a:solidFill>
                            <a:srgbClr val="222222"/>
                          </a:solidFill>
                          <a:effectLst/>
                          <a:latin typeface="+mn-lt"/>
                        </a:rPr>
                        <a:t>Numeric</a:t>
                      </a:r>
                    </a:p>
                  </a:txBody>
                  <a:tcPr marL="45720" marR="45720" marT="60960" marB="60960">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b="0" dirty="0">
                          <a:solidFill>
                            <a:srgbClr val="222222"/>
                          </a:solidFill>
                          <a:effectLst/>
                          <a:latin typeface="+mn-lt"/>
                        </a:rPr>
                        <a:t>Числовые значения, на которых выполняются арифметические операции.</a:t>
                      </a:r>
                      <a:endParaRPr lang="en-US" b="0" dirty="0">
                        <a:solidFill>
                          <a:srgbClr val="222222"/>
                        </a:solidFill>
                        <a:effectLst/>
                        <a:latin typeface="+mn-lt"/>
                      </a:endParaRPr>
                    </a:p>
                  </a:txBody>
                  <a:tcPr marL="45720" marR="45720" marT="60960" marB="60960">
                    <a:lnL>
                      <a:noFill/>
                    </a:lnL>
                    <a:lnR>
                      <a:noFill/>
                    </a:lnR>
                    <a:lnT>
                      <a:noFill/>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rtl="0" fontAlgn="t"/>
                      <a:r>
                        <a:rPr lang="en-US" b="0" dirty="0">
                          <a:solidFill>
                            <a:srgbClr val="222222"/>
                          </a:solidFill>
                          <a:effectLst/>
                          <a:latin typeface="+mn-lt"/>
                        </a:rPr>
                        <a:t>Character</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b="0" dirty="0">
                          <a:solidFill>
                            <a:srgbClr val="222222"/>
                          </a:solidFill>
                          <a:effectLst/>
                          <a:latin typeface="+mn-lt"/>
                        </a:rPr>
                        <a:t>Буквенно-цифровые значения в виде одиночных символов или строк символов</a:t>
                      </a:r>
                      <a:r>
                        <a:rPr lang="en-US" b="0" dirty="0">
                          <a:solidFill>
                            <a:srgbClr val="222222"/>
                          </a:solidFill>
                          <a:effectLst/>
                          <a:latin typeface="+mn-lt"/>
                        </a:rPr>
                        <a:t>.</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0">
                <a:tc>
                  <a:txBody>
                    <a:bodyPr/>
                    <a:lstStyle/>
                    <a:p>
                      <a:pPr algn="l" rtl="0" fontAlgn="t"/>
                      <a:r>
                        <a:rPr lang="en-US" b="0" dirty="0">
                          <a:solidFill>
                            <a:srgbClr val="222222"/>
                          </a:solidFill>
                          <a:effectLst/>
                          <a:latin typeface="+mn-lt"/>
                        </a:rPr>
                        <a:t>BOOLEAN</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b="0" dirty="0">
                          <a:solidFill>
                            <a:srgbClr val="222222"/>
                          </a:solidFill>
                          <a:effectLst/>
                          <a:latin typeface="+mn-lt"/>
                        </a:rPr>
                        <a:t>Логические значения, на которых выполняются логические операции</a:t>
                      </a:r>
                      <a:r>
                        <a:rPr lang="en-US" b="0" dirty="0">
                          <a:solidFill>
                            <a:srgbClr val="222222"/>
                          </a:solidFill>
                          <a:effectLst/>
                          <a:latin typeface="+mn-lt"/>
                        </a:rPr>
                        <a:t>.</a:t>
                      </a:r>
                      <a:r>
                        <a:rPr lang="ru-RU" sz="1800" b="0" i="0" kern="1200" dirty="0">
                          <a:solidFill>
                            <a:schemeClr val="tx1"/>
                          </a:solidFill>
                          <a:effectLst/>
                          <a:latin typeface="+mn-lt"/>
                          <a:ea typeface="+mn-ea"/>
                          <a:cs typeface="+mn-cs"/>
                        </a:rPr>
                        <a:t> </a:t>
                      </a:r>
                      <a:r>
                        <a:rPr lang="ru-RU" sz="1800" b="0" i="0" kern="1200" dirty="0" err="1">
                          <a:solidFill>
                            <a:schemeClr val="tx1"/>
                          </a:solidFill>
                          <a:effectLst/>
                          <a:latin typeface="+mn-lt"/>
                          <a:ea typeface="+mn-ea"/>
                          <a:cs typeface="+mn-cs"/>
                        </a:rPr>
                        <a:t>True</a:t>
                      </a:r>
                      <a:r>
                        <a:rPr lang="ru-RU" sz="1800" b="0" i="0" kern="1200" dirty="0">
                          <a:solidFill>
                            <a:schemeClr val="tx1"/>
                          </a:solidFill>
                          <a:effectLst/>
                          <a:latin typeface="+mn-lt"/>
                          <a:ea typeface="+mn-ea"/>
                          <a:cs typeface="+mn-cs"/>
                        </a:rPr>
                        <a:t> (истинно), </a:t>
                      </a:r>
                      <a:r>
                        <a:rPr lang="ru-RU" sz="1800" b="0" i="0" kern="1200" dirty="0" err="1">
                          <a:solidFill>
                            <a:schemeClr val="tx1"/>
                          </a:solidFill>
                          <a:effectLst/>
                          <a:latin typeface="+mn-lt"/>
                          <a:ea typeface="+mn-ea"/>
                          <a:cs typeface="+mn-cs"/>
                        </a:rPr>
                        <a:t>False</a:t>
                      </a:r>
                      <a:r>
                        <a:rPr lang="ru-RU" sz="1800" b="0" i="0" kern="1200" dirty="0">
                          <a:solidFill>
                            <a:schemeClr val="tx1"/>
                          </a:solidFill>
                          <a:effectLst/>
                          <a:latin typeface="+mn-lt"/>
                          <a:ea typeface="+mn-ea"/>
                          <a:cs typeface="+mn-cs"/>
                        </a:rPr>
                        <a:t>(ложно) или NULL (не определено).</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algn="l" rtl="0" fontAlgn="t"/>
                      <a:r>
                        <a:rPr lang="en-US" b="0">
                          <a:solidFill>
                            <a:srgbClr val="222222"/>
                          </a:solidFill>
                          <a:effectLst/>
                          <a:latin typeface="+mn-lt"/>
                        </a:rPr>
                        <a:t>Datetime</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b="0" dirty="0">
                          <a:solidFill>
                            <a:srgbClr val="222222"/>
                          </a:solidFill>
                          <a:effectLst/>
                          <a:latin typeface="+mn-lt"/>
                        </a:rPr>
                        <a:t>Даты и времена, с которыми вы можете манипулировать.</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0">
                <a:tc>
                  <a:txBody>
                    <a:bodyPr/>
                    <a:lstStyle/>
                    <a:p>
                      <a:pPr algn="l" rtl="0" fontAlgn="t"/>
                      <a:r>
                        <a:rPr lang="en-US" b="0">
                          <a:solidFill>
                            <a:srgbClr val="222222"/>
                          </a:solidFill>
                          <a:effectLst/>
                          <a:latin typeface="+mn-lt"/>
                        </a:rPr>
                        <a:t>Interval</a:t>
                      </a:r>
                    </a:p>
                  </a:txBody>
                  <a:tcPr marL="45720" marR="45720" marT="60960" marB="60960">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b="0" dirty="0">
                          <a:solidFill>
                            <a:srgbClr val="222222"/>
                          </a:solidFill>
                          <a:effectLst/>
                          <a:latin typeface="+mn-lt"/>
                        </a:rPr>
                        <a:t>Временные интервалы, которыми вы можете управлять.</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8" name="Объект 7"/>
          <p:cNvGraphicFramePr>
            <a:graphicFrameLocks noGrp="1"/>
          </p:cNvGraphicFramePr>
          <p:nvPr>
            <p:ph idx="1"/>
            <p:extLst>
              <p:ext uri="{D42A27DB-BD31-4B8C-83A1-F6EECF244321}">
                <p14:modId xmlns:p14="http://schemas.microsoft.com/office/powerpoint/2010/main" val="2066230620"/>
              </p:ext>
            </p:extLst>
          </p:nvPr>
        </p:nvGraphicFramePr>
        <p:xfrm>
          <a:off x="1363074" y="3829594"/>
          <a:ext cx="9992904" cy="2836192"/>
        </p:xfrm>
        <a:graphic>
          <a:graphicData uri="http://schemas.openxmlformats.org/drawingml/2006/table">
            <a:tbl>
              <a:tblPr/>
              <a:tblGrid>
                <a:gridCol w="2320653">
                  <a:extLst>
                    <a:ext uri="{9D8B030D-6E8A-4147-A177-3AD203B41FA5}">
                      <a16:colId xmlns:a16="http://schemas.microsoft.com/office/drawing/2014/main" val="20000"/>
                    </a:ext>
                  </a:extLst>
                </a:gridCol>
                <a:gridCol w="7672251">
                  <a:extLst>
                    <a:ext uri="{9D8B030D-6E8A-4147-A177-3AD203B41FA5}">
                      <a16:colId xmlns:a16="http://schemas.microsoft.com/office/drawing/2014/main" val="20001"/>
                    </a:ext>
                  </a:extLst>
                </a:gridCol>
              </a:tblGrid>
              <a:tr h="261138">
                <a:tc>
                  <a:txBody>
                    <a:bodyPr/>
                    <a:lstStyle/>
                    <a:p>
                      <a:pPr algn="l" rtl="0" fontAlgn="t"/>
                      <a:r>
                        <a:rPr lang="en-US" sz="1800" b="1" dirty="0">
                          <a:solidFill>
                            <a:srgbClr val="222222"/>
                          </a:solidFill>
                          <a:effectLst/>
                        </a:rPr>
                        <a:t>Data Type</a:t>
                      </a:r>
                    </a:p>
                  </a:txBody>
                  <a:tcPr marL="22259" marR="22259" marT="22259" marB="22259">
                    <a:lnL>
                      <a:noFill/>
                    </a:lnL>
                    <a:lnR>
                      <a:noFill/>
                    </a:lnR>
                    <a:lnT>
                      <a:noFill/>
                    </a:lnT>
                    <a:lnB>
                      <a:noFill/>
                    </a:lnB>
                    <a:solidFill>
                      <a:srgbClr val="3F3F3F"/>
                    </a:solidFill>
                  </a:tcPr>
                </a:tc>
                <a:tc>
                  <a:txBody>
                    <a:bodyPr/>
                    <a:lstStyle/>
                    <a:p>
                      <a:pPr algn="l" rtl="0" fontAlgn="t"/>
                      <a:r>
                        <a:rPr lang="en-US" sz="1800" b="1" dirty="0">
                          <a:solidFill>
                            <a:srgbClr val="222222"/>
                          </a:solidFill>
                          <a:effectLst/>
                        </a:rPr>
                        <a:t>Data Description</a:t>
                      </a:r>
                    </a:p>
                  </a:txBody>
                  <a:tcPr marL="22259" marR="22259" marT="22259" marB="22259">
                    <a:lnL>
                      <a:noFill/>
                    </a:lnL>
                    <a:lnR>
                      <a:noFill/>
                    </a:lnR>
                    <a:lnT>
                      <a:noFill/>
                    </a:lnT>
                    <a:lnB>
                      <a:noFill/>
                    </a:lnB>
                    <a:solidFill>
                      <a:srgbClr val="3F3F3F"/>
                    </a:solidFill>
                  </a:tcPr>
                </a:tc>
                <a:extLst>
                  <a:ext uri="{0D108BD9-81ED-4DB2-BD59-A6C34878D82A}">
                    <a16:rowId xmlns:a16="http://schemas.microsoft.com/office/drawing/2014/main" val="10000"/>
                  </a:ext>
                </a:extLst>
              </a:tr>
              <a:tr h="577962">
                <a:tc>
                  <a:txBody>
                    <a:bodyPr/>
                    <a:lstStyle/>
                    <a:p>
                      <a:pPr algn="l" rtl="0" fontAlgn="t"/>
                      <a:r>
                        <a:rPr lang="en-US" sz="1800" b="0" dirty="0">
                          <a:solidFill>
                            <a:srgbClr val="222222"/>
                          </a:solidFill>
                          <a:effectLst/>
                          <a:latin typeface="+mn-lt"/>
                        </a:rPr>
                        <a:t>PLS_INTEGER or </a:t>
                      </a:r>
                      <a:endParaRPr lang="ru-RU" sz="1800" b="0" dirty="0">
                        <a:solidFill>
                          <a:srgbClr val="222222"/>
                        </a:solidFill>
                        <a:effectLst/>
                        <a:latin typeface="+mn-lt"/>
                      </a:endParaRPr>
                    </a:p>
                    <a:p>
                      <a:pPr algn="l" rtl="0" fontAlgn="t"/>
                      <a:r>
                        <a:rPr lang="en-US" sz="1800" b="0" dirty="0">
                          <a:solidFill>
                            <a:srgbClr val="222222"/>
                          </a:solidFill>
                          <a:effectLst/>
                          <a:latin typeface="+mn-lt"/>
                        </a:rPr>
                        <a:t>BINARY_INTEGER</a:t>
                      </a:r>
                    </a:p>
                  </a:txBody>
                  <a:tcPr marL="44518" marR="44518" marT="59357" marB="59357">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sz="1800" b="0" dirty="0">
                          <a:solidFill>
                            <a:srgbClr val="222222"/>
                          </a:solidFill>
                          <a:effectLst/>
                          <a:latin typeface="+mn-lt"/>
                        </a:rPr>
                        <a:t>Целое число со знаком в диапазоне от -2,147,483,648 до 2,147,483,647, представленное в 32 битах</a:t>
                      </a:r>
                      <a:endParaRPr lang="en-US" sz="1800" b="0" dirty="0">
                        <a:solidFill>
                          <a:srgbClr val="222222"/>
                        </a:solidFill>
                        <a:effectLst/>
                        <a:latin typeface="+mn-lt"/>
                      </a:endParaRPr>
                    </a:p>
                  </a:txBody>
                  <a:tcPr marL="44518" marR="44518" marT="59357" marB="59357">
                    <a:lnL>
                      <a:noFill/>
                    </a:lnL>
                    <a:lnR>
                      <a:noFill/>
                    </a:lnR>
                    <a:lnT>
                      <a:noFill/>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49200">
                <a:tc>
                  <a:txBody>
                    <a:bodyPr/>
                    <a:lstStyle/>
                    <a:p>
                      <a:pPr algn="l" rtl="0" fontAlgn="t"/>
                      <a:r>
                        <a:rPr lang="en-US" sz="1800" b="0">
                          <a:solidFill>
                            <a:srgbClr val="222222"/>
                          </a:solidFill>
                          <a:effectLst/>
                          <a:latin typeface="+mn-lt"/>
                        </a:rPr>
                        <a:t>BINARY_FLOAT</a:t>
                      </a:r>
                    </a:p>
                  </a:txBody>
                  <a:tcPr marL="44518" marR="44518" marT="59357" marB="59357">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Число одинарной точности с плавающей точкой в формате IEEE 754</a:t>
                      </a:r>
                      <a:endParaRPr lang="en-US" sz="1800" b="0" dirty="0">
                        <a:solidFill>
                          <a:srgbClr val="222222"/>
                        </a:solidFill>
                        <a:effectLst/>
                        <a:latin typeface="+mn-lt"/>
                      </a:endParaRPr>
                    </a:p>
                  </a:txBody>
                  <a:tcPr marL="44518" marR="44518" marT="59357" marB="59357">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459126">
                <a:tc>
                  <a:txBody>
                    <a:bodyPr/>
                    <a:lstStyle/>
                    <a:p>
                      <a:pPr algn="l" rtl="0" fontAlgn="t"/>
                      <a:r>
                        <a:rPr lang="en-US" sz="1800" b="0">
                          <a:solidFill>
                            <a:srgbClr val="222222"/>
                          </a:solidFill>
                          <a:effectLst/>
                          <a:latin typeface="+mn-lt"/>
                        </a:rPr>
                        <a:t>BINARY_DOUBLE</a:t>
                      </a:r>
                    </a:p>
                  </a:txBody>
                  <a:tcPr marL="44518" marR="44518" marT="59357" marB="59357">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222222"/>
                          </a:solidFill>
                          <a:effectLst/>
                          <a:uLnTx/>
                          <a:uFillTx/>
                          <a:latin typeface="+mn-lt"/>
                          <a:ea typeface="+mn-ea"/>
                          <a:cs typeface="+mn-cs"/>
                        </a:rPr>
                        <a:t>Число двойной точности с плавающей точкой в формате IEEE 754</a:t>
                      </a:r>
                      <a:endParaRPr kumimoji="0" lang="en-US" sz="1800" b="0" i="0" u="none" strike="noStrike" kern="1200" cap="none" spc="0" normalizeH="0" baseline="0" noProof="0" dirty="0">
                        <a:ln>
                          <a:noFill/>
                        </a:ln>
                        <a:solidFill>
                          <a:srgbClr val="222222"/>
                        </a:solidFill>
                        <a:effectLst/>
                        <a:uLnTx/>
                        <a:uFillTx/>
                        <a:latin typeface="+mn-lt"/>
                        <a:ea typeface="+mn-ea"/>
                        <a:cs typeface="+mn-cs"/>
                      </a:endParaRPr>
                    </a:p>
                  </a:txBody>
                  <a:tcPr marL="44518" marR="44518" marT="59357" marB="59357">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0111">
                <a:tc>
                  <a:txBody>
                    <a:bodyPr/>
                    <a:lstStyle/>
                    <a:p>
                      <a:pPr algn="l" rtl="0" fontAlgn="t"/>
                      <a:r>
                        <a:rPr lang="en-US" sz="1800" b="0">
                          <a:solidFill>
                            <a:srgbClr val="222222"/>
                          </a:solidFill>
                          <a:effectLst/>
                          <a:latin typeface="+mn-lt"/>
                        </a:rPr>
                        <a:t>NUMBER</a:t>
                      </a:r>
                    </a:p>
                  </a:txBody>
                  <a:tcPr marL="44518" marR="44518" marT="59357" marB="59357">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Число с фиксированной или плавающей запятой с абсолютным значением в диапазоне 1E-130 до  1.0E126 (но не включая). Переменная NUMBER также может представлять 0.</a:t>
                      </a:r>
                      <a:endParaRPr lang="en-US" sz="1800" b="0" dirty="0">
                        <a:solidFill>
                          <a:srgbClr val="222222"/>
                        </a:solidFill>
                        <a:effectLst/>
                        <a:latin typeface="+mn-lt"/>
                      </a:endParaRPr>
                    </a:p>
                  </a:txBody>
                  <a:tcPr marL="44518" marR="44518" marT="59357" marB="59357">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bl>
          </a:graphicData>
        </a:graphic>
      </p:graphicFrame>
      <p:sp>
        <p:nvSpPr>
          <p:cNvPr id="9" name="Прямоугольник 8"/>
          <p:cNvSpPr/>
          <p:nvPr/>
        </p:nvSpPr>
        <p:spPr>
          <a:xfrm>
            <a:off x="1441451" y="3407940"/>
            <a:ext cx="7110365" cy="421654"/>
          </a:xfrm>
          <a:prstGeom prst="rect">
            <a:avLst/>
          </a:prstGeom>
        </p:spPr>
        <p:txBody>
          <a:bodyPr wrap="square">
            <a:spAutoFit/>
          </a:bodyPr>
          <a:lstStyle/>
          <a:p>
            <a:pPr>
              <a:lnSpc>
                <a:spcPct val="107000"/>
              </a:lnSpc>
              <a:spcAft>
                <a:spcPts val="800"/>
              </a:spcAft>
            </a:pPr>
            <a:r>
              <a:rPr lang="ru-RU" sz="2000" dirty="0">
                <a:latin typeface="Calibri" panose="020F0502020204030204" pitchFamily="34" charset="0"/>
                <a:ea typeface="Calibri" panose="020F0502020204030204" pitchFamily="34" charset="0"/>
                <a:cs typeface="Times New Roman" panose="02020603050405020304" pitchFamily="18" charset="0"/>
              </a:rPr>
              <a:t>Предопределённые числовые типы</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3</a:t>
            </a:fld>
            <a:endParaRPr lang="ru-RU">
              <a:solidFill>
                <a:prstClr val="black">
                  <a:tint val="75000"/>
                </a:prstClr>
              </a:solidFill>
            </a:endParaRPr>
          </a:p>
        </p:txBody>
      </p:sp>
    </p:spTree>
    <p:extLst>
      <p:ext uri="{BB962C8B-B14F-4D97-AF65-F5344CB8AC3E}">
        <p14:creationId xmlns:p14="http://schemas.microsoft.com/office/powerpoint/2010/main" val="2510933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531223"/>
          </a:xfrm>
        </p:spPr>
        <p:txBody>
          <a:bodyPr>
            <a:noAutofit/>
          </a:bodyPr>
          <a:lstStyle/>
          <a:p>
            <a:r>
              <a:rPr lang="ru-RU" sz="3200" dirty="0">
                <a:solidFill>
                  <a:srgbClr val="FF0000"/>
                </a:solidFill>
              </a:rPr>
              <a:t>Типы данных в </a:t>
            </a:r>
            <a:r>
              <a:rPr lang="en-US" sz="3200" dirty="0">
                <a:solidFill>
                  <a:srgbClr val="FF0000"/>
                </a:solidFill>
              </a:rPr>
              <a:t>PL/SQL</a:t>
            </a:r>
            <a:r>
              <a:rPr lang="ru-RU" sz="3200" dirty="0">
                <a:solidFill>
                  <a:srgbClr val="FF0000"/>
                </a:solidFill>
              </a:rPr>
              <a:t>    2/4</a:t>
            </a:r>
            <a:endParaRPr lang="ru-RU" sz="3200" dirty="0"/>
          </a:p>
        </p:txBody>
      </p:sp>
      <p:sp>
        <p:nvSpPr>
          <p:cNvPr id="3" name="Объект 2"/>
          <p:cNvSpPr>
            <a:spLocks noGrp="1"/>
          </p:cNvSpPr>
          <p:nvPr>
            <p:ph idx="1"/>
          </p:nvPr>
        </p:nvSpPr>
        <p:spPr>
          <a:xfrm>
            <a:off x="609600" y="452847"/>
            <a:ext cx="10972800" cy="3997234"/>
          </a:xfrm>
        </p:spPr>
        <p:txBody>
          <a:bodyPr>
            <a:normAutofit/>
          </a:bodyPr>
          <a:lstStyle/>
          <a:p>
            <a:pPr marL="0" indent="0">
              <a:buNone/>
            </a:pPr>
            <a:r>
              <a:rPr lang="ru-RU" sz="2000" dirty="0"/>
              <a:t>Подтипы типа </a:t>
            </a:r>
            <a:r>
              <a:rPr lang="en-US" sz="2000" dirty="0"/>
              <a:t>NUMBER</a:t>
            </a:r>
          </a:p>
          <a:p>
            <a:pPr marL="0" indent="0">
              <a:buNone/>
            </a:pPr>
            <a:endParaRPr lang="ru-RU" sz="2000" dirty="0"/>
          </a:p>
        </p:txBody>
      </p:sp>
      <p:graphicFrame>
        <p:nvGraphicFramePr>
          <p:cNvPr id="5" name="Таблица 4"/>
          <p:cNvGraphicFramePr>
            <a:graphicFrameLocks noGrp="1"/>
          </p:cNvGraphicFramePr>
          <p:nvPr>
            <p:extLst>
              <p:ext uri="{D42A27DB-BD31-4B8C-83A1-F6EECF244321}">
                <p14:modId xmlns:p14="http://schemas.microsoft.com/office/powerpoint/2010/main" val="355192878"/>
              </p:ext>
            </p:extLst>
          </p:nvPr>
        </p:nvGraphicFramePr>
        <p:xfrm>
          <a:off x="862513" y="887778"/>
          <a:ext cx="10354127" cy="2727960"/>
        </p:xfrm>
        <a:graphic>
          <a:graphicData uri="http://schemas.openxmlformats.org/drawingml/2006/table">
            <a:tbl>
              <a:tblPr/>
              <a:tblGrid>
                <a:gridCol w="3483064">
                  <a:extLst>
                    <a:ext uri="{9D8B030D-6E8A-4147-A177-3AD203B41FA5}">
                      <a16:colId xmlns:a16="http://schemas.microsoft.com/office/drawing/2014/main" val="20000"/>
                    </a:ext>
                  </a:extLst>
                </a:gridCol>
                <a:gridCol w="6871063">
                  <a:extLst>
                    <a:ext uri="{9D8B030D-6E8A-4147-A177-3AD203B41FA5}">
                      <a16:colId xmlns:a16="http://schemas.microsoft.com/office/drawing/2014/main" val="20001"/>
                    </a:ext>
                  </a:extLst>
                </a:gridCol>
              </a:tblGrid>
              <a:tr h="0">
                <a:tc>
                  <a:txBody>
                    <a:bodyPr/>
                    <a:lstStyle/>
                    <a:p>
                      <a:pPr algn="l" rtl="0" fontAlgn="t"/>
                      <a:r>
                        <a:rPr lang="en-US" b="1" dirty="0">
                          <a:solidFill>
                            <a:srgbClr val="222222"/>
                          </a:solidFill>
                          <a:effectLst/>
                        </a:rPr>
                        <a:t>Data Type</a:t>
                      </a:r>
                    </a:p>
                  </a:txBody>
                  <a:tcPr marL="22860" marR="22860" marT="22860" marB="22860">
                    <a:lnL>
                      <a:noFill/>
                    </a:lnL>
                    <a:lnR>
                      <a:noFill/>
                    </a:lnR>
                    <a:lnT>
                      <a:noFill/>
                    </a:lnT>
                    <a:lnB>
                      <a:noFill/>
                    </a:lnB>
                    <a:solidFill>
                      <a:srgbClr val="3F3F3F"/>
                    </a:solidFill>
                  </a:tcPr>
                </a:tc>
                <a:tc>
                  <a:txBody>
                    <a:bodyPr/>
                    <a:lstStyle/>
                    <a:p>
                      <a:pPr algn="l" rtl="0" fontAlgn="t"/>
                      <a:r>
                        <a:rPr lang="en-US" b="1">
                          <a:solidFill>
                            <a:srgbClr val="222222"/>
                          </a:solidFill>
                          <a:effectLst/>
                        </a:rPr>
                        <a:t>Description</a:t>
                      </a:r>
                    </a:p>
                  </a:txBody>
                  <a:tcPr marL="22860" marR="22860" marT="22860" marB="22860">
                    <a:lnL>
                      <a:noFill/>
                    </a:lnL>
                    <a:lnR>
                      <a:noFill/>
                    </a:lnR>
                    <a:lnT>
                      <a:noFill/>
                    </a:lnT>
                    <a:lnB>
                      <a:noFill/>
                    </a:lnB>
                    <a:solidFill>
                      <a:srgbClr val="3F3F3F"/>
                    </a:solidFill>
                  </a:tcPr>
                </a:tc>
                <a:extLst>
                  <a:ext uri="{0D108BD9-81ED-4DB2-BD59-A6C34878D82A}">
                    <a16:rowId xmlns:a16="http://schemas.microsoft.com/office/drawing/2014/main" val="10000"/>
                  </a:ext>
                </a:extLst>
              </a:tr>
              <a:tr h="0">
                <a:tc>
                  <a:txBody>
                    <a:bodyPr/>
                    <a:lstStyle/>
                    <a:p>
                      <a:pPr algn="l" rtl="0" fontAlgn="t"/>
                      <a:r>
                        <a:rPr lang="en-US" b="0" dirty="0">
                          <a:solidFill>
                            <a:srgbClr val="222222"/>
                          </a:solidFill>
                          <a:effectLst/>
                          <a:latin typeface="+mn-lt"/>
                        </a:rPr>
                        <a:t>DEC, DECIMAL, or NUMERIC</a:t>
                      </a:r>
                    </a:p>
                  </a:txBody>
                  <a:tcPr marL="45720" marR="45720" marT="60960" marB="60960">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b="0" dirty="0">
                          <a:solidFill>
                            <a:srgbClr val="222222"/>
                          </a:solidFill>
                          <a:effectLst/>
                          <a:latin typeface="+mn-lt"/>
                        </a:rPr>
                        <a:t>NUMBER с фиксированной точкой с максимальной точностью 38 десятичных цифр</a:t>
                      </a:r>
                      <a:endParaRPr lang="en-US" b="0" dirty="0">
                        <a:solidFill>
                          <a:srgbClr val="222222"/>
                        </a:solidFill>
                        <a:effectLst/>
                        <a:latin typeface="+mn-lt"/>
                      </a:endParaRPr>
                    </a:p>
                  </a:txBody>
                  <a:tcPr marL="45720" marR="45720" marT="60960" marB="60960">
                    <a:lnL>
                      <a:noFill/>
                    </a:lnL>
                    <a:lnR>
                      <a:noFill/>
                    </a:lnR>
                    <a:lnT>
                      <a:noFill/>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rtl="0" fontAlgn="t"/>
                      <a:r>
                        <a:rPr lang="en-US" b="0" dirty="0">
                          <a:solidFill>
                            <a:srgbClr val="222222"/>
                          </a:solidFill>
                          <a:effectLst/>
                          <a:latin typeface="+mn-lt"/>
                        </a:rPr>
                        <a:t>DOUBLE PRECISION or FLOAT</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b="0" dirty="0">
                          <a:solidFill>
                            <a:srgbClr val="222222"/>
                          </a:solidFill>
                          <a:effectLst/>
                          <a:latin typeface="+mn-lt"/>
                        </a:rPr>
                        <a:t>Точка с плавающей запятой с максимальной точностью 126 двоичных цифр (приблизительно 38 десятичных цифр)</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0">
                <a:tc>
                  <a:txBody>
                    <a:bodyPr/>
                    <a:lstStyle/>
                    <a:p>
                      <a:pPr algn="l" rtl="0" fontAlgn="t"/>
                      <a:r>
                        <a:rPr lang="en-US" b="0" dirty="0">
                          <a:solidFill>
                            <a:srgbClr val="222222"/>
                          </a:solidFill>
                          <a:effectLst/>
                          <a:latin typeface="+mn-lt"/>
                        </a:rPr>
                        <a:t>INT, INTEGER, or SMALLINT</a:t>
                      </a: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b="0" dirty="0">
                          <a:solidFill>
                            <a:srgbClr val="222222"/>
                          </a:solidFill>
                          <a:effectLst/>
                          <a:latin typeface="+mn-lt"/>
                        </a:rPr>
                        <a:t>Целое число с максимальной точностью 38 десятичных цифр</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algn="l" rtl="0" fontAlgn="t"/>
                      <a:r>
                        <a:rPr lang="en-US" b="0">
                          <a:solidFill>
                            <a:srgbClr val="222222"/>
                          </a:solidFill>
                          <a:effectLst/>
                          <a:latin typeface="+mn-lt"/>
                        </a:rPr>
                        <a:t>REAL</a:t>
                      </a:r>
                    </a:p>
                  </a:txBody>
                  <a:tcPr marL="45720" marR="45720" marT="60960" marB="60960">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b="0" dirty="0">
                          <a:solidFill>
                            <a:srgbClr val="222222"/>
                          </a:solidFill>
                          <a:effectLst/>
                          <a:latin typeface="+mn-lt"/>
                        </a:rPr>
                        <a:t>Число с плавающей запятой с максимальной точностью 63 двоичных разряда (приблизительно 18 десятичных цифр)</a:t>
                      </a:r>
                      <a:endParaRPr lang="en-US" b="0" dirty="0">
                        <a:solidFill>
                          <a:srgbClr val="222222"/>
                        </a:solidFill>
                        <a:effectLst/>
                        <a:latin typeface="+mn-lt"/>
                      </a:endParaRPr>
                    </a:p>
                  </a:txBody>
                  <a:tcPr marL="45720" marR="45720" marT="60960" marB="60960">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bl>
          </a:graphicData>
        </a:graphic>
      </p:graphicFrame>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4</a:t>
            </a:fld>
            <a:endParaRPr lang="ru-RU">
              <a:solidFill>
                <a:prstClr val="black">
                  <a:tint val="75000"/>
                </a:prstClr>
              </a:solidFill>
            </a:endParaRPr>
          </a:p>
        </p:txBody>
      </p:sp>
    </p:spTree>
    <p:extLst>
      <p:ext uri="{BB962C8B-B14F-4D97-AF65-F5344CB8AC3E}">
        <p14:creationId xmlns:p14="http://schemas.microsoft.com/office/powerpoint/2010/main" val="799066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45111" y="50581"/>
            <a:ext cx="10972800" cy="506027"/>
          </a:xfrm>
        </p:spPr>
        <p:txBody>
          <a:bodyPr>
            <a:normAutofit fontScale="90000"/>
          </a:bodyPr>
          <a:lstStyle/>
          <a:p>
            <a:br>
              <a:rPr lang="en-US" sz="3200" dirty="0">
                <a:solidFill>
                  <a:srgbClr val="FF0000"/>
                </a:solidFill>
              </a:rPr>
            </a:br>
            <a:r>
              <a:rPr lang="ru-RU" sz="3200" dirty="0">
                <a:solidFill>
                  <a:srgbClr val="FF0000"/>
                </a:solidFill>
              </a:rPr>
              <a:t>Типы данных в </a:t>
            </a:r>
            <a:r>
              <a:rPr lang="en-US" sz="3200" dirty="0">
                <a:solidFill>
                  <a:srgbClr val="FF0000"/>
                </a:solidFill>
              </a:rPr>
              <a:t>PL/SQL</a:t>
            </a:r>
            <a:r>
              <a:rPr lang="ru-RU" sz="3200" dirty="0">
                <a:solidFill>
                  <a:srgbClr val="FF0000"/>
                </a:solidFill>
              </a:rPr>
              <a:t>    3/4</a:t>
            </a:r>
            <a:br>
              <a:rPr lang="en-US" sz="3200" dirty="0">
                <a:solidFill>
                  <a:srgbClr val="FF0000"/>
                </a:solidFill>
              </a:rPr>
            </a:br>
            <a:endParaRPr lang="ru-RU" dirty="0"/>
          </a:p>
        </p:txBody>
      </p:sp>
      <p:graphicFrame>
        <p:nvGraphicFramePr>
          <p:cNvPr id="8" name="Объект 7"/>
          <p:cNvGraphicFramePr>
            <a:graphicFrameLocks noGrp="1"/>
          </p:cNvGraphicFramePr>
          <p:nvPr>
            <p:ph idx="1"/>
            <p:extLst>
              <p:ext uri="{D42A27DB-BD31-4B8C-83A1-F6EECF244321}">
                <p14:modId xmlns:p14="http://schemas.microsoft.com/office/powerpoint/2010/main" val="2990942642"/>
              </p:ext>
            </p:extLst>
          </p:nvPr>
        </p:nvGraphicFramePr>
        <p:xfrm>
          <a:off x="1180730" y="1299301"/>
          <a:ext cx="10129422" cy="4629886"/>
        </p:xfrm>
        <a:graphic>
          <a:graphicData uri="http://schemas.openxmlformats.org/drawingml/2006/table">
            <a:tbl>
              <a:tblPr/>
              <a:tblGrid>
                <a:gridCol w="1660124">
                  <a:extLst>
                    <a:ext uri="{9D8B030D-6E8A-4147-A177-3AD203B41FA5}">
                      <a16:colId xmlns:a16="http://schemas.microsoft.com/office/drawing/2014/main" val="20000"/>
                    </a:ext>
                  </a:extLst>
                </a:gridCol>
                <a:gridCol w="8469298">
                  <a:extLst>
                    <a:ext uri="{9D8B030D-6E8A-4147-A177-3AD203B41FA5}">
                      <a16:colId xmlns:a16="http://schemas.microsoft.com/office/drawing/2014/main" val="20001"/>
                    </a:ext>
                  </a:extLst>
                </a:gridCol>
              </a:tblGrid>
              <a:tr h="130518">
                <a:tc>
                  <a:txBody>
                    <a:bodyPr/>
                    <a:lstStyle/>
                    <a:p>
                      <a:pPr algn="l" rtl="0" fontAlgn="t"/>
                      <a:r>
                        <a:rPr lang="en-US" sz="1800" b="1" dirty="0">
                          <a:solidFill>
                            <a:srgbClr val="222222"/>
                          </a:solidFill>
                          <a:effectLst/>
                          <a:latin typeface="+mn-lt"/>
                        </a:rPr>
                        <a:t>Data Type</a:t>
                      </a:r>
                    </a:p>
                  </a:txBody>
                  <a:tcPr marL="2451" marR="2451" marT="2451" marB="2451">
                    <a:lnL>
                      <a:noFill/>
                    </a:lnL>
                    <a:lnR>
                      <a:noFill/>
                    </a:lnR>
                    <a:lnT>
                      <a:noFill/>
                    </a:lnT>
                    <a:lnB>
                      <a:noFill/>
                    </a:lnB>
                    <a:solidFill>
                      <a:srgbClr val="3F3F3F"/>
                    </a:solidFill>
                  </a:tcPr>
                </a:tc>
                <a:tc>
                  <a:txBody>
                    <a:bodyPr/>
                    <a:lstStyle/>
                    <a:p>
                      <a:pPr algn="l" rtl="0" fontAlgn="t"/>
                      <a:r>
                        <a:rPr lang="en-US" sz="1800" b="1" dirty="0">
                          <a:solidFill>
                            <a:srgbClr val="222222"/>
                          </a:solidFill>
                          <a:effectLst/>
                          <a:latin typeface="+mn-lt"/>
                        </a:rPr>
                        <a:t>Data Description</a:t>
                      </a:r>
                    </a:p>
                  </a:txBody>
                  <a:tcPr marL="2451" marR="2451" marT="2451" marB="2451">
                    <a:lnL>
                      <a:noFill/>
                    </a:lnL>
                    <a:lnR>
                      <a:noFill/>
                    </a:lnR>
                    <a:lnT>
                      <a:noFill/>
                    </a:lnT>
                    <a:lnB>
                      <a:noFill/>
                    </a:lnB>
                    <a:solidFill>
                      <a:srgbClr val="3F3F3F"/>
                    </a:solidFill>
                  </a:tcPr>
                </a:tc>
                <a:extLst>
                  <a:ext uri="{0D108BD9-81ED-4DB2-BD59-A6C34878D82A}">
                    <a16:rowId xmlns:a16="http://schemas.microsoft.com/office/drawing/2014/main" val="10000"/>
                  </a:ext>
                </a:extLst>
              </a:tr>
              <a:tr h="385526">
                <a:tc>
                  <a:txBody>
                    <a:bodyPr/>
                    <a:lstStyle/>
                    <a:p>
                      <a:pPr algn="l" rtl="0" fontAlgn="t"/>
                      <a:r>
                        <a:rPr lang="en-US" sz="1800" b="0" dirty="0">
                          <a:solidFill>
                            <a:srgbClr val="222222"/>
                          </a:solidFill>
                          <a:effectLst/>
                          <a:latin typeface="+mn-lt"/>
                        </a:rPr>
                        <a:t>CHAR</a:t>
                      </a:r>
                    </a:p>
                  </a:txBody>
                  <a:tcPr marL="4902" marR="4902" marT="6536" marB="6536">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sz="1800" b="0" dirty="0">
                          <a:solidFill>
                            <a:srgbClr val="222222"/>
                          </a:solidFill>
                          <a:effectLst/>
                          <a:latin typeface="+mn-lt"/>
                        </a:rPr>
                        <a:t>Строка фиксированной длины с максимальным размером 32 767 байт</a:t>
                      </a:r>
                      <a:endParaRPr lang="en-US" sz="1800" b="0" dirty="0">
                        <a:solidFill>
                          <a:srgbClr val="222222"/>
                        </a:solidFill>
                        <a:effectLst/>
                        <a:latin typeface="+mn-lt"/>
                      </a:endParaRPr>
                    </a:p>
                  </a:txBody>
                  <a:tcPr marL="4902" marR="4902" marT="6536" marB="6536">
                    <a:lnL>
                      <a:noFill/>
                    </a:lnL>
                    <a:lnR>
                      <a:noFill/>
                    </a:lnR>
                    <a:lnT>
                      <a:noFill/>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5526">
                <a:tc>
                  <a:txBody>
                    <a:bodyPr/>
                    <a:lstStyle/>
                    <a:p>
                      <a:pPr algn="l" rtl="0" fontAlgn="t"/>
                      <a:r>
                        <a:rPr lang="en-US" sz="1800" b="0" dirty="0">
                          <a:solidFill>
                            <a:srgbClr val="222222"/>
                          </a:solidFill>
                          <a:effectLst/>
                          <a:latin typeface="+mn-lt"/>
                        </a:rPr>
                        <a:t>VARCHAR2</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Строка переменной длины с максимальным размером 32 767 байт</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497961">
                <a:tc>
                  <a:txBody>
                    <a:bodyPr/>
                    <a:lstStyle/>
                    <a:p>
                      <a:pPr algn="l" rtl="0" fontAlgn="t"/>
                      <a:r>
                        <a:rPr lang="en-US" sz="1800" b="0" dirty="0">
                          <a:solidFill>
                            <a:srgbClr val="222222"/>
                          </a:solidFill>
                          <a:effectLst/>
                          <a:latin typeface="+mn-lt"/>
                        </a:rPr>
                        <a:t>RAW</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sz="1800" b="0" dirty="0">
                          <a:solidFill>
                            <a:srgbClr val="222222"/>
                          </a:solidFill>
                          <a:effectLst/>
                          <a:latin typeface="+mn-lt"/>
                        </a:rPr>
                        <a:t>Бинарная или байтовая строка переменной длины с максимальным размером 32 767 байт, не интерпретируемая PL / SQL</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526">
                <a:tc>
                  <a:txBody>
                    <a:bodyPr/>
                    <a:lstStyle/>
                    <a:p>
                      <a:pPr algn="l" rtl="0" fontAlgn="t"/>
                      <a:r>
                        <a:rPr lang="en-US" sz="1800" b="0">
                          <a:solidFill>
                            <a:srgbClr val="222222"/>
                          </a:solidFill>
                          <a:effectLst/>
                          <a:latin typeface="+mn-lt"/>
                        </a:rPr>
                        <a:t>NCHAR</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Символьная строка фиксированной длины в национальной кодировке с максимальным размером 32 767 байт</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385526">
                <a:tc>
                  <a:txBody>
                    <a:bodyPr/>
                    <a:lstStyle/>
                    <a:p>
                      <a:pPr algn="l" rtl="0" fontAlgn="t"/>
                      <a:r>
                        <a:rPr lang="en-US" sz="1800" b="0">
                          <a:solidFill>
                            <a:srgbClr val="222222"/>
                          </a:solidFill>
                          <a:effectLst/>
                          <a:latin typeface="+mn-lt"/>
                        </a:rPr>
                        <a:t>NVARCHAR2</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kumimoji="0" lang="ru-RU" sz="1800" b="0" i="0" u="none" strike="noStrike" kern="1200" cap="none" spc="0" normalizeH="0" baseline="0" noProof="0" dirty="0">
                          <a:ln>
                            <a:noFill/>
                          </a:ln>
                          <a:solidFill>
                            <a:srgbClr val="222222"/>
                          </a:solidFill>
                          <a:effectLst/>
                          <a:uLnTx/>
                          <a:uFillTx/>
                          <a:latin typeface="+mn-lt"/>
                          <a:ea typeface="+mn-ea"/>
                          <a:cs typeface="+mn-cs"/>
                        </a:rPr>
                        <a:t>Символьная строка переменной длины в национальной кодировке с максимальным размером 32 767 байт</a:t>
                      </a:r>
                      <a:endParaRPr kumimoji="0" lang="en-US" sz="1800" b="0" i="0" u="none" strike="noStrike" kern="1200" cap="none" spc="0" normalizeH="0" baseline="0" noProof="0" dirty="0">
                        <a:ln>
                          <a:noFill/>
                        </a:ln>
                        <a:solidFill>
                          <a:srgbClr val="222222"/>
                        </a:solidFill>
                        <a:effectLst/>
                        <a:uLnTx/>
                        <a:uFillTx/>
                        <a:latin typeface="+mn-lt"/>
                        <a:ea typeface="+mn-ea"/>
                        <a:cs typeface="+mn-cs"/>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5526">
                <a:tc>
                  <a:txBody>
                    <a:bodyPr/>
                    <a:lstStyle/>
                    <a:p>
                      <a:pPr algn="l" rtl="0" fontAlgn="t"/>
                      <a:r>
                        <a:rPr lang="en-US" sz="1800" b="0" dirty="0">
                          <a:solidFill>
                            <a:srgbClr val="222222"/>
                          </a:solidFill>
                          <a:effectLst/>
                          <a:latin typeface="+mn-lt"/>
                        </a:rPr>
                        <a:t>LONG</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Строка символов переменной длины с максимальным размером 32 760 байт</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r h="497961">
                <a:tc>
                  <a:txBody>
                    <a:bodyPr/>
                    <a:lstStyle/>
                    <a:p>
                      <a:pPr algn="l" rtl="0" fontAlgn="t"/>
                      <a:r>
                        <a:rPr lang="en-US" sz="1800" b="0" dirty="0">
                          <a:solidFill>
                            <a:srgbClr val="222222"/>
                          </a:solidFill>
                          <a:effectLst/>
                          <a:latin typeface="+mn-lt"/>
                        </a:rPr>
                        <a:t>LONG RAW</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sz="1800" b="0" dirty="0">
                          <a:solidFill>
                            <a:srgbClr val="222222"/>
                          </a:solidFill>
                          <a:effectLst/>
                          <a:latin typeface="+mn-lt"/>
                        </a:rPr>
                        <a:t>Бинарная или байтовая строка переменной длины с максимальным размером 32 760 байт, не интерпретируемая PL / SQL</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5526">
                <a:tc>
                  <a:txBody>
                    <a:bodyPr/>
                    <a:lstStyle/>
                    <a:p>
                      <a:pPr algn="l" rtl="0" fontAlgn="t"/>
                      <a:r>
                        <a:rPr lang="en-US" sz="1800" b="0" dirty="0">
                          <a:solidFill>
                            <a:srgbClr val="222222"/>
                          </a:solidFill>
                          <a:effectLst/>
                          <a:latin typeface="+mn-lt"/>
                        </a:rPr>
                        <a:t>ROWID</a:t>
                      </a: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fontAlgn="t"/>
                      <a:r>
                        <a:rPr lang="ru-RU" sz="1800" b="0" dirty="0">
                          <a:solidFill>
                            <a:srgbClr val="222222"/>
                          </a:solidFill>
                          <a:effectLst/>
                          <a:latin typeface="+mn-lt"/>
                        </a:rPr>
                        <a:t>Идентификатор строки физической модели, адрес строки в обычной таблице</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8"/>
                  </a:ext>
                </a:extLst>
              </a:tr>
              <a:tr h="385526">
                <a:tc>
                  <a:txBody>
                    <a:bodyPr/>
                    <a:lstStyle/>
                    <a:p>
                      <a:pPr algn="l" rtl="0" fontAlgn="t"/>
                      <a:r>
                        <a:rPr lang="en-US" sz="1800" b="0">
                          <a:solidFill>
                            <a:srgbClr val="222222"/>
                          </a:solidFill>
                          <a:effectLst/>
                          <a:latin typeface="+mn-lt"/>
                        </a:rPr>
                        <a:t>UROWID</a:t>
                      </a:r>
                    </a:p>
                  </a:txBody>
                  <a:tcPr marL="4902" marR="4902" marT="6536" marB="6536">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FFFFF"/>
                    </a:solidFill>
                  </a:tcPr>
                </a:tc>
                <a:tc>
                  <a:txBody>
                    <a:bodyPr/>
                    <a:lstStyle/>
                    <a:p>
                      <a:pPr algn="l" rtl="0" fontAlgn="t"/>
                      <a:r>
                        <a:rPr lang="ru-RU" sz="1800" b="0" dirty="0">
                          <a:solidFill>
                            <a:srgbClr val="222222"/>
                          </a:solidFill>
                          <a:effectLst/>
                          <a:latin typeface="+mn-lt"/>
                        </a:rPr>
                        <a:t>Универсальный идентификатор  строки (идентификатор физической, логической или внешней строки)</a:t>
                      </a:r>
                      <a:endParaRPr lang="en-US" sz="1800" b="0" dirty="0">
                        <a:solidFill>
                          <a:srgbClr val="222222"/>
                        </a:solidFill>
                        <a:effectLst/>
                        <a:latin typeface="+mn-lt"/>
                      </a:endParaRPr>
                    </a:p>
                  </a:txBody>
                  <a:tcPr marL="4902" marR="4902" marT="6536" marB="6536">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9" name="Rectangle 1"/>
          <p:cNvSpPr>
            <a:spLocks noChangeArrowheads="1"/>
          </p:cNvSpPr>
          <p:nvPr/>
        </p:nvSpPr>
        <p:spPr bwMode="auto">
          <a:xfrm flipV="1">
            <a:off x="5288580" y="6396335"/>
            <a:ext cx="89678504"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ru-RU" altLang="ru-RU" sz="2000" b="0" i="0" u="none" strike="noStrike" cap="none" normalizeH="0" baseline="0">
                <a:ln>
                  <a:noFill/>
                </a:ln>
                <a:solidFill>
                  <a:srgbClr val="222222"/>
                </a:solidFill>
                <a:effectLst/>
                <a:latin typeface="Helvetica Neue"/>
              </a:rPr>
            </a:br>
            <a:endParaRPr kumimoji="0" lang="ru-RU" altLang="ru-RU" sz="2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30000">
                <a:ln>
                  <a:noFill/>
                </a:ln>
                <a:solidFill>
                  <a:srgbClr val="666666"/>
                </a:solidFill>
                <a:effectLst/>
                <a:latin typeface="Helvetica Neue"/>
              </a:rPr>
              <a:t>Footnote 1 </a:t>
            </a:r>
            <a:r>
              <a:rPr kumimoji="0" lang="ru-RU" altLang="ru-RU" sz="2000" b="0" i="0" u="none" strike="noStrike" cap="none" normalizeH="0" baseline="0">
                <a:ln>
                  <a:noFill/>
                </a:ln>
                <a:solidFill>
                  <a:srgbClr val="222222"/>
                </a:solidFill>
                <a:effectLst/>
                <a:latin typeface="Helvetica Neue"/>
              </a:rPr>
              <a:t>Supported only for backward compatibility with existing applications</a:t>
            </a:r>
            <a:endParaRPr kumimoji="0" lang="ru-RU" altLang="ru-RU" sz="2000" b="0" i="0" u="none" strike="noStrike" cap="none" normalizeH="0" baseline="0">
              <a:ln>
                <a:noFill/>
              </a:ln>
              <a:solidFill>
                <a:schemeClr val="tx1"/>
              </a:solidFill>
              <a:effectLst/>
            </a:endParaRPr>
          </a:p>
        </p:txBody>
      </p:sp>
      <p:sp>
        <p:nvSpPr>
          <p:cNvPr id="10" name="Прямоугольник 9"/>
          <p:cNvSpPr/>
          <p:nvPr/>
        </p:nvSpPr>
        <p:spPr>
          <a:xfrm>
            <a:off x="1103189" y="681493"/>
            <a:ext cx="4389279" cy="407035"/>
          </a:xfrm>
          <a:prstGeom prst="rect">
            <a:avLst/>
          </a:prstGeom>
        </p:spPr>
        <p:txBody>
          <a:bodyPr wrap="none">
            <a:spAutoFit/>
          </a:bodyPr>
          <a:lstStyle/>
          <a:p>
            <a:pPr>
              <a:lnSpc>
                <a:spcPct val="107000"/>
              </a:lnSpc>
              <a:spcAft>
                <a:spcPts val="800"/>
              </a:spcAft>
            </a:pPr>
            <a:r>
              <a:rPr lang="ru-RU" sz="2000" dirty="0">
                <a:latin typeface="Calibri" panose="020F0502020204030204" pitchFamily="34" charset="0"/>
                <a:ea typeface="Calibri" panose="020F0502020204030204" pitchFamily="34" charset="0"/>
                <a:cs typeface="Times New Roman" panose="02020603050405020304" pitchFamily="18" charset="0"/>
              </a:rPr>
              <a:t>Предопределённые символьные типы</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5</a:t>
            </a:fld>
            <a:endParaRPr lang="ru-RU">
              <a:solidFill>
                <a:prstClr val="black">
                  <a:tint val="75000"/>
                </a:prstClr>
              </a:solidFill>
            </a:endParaRPr>
          </a:p>
        </p:txBody>
      </p:sp>
    </p:spTree>
    <p:extLst>
      <p:ext uri="{BB962C8B-B14F-4D97-AF65-F5344CB8AC3E}">
        <p14:creationId xmlns:p14="http://schemas.microsoft.com/office/powerpoint/2010/main" val="2936088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09600"/>
          </a:xfrm>
        </p:spPr>
        <p:txBody>
          <a:bodyPr>
            <a:normAutofit fontScale="90000"/>
          </a:bodyPr>
          <a:lstStyle/>
          <a:p>
            <a:br>
              <a:rPr lang="ru-RU" sz="2900" dirty="0">
                <a:solidFill>
                  <a:srgbClr val="FF0000"/>
                </a:solidFill>
              </a:rPr>
            </a:br>
            <a:r>
              <a:rPr lang="ru-RU" sz="3600" dirty="0">
                <a:solidFill>
                  <a:srgbClr val="FF0000"/>
                </a:solidFill>
              </a:rPr>
              <a:t>Типы данных в </a:t>
            </a:r>
            <a:r>
              <a:rPr lang="en-US" sz="3600" dirty="0">
                <a:solidFill>
                  <a:srgbClr val="FF0000"/>
                </a:solidFill>
              </a:rPr>
              <a:t>PL/SQL</a:t>
            </a:r>
            <a:r>
              <a:rPr lang="ru-RU" sz="3600" dirty="0">
                <a:solidFill>
                  <a:srgbClr val="FF0000"/>
                </a:solidFill>
              </a:rPr>
              <a:t>    4/4</a:t>
            </a:r>
            <a:br>
              <a:rPr lang="en-US" sz="2900" dirty="0">
                <a:solidFill>
                  <a:srgbClr val="FF0000"/>
                </a:solidFill>
              </a:rPr>
            </a:br>
            <a:endParaRPr lang="ru-RU" dirty="0"/>
          </a:p>
        </p:txBody>
      </p:sp>
      <p:sp>
        <p:nvSpPr>
          <p:cNvPr id="3" name="Объект 2"/>
          <p:cNvSpPr>
            <a:spLocks noGrp="1"/>
          </p:cNvSpPr>
          <p:nvPr>
            <p:ph idx="1"/>
          </p:nvPr>
        </p:nvSpPr>
        <p:spPr>
          <a:xfrm>
            <a:off x="609600" y="958457"/>
            <a:ext cx="10972800" cy="417497"/>
          </a:xfrm>
        </p:spPr>
        <p:txBody>
          <a:bodyPr>
            <a:normAutofit/>
          </a:bodyPr>
          <a:lstStyle/>
          <a:p>
            <a:pPr marL="0" indent="0">
              <a:buNone/>
            </a:pPr>
            <a:r>
              <a:rPr lang="ru-RU" sz="2000" dirty="0">
                <a:solidFill>
                  <a:srgbClr val="252525"/>
                </a:solidFill>
                <a:latin typeface="Arial" panose="020B0604020202020204" pitchFamily="34" charset="0"/>
              </a:rPr>
              <a:t>Предопределённые типы</a:t>
            </a:r>
            <a:r>
              <a:rPr lang="en-US" sz="2000" dirty="0">
                <a:solidFill>
                  <a:srgbClr val="252525"/>
                </a:solidFill>
                <a:latin typeface="Arial" panose="020B0604020202020204" pitchFamily="34" charset="0"/>
              </a:rPr>
              <a:t> </a:t>
            </a:r>
            <a:r>
              <a:rPr lang="en-US" sz="2000" dirty="0" err="1">
                <a:solidFill>
                  <a:srgbClr val="252525"/>
                </a:solidFill>
                <a:latin typeface="Arial" panose="020B0604020202020204" pitchFamily="34" charset="0"/>
              </a:rPr>
              <a:t>Datetime</a:t>
            </a:r>
            <a:r>
              <a:rPr lang="en-US" sz="2000" dirty="0">
                <a:solidFill>
                  <a:srgbClr val="252525"/>
                </a:solidFill>
                <a:latin typeface="Arial" panose="020B0604020202020204" pitchFamily="34" charset="0"/>
              </a:rPr>
              <a:t> </a:t>
            </a:r>
            <a:r>
              <a:rPr lang="ru-RU" sz="2000" dirty="0">
                <a:solidFill>
                  <a:srgbClr val="252525"/>
                </a:solidFill>
                <a:latin typeface="Arial" panose="020B0604020202020204" pitchFamily="34" charset="0"/>
              </a:rPr>
              <a:t>и интервальные типы</a:t>
            </a:r>
            <a:endParaRPr lang="en-US" sz="2000" dirty="0">
              <a:solidFill>
                <a:srgbClr val="252525"/>
              </a:solidFill>
              <a:latin typeface="Arial" panose="020B0604020202020204" pitchFamily="34" charset="0"/>
            </a:endParaRPr>
          </a:p>
          <a:p>
            <a:pPr marL="0" indent="0">
              <a:buNone/>
            </a:pPr>
            <a:endParaRPr lang="ru-RU" sz="2000" dirty="0"/>
          </a:p>
        </p:txBody>
      </p:sp>
      <p:graphicFrame>
        <p:nvGraphicFramePr>
          <p:cNvPr id="4" name="Таблица 3"/>
          <p:cNvGraphicFramePr>
            <a:graphicFrameLocks noGrp="1"/>
          </p:cNvGraphicFramePr>
          <p:nvPr>
            <p:extLst>
              <p:ext uri="{D42A27DB-BD31-4B8C-83A1-F6EECF244321}">
                <p14:modId xmlns:p14="http://schemas.microsoft.com/office/powerpoint/2010/main" val="2351978241"/>
              </p:ext>
            </p:extLst>
          </p:nvPr>
        </p:nvGraphicFramePr>
        <p:xfrm>
          <a:off x="609600" y="1446137"/>
          <a:ext cx="10772503" cy="5299822"/>
        </p:xfrm>
        <a:graphic>
          <a:graphicData uri="http://schemas.openxmlformats.org/drawingml/2006/table">
            <a:tbl>
              <a:tblPr/>
              <a:tblGrid>
                <a:gridCol w="2020389">
                  <a:extLst>
                    <a:ext uri="{9D8B030D-6E8A-4147-A177-3AD203B41FA5}">
                      <a16:colId xmlns:a16="http://schemas.microsoft.com/office/drawing/2014/main" val="20000"/>
                    </a:ext>
                  </a:extLst>
                </a:gridCol>
                <a:gridCol w="5007428">
                  <a:extLst>
                    <a:ext uri="{9D8B030D-6E8A-4147-A177-3AD203B41FA5}">
                      <a16:colId xmlns:a16="http://schemas.microsoft.com/office/drawing/2014/main" val="20001"/>
                    </a:ext>
                  </a:extLst>
                </a:gridCol>
                <a:gridCol w="3744686">
                  <a:extLst>
                    <a:ext uri="{9D8B030D-6E8A-4147-A177-3AD203B41FA5}">
                      <a16:colId xmlns:a16="http://schemas.microsoft.com/office/drawing/2014/main" val="20002"/>
                    </a:ext>
                  </a:extLst>
                </a:gridCol>
              </a:tblGrid>
              <a:tr h="157100">
                <a:tc>
                  <a:txBody>
                    <a:bodyPr/>
                    <a:lstStyle/>
                    <a:p>
                      <a:pPr algn="l" rtl="0" fontAlgn="b"/>
                      <a:r>
                        <a:rPr lang="en-US" sz="2000" b="1" dirty="0">
                          <a:solidFill>
                            <a:srgbClr val="222222"/>
                          </a:solidFill>
                          <a:effectLst/>
                          <a:latin typeface="+mn-lt"/>
                        </a:rPr>
                        <a:t>Field Name</a:t>
                      </a:r>
                    </a:p>
                  </a:txBody>
                  <a:tcPr marL="11221" marR="11221" marT="11221" marB="11221" anchor="b">
                    <a:lnL>
                      <a:noFill/>
                    </a:lnL>
                    <a:lnR>
                      <a:noFill/>
                    </a:lnR>
                    <a:lnT>
                      <a:noFill/>
                    </a:lnT>
                    <a:lnB>
                      <a:noFill/>
                    </a:lnB>
                    <a:solidFill>
                      <a:srgbClr val="3F3F3F"/>
                    </a:solidFill>
                  </a:tcPr>
                </a:tc>
                <a:tc>
                  <a:txBody>
                    <a:bodyPr/>
                    <a:lstStyle/>
                    <a:p>
                      <a:pPr algn="l" rtl="0" fontAlgn="b"/>
                      <a:r>
                        <a:rPr lang="en-US" sz="2000" b="1" dirty="0">
                          <a:solidFill>
                            <a:srgbClr val="222222"/>
                          </a:solidFill>
                          <a:effectLst/>
                          <a:latin typeface="+mn-lt"/>
                        </a:rPr>
                        <a:t>Valid </a:t>
                      </a:r>
                      <a:r>
                        <a:rPr lang="en-US" sz="2000" b="1" dirty="0" err="1">
                          <a:solidFill>
                            <a:srgbClr val="222222"/>
                          </a:solidFill>
                          <a:effectLst/>
                          <a:latin typeface="+mn-lt"/>
                        </a:rPr>
                        <a:t>Datetime</a:t>
                      </a:r>
                      <a:r>
                        <a:rPr lang="en-US" sz="2000" b="1" dirty="0">
                          <a:solidFill>
                            <a:srgbClr val="222222"/>
                          </a:solidFill>
                          <a:effectLst/>
                          <a:latin typeface="+mn-lt"/>
                        </a:rPr>
                        <a:t> Values</a:t>
                      </a:r>
                    </a:p>
                  </a:txBody>
                  <a:tcPr marL="11221" marR="11221" marT="11221" marB="11221" anchor="b">
                    <a:lnL>
                      <a:noFill/>
                    </a:lnL>
                    <a:lnR>
                      <a:noFill/>
                    </a:lnR>
                    <a:lnT>
                      <a:noFill/>
                    </a:lnT>
                    <a:lnB>
                      <a:noFill/>
                    </a:lnB>
                    <a:solidFill>
                      <a:srgbClr val="3F3F3F"/>
                    </a:solidFill>
                  </a:tcPr>
                </a:tc>
                <a:tc>
                  <a:txBody>
                    <a:bodyPr/>
                    <a:lstStyle/>
                    <a:p>
                      <a:pPr algn="l" rtl="0" fontAlgn="b"/>
                      <a:r>
                        <a:rPr lang="en-US" sz="2000" b="1" dirty="0">
                          <a:solidFill>
                            <a:srgbClr val="222222"/>
                          </a:solidFill>
                          <a:effectLst/>
                          <a:latin typeface="+mn-lt"/>
                        </a:rPr>
                        <a:t>Valid Interval Values</a:t>
                      </a:r>
                    </a:p>
                  </a:txBody>
                  <a:tcPr marL="11221" marR="11221" marT="11221" marB="11221" anchor="b">
                    <a:lnL>
                      <a:noFill/>
                    </a:lnL>
                    <a:lnR>
                      <a:noFill/>
                    </a:lnR>
                    <a:lnT>
                      <a:noFill/>
                    </a:lnT>
                    <a:lnB>
                      <a:noFill/>
                    </a:lnB>
                    <a:solidFill>
                      <a:srgbClr val="3F3F3F"/>
                    </a:solidFill>
                  </a:tcPr>
                </a:tc>
                <a:extLst>
                  <a:ext uri="{0D108BD9-81ED-4DB2-BD59-A6C34878D82A}">
                    <a16:rowId xmlns:a16="http://schemas.microsoft.com/office/drawing/2014/main" val="10000"/>
                  </a:ext>
                </a:extLst>
              </a:tr>
              <a:tr h="329161">
                <a:tc>
                  <a:txBody>
                    <a:bodyPr/>
                    <a:lstStyle/>
                    <a:p>
                      <a:pPr algn="l" rtl="0"/>
                      <a:r>
                        <a:rPr lang="en-US" sz="1800" dirty="0">
                          <a:solidFill>
                            <a:srgbClr val="222222"/>
                          </a:solidFill>
                          <a:effectLst/>
                          <a:latin typeface="+mn-lt"/>
                        </a:rPr>
                        <a:t>YEAR</a:t>
                      </a:r>
                    </a:p>
                  </a:txBody>
                  <a:tcPr marL="22443" marR="22443" marT="29924" marB="29924">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-4712 to 9999 (excluding year 0)</a:t>
                      </a:r>
                    </a:p>
                  </a:txBody>
                  <a:tcPr marL="22443" marR="22443" marT="29924" marB="29924">
                    <a:lnL>
                      <a:noFill/>
                    </a:lnL>
                    <a:lnR>
                      <a:noFill/>
                    </a:lnR>
                    <a:lnT>
                      <a:noFill/>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Any nonzero integer</a:t>
                      </a:r>
                    </a:p>
                  </a:txBody>
                  <a:tcPr marL="22443" marR="22443" marT="29924" marB="29924">
                    <a:lnL>
                      <a:noFill/>
                    </a:lnL>
                    <a:lnR>
                      <a:noFill/>
                    </a:lnR>
                    <a:lnT>
                      <a:noFill/>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4504">
                <a:tc>
                  <a:txBody>
                    <a:bodyPr/>
                    <a:lstStyle/>
                    <a:p>
                      <a:pPr algn="l" rtl="0"/>
                      <a:r>
                        <a:rPr lang="en-US" sz="1800" dirty="0">
                          <a:solidFill>
                            <a:srgbClr val="222222"/>
                          </a:solidFill>
                          <a:effectLst/>
                          <a:latin typeface="+mn-lt"/>
                        </a:rPr>
                        <a:t>MONTH</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a:solidFill>
                            <a:srgbClr val="222222"/>
                          </a:solidFill>
                          <a:effectLst/>
                          <a:latin typeface="+mn-lt"/>
                        </a:rPr>
                        <a:t>01 to 12</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a:solidFill>
                            <a:srgbClr val="222222"/>
                          </a:solidFill>
                          <a:effectLst/>
                          <a:latin typeface="+mn-lt"/>
                        </a:rPr>
                        <a:t>0 to 11</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2"/>
                  </a:ext>
                </a:extLst>
              </a:tr>
              <a:tr h="867788">
                <a:tc>
                  <a:txBody>
                    <a:bodyPr/>
                    <a:lstStyle/>
                    <a:p>
                      <a:pPr algn="l" rtl="0"/>
                      <a:r>
                        <a:rPr lang="en-US" sz="1800" dirty="0">
                          <a:solidFill>
                            <a:srgbClr val="222222"/>
                          </a:solidFill>
                          <a:effectLst/>
                          <a:latin typeface="+mn-lt"/>
                        </a:rPr>
                        <a:t>DAY</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01 to 31 (limited by the values of MONTH and YEAR, according to the rules of the calendar for the locale)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Any nonzero integer</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4504">
                <a:tc>
                  <a:txBody>
                    <a:bodyPr/>
                    <a:lstStyle/>
                    <a:p>
                      <a:pPr algn="l" rtl="0"/>
                      <a:r>
                        <a:rPr lang="en-US" sz="1800" dirty="0">
                          <a:solidFill>
                            <a:srgbClr val="222222"/>
                          </a:solidFill>
                          <a:effectLst/>
                          <a:latin typeface="+mn-lt"/>
                        </a:rPr>
                        <a:t>HOUR</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a:solidFill>
                            <a:srgbClr val="222222"/>
                          </a:solidFill>
                          <a:effectLst/>
                          <a:latin typeface="+mn-lt"/>
                        </a:rPr>
                        <a:t>00 to 23</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a:solidFill>
                            <a:srgbClr val="222222"/>
                          </a:solidFill>
                          <a:effectLst/>
                          <a:latin typeface="+mn-lt"/>
                        </a:rPr>
                        <a:t>0 to 23</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4"/>
                  </a:ext>
                </a:extLst>
              </a:tr>
              <a:tr h="194504">
                <a:tc>
                  <a:txBody>
                    <a:bodyPr/>
                    <a:lstStyle/>
                    <a:p>
                      <a:pPr algn="l" rtl="0"/>
                      <a:r>
                        <a:rPr lang="en-US" sz="1800" dirty="0">
                          <a:solidFill>
                            <a:srgbClr val="222222"/>
                          </a:solidFill>
                          <a:effectLst/>
                          <a:latin typeface="+mn-lt"/>
                        </a:rPr>
                        <a:t>MINUTE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00 to 59</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0 to 59</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8474">
                <a:tc>
                  <a:txBody>
                    <a:bodyPr/>
                    <a:lstStyle/>
                    <a:p>
                      <a:pPr algn="l" rtl="0"/>
                      <a:r>
                        <a:rPr lang="en-US" sz="1800" dirty="0">
                          <a:solidFill>
                            <a:srgbClr val="222222"/>
                          </a:solidFill>
                          <a:effectLst/>
                          <a:latin typeface="+mn-lt"/>
                        </a:rPr>
                        <a:t>SECOND</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dirty="0">
                          <a:solidFill>
                            <a:srgbClr val="222222"/>
                          </a:solidFill>
                          <a:effectLst/>
                          <a:latin typeface="+mn-lt"/>
                        </a:rPr>
                        <a:t>00 to 59.9(n), where 9(n) is the precision of time fractional seconds</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a:solidFill>
                            <a:srgbClr val="222222"/>
                          </a:solidFill>
                          <a:effectLst/>
                          <a:latin typeface="+mn-lt"/>
                        </a:rPr>
                        <a:t>0 to 59.9(n), where 9(n) is the precision of interval fractional seconds</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6"/>
                  </a:ext>
                </a:extLst>
              </a:tr>
              <a:tr h="598474">
                <a:tc>
                  <a:txBody>
                    <a:bodyPr/>
                    <a:lstStyle/>
                    <a:p>
                      <a:pPr algn="l" rtl="0"/>
                      <a:r>
                        <a:rPr lang="en-US" sz="1800">
                          <a:solidFill>
                            <a:srgbClr val="222222"/>
                          </a:solidFill>
                          <a:effectLst/>
                          <a:latin typeface="+mn-lt"/>
                        </a:rPr>
                        <a:t>TIMEZONE_HOUR</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dirty="0">
                          <a:solidFill>
                            <a:srgbClr val="222222"/>
                          </a:solidFill>
                          <a:effectLst/>
                          <a:latin typeface="+mn-lt"/>
                        </a:rPr>
                        <a:t>-12 to 14 (range accommodates daylight savings time changes)</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a:solidFill>
                            <a:srgbClr val="222222"/>
                          </a:solidFill>
                          <a:effectLst/>
                          <a:latin typeface="+mn-lt"/>
                        </a:rPr>
                        <a:t>Not applicable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94504">
                <a:tc>
                  <a:txBody>
                    <a:bodyPr/>
                    <a:lstStyle/>
                    <a:p>
                      <a:pPr algn="l" rtl="0"/>
                      <a:r>
                        <a:rPr lang="en-US" sz="1800">
                          <a:solidFill>
                            <a:srgbClr val="222222"/>
                          </a:solidFill>
                          <a:effectLst/>
                          <a:latin typeface="+mn-lt"/>
                        </a:rPr>
                        <a:t>TIMEZONE_MINUTE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dirty="0">
                          <a:solidFill>
                            <a:srgbClr val="222222"/>
                          </a:solidFill>
                          <a:effectLst/>
                          <a:latin typeface="+mn-lt"/>
                        </a:rPr>
                        <a:t>00 to 59</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dirty="0">
                          <a:solidFill>
                            <a:srgbClr val="222222"/>
                          </a:solidFill>
                          <a:effectLst/>
                          <a:latin typeface="+mn-lt"/>
                        </a:rPr>
                        <a:t>Not applicable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08"/>
                  </a:ext>
                </a:extLst>
              </a:tr>
              <a:tr h="598474">
                <a:tc>
                  <a:txBody>
                    <a:bodyPr/>
                    <a:lstStyle/>
                    <a:p>
                      <a:pPr algn="l" rtl="0"/>
                      <a:r>
                        <a:rPr lang="en-US" sz="1800">
                          <a:solidFill>
                            <a:srgbClr val="222222"/>
                          </a:solidFill>
                          <a:effectLst/>
                          <a:latin typeface="+mn-lt"/>
                        </a:rPr>
                        <a:t>TIMEZONE_REGION</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dirty="0">
                          <a:solidFill>
                            <a:srgbClr val="222222"/>
                          </a:solidFill>
                          <a:effectLst/>
                          <a:latin typeface="+mn-lt"/>
                        </a:rPr>
                        <a:t>Found in the dynamic performance view V$TIMEZONE_NAMES</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tc>
                  <a:txBody>
                    <a:bodyPr/>
                    <a:lstStyle/>
                    <a:p>
                      <a:pPr algn="l" rtl="0"/>
                      <a:r>
                        <a:rPr lang="en-US" sz="1800" dirty="0">
                          <a:solidFill>
                            <a:srgbClr val="222222"/>
                          </a:solidFill>
                          <a:effectLst/>
                          <a:latin typeface="+mn-lt"/>
                        </a:rPr>
                        <a:t>Not applicable</a:t>
                      </a:r>
                    </a:p>
                  </a:txBody>
                  <a:tcPr marL="22443" marR="22443" marT="29924" marB="29924">
                    <a:lnL>
                      <a:noFill/>
                    </a:lnL>
                    <a:lnR>
                      <a:noFill/>
                    </a:lnR>
                    <a:lnT w="7620" cap="flat" cmpd="sng" algn="ctr">
                      <a:solidFill>
                        <a:srgbClr val="3F3F3F"/>
                      </a:solidFill>
                      <a:prstDash val="solid"/>
                      <a:round/>
                      <a:headEnd type="none" w="med" len="med"/>
                      <a:tailEnd type="none" w="med" len="med"/>
                    </a:lnT>
                    <a:lnB w="7620" cap="flat" cmpd="sng" algn="ctr">
                      <a:solidFill>
                        <a:srgbClr val="3F3F3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98474">
                <a:tc>
                  <a:txBody>
                    <a:bodyPr/>
                    <a:lstStyle/>
                    <a:p>
                      <a:pPr algn="l" rtl="0"/>
                      <a:r>
                        <a:rPr lang="en-US" sz="1800" dirty="0">
                          <a:solidFill>
                            <a:srgbClr val="222222"/>
                          </a:solidFill>
                          <a:effectLst/>
                          <a:latin typeface="+mn-lt"/>
                        </a:rPr>
                        <a:t>TIMEZONE_ABBR</a:t>
                      </a:r>
                    </a:p>
                  </a:txBody>
                  <a:tcPr marL="22443" marR="22443" marT="29924" marB="29924">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dirty="0">
                          <a:solidFill>
                            <a:srgbClr val="222222"/>
                          </a:solidFill>
                          <a:effectLst/>
                          <a:latin typeface="+mn-lt"/>
                        </a:rPr>
                        <a:t>Found in the dynamic performance view V$TIMEZONE_NAMES</a:t>
                      </a:r>
                    </a:p>
                  </a:txBody>
                  <a:tcPr marL="22443" marR="22443" marT="29924" marB="29924">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tc>
                  <a:txBody>
                    <a:bodyPr/>
                    <a:lstStyle/>
                    <a:p>
                      <a:pPr algn="l" rtl="0"/>
                      <a:r>
                        <a:rPr lang="en-US" sz="1800" dirty="0">
                          <a:solidFill>
                            <a:srgbClr val="222222"/>
                          </a:solidFill>
                          <a:effectLst/>
                          <a:latin typeface="+mn-lt"/>
                        </a:rPr>
                        <a:t>Not applicable</a:t>
                      </a:r>
                    </a:p>
                  </a:txBody>
                  <a:tcPr marL="22443" marR="22443" marT="29924" marB="29924">
                    <a:lnL>
                      <a:noFill/>
                    </a:lnL>
                    <a:lnR>
                      <a:noFill/>
                    </a:lnR>
                    <a:lnT w="7620" cap="flat" cmpd="sng" algn="ctr">
                      <a:solidFill>
                        <a:srgbClr val="3F3F3F"/>
                      </a:solidFill>
                      <a:prstDash val="solid"/>
                      <a:round/>
                      <a:headEnd type="none" w="med" len="med"/>
                      <a:tailEnd type="none" w="med" len="med"/>
                    </a:lnT>
                    <a:lnB w="15240" cap="flat" cmpd="sng" algn="ctr">
                      <a:solidFill>
                        <a:srgbClr val="3F3F3F"/>
                      </a:solidFill>
                      <a:prstDash val="solid"/>
                      <a:round/>
                      <a:headEnd type="none" w="med" len="med"/>
                      <a:tailEnd type="none" w="med" len="med"/>
                    </a:lnB>
                    <a:solidFill>
                      <a:srgbClr val="F9F9F9"/>
                    </a:solidFill>
                  </a:tcPr>
                </a:tc>
                <a:extLst>
                  <a:ext uri="{0D108BD9-81ED-4DB2-BD59-A6C34878D82A}">
                    <a16:rowId xmlns:a16="http://schemas.microsoft.com/office/drawing/2014/main" val="10010"/>
                  </a:ext>
                </a:extLst>
              </a:tr>
            </a:tbl>
          </a:graphicData>
        </a:graphic>
      </p:graphicFrame>
      <p:sp>
        <p:nvSpPr>
          <p:cNvPr id="5" name="Номер слайда 4"/>
          <p:cNvSpPr>
            <a:spLocks noGrp="1"/>
          </p:cNvSpPr>
          <p:nvPr>
            <p:ph type="sldNum" sz="quarter" idx="12"/>
          </p:nvPr>
        </p:nvSpPr>
        <p:spPr/>
        <p:txBody>
          <a:bodyPr/>
          <a:lstStyle/>
          <a:p>
            <a:fld id="{941D3F5A-CB4D-46BC-895C-C3EB119D7FE9}" type="slidenum">
              <a:rPr lang="ru-RU" smtClean="0">
                <a:solidFill>
                  <a:prstClr val="black">
                    <a:tint val="75000"/>
                  </a:prstClr>
                </a:solidFill>
              </a:rPr>
              <a:pPr/>
              <a:t>6</a:t>
            </a:fld>
            <a:endParaRPr lang="ru-RU">
              <a:solidFill>
                <a:prstClr val="black">
                  <a:tint val="75000"/>
                </a:prstClr>
              </a:solidFill>
            </a:endParaRPr>
          </a:p>
        </p:txBody>
      </p:sp>
    </p:spTree>
    <p:extLst>
      <p:ext uri="{BB962C8B-B14F-4D97-AF65-F5344CB8AC3E}">
        <p14:creationId xmlns:p14="http://schemas.microsoft.com/office/powerpoint/2010/main" val="52521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0"/>
            <a:ext cx="8229600" cy="539931"/>
          </a:xfrm>
        </p:spPr>
        <p:txBody>
          <a:bodyPr>
            <a:normAutofit fontScale="90000"/>
          </a:bodyPr>
          <a:lstStyle/>
          <a:p>
            <a:r>
              <a:rPr lang="ru-RU" sz="3600" dirty="0">
                <a:solidFill>
                  <a:srgbClr val="FF0000"/>
                </a:solidFill>
              </a:rPr>
              <a:t>Пример блока</a:t>
            </a:r>
          </a:p>
        </p:txBody>
      </p:sp>
      <p:sp>
        <p:nvSpPr>
          <p:cNvPr id="4" name="Объект 3"/>
          <p:cNvSpPr>
            <a:spLocks noGrp="1"/>
          </p:cNvSpPr>
          <p:nvPr>
            <p:ph idx="1"/>
          </p:nvPr>
        </p:nvSpPr>
        <p:spPr>
          <a:xfrm>
            <a:off x="1411920" y="539931"/>
            <a:ext cx="9076568" cy="5913405"/>
          </a:xfrm>
        </p:spPr>
        <p:txBody>
          <a:bodyPr>
            <a:normAutofit fontScale="92500" lnSpcReduction="20000"/>
          </a:bodyPr>
          <a:lstStyle/>
          <a:p>
            <a:pPr marL="0" indent="0">
              <a:buNone/>
            </a:pPr>
            <a:r>
              <a:rPr lang="ru-RU" sz="2200" dirty="0"/>
              <a:t>Объявление переменных и констант можно выполнить так:</a:t>
            </a:r>
          </a:p>
          <a:p>
            <a:pPr marL="0" indent="0">
              <a:buNone/>
            </a:pPr>
            <a:endParaRPr lang="ru-RU" sz="2000" dirty="0"/>
          </a:p>
          <a:p>
            <a:pPr marL="0" indent="0">
              <a:buNone/>
            </a:pPr>
            <a:endParaRPr lang="ru-RU" sz="2000" dirty="0"/>
          </a:p>
          <a:p>
            <a:pPr marL="0" indent="0">
              <a:buNone/>
            </a:pPr>
            <a:endParaRPr lang="ru-RU" sz="2000" dirty="0"/>
          </a:p>
          <a:p>
            <a:pPr marL="0" indent="0">
              <a:buNone/>
            </a:pPr>
            <a:r>
              <a:rPr lang="ru-RU" sz="2200" dirty="0"/>
              <a:t>Присваивание обозначается знаком :=.</a:t>
            </a:r>
          </a:p>
          <a:p>
            <a:pPr marL="0" indent="0">
              <a:buNone/>
            </a:pPr>
            <a:r>
              <a:rPr lang="ru-RU" sz="2200" dirty="0"/>
              <a:t>Разберём несложный пример анонимного </a:t>
            </a:r>
            <a:endParaRPr lang="en-US" sz="2200" dirty="0"/>
          </a:p>
          <a:p>
            <a:pPr marL="0" indent="0">
              <a:buNone/>
            </a:pPr>
            <a:r>
              <a:rPr lang="ru-RU" sz="2200" dirty="0"/>
              <a:t>блока. Набрав текст нажимаем </a:t>
            </a:r>
            <a:r>
              <a:rPr lang="en-US" sz="2200" dirty="0"/>
              <a:t>Run </a:t>
            </a:r>
            <a:r>
              <a:rPr lang="ru-RU" sz="2200" dirty="0"/>
              <a:t>или /</a:t>
            </a:r>
            <a:r>
              <a:rPr lang="en-US" sz="2200" dirty="0"/>
              <a:t>.</a:t>
            </a:r>
          </a:p>
          <a:p>
            <a:pPr marL="0" indent="0">
              <a:buNone/>
            </a:pPr>
            <a:r>
              <a:rPr lang="en-US" sz="2200" dirty="0"/>
              <a:t>DECLARE</a:t>
            </a:r>
          </a:p>
          <a:p>
            <a:pPr marL="0" indent="0">
              <a:buNone/>
            </a:pPr>
            <a:r>
              <a:rPr lang="en-US" sz="2200" dirty="0"/>
              <a:t>    x      NUMBER(5,2);</a:t>
            </a:r>
          </a:p>
          <a:p>
            <a:pPr marL="0" indent="0">
              <a:buNone/>
            </a:pPr>
            <a:r>
              <a:rPr lang="en-US" sz="2200" dirty="0"/>
              <a:t>    y      NUMBER(5,2):=2;</a:t>
            </a:r>
          </a:p>
          <a:p>
            <a:pPr marL="0" indent="0">
              <a:buNone/>
            </a:pPr>
            <a:r>
              <a:rPr lang="en-US" sz="2200" dirty="0"/>
              <a:t>    result NUMBER(5,2);</a:t>
            </a:r>
          </a:p>
          <a:p>
            <a:pPr marL="0" indent="0">
              <a:buNone/>
            </a:pPr>
            <a:r>
              <a:rPr lang="en-US" sz="2200" dirty="0"/>
              <a:t>  BEGIN</a:t>
            </a:r>
          </a:p>
          <a:p>
            <a:pPr marL="0" indent="0">
              <a:buNone/>
            </a:pPr>
            <a:r>
              <a:rPr lang="en-US" sz="2200" dirty="0"/>
              <a:t>    -- </a:t>
            </a:r>
            <a:r>
              <a:rPr lang="ru-RU" sz="2200" dirty="0"/>
              <a:t>Это однострочный комментарий</a:t>
            </a:r>
          </a:p>
          <a:p>
            <a:pPr marL="0" indent="0">
              <a:buNone/>
            </a:pPr>
            <a:r>
              <a:rPr lang="ru-RU" sz="2200" dirty="0"/>
              <a:t>    </a:t>
            </a:r>
            <a:r>
              <a:rPr lang="en-US" sz="2200" dirty="0"/>
              <a:t>result := 12.02;</a:t>
            </a:r>
          </a:p>
          <a:p>
            <a:pPr marL="0" indent="0">
              <a:buNone/>
            </a:pPr>
            <a:r>
              <a:rPr lang="en-US" sz="2200" dirty="0"/>
              <a:t>    x := result / y;</a:t>
            </a:r>
          </a:p>
          <a:p>
            <a:pPr marL="0" indent="0">
              <a:buNone/>
            </a:pPr>
            <a:r>
              <a:rPr lang="en-US" sz="2200" dirty="0"/>
              <a:t>    DBMS_OUTPUT.PUT_LINE('x </a:t>
            </a:r>
            <a:r>
              <a:rPr lang="ru-RU" sz="2200" dirty="0"/>
              <a:t>равен ' || </a:t>
            </a:r>
            <a:r>
              <a:rPr lang="en-US" sz="2200" dirty="0"/>
              <a:t>x);</a:t>
            </a:r>
          </a:p>
          <a:p>
            <a:pPr marL="0" indent="0">
              <a:buNone/>
            </a:pPr>
            <a:r>
              <a:rPr lang="en-US" sz="2200" dirty="0"/>
              <a:t>END;</a:t>
            </a:r>
          </a:p>
          <a:p>
            <a:pPr marL="0" indent="0">
              <a:buNone/>
            </a:pPr>
            <a:r>
              <a:rPr lang="ru-RU" sz="2200" dirty="0"/>
              <a:t>Вывод на экран станет возможным, если ввести инструкцию:</a:t>
            </a:r>
          </a:p>
          <a:p>
            <a:pPr marL="0" indent="0">
              <a:buNone/>
            </a:pPr>
            <a:r>
              <a:rPr lang="en-US" sz="2200" dirty="0"/>
              <a:t>SET </a:t>
            </a:r>
            <a:r>
              <a:rPr lang="en-US" sz="2200" dirty="0" err="1"/>
              <a:t>serveroutput</a:t>
            </a:r>
            <a:r>
              <a:rPr lang="en-US" sz="2200" dirty="0"/>
              <a:t> ON</a:t>
            </a:r>
          </a:p>
          <a:p>
            <a:pPr marL="0" indent="0">
              <a:buNone/>
            </a:pPr>
            <a:endParaRPr lang="ru-RU" sz="2000" dirty="0"/>
          </a:p>
        </p:txBody>
      </p:sp>
      <p:pic>
        <p:nvPicPr>
          <p:cNvPr id="20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11920" y="702054"/>
            <a:ext cx="8231952"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Прямоугольник 4"/>
          <p:cNvSpPr/>
          <p:nvPr/>
        </p:nvSpPr>
        <p:spPr>
          <a:xfrm>
            <a:off x="6621503" y="1800281"/>
            <a:ext cx="4032448" cy="3744416"/>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dirty="0">
                <a:solidFill>
                  <a:prstClr val="black"/>
                </a:solidFill>
              </a:rPr>
              <a:t>Язык </a:t>
            </a:r>
            <a:r>
              <a:rPr lang="en-US" dirty="0">
                <a:solidFill>
                  <a:prstClr val="black"/>
                </a:solidFill>
              </a:rPr>
              <a:t>PL</a:t>
            </a:r>
            <a:r>
              <a:rPr lang="ru-RU" dirty="0">
                <a:solidFill>
                  <a:prstClr val="black"/>
                </a:solidFill>
              </a:rPr>
              <a:t>/</a:t>
            </a:r>
            <a:r>
              <a:rPr lang="en-US" dirty="0">
                <a:solidFill>
                  <a:prstClr val="black"/>
                </a:solidFill>
              </a:rPr>
              <a:t>SQL</a:t>
            </a:r>
            <a:r>
              <a:rPr lang="ru-RU" dirty="0">
                <a:solidFill>
                  <a:prstClr val="black"/>
                </a:solidFill>
              </a:rPr>
              <a:t>, в отличие от </a:t>
            </a:r>
            <a:r>
              <a:rPr lang="en-US" dirty="0">
                <a:solidFill>
                  <a:prstClr val="black"/>
                </a:solidFill>
              </a:rPr>
              <a:t>SQL</a:t>
            </a:r>
            <a:r>
              <a:rPr lang="ru-RU" dirty="0">
                <a:solidFill>
                  <a:prstClr val="black"/>
                </a:solidFill>
              </a:rPr>
              <a:t>, “молчаливый” язык. Вывод на экран в нём необходимо прописать явно. Процедура </a:t>
            </a:r>
            <a:r>
              <a:rPr lang="en-US" dirty="0">
                <a:solidFill>
                  <a:prstClr val="black"/>
                </a:solidFill>
              </a:rPr>
              <a:t>PUT</a:t>
            </a:r>
            <a:r>
              <a:rPr lang="ru-RU" dirty="0">
                <a:solidFill>
                  <a:prstClr val="black"/>
                </a:solidFill>
              </a:rPr>
              <a:t>_</a:t>
            </a:r>
            <a:r>
              <a:rPr lang="en-US" dirty="0">
                <a:solidFill>
                  <a:prstClr val="black"/>
                </a:solidFill>
              </a:rPr>
              <a:t>LINE</a:t>
            </a:r>
            <a:r>
              <a:rPr lang="ru-RU" dirty="0">
                <a:solidFill>
                  <a:prstClr val="black"/>
                </a:solidFill>
              </a:rPr>
              <a:t> из пакета </a:t>
            </a:r>
            <a:r>
              <a:rPr lang="en-US" dirty="0">
                <a:solidFill>
                  <a:prstClr val="black"/>
                </a:solidFill>
              </a:rPr>
              <a:t>DBMS</a:t>
            </a:r>
            <a:r>
              <a:rPr lang="ru-RU" dirty="0">
                <a:solidFill>
                  <a:prstClr val="black"/>
                </a:solidFill>
              </a:rPr>
              <a:t>_</a:t>
            </a:r>
            <a:r>
              <a:rPr lang="en-US" dirty="0">
                <a:solidFill>
                  <a:prstClr val="black"/>
                </a:solidFill>
              </a:rPr>
              <a:t>OUTPUT</a:t>
            </a:r>
            <a:r>
              <a:rPr lang="ru-RU" dirty="0">
                <a:solidFill>
                  <a:prstClr val="black"/>
                </a:solidFill>
              </a:rPr>
              <a:t> позволяет вывести на экран строку, сформированную как конкатенация (обозначенная знаком ||) из двух строк – текста '</a:t>
            </a:r>
            <a:r>
              <a:rPr lang="en-US" dirty="0">
                <a:solidFill>
                  <a:prstClr val="black"/>
                </a:solidFill>
              </a:rPr>
              <a:t>x </a:t>
            </a:r>
            <a:r>
              <a:rPr lang="ru-RU" dirty="0">
                <a:solidFill>
                  <a:prstClr val="black"/>
                </a:solidFill>
              </a:rPr>
              <a:t>равен ' и строки, представляющей значение </a:t>
            </a:r>
            <a:r>
              <a:rPr lang="en-US" dirty="0">
                <a:solidFill>
                  <a:prstClr val="black"/>
                </a:solidFill>
              </a:rPr>
              <a:t>x</a:t>
            </a:r>
            <a:r>
              <a:rPr lang="ru-RU" dirty="0">
                <a:solidFill>
                  <a:prstClr val="black"/>
                </a:solidFill>
              </a:rPr>
              <a:t>. Числовой тип </a:t>
            </a:r>
            <a:r>
              <a:rPr lang="en-US" dirty="0">
                <a:solidFill>
                  <a:prstClr val="black"/>
                </a:solidFill>
              </a:rPr>
              <a:t>x </a:t>
            </a:r>
            <a:r>
              <a:rPr lang="ru-RU" dirty="0">
                <a:solidFill>
                  <a:prstClr val="black"/>
                </a:solidFill>
              </a:rPr>
              <a:t>здесь неявно приводится к текстовому типу. Теперь строка </a:t>
            </a:r>
            <a:r>
              <a:rPr lang="en-US" dirty="0">
                <a:solidFill>
                  <a:prstClr val="black"/>
                </a:solidFill>
              </a:rPr>
              <a:t>DBMS</a:t>
            </a:r>
            <a:r>
              <a:rPr lang="ru-RU" dirty="0">
                <a:solidFill>
                  <a:prstClr val="black"/>
                </a:solidFill>
              </a:rPr>
              <a:t>_</a:t>
            </a:r>
            <a:r>
              <a:rPr lang="en-US" dirty="0">
                <a:solidFill>
                  <a:prstClr val="black"/>
                </a:solidFill>
              </a:rPr>
              <a:t>OUTPUT</a:t>
            </a:r>
            <a:r>
              <a:rPr lang="ru-RU" dirty="0">
                <a:solidFill>
                  <a:prstClr val="black"/>
                </a:solidFill>
              </a:rPr>
              <a:t>.</a:t>
            </a:r>
            <a:r>
              <a:rPr lang="en-US" dirty="0">
                <a:solidFill>
                  <a:prstClr val="black"/>
                </a:solidFill>
              </a:rPr>
              <a:t>PUT</a:t>
            </a:r>
            <a:r>
              <a:rPr lang="ru-RU" dirty="0">
                <a:solidFill>
                  <a:prstClr val="black"/>
                </a:solidFill>
              </a:rPr>
              <a:t>_</a:t>
            </a:r>
            <a:r>
              <a:rPr lang="en-US" dirty="0">
                <a:solidFill>
                  <a:prstClr val="black"/>
                </a:solidFill>
              </a:rPr>
              <a:t>LINE</a:t>
            </a:r>
            <a:r>
              <a:rPr lang="ru-RU" dirty="0">
                <a:solidFill>
                  <a:prstClr val="black"/>
                </a:solidFill>
              </a:rPr>
              <a:t>('</a:t>
            </a:r>
            <a:r>
              <a:rPr lang="en-US" dirty="0">
                <a:solidFill>
                  <a:prstClr val="black"/>
                </a:solidFill>
              </a:rPr>
              <a:t>x </a:t>
            </a:r>
            <a:r>
              <a:rPr lang="ru-RU" dirty="0">
                <a:solidFill>
                  <a:prstClr val="black"/>
                </a:solidFill>
              </a:rPr>
              <a:t>равен ' || </a:t>
            </a:r>
            <a:r>
              <a:rPr lang="en-US" dirty="0">
                <a:solidFill>
                  <a:prstClr val="black"/>
                </a:solidFill>
              </a:rPr>
              <a:t>x</a:t>
            </a:r>
            <a:r>
              <a:rPr lang="ru-RU" dirty="0">
                <a:solidFill>
                  <a:prstClr val="black"/>
                </a:solidFill>
              </a:rPr>
              <a:t>); понятна.</a:t>
            </a:r>
          </a:p>
        </p:txBody>
      </p:sp>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7</a:t>
            </a:fld>
            <a:endParaRPr lang="ru-RU">
              <a:solidFill>
                <a:prstClr val="black">
                  <a:tint val="75000"/>
                </a:prstClr>
              </a:solidFill>
            </a:endParaRPr>
          </a:p>
        </p:txBody>
      </p:sp>
    </p:spTree>
    <p:extLst>
      <p:ext uri="{BB962C8B-B14F-4D97-AF65-F5344CB8AC3E}">
        <p14:creationId xmlns:p14="http://schemas.microsoft.com/office/powerpoint/2010/main" val="2251715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188640"/>
            <a:ext cx="8229600" cy="620688"/>
          </a:xfrm>
        </p:spPr>
        <p:txBody>
          <a:bodyPr>
            <a:noAutofit/>
          </a:bodyPr>
          <a:lstStyle/>
          <a:p>
            <a:br>
              <a:rPr lang="ru-RU" sz="3600" dirty="0"/>
            </a:br>
            <a:r>
              <a:rPr lang="en-US" sz="3600" dirty="0">
                <a:solidFill>
                  <a:srgbClr val="FF0000"/>
                </a:solidFill>
              </a:rPr>
              <a:t>SQL </a:t>
            </a:r>
            <a:r>
              <a:rPr lang="ru-RU" sz="3600" dirty="0">
                <a:solidFill>
                  <a:srgbClr val="FF0000"/>
                </a:solidFill>
              </a:rPr>
              <a:t>внутри </a:t>
            </a:r>
            <a:r>
              <a:rPr lang="en-US" sz="3600" dirty="0">
                <a:solidFill>
                  <a:srgbClr val="FF0000"/>
                </a:solidFill>
              </a:rPr>
              <a:t>PL</a:t>
            </a:r>
            <a:r>
              <a:rPr lang="ru-RU" sz="3600" dirty="0">
                <a:solidFill>
                  <a:srgbClr val="FF0000"/>
                </a:solidFill>
              </a:rPr>
              <a:t>/</a:t>
            </a:r>
            <a:r>
              <a:rPr lang="en-US" sz="3600" dirty="0">
                <a:solidFill>
                  <a:srgbClr val="FF0000"/>
                </a:solidFill>
              </a:rPr>
              <a:t>SQL</a:t>
            </a:r>
            <a:br>
              <a:rPr lang="ru-RU" sz="3600" dirty="0">
                <a:solidFill>
                  <a:srgbClr val="FF0000"/>
                </a:solidFill>
              </a:rPr>
            </a:br>
            <a:endParaRPr lang="ru-RU" sz="3600" dirty="0">
              <a:solidFill>
                <a:srgbClr val="FF0000"/>
              </a:solidFill>
            </a:endParaRPr>
          </a:p>
        </p:txBody>
      </p:sp>
      <p:sp>
        <p:nvSpPr>
          <p:cNvPr id="3" name="Объект 2"/>
          <p:cNvSpPr>
            <a:spLocks noGrp="1"/>
          </p:cNvSpPr>
          <p:nvPr>
            <p:ph idx="1"/>
          </p:nvPr>
        </p:nvSpPr>
        <p:spPr>
          <a:xfrm>
            <a:off x="1991544" y="1052737"/>
            <a:ext cx="8229600" cy="5361459"/>
          </a:xfrm>
        </p:spPr>
        <p:txBody>
          <a:bodyPr>
            <a:normAutofit/>
          </a:bodyPr>
          <a:lstStyle/>
          <a:p>
            <a:pPr marL="0" indent="0">
              <a:buNone/>
            </a:pPr>
            <a:r>
              <a:rPr lang="ru-RU" sz="2000" dirty="0"/>
              <a:t>     Поскольку </a:t>
            </a:r>
            <a:r>
              <a:rPr lang="en-US" sz="2000" dirty="0"/>
              <a:t>PL</a:t>
            </a:r>
            <a:r>
              <a:rPr lang="ru-RU" sz="2000" dirty="0"/>
              <a:t>/</a:t>
            </a:r>
            <a:r>
              <a:rPr lang="en-US" sz="2000" dirty="0"/>
              <a:t>SQL </a:t>
            </a:r>
            <a:r>
              <a:rPr lang="ru-RU" sz="2000" dirty="0"/>
              <a:t>не персистентный язык, то работу с базами данных в нём выполняют операторы </a:t>
            </a:r>
            <a:r>
              <a:rPr lang="en-US" sz="2000" dirty="0"/>
              <a:t>SQL</a:t>
            </a:r>
            <a:r>
              <a:rPr lang="ru-RU" sz="2000" dirty="0"/>
              <a:t>. Запросы </a:t>
            </a:r>
            <a:r>
              <a:rPr lang="en-US" sz="2000" dirty="0"/>
              <a:t>SELECT </a:t>
            </a:r>
            <a:r>
              <a:rPr lang="ru-RU" sz="2000" dirty="0"/>
              <a:t>теперь должны выдавать результат не на экран, а в подготовленные переменные или другие структуры.</a:t>
            </a:r>
          </a:p>
          <a:p>
            <a:pPr marL="0" indent="0">
              <a:buNone/>
            </a:pPr>
            <a:r>
              <a:rPr lang="ru-RU" sz="2000" dirty="0"/>
              <a:t>     Создадим таблицу и введём в неё одну строку:</a:t>
            </a:r>
          </a:p>
          <a:p>
            <a:pPr marL="0" indent="0">
              <a:buNone/>
            </a:pPr>
            <a:r>
              <a:rPr lang="en-US" sz="2000" dirty="0"/>
              <a:t>CREATE TABLE </a:t>
            </a:r>
            <a:r>
              <a:rPr lang="en-US" sz="2000" dirty="0" err="1"/>
              <a:t>qq</a:t>
            </a:r>
            <a:r>
              <a:rPr lang="en-US" sz="2000" dirty="0"/>
              <a:t>(c1 CHAR(10), c2 INTEGER);</a:t>
            </a:r>
            <a:endParaRPr lang="ru-RU" sz="2000" dirty="0"/>
          </a:p>
          <a:p>
            <a:pPr marL="0" indent="0">
              <a:buNone/>
            </a:pPr>
            <a:r>
              <a:rPr lang="en-US" sz="2000" dirty="0"/>
              <a:t>INSERT INTO </a:t>
            </a:r>
            <a:r>
              <a:rPr lang="en-US" sz="2000" dirty="0" err="1"/>
              <a:t>qq</a:t>
            </a:r>
            <a:r>
              <a:rPr lang="en-US" sz="2000" dirty="0"/>
              <a:t> VALUES('QWERTY', 1);</a:t>
            </a:r>
            <a:endParaRPr lang="ru-RU" sz="2000" dirty="0"/>
          </a:p>
          <a:p>
            <a:pPr marL="0" indent="0">
              <a:buNone/>
            </a:pPr>
            <a:r>
              <a:rPr lang="ru-RU" sz="2000" dirty="0"/>
              <a:t>     Извлечём значение первого столбца запросом вида </a:t>
            </a:r>
            <a:r>
              <a:rPr lang="en-US" sz="2000" dirty="0"/>
              <a:t>SELECT</a:t>
            </a:r>
            <a:r>
              <a:rPr lang="ru-RU" sz="2000" dirty="0"/>
              <a:t> .. </a:t>
            </a:r>
            <a:r>
              <a:rPr lang="en-US" sz="2000" dirty="0"/>
              <a:t>INTO</a:t>
            </a:r>
            <a:r>
              <a:rPr lang="ru-RU" sz="2000" dirty="0"/>
              <a:t>: </a:t>
            </a:r>
          </a:p>
          <a:p>
            <a:pPr marL="0" indent="0">
              <a:buNone/>
            </a:pPr>
            <a:r>
              <a:rPr lang="en-US" sz="2000" dirty="0"/>
              <a:t>DECLARE</a:t>
            </a:r>
            <a:endParaRPr lang="ru-RU" sz="2000" dirty="0"/>
          </a:p>
          <a:p>
            <a:pPr marL="0" indent="0">
              <a:buNone/>
            </a:pPr>
            <a:r>
              <a:rPr lang="ru-RU" sz="2000" dirty="0"/>
              <a:t>    </a:t>
            </a:r>
            <a:r>
              <a:rPr lang="en-US" sz="2000" dirty="0"/>
              <a:t>result char(10);</a:t>
            </a:r>
            <a:endParaRPr lang="ru-RU" sz="2000" dirty="0"/>
          </a:p>
          <a:p>
            <a:pPr marL="0" indent="0">
              <a:buNone/>
            </a:pPr>
            <a:r>
              <a:rPr lang="en-US" sz="2000" dirty="0"/>
              <a:t>  BEGIN</a:t>
            </a:r>
            <a:endParaRPr lang="ru-RU" sz="2000" dirty="0"/>
          </a:p>
          <a:p>
            <a:pPr marL="0" indent="0">
              <a:buNone/>
            </a:pPr>
            <a:r>
              <a:rPr lang="en-US" sz="2000" dirty="0"/>
              <a:t>    SELECT c1 INTO result FROM </a:t>
            </a:r>
            <a:r>
              <a:rPr lang="en-US" sz="2000" dirty="0" err="1"/>
              <a:t>qq</a:t>
            </a:r>
            <a:r>
              <a:rPr lang="en-US" sz="2000" dirty="0"/>
              <a:t> WHERE c2=1;</a:t>
            </a:r>
            <a:endParaRPr lang="ru-RU" sz="2000" dirty="0"/>
          </a:p>
          <a:p>
            <a:pPr marL="0" indent="0">
              <a:buNone/>
            </a:pPr>
            <a:r>
              <a:rPr lang="en-US" sz="2000" dirty="0"/>
              <a:t>    DBMS_OUTPUT.PUT_LINE(result);</a:t>
            </a:r>
            <a:endParaRPr lang="ru-RU" sz="2000" dirty="0"/>
          </a:p>
          <a:p>
            <a:pPr marL="0" indent="0">
              <a:buNone/>
            </a:pPr>
            <a:r>
              <a:rPr lang="ru-RU" sz="2000" dirty="0"/>
              <a:t>END;</a:t>
            </a:r>
          </a:p>
          <a:p>
            <a:pPr marL="0" indent="0">
              <a:buNone/>
            </a:pPr>
            <a:r>
              <a:rPr lang="ru-RU" sz="2000" dirty="0"/>
              <a:t>     Удаление слов </a:t>
            </a:r>
            <a:r>
              <a:rPr lang="en-US" sz="2000" dirty="0"/>
              <a:t>INTO result </a:t>
            </a:r>
            <a:r>
              <a:rPr lang="ru-RU" sz="2000" dirty="0"/>
              <a:t>вызовет появление ошибки.</a:t>
            </a:r>
          </a:p>
          <a:p>
            <a:pPr marL="0" indent="0">
              <a:buNone/>
            </a:pP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8</a:t>
            </a:fld>
            <a:endParaRPr lang="ru-RU">
              <a:solidFill>
                <a:prstClr val="black">
                  <a:tint val="75000"/>
                </a:prstClr>
              </a:solidFill>
            </a:endParaRPr>
          </a:p>
        </p:txBody>
      </p:sp>
    </p:spTree>
    <p:extLst>
      <p:ext uri="{BB962C8B-B14F-4D97-AF65-F5344CB8AC3E}">
        <p14:creationId xmlns:p14="http://schemas.microsoft.com/office/powerpoint/2010/main" val="3192065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44624"/>
            <a:ext cx="8229600" cy="432048"/>
          </a:xfrm>
        </p:spPr>
        <p:txBody>
          <a:bodyPr>
            <a:normAutofit fontScale="90000"/>
          </a:bodyPr>
          <a:lstStyle/>
          <a:p>
            <a:br>
              <a:rPr lang="ru-RU" b="1" dirty="0"/>
            </a:br>
            <a:r>
              <a:rPr lang="ru-RU" sz="4000" dirty="0">
                <a:solidFill>
                  <a:srgbClr val="FF0000"/>
                </a:solidFill>
              </a:rPr>
              <a:t>Разветвления и циклы</a:t>
            </a:r>
            <a:br>
              <a:rPr lang="ru-RU" dirty="0">
                <a:solidFill>
                  <a:srgbClr val="FF0000"/>
                </a:solidFill>
              </a:rPr>
            </a:br>
            <a:endParaRPr lang="ru-RU" dirty="0">
              <a:solidFill>
                <a:srgbClr val="FF0000"/>
              </a:solidFill>
            </a:endParaRPr>
          </a:p>
        </p:txBody>
      </p:sp>
      <p:sp>
        <p:nvSpPr>
          <p:cNvPr id="3" name="Объект 2"/>
          <p:cNvSpPr>
            <a:spLocks noGrp="1"/>
          </p:cNvSpPr>
          <p:nvPr>
            <p:ph idx="1"/>
          </p:nvPr>
        </p:nvSpPr>
        <p:spPr>
          <a:xfrm>
            <a:off x="1830194" y="476673"/>
            <a:ext cx="8712968" cy="5505475"/>
          </a:xfrm>
        </p:spPr>
        <p:txBody>
          <a:bodyPr>
            <a:normAutofit/>
          </a:bodyPr>
          <a:lstStyle/>
          <a:p>
            <a:pPr marL="0" indent="0">
              <a:buNone/>
            </a:pPr>
            <a:r>
              <a:rPr lang="ru-RU" sz="2000" dirty="0"/>
              <a:t>Синтаксис команды разветвления в общем обычный:</a:t>
            </a:r>
          </a:p>
        </p:txBody>
      </p:sp>
      <p:sp>
        <p:nvSpPr>
          <p:cNvPr id="4" name="Rectangle 3"/>
          <p:cNvSpPr>
            <a:spLocks noChangeArrowheads="1"/>
          </p:cNvSpPr>
          <p:nvPr/>
        </p:nvSpPr>
        <p:spPr bwMode="auto">
          <a:xfrm>
            <a:off x="2046218" y="836712"/>
            <a:ext cx="7416824" cy="1584176"/>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en-US" altLang="ru-RU" sz="2000" dirty="0">
                <a:solidFill>
                  <a:prstClr val="black"/>
                </a:solidFill>
                <a:cs typeface="Arial" pitchFamily="34" charset="0"/>
              </a:rPr>
              <a:t>IF</a:t>
            </a:r>
            <a:r>
              <a:rPr lang="ru-RU" altLang="ru-RU" sz="2000" dirty="0">
                <a:solidFill>
                  <a:prstClr val="black"/>
                </a:solidFill>
                <a:cs typeface="Arial" pitchFamily="34" charset="0"/>
              </a:rPr>
              <a:t> условие </a:t>
            </a:r>
            <a:r>
              <a:rPr lang="en-US" altLang="ru-RU" sz="2000" dirty="0">
                <a:solidFill>
                  <a:prstClr val="black"/>
                </a:solidFill>
                <a:cs typeface="Arial" pitchFamily="34" charset="0"/>
              </a:rPr>
              <a:t>THEN</a:t>
            </a:r>
            <a:r>
              <a:rPr lang="ru-RU" altLang="ru-RU" sz="2000" dirty="0">
                <a:solidFill>
                  <a:prstClr val="black"/>
                </a:solidFill>
                <a:cs typeface="Arial" pitchFamily="34" charset="0"/>
              </a:rPr>
              <a:t> последовательность_операторов_1</a:t>
            </a:r>
            <a:endParaRPr lang="ru-RU" altLang="ru-RU" sz="2000" dirty="0">
              <a:solidFill>
                <a:prstClr val="black"/>
              </a:solidFill>
              <a:latin typeface="Times New Roman" pitchFamily="18" charset="0"/>
              <a:cs typeface="Arial" pitchFamily="34" charset="0"/>
            </a:endParaRPr>
          </a:p>
          <a:p>
            <a:pPr fontAlgn="base">
              <a:spcBef>
                <a:spcPct val="0"/>
              </a:spcBef>
              <a:spcAft>
                <a:spcPts val="1000"/>
              </a:spcAft>
            </a:pPr>
            <a:r>
              <a:rPr lang="en-US" altLang="ru-RU" sz="2000" dirty="0">
                <a:solidFill>
                  <a:prstClr val="black"/>
                </a:solidFill>
                <a:cs typeface="Arial" pitchFamily="34" charset="0"/>
              </a:rPr>
              <a:t>ELSIF</a:t>
            </a:r>
            <a:r>
              <a:rPr lang="ru-RU" altLang="ru-RU" sz="2000" dirty="0">
                <a:solidFill>
                  <a:prstClr val="black"/>
                </a:solidFill>
                <a:cs typeface="Arial" pitchFamily="34" charset="0"/>
              </a:rPr>
              <a:t> условие2 </a:t>
            </a:r>
            <a:r>
              <a:rPr lang="en-US" altLang="ru-RU" sz="2000" dirty="0">
                <a:solidFill>
                  <a:prstClr val="black"/>
                </a:solidFill>
                <a:cs typeface="Arial" pitchFamily="34" charset="0"/>
              </a:rPr>
              <a:t>THEN</a:t>
            </a:r>
            <a:r>
              <a:rPr lang="ru-RU" altLang="ru-RU" sz="2000" dirty="0">
                <a:solidFill>
                  <a:prstClr val="black"/>
                </a:solidFill>
                <a:cs typeface="Arial" pitchFamily="34" charset="0"/>
              </a:rPr>
              <a:t> последовательность_операторов_2 </a:t>
            </a:r>
          </a:p>
          <a:p>
            <a:pPr fontAlgn="base">
              <a:spcBef>
                <a:spcPct val="0"/>
              </a:spcBef>
              <a:spcAft>
                <a:spcPts val="1000"/>
              </a:spcAft>
            </a:pPr>
            <a:r>
              <a:rPr lang="en-US" altLang="ru-RU" sz="2000" dirty="0">
                <a:solidFill>
                  <a:prstClr val="black"/>
                </a:solidFill>
                <a:cs typeface="Arial" pitchFamily="34" charset="0"/>
              </a:rPr>
              <a:t>ELSE</a:t>
            </a:r>
            <a:r>
              <a:rPr lang="ru-RU" altLang="ru-RU" sz="2000" dirty="0">
                <a:solidFill>
                  <a:prstClr val="black"/>
                </a:solidFill>
                <a:cs typeface="Arial" pitchFamily="34" charset="0"/>
              </a:rPr>
              <a:t>  последовательность_операторов_3</a:t>
            </a:r>
            <a:endParaRPr lang="ru-RU" altLang="ru-RU" sz="2000" dirty="0">
              <a:solidFill>
                <a:prstClr val="black"/>
              </a:solidFill>
              <a:latin typeface="Times New Roman" pitchFamily="18" charset="0"/>
              <a:cs typeface="Arial" pitchFamily="34" charset="0"/>
            </a:endParaRPr>
          </a:p>
          <a:p>
            <a:pPr fontAlgn="base">
              <a:spcBef>
                <a:spcPct val="0"/>
              </a:spcBef>
              <a:spcAft>
                <a:spcPts val="1000"/>
              </a:spcAft>
            </a:pPr>
            <a:r>
              <a:rPr lang="en-US" altLang="ru-RU" sz="2000" dirty="0">
                <a:solidFill>
                  <a:prstClr val="black"/>
                </a:solidFill>
                <a:cs typeface="Arial" pitchFamily="34" charset="0"/>
              </a:rPr>
              <a:t>END</a:t>
            </a:r>
            <a:r>
              <a:rPr lang="ru-RU" altLang="ru-RU" sz="2000" dirty="0">
                <a:solidFill>
                  <a:prstClr val="black"/>
                </a:solidFill>
                <a:cs typeface="Arial" pitchFamily="34" charset="0"/>
              </a:rPr>
              <a:t> </a:t>
            </a:r>
            <a:r>
              <a:rPr lang="en-US" altLang="ru-RU" sz="2000" dirty="0">
                <a:solidFill>
                  <a:prstClr val="black"/>
                </a:solidFill>
                <a:cs typeface="Arial" pitchFamily="34" charset="0"/>
              </a:rPr>
              <a:t>IF</a:t>
            </a:r>
            <a:r>
              <a:rPr lang="ru-RU" altLang="ru-RU" sz="2000" dirty="0">
                <a:solidFill>
                  <a:prstClr val="black"/>
                </a:solidFill>
                <a:cs typeface="Arial" pitchFamily="34" charset="0"/>
              </a:rPr>
              <a:t>;</a:t>
            </a:r>
          </a:p>
        </p:txBody>
      </p:sp>
      <p:sp>
        <p:nvSpPr>
          <p:cNvPr id="7" name="Rectangle 3"/>
          <p:cNvSpPr>
            <a:spLocks noChangeArrowheads="1"/>
          </p:cNvSpPr>
          <p:nvPr/>
        </p:nvSpPr>
        <p:spPr bwMode="auto">
          <a:xfrm>
            <a:off x="1830195" y="2481599"/>
            <a:ext cx="8352927" cy="947401"/>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r>
              <a:rPr lang="ru-RU" dirty="0">
                <a:solidFill>
                  <a:prstClr val="black"/>
                </a:solidFill>
              </a:rPr>
              <a:t>      Обратите внимание на то, что вместо обычного </a:t>
            </a:r>
            <a:r>
              <a:rPr lang="en-US" dirty="0">
                <a:solidFill>
                  <a:prstClr val="black"/>
                </a:solidFill>
              </a:rPr>
              <a:t>ELSEIF</a:t>
            </a:r>
            <a:r>
              <a:rPr lang="ru-RU" dirty="0">
                <a:solidFill>
                  <a:prstClr val="black"/>
                </a:solidFill>
              </a:rPr>
              <a:t> почему-то пишется  </a:t>
            </a:r>
            <a:r>
              <a:rPr lang="en-US" dirty="0">
                <a:solidFill>
                  <a:prstClr val="black"/>
                </a:solidFill>
              </a:rPr>
              <a:t>ELSIF</a:t>
            </a:r>
            <a:r>
              <a:rPr lang="ru-RU" dirty="0">
                <a:solidFill>
                  <a:prstClr val="black"/>
                </a:solidFill>
              </a:rPr>
              <a:t>.</a:t>
            </a:r>
          </a:p>
          <a:p>
            <a:r>
              <a:rPr lang="ru-RU" altLang="ru-RU" dirty="0">
                <a:solidFill>
                  <a:prstClr val="black"/>
                </a:solidFill>
                <a:latin typeface="Arial" pitchFamily="34" charset="0"/>
                <a:cs typeface="Arial" pitchFamily="34" charset="0"/>
              </a:rPr>
              <a:t>     Фраза </a:t>
            </a:r>
            <a:r>
              <a:rPr lang="ru-RU" dirty="0">
                <a:solidFill>
                  <a:prstClr val="black"/>
                </a:solidFill>
              </a:rPr>
              <a:t> </a:t>
            </a:r>
            <a:r>
              <a:rPr lang="en-US" dirty="0">
                <a:solidFill>
                  <a:prstClr val="black"/>
                </a:solidFill>
              </a:rPr>
              <a:t>ELSIF</a:t>
            </a:r>
            <a:r>
              <a:rPr lang="ru-RU" dirty="0">
                <a:solidFill>
                  <a:prstClr val="black"/>
                </a:solidFill>
              </a:rPr>
              <a:t>  может отсутствовать или быть повторена более одного раза.</a:t>
            </a:r>
          </a:p>
          <a:p>
            <a:r>
              <a:rPr lang="ru-RU" dirty="0">
                <a:solidFill>
                  <a:prstClr val="black"/>
                </a:solidFill>
              </a:rPr>
              <a:t>Циклы строятся на основе так называемого простого цикла:</a:t>
            </a:r>
          </a:p>
          <a:p>
            <a:endParaRPr lang="ru-RU" altLang="ru-RU" dirty="0">
              <a:solidFill>
                <a:prstClr val="black"/>
              </a:solidFill>
              <a:latin typeface="Arial" pitchFamily="34" charset="0"/>
              <a:cs typeface="Arial" pitchFamily="34" charset="0"/>
            </a:endParaRPr>
          </a:p>
        </p:txBody>
      </p:sp>
      <p:sp>
        <p:nvSpPr>
          <p:cNvPr id="5" name="Rectangle 5"/>
          <p:cNvSpPr>
            <a:spLocks noChangeArrowheads="1"/>
          </p:cNvSpPr>
          <p:nvPr/>
        </p:nvSpPr>
        <p:spPr bwMode="auto">
          <a:xfrm>
            <a:off x="2046219" y="3501008"/>
            <a:ext cx="8136903" cy="254543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fontAlgn="base">
              <a:spcBef>
                <a:spcPct val="0"/>
              </a:spcBef>
              <a:spcAft>
                <a:spcPts val="1000"/>
              </a:spcAft>
            </a:pPr>
            <a:r>
              <a:rPr lang="ru-RU" altLang="ru-RU" sz="2000" dirty="0">
                <a:solidFill>
                  <a:prstClr val="black"/>
                </a:solidFill>
                <a:cs typeface="Arial" pitchFamily="34" charset="0"/>
              </a:rPr>
              <a:t>[&lt;&lt;</a:t>
            </a:r>
            <a:r>
              <a:rPr lang="ru-RU" altLang="ru-RU" sz="2000" dirty="0" err="1">
                <a:solidFill>
                  <a:prstClr val="black"/>
                </a:solidFill>
                <a:cs typeface="Arial" pitchFamily="34" charset="0"/>
              </a:rPr>
              <a:t>имя_цикла</a:t>
            </a:r>
            <a:r>
              <a:rPr lang="ru-RU" altLang="ru-RU" sz="2000" dirty="0">
                <a:solidFill>
                  <a:prstClr val="black"/>
                </a:solidFill>
                <a:cs typeface="Arial" pitchFamily="34" charset="0"/>
              </a:rPr>
              <a:t>&gt;&gt;]</a:t>
            </a:r>
          </a:p>
          <a:p>
            <a:pPr fontAlgn="base">
              <a:spcBef>
                <a:spcPct val="0"/>
              </a:spcBef>
              <a:spcAft>
                <a:spcPts val="1000"/>
              </a:spcAft>
            </a:pPr>
            <a:r>
              <a:rPr lang="en-US" altLang="ru-RU" sz="2000" dirty="0">
                <a:solidFill>
                  <a:prstClr val="black"/>
                </a:solidFill>
                <a:cs typeface="Arial" pitchFamily="34" charset="0"/>
              </a:rPr>
              <a:t>LOOP</a:t>
            </a:r>
            <a:endParaRPr lang="ru-RU" altLang="ru-RU" sz="2000" dirty="0">
              <a:solidFill>
                <a:prstClr val="black"/>
              </a:solidFill>
              <a:latin typeface="Times New Roman" pitchFamily="18" charset="0"/>
              <a:cs typeface="Arial" pitchFamily="34" charset="0"/>
            </a:endParaRPr>
          </a:p>
          <a:p>
            <a:pPr fontAlgn="base">
              <a:spcBef>
                <a:spcPct val="0"/>
              </a:spcBef>
              <a:spcAft>
                <a:spcPts val="1000"/>
              </a:spcAft>
            </a:pPr>
            <a:r>
              <a:rPr lang="ru-RU" altLang="ru-RU" sz="2000" dirty="0">
                <a:solidFill>
                  <a:prstClr val="black"/>
                </a:solidFill>
                <a:cs typeface="Arial" pitchFamily="34" charset="0"/>
              </a:rPr>
              <a:t>последовательность_операторов_1</a:t>
            </a:r>
          </a:p>
          <a:p>
            <a:pPr fontAlgn="base">
              <a:spcBef>
                <a:spcPct val="0"/>
              </a:spcBef>
              <a:spcAft>
                <a:spcPts val="1000"/>
              </a:spcAft>
            </a:pPr>
            <a:r>
              <a:rPr lang="en-US" altLang="ru-RU" sz="2000" dirty="0">
                <a:solidFill>
                  <a:prstClr val="black"/>
                </a:solidFill>
                <a:cs typeface="Arial" pitchFamily="34" charset="0"/>
              </a:rPr>
              <a:t>EXIT</a:t>
            </a:r>
            <a:r>
              <a:rPr lang="ru-RU" altLang="ru-RU" sz="2000" dirty="0">
                <a:solidFill>
                  <a:prstClr val="black"/>
                </a:solidFill>
                <a:cs typeface="Arial" pitchFamily="34" charset="0"/>
              </a:rPr>
              <a:t> </a:t>
            </a:r>
            <a:r>
              <a:rPr lang="ru-RU" altLang="ru-RU" sz="2000" dirty="0" err="1">
                <a:solidFill>
                  <a:prstClr val="black"/>
                </a:solidFill>
                <a:cs typeface="Arial" pitchFamily="34" charset="0"/>
              </a:rPr>
              <a:t>имя_цикла</a:t>
            </a:r>
            <a:r>
              <a:rPr lang="ru-RU" altLang="ru-RU" sz="2000" dirty="0">
                <a:solidFill>
                  <a:prstClr val="black"/>
                </a:solidFill>
                <a:cs typeface="Arial" pitchFamily="34" charset="0"/>
              </a:rPr>
              <a:t> </a:t>
            </a:r>
            <a:r>
              <a:rPr lang="en-US" altLang="ru-RU" sz="2000" dirty="0">
                <a:solidFill>
                  <a:prstClr val="black"/>
                </a:solidFill>
                <a:cs typeface="Arial" pitchFamily="34" charset="0"/>
              </a:rPr>
              <a:t>WHEN</a:t>
            </a:r>
            <a:r>
              <a:rPr lang="ru-RU" altLang="ru-RU" sz="2000" dirty="0">
                <a:solidFill>
                  <a:prstClr val="black"/>
                </a:solidFill>
                <a:cs typeface="Arial" pitchFamily="34" charset="0"/>
              </a:rPr>
              <a:t> </a:t>
            </a:r>
            <a:r>
              <a:rPr lang="ru-RU" altLang="ru-RU" sz="2000" dirty="0" err="1">
                <a:solidFill>
                  <a:prstClr val="black"/>
                </a:solidFill>
                <a:cs typeface="Arial" pitchFamily="34" charset="0"/>
              </a:rPr>
              <a:t>условие_выхода</a:t>
            </a:r>
            <a:endParaRPr lang="ru-RU" altLang="ru-RU" sz="2000" dirty="0">
              <a:solidFill>
                <a:prstClr val="black"/>
              </a:solidFill>
              <a:latin typeface="Times New Roman" pitchFamily="18" charset="0"/>
              <a:cs typeface="Arial" pitchFamily="34" charset="0"/>
            </a:endParaRPr>
          </a:p>
          <a:p>
            <a:pPr fontAlgn="base">
              <a:spcBef>
                <a:spcPct val="0"/>
              </a:spcBef>
              <a:spcAft>
                <a:spcPts val="1000"/>
              </a:spcAft>
            </a:pPr>
            <a:r>
              <a:rPr lang="ru-RU" altLang="ru-RU" sz="2000" dirty="0">
                <a:solidFill>
                  <a:prstClr val="black"/>
                </a:solidFill>
                <a:cs typeface="Arial" pitchFamily="34" charset="0"/>
              </a:rPr>
              <a:t>последовательность_операторов_2</a:t>
            </a:r>
          </a:p>
          <a:p>
            <a:pPr fontAlgn="base">
              <a:spcBef>
                <a:spcPct val="0"/>
              </a:spcBef>
              <a:spcAft>
                <a:spcPts val="1000"/>
              </a:spcAft>
            </a:pPr>
            <a:r>
              <a:rPr lang="en-US" altLang="ru-RU" sz="2000" dirty="0">
                <a:solidFill>
                  <a:prstClr val="black"/>
                </a:solidFill>
                <a:cs typeface="Arial" pitchFamily="34" charset="0"/>
              </a:rPr>
              <a:t>END</a:t>
            </a:r>
            <a:r>
              <a:rPr lang="ru-RU" altLang="ru-RU" sz="2000" dirty="0">
                <a:solidFill>
                  <a:prstClr val="black"/>
                </a:solidFill>
                <a:cs typeface="Arial" pitchFamily="34" charset="0"/>
              </a:rPr>
              <a:t> </a:t>
            </a:r>
            <a:r>
              <a:rPr lang="en-US" altLang="ru-RU" sz="2000" dirty="0">
                <a:solidFill>
                  <a:prstClr val="black"/>
                </a:solidFill>
                <a:cs typeface="Arial" pitchFamily="34" charset="0"/>
              </a:rPr>
              <a:t>LOOP</a:t>
            </a:r>
            <a:r>
              <a:rPr lang="ru-RU" altLang="ru-RU" sz="2000" dirty="0">
                <a:solidFill>
                  <a:prstClr val="black"/>
                </a:solidFill>
                <a:cs typeface="Arial" pitchFamily="34" charset="0"/>
              </a:rPr>
              <a:t>;</a:t>
            </a:r>
          </a:p>
          <a:p>
            <a:r>
              <a:rPr lang="ru-RU" dirty="0">
                <a:solidFill>
                  <a:prstClr val="black"/>
                </a:solidFill>
              </a:rPr>
              <a:t>     Без инструкций останова </a:t>
            </a:r>
            <a:r>
              <a:rPr lang="en-US" dirty="0">
                <a:solidFill>
                  <a:prstClr val="black"/>
                </a:solidFill>
              </a:rPr>
              <a:t>EXIT </a:t>
            </a:r>
            <a:r>
              <a:rPr lang="ru-RU" dirty="0">
                <a:solidFill>
                  <a:prstClr val="black"/>
                </a:solidFill>
              </a:rPr>
              <a:t>или </a:t>
            </a:r>
            <a:r>
              <a:rPr lang="en-US" dirty="0">
                <a:solidFill>
                  <a:prstClr val="black"/>
                </a:solidFill>
              </a:rPr>
              <a:t>EXIT WHEN</a:t>
            </a:r>
            <a:r>
              <a:rPr lang="ru-RU" dirty="0">
                <a:solidFill>
                  <a:prstClr val="black"/>
                </a:solidFill>
              </a:rPr>
              <a:t> он зацикливается. </a:t>
            </a:r>
          </a:p>
          <a:p>
            <a:r>
              <a:rPr lang="ru-RU" dirty="0">
                <a:solidFill>
                  <a:prstClr val="black"/>
                </a:solidFill>
              </a:rPr>
              <a:t>Фраза в двойных угловых скобках &lt;&lt;</a:t>
            </a:r>
            <a:r>
              <a:rPr lang="ru-RU" dirty="0" err="1">
                <a:solidFill>
                  <a:prstClr val="black"/>
                </a:solidFill>
              </a:rPr>
              <a:t>имя_цикла</a:t>
            </a:r>
            <a:r>
              <a:rPr lang="ru-RU" dirty="0">
                <a:solidFill>
                  <a:prstClr val="black"/>
                </a:solidFill>
              </a:rPr>
              <a:t>&gt;&gt; это метка имени цикла.</a:t>
            </a:r>
          </a:p>
          <a:p>
            <a:pPr fontAlgn="base">
              <a:spcBef>
                <a:spcPct val="0"/>
              </a:spcBef>
              <a:spcAft>
                <a:spcPct val="0"/>
              </a:spcAft>
            </a:pPr>
            <a:endParaRPr lang="ru-RU" altLang="ru-RU" dirty="0">
              <a:solidFill>
                <a:prstClr val="black"/>
              </a:solidFill>
              <a:latin typeface="Arial" pitchFamily="34" charset="0"/>
              <a:cs typeface="Arial" pitchFamily="34" charset="0"/>
            </a:endParaRPr>
          </a:p>
        </p:txBody>
      </p:sp>
      <p:sp>
        <p:nvSpPr>
          <p:cNvPr id="6" name="Скругленная прямоугольная выноска 5"/>
          <p:cNvSpPr/>
          <p:nvPr/>
        </p:nvSpPr>
        <p:spPr>
          <a:xfrm>
            <a:off x="3287688" y="4077072"/>
            <a:ext cx="3240360" cy="324036"/>
          </a:xfrm>
          <a:prstGeom prst="wedgeRoundRectCallout">
            <a:avLst>
              <a:gd name="adj1" fmla="val -42293"/>
              <a:gd name="adj2" fmla="val -116582"/>
              <a:gd name="adj3" fmla="val 166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rgbClr val="1F497D">
                    <a:lumMod val="40000"/>
                    <a:lumOff val="60000"/>
                  </a:srgbClr>
                </a:solidFill>
              </a:rPr>
              <a:t>В скобках </a:t>
            </a:r>
            <a:r>
              <a:rPr lang="en-US" dirty="0">
                <a:solidFill>
                  <a:srgbClr val="1F497D">
                    <a:lumMod val="40000"/>
                    <a:lumOff val="60000"/>
                  </a:srgbClr>
                </a:solidFill>
              </a:rPr>
              <a:t>&lt;&lt;&gt;&gt;</a:t>
            </a:r>
            <a:r>
              <a:rPr lang="ru-RU" dirty="0">
                <a:solidFill>
                  <a:srgbClr val="1F497D">
                    <a:lumMod val="40000"/>
                    <a:lumOff val="60000"/>
                  </a:srgbClr>
                </a:solidFill>
              </a:rPr>
              <a:t> записана метка</a:t>
            </a:r>
          </a:p>
        </p:txBody>
      </p:sp>
      <p:sp>
        <p:nvSpPr>
          <p:cNvPr id="8" name="Номер слайда 7"/>
          <p:cNvSpPr>
            <a:spLocks noGrp="1"/>
          </p:cNvSpPr>
          <p:nvPr>
            <p:ph type="sldNum" sz="quarter" idx="12"/>
          </p:nvPr>
        </p:nvSpPr>
        <p:spPr/>
        <p:txBody>
          <a:bodyPr/>
          <a:lstStyle/>
          <a:p>
            <a:fld id="{941D3F5A-CB4D-46BC-895C-C3EB119D7FE9}" type="slidenum">
              <a:rPr lang="ru-RU" smtClean="0">
                <a:solidFill>
                  <a:prstClr val="black">
                    <a:tint val="75000"/>
                  </a:prstClr>
                </a:solidFill>
              </a:rPr>
              <a:pPr/>
              <a:t>9</a:t>
            </a:fld>
            <a:endParaRPr lang="ru-RU">
              <a:solidFill>
                <a:prstClr val="black">
                  <a:tint val="75000"/>
                </a:prstClr>
              </a:solidFill>
            </a:endParaRPr>
          </a:p>
        </p:txBody>
      </p:sp>
    </p:spTree>
    <p:extLst>
      <p:ext uri="{BB962C8B-B14F-4D97-AF65-F5344CB8AC3E}">
        <p14:creationId xmlns:p14="http://schemas.microsoft.com/office/powerpoint/2010/main" val="27203884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0"/>
            <a:ext cx="8229600" cy="548680"/>
          </a:xfrm>
        </p:spPr>
        <p:txBody>
          <a:bodyPr>
            <a:noAutofit/>
          </a:bodyPr>
          <a:lstStyle/>
          <a:p>
            <a:r>
              <a:rPr lang="ru-RU" sz="3600" dirty="0">
                <a:solidFill>
                  <a:srgbClr val="FF0000"/>
                </a:solidFill>
              </a:rPr>
              <a:t>Примеры циклов </a:t>
            </a:r>
          </a:p>
        </p:txBody>
      </p:sp>
      <p:sp>
        <p:nvSpPr>
          <p:cNvPr id="3" name="Объект 2"/>
          <p:cNvSpPr>
            <a:spLocks noGrp="1"/>
          </p:cNvSpPr>
          <p:nvPr>
            <p:ph idx="1"/>
          </p:nvPr>
        </p:nvSpPr>
        <p:spPr>
          <a:xfrm>
            <a:off x="1775520" y="1124745"/>
            <a:ext cx="8229600" cy="5433467"/>
          </a:xfrm>
        </p:spPr>
        <p:txBody>
          <a:bodyPr>
            <a:normAutofit/>
          </a:bodyPr>
          <a:lstStyle/>
          <a:p>
            <a:pPr marL="0" indent="0">
              <a:buNone/>
            </a:pPr>
            <a:r>
              <a:rPr lang="ru-RU" sz="2000" dirty="0"/>
              <a:t>      Пример простого цикла </a:t>
            </a:r>
          </a:p>
          <a:p>
            <a:pPr marL="0" indent="0">
              <a:buNone/>
            </a:pPr>
            <a:r>
              <a:rPr lang="ru-RU" sz="2000" dirty="0"/>
              <a:t>с меткой:</a:t>
            </a:r>
          </a:p>
          <a:p>
            <a:pPr marL="0" indent="0">
              <a:buNone/>
            </a:pPr>
            <a:r>
              <a:rPr lang="en-US" sz="2000" dirty="0"/>
              <a:t>DECLARE</a:t>
            </a:r>
          </a:p>
          <a:p>
            <a:pPr marL="0" indent="0">
              <a:buNone/>
            </a:pPr>
            <a:r>
              <a:rPr lang="en-US" sz="2000" dirty="0" err="1"/>
              <a:t>v_i</a:t>
            </a:r>
            <a:r>
              <a:rPr lang="en-US" sz="2000" dirty="0"/>
              <a:t> INTEGER := 1;</a:t>
            </a:r>
          </a:p>
          <a:p>
            <a:pPr marL="0" indent="0">
              <a:buNone/>
            </a:pPr>
            <a:r>
              <a:rPr lang="en-US" sz="2000" dirty="0"/>
              <a:t>BEGIN</a:t>
            </a:r>
          </a:p>
          <a:p>
            <a:pPr marL="0" indent="0">
              <a:buNone/>
            </a:pPr>
            <a:r>
              <a:rPr lang="ru-RU" sz="2000" dirty="0"/>
              <a:t>    </a:t>
            </a:r>
            <a:r>
              <a:rPr lang="en-US" sz="2000" dirty="0"/>
              <a:t>&lt;&lt;loop_1&gt;&gt;</a:t>
            </a:r>
          </a:p>
          <a:p>
            <a:pPr marL="0" indent="0">
              <a:buNone/>
            </a:pPr>
            <a:r>
              <a:rPr lang="ru-RU" sz="2000" dirty="0"/>
              <a:t>    </a:t>
            </a:r>
            <a:r>
              <a:rPr lang="en-US" sz="2000" dirty="0"/>
              <a:t>LOOP</a:t>
            </a:r>
          </a:p>
          <a:p>
            <a:pPr marL="0" indent="0">
              <a:buNone/>
            </a:pPr>
            <a:r>
              <a:rPr lang="ru-RU" sz="2000" dirty="0"/>
              <a:t>        </a:t>
            </a:r>
            <a:r>
              <a:rPr lang="en-US" sz="2000" dirty="0"/>
              <a:t>DBMS_OUTPUT.PUT_LINE('</a:t>
            </a:r>
            <a:r>
              <a:rPr lang="ru-RU" sz="2000" dirty="0"/>
              <a:t>В цикле  </a:t>
            </a:r>
            <a:r>
              <a:rPr lang="en-US" sz="2000" dirty="0" err="1"/>
              <a:t>v_i</a:t>
            </a:r>
            <a:r>
              <a:rPr lang="en-US" sz="2000" dirty="0"/>
              <a:t> = ' || </a:t>
            </a:r>
            <a:r>
              <a:rPr lang="en-US" sz="2000" dirty="0" err="1"/>
              <a:t>v_i</a:t>
            </a:r>
            <a:r>
              <a:rPr lang="en-US" sz="2000" dirty="0"/>
              <a:t>);</a:t>
            </a:r>
          </a:p>
          <a:p>
            <a:pPr marL="0" indent="0">
              <a:buNone/>
            </a:pPr>
            <a:r>
              <a:rPr lang="ru-RU" sz="2000" dirty="0"/>
              <a:t>        </a:t>
            </a:r>
            <a:r>
              <a:rPr lang="en-US" sz="2000" dirty="0"/>
              <a:t>EXIT loop_1 WHEN </a:t>
            </a:r>
            <a:r>
              <a:rPr lang="en-US" sz="2000" dirty="0" err="1"/>
              <a:t>v_i</a:t>
            </a:r>
            <a:r>
              <a:rPr lang="en-US" sz="2000" dirty="0"/>
              <a:t> &gt; 2;</a:t>
            </a:r>
          </a:p>
          <a:p>
            <a:pPr marL="0" indent="0">
              <a:buNone/>
            </a:pPr>
            <a:r>
              <a:rPr lang="ru-RU" sz="2000" dirty="0"/>
              <a:t>        </a:t>
            </a:r>
            <a:r>
              <a:rPr lang="en-US" sz="2000" dirty="0" err="1"/>
              <a:t>v_i</a:t>
            </a:r>
            <a:r>
              <a:rPr lang="en-US" sz="2000" dirty="0"/>
              <a:t> := </a:t>
            </a:r>
            <a:r>
              <a:rPr lang="en-US" sz="2000" dirty="0" err="1"/>
              <a:t>v_i</a:t>
            </a:r>
            <a:r>
              <a:rPr lang="en-US" sz="2000" dirty="0"/>
              <a:t> + 1;</a:t>
            </a:r>
          </a:p>
          <a:p>
            <a:pPr marL="0" indent="0">
              <a:buNone/>
            </a:pPr>
            <a:r>
              <a:rPr lang="ru-RU" sz="2000" dirty="0"/>
              <a:t>    </a:t>
            </a:r>
            <a:r>
              <a:rPr lang="en-US" sz="2000" dirty="0"/>
              <a:t>END LOOP;</a:t>
            </a:r>
          </a:p>
          <a:p>
            <a:pPr marL="0" indent="0">
              <a:buNone/>
            </a:pPr>
            <a:r>
              <a:rPr lang="ru-RU" sz="2000" dirty="0"/>
              <a:t>    </a:t>
            </a:r>
            <a:r>
              <a:rPr lang="en-US" sz="2000" dirty="0"/>
              <a:t>DBMS_OUTPUT.PUT_LINE</a:t>
            </a:r>
            <a:endParaRPr lang="ru-RU" sz="2000" dirty="0"/>
          </a:p>
          <a:p>
            <a:pPr marL="0" indent="0">
              <a:buNone/>
            </a:pPr>
            <a:r>
              <a:rPr lang="ru-RU" sz="2000" dirty="0"/>
              <a:t>         </a:t>
            </a:r>
            <a:r>
              <a:rPr lang="en-US" sz="2000" dirty="0"/>
              <a:t>('</a:t>
            </a:r>
            <a:r>
              <a:rPr lang="ru-RU" sz="2000" dirty="0"/>
              <a:t>Вышли из цикла');</a:t>
            </a:r>
          </a:p>
          <a:p>
            <a:pPr marL="0" indent="0">
              <a:buNone/>
            </a:pPr>
            <a:r>
              <a:rPr lang="en-US" sz="2000" dirty="0"/>
              <a:t>END;</a:t>
            </a:r>
          </a:p>
          <a:p>
            <a:pPr marL="0" indent="0">
              <a:buNone/>
            </a:pPr>
            <a:endParaRPr lang="ru-RU" sz="2000" dirty="0"/>
          </a:p>
        </p:txBody>
      </p:sp>
      <p:sp>
        <p:nvSpPr>
          <p:cNvPr id="4" name="Прямоугольник 3"/>
          <p:cNvSpPr/>
          <p:nvPr/>
        </p:nvSpPr>
        <p:spPr>
          <a:xfrm>
            <a:off x="5375920" y="548680"/>
            <a:ext cx="5112568" cy="31683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ru-RU" sz="2000" dirty="0">
                <a:solidFill>
                  <a:prstClr val="black"/>
                </a:solidFill>
              </a:rPr>
              <a:t>Пример цикла </a:t>
            </a:r>
            <a:r>
              <a:rPr lang="en-US" sz="2000" dirty="0">
                <a:solidFill>
                  <a:prstClr val="black"/>
                </a:solidFill>
              </a:rPr>
              <a:t>WHILE </a:t>
            </a:r>
            <a:r>
              <a:rPr lang="ru-RU" sz="2000" dirty="0">
                <a:solidFill>
                  <a:prstClr val="black"/>
                </a:solidFill>
              </a:rPr>
              <a:t>с предусловием:</a:t>
            </a:r>
          </a:p>
          <a:p>
            <a:r>
              <a:rPr lang="en-US" sz="2000" dirty="0">
                <a:solidFill>
                  <a:prstClr val="black"/>
                </a:solidFill>
              </a:rPr>
              <a:t>DECLARE</a:t>
            </a:r>
          </a:p>
          <a:p>
            <a:r>
              <a:rPr lang="en-US" sz="2000" dirty="0" err="1">
                <a:solidFill>
                  <a:prstClr val="black"/>
                </a:solidFill>
              </a:rPr>
              <a:t>i</a:t>
            </a:r>
            <a:r>
              <a:rPr lang="en-US" sz="2000" dirty="0">
                <a:solidFill>
                  <a:prstClr val="black"/>
                </a:solidFill>
              </a:rPr>
              <a:t> INTEGER:=1;</a:t>
            </a:r>
          </a:p>
          <a:p>
            <a:r>
              <a:rPr lang="en-US" sz="2000" dirty="0">
                <a:solidFill>
                  <a:prstClr val="black"/>
                </a:solidFill>
              </a:rPr>
              <a:t>BEGIN</a:t>
            </a:r>
          </a:p>
          <a:p>
            <a:r>
              <a:rPr lang="en-US" sz="2000" dirty="0">
                <a:solidFill>
                  <a:prstClr val="black"/>
                </a:solidFill>
              </a:rPr>
              <a:t>WHILE </a:t>
            </a:r>
            <a:r>
              <a:rPr lang="en-US" sz="2000" dirty="0" err="1">
                <a:solidFill>
                  <a:prstClr val="black"/>
                </a:solidFill>
              </a:rPr>
              <a:t>i</a:t>
            </a:r>
            <a:r>
              <a:rPr lang="en-US" sz="2000" dirty="0">
                <a:solidFill>
                  <a:prstClr val="black"/>
                </a:solidFill>
              </a:rPr>
              <a:t> &lt; 6 LOOP</a:t>
            </a:r>
          </a:p>
          <a:p>
            <a:r>
              <a:rPr lang="en-US" sz="2000" dirty="0">
                <a:solidFill>
                  <a:prstClr val="black"/>
                </a:solidFill>
              </a:rPr>
              <a:t>DBMS_OUTPUT.PUT_LINE(</a:t>
            </a:r>
            <a:r>
              <a:rPr lang="en-US" sz="2000" dirty="0" err="1">
                <a:solidFill>
                  <a:prstClr val="black"/>
                </a:solidFill>
              </a:rPr>
              <a:t>i</a:t>
            </a:r>
            <a:r>
              <a:rPr lang="en-US" sz="2000" dirty="0">
                <a:solidFill>
                  <a:prstClr val="black"/>
                </a:solidFill>
              </a:rPr>
              <a:t>);</a:t>
            </a:r>
          </a:p>
          <a:p>
            <a:r>
              <a:rPr lang="en-US" sz="2000" dirty="0" err="1">
                <a:solidFill>
                  <a:prstClr val="black"/>
                </a:solidFill>
              </a:rPr>
              <a:t>i</a:t>
            </a:r>
            <a:r>
              <a:rPr lang="en-US" sz="2000" dirty="0">
                <a:solidFill>
                  <a:prstClr val="black"/>
                </a:solidFill>
              </a:rPr>
              <a:t> :=</a:t>
            </a:r>
            <a:r>
              <a:rPr lang="en-US" sz="2000" dirty="0" err="1">
                <a:solidFill>
                  <a:prstClr val="black"/>
                </a:solidFill>
              </a:rPr>
              <a:t>i</a:t>
            </a:r>
            <a:r>
              <a:rPr lang="en-US" sz="2000" dirty="0">
                <a:solidFill>
                  <a:prstClr val="black"/>
                </a:solidFill>
              </a:rPr>
              <a:t> +1;</a:t>
            </a:r>
          </a:p>
          <a:p>
            <a:r>
              <a:rPr lang="en-US" sz="2000" dirty="0">
                <a:solidFill>
                  <a:prstClr val="black"/>
                </a:solidFill>
              </a:rPr>
              <a:t>END LOOP;</a:t>
            </a:r>
          </a:p>
          <a:p>
            <a:r>
              <a:rPr lang="en-US" sz="2000" dirty="0">
                <a:solidFill>
                  <a:prstClr val="black"/>
                </a:solidFill>
              </a:rPr>
              <a:t>END</a:t>
            </a:r>
            <a:r>
              <a:rPr lang="en-US" sz="2000" dirty="0">
                <a:solidFill>
                  <a:prstClr val="white"/>
                </a:solidFill>
              </a:rPr>
              <a:t>;</a:t>
            </a:r>
          </a:p>
        </p:txBody>
      </p:sp>
      <p:sp>
        <p:nvSpPr>
          <p:cNvPr id="5" name="Прямоугольник 4"/>
          <p:cNvSpPr/>
          <p:nvPr/>
        </p:nvSpPr>
        <p:spPr>
          <a:xfrm>
            <a:off x="5375920" y="4077072"/>
            <a:ext cx="5112568" cy="273630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ru-RU" dirty="0">
                <a:solidFill>
                  <a:prstClr val="black"/>
                </a:solidFill>
              </a:rPr>
              <a:t>Пример цикла </a:t>
            </a:r>
            <a:r>
              <a:rPr lang="en-US" dirty="0">
                <a:solidFill>
                  <a:prstClr val="black"/>
                </a:solidFill>
              </a:rPr>
              <a:t>FOR:</a:t>
            </a:r>
            <a:endParaRPr lang="ru-RU" dirty="0">
              <a:solidFill>
                <a:prstClr val="black"/>
              </a:solidFill>
            </a:endParaRPr>
          </a:p>
          <a:p>
            <a:r>
              <a:rPr lang="en-US" dirty="0">
                <a:solidFill>
                  <a:prstClr val="black"/>
                </a:solidFill>
              </a:rPr>
              <a:t>BEGIN</a:t>
            </a:r>
          </a:p>
          <a:p>
            <a:r>
              <a:rPr lang="en-US" dirty="0">
                <a:solidFill>
                  <a:prstClr val="black"/>
                </a:solidFill>
              </a:rPr>
              <a:t>FOR </a:t>
            </a:r>
            <a:r>
              <a:rPr lang="en-US" dirty="0" err="1">
                <a:solidFill>
                  <a:prstClr val="black"/>
                </a:solidFill>
              </a:rPr>
              <a:t>i</a:t>
            </a:r>
            <a:r>
              <a:rPr lang="en-US" dirty="0">
                <a:solidFill>
                  <a:prstClr val="black"/>
                </a:solidFill>
              </a:rPr>
              <a:t> IN 1 .. 5 LOOP</a:t>
            </a:r>
          </a:p>
          <a:p>
            <a:r>
              <a:rPr lang="en-US" dirty="0">
                <a:solidFill>
                  <a:prstClr val="black"/>
                </a:solidFill>
              </a:rPr>
              <a:t>DBMS_OUTPUT.PUT_LINE(</a:t>
            </a:r>
            <a:r>
              <a:rPr lang="en-US" dirty="0" err="1">
                <a:solidFill>
                  <a:prstClr val="black"/>
                </a:solidFill>
              </a:rPr>
              <a:t>i</a:t>
            </a:r>
            <a:r>
              <a:rPr lang="en-US" dirty="0">
                <a:solidFill>
                  <a:prstClr val="black"/>
                </a:solidFill>
              </a:rPr>
              <a:t>);</a:t>
            </a:r>
          </a:p>
          <a:p>
            <a:r>
              <a:rPr lang="en-US" dirty="0">
                <a:solidFill>
                  <a:prstClr val="black"/>
                </a:solidFill>
              </a:rPr>
              <a:t>END LOOP;</a:t>
            </a:r>
          </a:p>
          <a:p>
            <a:r>
              <a:rPr lang="en-US" dirty="0">
                <a:solidFill>
                  <a:prstClr val="black"/>
                </a:solidFill>
              </a:rPr>
              <a:t>END;</a:t>
            </a:r>
            <a:endParaRPr lang="ru-RU" dirty="0">
              <a:solidFill>
                <a:prstClr val="black"/>
              </a:solidFill>
            </a:endParaRPr>
          </a:p>
          <a:p>
            <a:r>
              <a:rPr lang="ru-RU" dirty="0">
                <a:solidFill>
                  <a:prstClr val="black"/>
                </a:solidFill>
              </a:rPr>
              <a:t>Переменная </a:t>
            </a:r>
            <a:r>
              <a:rPr lang="en-US" dirty="0" err="1">
                <a:solidFill>
                  <a:prstClr val="black"/>
                </a:solidFill>
              </a:rPr>
              <a:t>i</a:t>
            </a:r>
            <a:r>
              <a:rPr lang="en-US" dirty="0">
                <a:solidFill>
                  <a:prstClr val="black"/>
                </a:solidFill>
              </a:rPr>
              <a:t> </a:t>
            </a:r>
            <a:r>
              <a:rPr lang="ru-RU" dirty="0">
                <a:solidFill>
                  <a:prstClr val="black"/>
                </a:solidFill>
              </a:rPr>
              <a:t>не была объявлена явно, и цикл сам создал её с типом </a:t>
            </a:r>
            <a:r>
              <a:rPr lang="en-US" dirty="0">
                <a:solidFill>
                  <a:prstClr val="black"/>
                </a:solidFill>
              </a:rPr>
              <a:t>INTEGER. </a:t>
            </a:r>
            <a:r>
              <a:rPr lang="ru-RU" dirty="0">
                <a:solidFill>
                  <a:prstClr val="black"/>
                </a:solidFill>
              </a:rPr>
              <a:t>Слово </a:t>
            </a:r>
            <a:r>
              <a:rPr lang="en-US" dirty="0">
                <a:solidFill>
                  <a:prstClr val="black"/>
                </a:solidFill>
              </a:rPr>
              <a:t>REVERSE </a:t>
            </a:r>
            <a:r>
              <a:rPr lang="ru-RU" dirty="0">
                <a:solidFill>
                  <a:prstClr val="black"/>
                </a:solidFill>
              </a:rPr>
              <a:t>во фразе </a:t>
            </a:r>
            <a:r>
              <a:rPr lang="en-US" dirty="0">
                <a:solidFill>
                  <a:prstClr val="black"/>
                </a:solidFill>
              </a:rPr>
              <a:t>FOR </a:t>
            </a:r>
            <a:r>
              <a:rPr lang="en-US" dirty="0" err="1">
                <a:solidFill>
                  <a:prstClr val="black"/>
                </a:solidFill>
              </a:rPr>
              <a:t>i</a:t>
            </a:r>
            <a:r>
              <a:rPr lang="en-US" dirty="0">
                <a:solidFill>
                  <a:prstClr val="black"/>
                </a:solidFill>
              </a:rPr>
              <a:t> IN REVERSE 1 .. 5 LOOP </a:t>
            </a:r>
            <a:r>
              <a:rPr lang="ru-RU" dirty="0">
                <a:solidFill>
                  <a:prstClr val="black"/>
                </a:solidFill>
              </a:rPr>
              <a:t>задало бы обратное направление перебора значений.</a:t>
            </a:r>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10</a:t>
            </a:fld>
            <a:endParaRPr lang="ru-RU">
              <a:solidFill>
                <a:prstClr val="black">
                  <a:tint val="75000"/>
                </a:prstClr>
              </a:solidFill>
            </a:endParaRPr>
          </a:p>
        </p:txBody>
      </p:sp>
    </p:spTree>
    <p:extLst>
      <p:ext uri="{BB962C8B-B14F-4D97-AF65-F5344CB8AC3E}">
        <p14:creationId xmlns:p14="http://schemas.microsoft.com/office/powerpoint/2010/main" val="2953923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12820"/>
            <a:ext cx="8229600" cy="535860"/>
          </a:xfrm>
        </p:spPr>
        <p:txBody>
          <a:bodyPr>
            <a:normAutofit fontScale="90000"/>
          </a:bodyPr>
          <a:lstStyle/>
          <a:p>
            <a:r>
              <a:rPr lang="ru-RU" sz="3600" dirty="0">
                <a:solidFill>
                  <a:srgbClr val="FF0000"/>
                </a:solidFill>
              </a:rPr>
              <a:t>Процедуры и функции (1/3)</a:t>
            </a:r>
          </a:p>
        </p:txBody>
      </p:sp>
      <p:sp>
        <p:nvSpPr>
          <p:cNvPr id="3" name="Объект 2"/>
          <p:cNvSpPr>
            <a:spLocks noGrp="1"/>
          </p:cNvSpPr>
          <p:nvPr>
            <p:ph idx="1"/>
          </p:nvPr>
        </p:nvSpPr>
        <p:spPr>
          <a:xfrm>
            <a:off x="1775520" y="548680"/>
            <a:ext cx="8712968" cy="5760640"/>
          </a:xfrm>
        </p:spPr>
        <p:txBody>
          <a:bodyPr>
            <a:normAutofit/>
          </a:bodyPr>
          <a:lstStyle/>
          <a:p>
            <a:pPr marL="0" indent="0">
              <a:buNone/>
            </a:pPr>
            <a:r>
              <a:rPr lang="ru-RU" sz="2000" dirty="0"/>
              <a:t>     Хранимые процедуры и функции создаются на основе анонимного блока путём добавления в него четвёртой секции, содержащей спецификацию процедуры/функции. В неё входят имя и список формальных параметров. Особенность функции в том, что она возвращает значение, а процедура нет.</a:t>
            </a:r>
          </a:p>
          <a:p>
            <a:pPr marL="0" indent="0">
              <a:buNone/>
            </a:pPr>
            <a:r>
              <a:rPr lang="ru-RU" sz="2000" dirty="0"/>
              <a:t>     Упрощенный синтаксис инструкции создания процедуры:</a:t>
            </a:r>
          </a:p>
          <a:p>
            <a:pPr marL="0" indent="0">
              <a:buNone/>
            </a:pPr>
            <a:endParaRPr lang="ru-RU" sz="2000" dirty="0"/>
          </a:p>
          <a:p>
            <a:pPr marL="0" indent="0">
              <a:buNone/>
            </a:pPr>
            <a:endParaRPr lang="ru-RU" sz="2000" dirty="0"/>
          </a:p>
          <a:p>
            <a:pPr marL="0" indent="0">
              <a:buNone/>
            </a:pPr>
            <a:endParaRPr lang="ru-RU" sz="2000" dirty="0"/>
          </a:p>
          <a:p>
            <a:pPr marL="0" indent="0">
              <a:buNone/>
            </a:pPr>
            <a:endParaRPr lang="ru-RU" sz="2000" dirty="0"/>
          </a:p>
          <a:p>
            <a:pPr marL="0" indent="0">
              <a:buNone/>
            </a:pPr>
            <a:endParaRPr lang="ru-RU" sz="2000" dirty="0"/>
          </a:p>
          <a:p>
            <a:pPr marL="0" indent="360000">
              <a:buNone/>
            </a:pPr>
            <a:r>
              <a:rPr lang="ru-RU" sz="2000" dirty="0"/>
              <a:t>Упрощённый синтаксис инструкции создания функции:</a:t>
            </a:r>
          </a:p>
          <a:p>
            <a:pPr marL="0" indent="0">
              <a:buNone/>
            </a:pPr>
            <a:endParaRPr lang="ru-RU" sz="2000" dirty="0"/>
          </a:p>
        </p:txBody>
      </p:sp>
      <p:sp>
        <p:nvSpPr>
          <p:cNvPr id="4" name="Прямоугольник 3"/>
          <p:cNvSpPr/>
          <p:nvPr/>
        </p:nvSpPr>
        <p:spPr>
          <a:xfrm>
            <a:off x="2351584" y="2204864"/>
            <a:ext cx="5760640" cy="187220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prstClr val="black"/>
                </a:solidFill>
              </a:rPr>
              <a:t>CREATE [OR REPLACE] PROCEDURE </a:t>
            </a:r>
            <a:r>
              <a:rPr lang="ru-RU" dirty="0">
                <a:solidFill>
                  <a:prstClr val="black"/>
                </a:solidFill>
              </a:rPr>
              <a:t>имя</a:t>
            </a:r>
            <a:r>
              <a:rPr lang="en-US" dirty="0">
                <a:solidFill>
                  <a:prstClr val="black"/>
                </a:solidFill>
              </a:rPr>
              <a:t>_</a:t>
            </a:r>
            <a:r>
              <a:rPr lang="ru-RU" dirty="0">
                <a:solidFill>
                  <a:prstClr val="black"/>
                </a:solidFill>
              </a:rPr>
              <a:t>процедуры</a:t>
            </a:r>
          </a:p>
          <a:p>
            <a:r>
              <a:rPr lang="en-US" dirty="0">
                <a:solidFill>
                  <a:prstClr val="black"/>
                </a:solidFill>
              </a:rPr>
              <a:t>[(</a:t>
            </a:r>
            <a:r>
              <a:rPr lang="ru-RU" dirty="0">
                <a:solidFill>
                  <a:prstClr val="black"/>
                </a:solidFill>
              </a:rPr>
              <a:t>имя</a:t>
            </a:r>
            <a:r>
              <a:rPr lang="en-US" dirty="0">
                <a:solidFill>
                  <a:prstClr val="black"/>
                </a:solidFill>
              </a:rPr>
              <a:t>_</a:t>
            </a:r>
            <a:r>
              <a:rPr lang="ru-RU" dirty="0">
                <a:solidFill>
                  <a:prstClr val="black"/>
                </a:solidFill>
              </a:rPr>
              <a:t>параметра </a:t>
            </a:r>
            <a:r>
              <a:rPr lang="en-US" dirty="0">
                <a:solidFill>
                  <a:prstClr val="black"/>
                </a:solidFill>
              </a:rPr>
              <a:t>[IN | OUT | INOUT] </a:t>
            </a:r>
            <a:r>
              <a:rPr lang="ru-RU" dirty="0">
                <a:solidFill>
                  <a:prstClr val="black"/>
                </a:solidFill>
              </a:rPr>
              <a:t>тип </a:t>
            </a:r>
            <a:r>
              <a:rPr lang="en-US" dirty="0">
                <a:solidFill>
                  <a:prstClr val="black"/>
                </a:solidFill>
              </a:rPr>
              <a:t>[, …])]</a:t>
            </a:r>
            <a:endParaRPr lang="ru-RU" dirty="0">
              <a:solidFill>
                <a:prstClr val="black"/>
              </a:solidFill>
            </a:endParaRPr>
          </a:p>
          <a:p>
            <a:r>
              <a:rPr lang="en-US" dirty="0">
                <a:solidFill>
                  <a:prstClr val="black"/>
                </a:solidFill>
              </a:rPr>
              <a:t>IS</a:t>
            </a:r>
            <a:r>
              <a:rPr lang="ru-RU" dirty="0">
                <a:solidFill>
                  <a:prstClr val="black"/>
                </a:solidFill>
              </a:rPr>
              <a:t> | </a:t>
            </a:r>
            <a:r>
              <a:rPr lang="en-US" dirty="0">
                <a:solidFill>
                  <a:prstClr val="black"/>
                </a:solidFill>
              </a:rPr>
              <a:t>AS</a:t>
            </a:r>
            <a:endParaRPr lang="ru-RU" dirty="0">
              <a:solidFill>
                <a:prstClr val="black"/>
              </a:solidFill>
            </a:endParaRPr>
          </a:p>
          <a:p>
            <a:r>
              <a:rPr lang="en-US" dirty="0">
                <a:solidFill>
                  <a:prstClr val="black"/>
                </a:solidFill>
              </a:rPr>
              <a:t>BEGIN</a:t>
            </a:r>
            <a:endParaRPr lang="ru-RU" dirty="0">
              <a:solidFill>
                <a:prstClr val="black"/>
              </a:solidFill>
            </a:endParaRPr>
          </a:p>
          <a:p>
            <a:r>
              <a:rPr lang="ru-RU" dirty="0">
                <a:solidFill>
                  <a:prstClr val="black"/>
                </a:solidFill>
              </a:rPr>
              <a:t>    тело_процедуры</a:t>
            </a:r>
          </a:p>
          <a:p>
            <a:r>
              <a:rPr lang="en-US" dirty="0">
                <a:solidFill>
                  <a:prstClr val="black"/>
                </a:solidFill>
              </a:rPr>
              <a:t>END </a:t>
            </a:r>
            <a:r>
              <a:rPr lang="ru-RU" dirty="0">
                <a:solidFill>
                  <a:prstClr val="black"/>
                </a:solidFill>
              </a:rPr>
              <a:t>имя_процедуры;</a:t>
            </a:r>
          </a:p>
        </p:txBody>
      </p:sp>
      <p:sp>
        <p:nvSpPr>
          <p:cNvPr id="6" name="Прямоугольник 5"/>
          <p:cNvSpPr/>
          <p:nvPr/>
        </p:nvSpPr>
        <p:spPr>
          <a:xfrm>
            <a:off x="2351584" y="4653136"/>
            <a:ext cx="5760640" cy="187220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prstClr val="black"/>
                </a:solidFill>
              </a:rPr>
              <a:t>CREATE [OR REPLACE] FUNCTION </a:t>
            </a:r>
            <a:r>
              <a:rPr lang="ru-RU" dirty="0" err="1">
                <a:solidFill>
                  <a:prstClr val="black"/>
                </a:solidFill>
              </a:rPr>
              <a:t>имя_функции</a:t>
            </a:r>
            <a:endParaRPr lang="ru-RU" dirty="0">
              <a:solidFill>
                <a:prstClr val="black"/>
              </a:solidFill>
            </a:endParaRPr>
          </a:p>
          <a:p>
            <a:r>
              <a:rPr lang="ru-RU" dirty="0">
                <a:solidFill>
                  <a:prstClr val="black"/>
                </a:solidFill>
              </a:rPr>
              <a:t>[(</a:t>
            </a:r>
            <a:r>
              <a:rPr lang="ru-RU" dirty="0" err="1">
                <a:solidFill>
                  <a:prstClr val="black"/>
                </a:solidFill>
              </a:rPr>
              <a:t>имя_параметра</a:t>
            </a:r>
            <a:r>
              <a:rPr lang="ru-RU" dirty="0">
                <a:solidFill>
                  <a:prstClr val="black"/>
                </a:solidFill>
              </a:rPr>
              <a:t> [</a:t>
            </a:r>
            <a:r>
              <a:rPr lang="en-US" dirty="0">
                <a:solidFill>
                  <a:prstClr val="black"/>
                </a:solidFill>
              </a:rPr>
              <a:t>IN | OUT | INOUT] </a:t>
            </a:r>
            <a:r>
              <a:rPr lang="ru-RU" dirty="0">
                <a:solidFill>
                  <a:prstClr val="black"/>
                </a:solidFill>
              </a:rPr>
              <a:t>тип [, …])]</a:t>
            </a:r>
          </a:p>
          <a:p>
            <a:r>
              <a:rPr lang="en-US" b="1" dirty="0">
                <a:solidFill>
                  <a:prstClr val="black"/>
                </a:solidFill>
              </a:rPr>
              <a:t>RETURN </a:t>
            </a:r>
            <a:r>
              <a:rPr lang="ru-RU" b="1" dirty="0" err="1">
                <a:solidFill>
                  <a:prstClr val="black"/>
                </a:solidFill>
              </a:rPr>
              <a:t>тип_возвращаемого</a:t>
            </a:r>
            <a:r>
              <a:rPr lang="ru-RU" b="1" dirty="0">
                <a:solidFill>
                  <a:prstClr val="black"/>
                </a:solidFill>
              </a:rPr>
              <a:t> значения</a:t>
            </a:r>
          </a:p>
          <a:p>
            <a:r>
              <a:rPr lang="en-US" dirty="0">
                <a:solidFill>
                  <a:prstClr val="black"/>
                </a:solidFill>
              </a:rPr>
              <a:t>IS | AS</a:t>
            </a:r>
          </a:p>
          <a:p>
            <a:r>
              <a:rPr lang="en-US" dirty="0">
                <a:solidFill>
                  <a:prstClr val="black"/>
                </a:solidFill>
              </a:rPr>
              <a:t>BEGIN</a:t>
            </a:r>
          </a:p>
          <a:p>
            <a:r>
              <a:rPr lang="en-US" dirty="0">
                <a:solidFill>
                  <a:prstClr val="black"/>
                </a:solidFill>
              </a:rPr>
              <a:t>    </a:t>
            </a:r>
            <a:r>
              <a:rPr lang="ru-RU" dirty="0" err="1">
                <a:solidFill>
                  <a:prstClr val="black"/>
                </a:solidFill>
              </a:rPr>
              <a:t>тело_функции</a:t>
            </a:r>
            <a:endParaRPr lang="ru-RU" dirty="0">
              <a:solidFill>
                <a:prstClr val="black"/>
              </a:solidFill>
            </a:endParaRPr>
          </a:p>
          <a:p>
            <a:r>
              <a:rPr lang="en-US" dirty="0">
                <a:solidFill>
                  <a:prstClr val="black"/>
                </a:solidFill>
              </a:rPr>
              <a:t>END </a:t>
            </a:r>
            <a:r>
              <a:rPr lang="ru-RU" dirty="0" err="1">
                <a:solidFill>
                  <a:prstClr val="black"/>
                </a:solidFill>
              </a:rPr>
              <a:t>имя_функции</a:t>
            </a:r>
            <a:r>
              <a:rPr lang="ru-RU" dirty="0">
                <a:solidFill>
                  <a:prstClr val="black"/>
                </a:solidFill>
              </a:rPr>
              <a:t>;</a:t>
            </a:r>
          </a:p>
        </p:txBody>
      </p:sp>
      <p:sp>
        <p:nvSpPr>
          <p:cNvPr id="5" name="Прямоугольник 4"/>
          <p:cNvSpPr/>
          <p:nvPr/>
        </p:nvSpPr>
        <p:spPr>
          <a:xfrm>
            <a:off x="2423593" y="2348880"/>
            <a:ext cx="5040560" cy="504056"/>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endParaRPr>
          </a:p>
        </p:txBody>
      </p:sp>
      <p:sp>
        <p:nvSpPr>
          <p:cNvPr id="8" name="Скругленная прямоугольная выноска 7"/>
          <p:cNvSpPr/>
          <p:nvPr/>
        </p:nvSpPr>
        <p:spPr>
          <a:xfrm>
            <a:off x="7752184" y="2610980"/>
            <a:ext cx="2088232" cy="529988"/>
          </a:xfrm>
          <a:prstGeom prst="wedgeRoundRectCallout">
            <a:avLst>
              <a:gd name="adj1" fmla="val -68471"/>
              <a:gd name="adj2" fmla="val -39251"/>
              <a:gd name="adj3" fmla="val 16667"/>
            </a:avLst>
          </a:prstGeom>
          <a:solidFill>
            <a:schemeClr val="tx2">
              <a:lumMod val="20000"/>
              <a:lumOff val="80000"/>
              <a:alpha val="91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rgbClr val="4F81BD">
                    <a:lumMod val="75000"/>
                  </a:srgbClr>
                </a:solidFill>
              </a:rPr>
              <a:t>Это спецификация</a:t>
            </a:r>
            <a:r>
              <a:rPr lang="en-US" dirty="0">
                <a:solidFill>
                  <a:srgbClr val="4F81BD">
                    <a:lumMod val="75000"/>
                  </a:srgbClr>
                </a:solidFill>
              </a:rPr>
              <a:t> </a:t>
            </a:r>
            <a:r>
              <a:rPr lang="ru-RU" dirty="0">
                <a:solidFill>
                  <a:srgbClr val="4F81BD">
                    <a:lumMod val="75000"/>
                  </a:srgbClr>
                </a:solidFill>
              </a:rPr>
              <a:t>процедуры</a:t>
            </a:r>
          </a:p>
        </p:txBody>
      </p:sp>
      <p:sp>
        <p:nvSpPr>
          <p:cNvPr id="9" name="Прямоугольник 8"/>
          <p:cNvSpPr/>
          <p:nvPr/>
        </p:nvSpPr>
        <p:spPr>
          <a:xfrm>
            <a:off x="2444852" y="4666193"/>
            <a:ext cx="5040560" cy="779031"/>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prstClr val="white"/>
              </a:solidFill>
            </a:endParaRPr>
          </a:p>
        </p:txBody>
      </p:sp>
      <p:sp>
        <p:nvSpPr>
          <p:cNvPr id="10" name="Скругленная прямоугольная выноска 9"/>
          <p:cNvSpPr/>
          <p:nvPr/>
        </p:nvSpPr>
        <p:spPr>
          <a:xfrm>
            <a:off x="7752184" y="4797152"/>
            <a:ext cx="2664296" cy="792088"/>
          </a:xfrm>
          <a:prstGeom prst="wedgeRoundRectCallout">
            <a:avLst>
              <a:gd name="adj1" fmla="val -68471"/>
              <a:gd name="adj2" fmla="val -39251"/>
              <a:gd name="adj3" fmla="val 16667"/>
            </a:avLst>
          </a:prstGeom>
          <a:solidFill>
            <a:schemeClr val="tx2">
              <a:lumMod val="20000"/>
              <a:lumOff val="80000"/>
              <a:alpha val="91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rgbClr val="4F81BD">
                    <a:lumMod val="75000"/>
                  </a:srgbClr>
                </a:solidFill>
              </a:rPr>
              <a:t>Это спецификация функции. Добавлена фраза  </a:t>
            </a:r>
            <a:r>
              <a:rPr lang="en-US" dirty="0">
                <a:solidFill>
                  <a:srgbClr val="4F81BD">
                    <a:lumMod val="75000"/>
                  </a:srgbClr>
                </a:solidFill>
              </a:rPr>
              <a:t>RETURN</a:t>
            </a:r>
            <a:endParaRPr lang="ru-RU" dirty="0">
              <a:solidFill>
                <a:srgbClr val="4F81BD">
                  <a:lumMod val="75000"/>
                </a:srgbClr>
              </a:solidFill>
            </a:endParaRPr>
          </a:p>
        </p:txBody>
      </p:sp>
      <p:sp>
        <p:nvSpPr>
          <p:cNvPr id="7" name="Номер слайда 6"/>
          <p:cNvSpPr>
            <a:spLocks noGrp="1"/>
          </p:cNvSpPr>
          <p:nvPr>
            <p:ph type="sldNum" sz="quarter" idx="12"/>
          </p:nvPr>
        </p:nvSpPr>
        <p:spPr/>
        <p:txBody>
          <a:bodyPr/>
          <a:lstStyle/>
          <a:p>
            <a:fld id="{941D3F5A-CB4D-46BC-895C-C3EB119D7FE9}" type="slidenum">
              <a:rPr lang="ru-RU" smtClean="0">
                <a:solidFill>
                  <a:prstClr val="black">
                    <a:tint val="75000"/>
                  </a:prstClr>
                </a:solidFill>
              </a:rPr>
              <a:pPr/>
              <a:t>11</a:t>
            </a:fld>
            <a:endParaRPr lang="ru-RU">
              <a:solidFill>
                <a:prstClr val="black">
                  <a:tint val="75000"/>
                </a:prstClr>
              </a:solidFill>
            </a:endParaRPr>
          </a:p>
        </p:txBody>
      </p:sp>
    </p:spTree>
    <p:extLst>
      <p:ext uri="{BB962C8B-B14F-4D97-AF65-F5344CB8AC3E}">
        <p14:creationId xmlns:p14="http://schemas.microsoft.com/office/powerpoint/2010/main" val="384110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19348"/>
            <a:ext cx="8229600" cy="745356"/>
          </a:xfrm>
        </p:spPr>
        <p:txBody>
          <a:bodyPr>
            <a:normAutofit/>
          </a:bodyPr>
          <a:lstStyle/>
          <a:p>
            <a:r>
              <a:rPr lang="ru-RU" sz="3600" dirty="0">
                <a:solidFill>
                  <a:srgbClr val="FF0000"/>
                </a:solidFill>
              </a:rPr>
              <a:t>Процедуры и функции (2/3)</a:t>
            </a:r>
          </a:p>
        </p:txBody>
      </p:sp>
      <p:sp>
        <p:nvSpPr>
          <p:cNvPr id="3" name="Объект 2"/>
          <p:cNvSpPr>
            <a:spLocks noGrp="1"/>
          </p:cNvSpPr>
          <p:nvPr>
            <p:ph idx="1"/>
          </p:nvPr>
        </p:nvSpPr>
        <p:spPr>
          <a:xfrm>
            <a:off x="1981200" y="692697"/>
            <a:ext cx="8229600" cy="5433467"/>
          </a:xfrm>
        </p:spPr>
        <p:txBody>
          <a:bodyPr>
            <a:normAutofit/>
          </a:bodyPr>
          <a:lstStyle/>
          <a:p>
            <a:pPr marL="0" indent="0">
              <a:buNone/>
            </a:pPr>
            <a:r>
              <a:rPr lang="ru-RU" sz="2000" dirty="0"/>
              <a:t>     Тело функции или процедуры это последовательность операторов.</a:t>
            </a:r>
          </a:p>
          <a:p>
            <a:pPr marL="0" indent="0">
              <a:buNone/>
            </a:pPr>
            <a:r>
              <a:rPr lang="ru-RU" sz="2000" dirty="0"/>
              <a:t>Слова </a:t>
            </a:r>
            <a:r>
              <a:rPr lang="en-US" sz="2000" dirty="0"/>
              <a:t>OR REPLACE</a:t>
            </a:r>
            <a:r>
              <a:rPr lang="ru-RU" sz="2000" dirty="0"/>
              <a:t> во фразу </a:t>
            </a:r>
            <a:r>
              <a:rPr lang="en-US" sz="2000" dirty="0"/>
              <a:t>CREATE </a:t>
            </a:r>
            <a:r>
              <a:rPr lang="ru-RU" sz="2000" dirty="0"/>
              <a:t>добавляют, если необходимо заменить существующую функцию с таким же наименованием.</a:t>
            </a:r>
          </a:p>
          <a:p>
            <a:pPr marL="0" indent="0">
              <a:buNone/>
            </a:pPr>
            <a:r>
              <a:rPr lang="ru-RU" sz="2000" dirty="0"/>
              <a:t>     Режим параметров указывается как </a:t>
            </a:r>
            <a:r>
              <a:rPr lang="en-US" sz="2000" dirty="0"/>
              <a:t>IN</a:t>
            </a:r>
            <a:r>
              <a:rPr lang="ru-RU" sz="2000" dirty="0"/>
              <a:t> – входной, </a:t>
            </a:r>
            <a:r>
              <a:rPr lang="en-US" sz="2000" dirty="0"/>
              <a:t>OUT </a:t>
            </a:r>
            <a:r>
              <a:rPr lang="ru-RU" sz="2000" dirty="0"/>
              <a:t>– выходной, или </a:t>
            </a:r>
            <a:r>
              <a:rPr lang="en-US" sz="2000" dirty="0"/>
              <a:t>INOUT</a:t>
            </a:r>
            <a:r>
              <a:rPr lang="ru-RU" sz="2000" dirty="0"/>
              <a:t> – </a:t>
            </a:r>
            <a:r>
              <a:rPr lang="ru-RU" sz="2000" dirty="0" err="1"/>
              <a:t>входо</a:t>
            </a:r>
            <a:r>
              <a:rPr lang="ru-RU" sz="2000" dirty="0"/>
              <a:t>-выходной. Входной параметр нельзя изменять в теле функции, а выходному обязательно должно быть присвоено значение.</a:t>
            </a:r>
          </a:p>
          <a:p>
            <a:pPr marL="0" indent="0">
              <a:buNone/>
            </a:pPr>
            <a:r>
              <a:rPr lang="ru-RU" sz="2000" dirty="0"/>
              <a:t>     Пример функции, вычисляющей площадь круга по его радиусу:</a:t>
            </a:r>
          </a:p>
          <a:p>
            <a:pPr marL="0" indent="0">
              <a:buNone/>
            </a:pPr>
            <a:r>
              <a:rPr lang="en-US" sz="2000" dirty="0"/>
              <a:t>CREATE OR REPLACE FUNCTION </a:t>
            </a:r>
            <a:r>
              <a:rPr lang="en-US" sz="2000" dirty="0" err="1"/>
              <a:t>circle_area</a:t>
            </a:r>
            <a:r>
              <a:rPr lang="en-US" sz="2000" dirty="0"/>
              <a:t> (</a:t>
            </a:r>
            <a:r>
              <a:rPr lang="en-US" sz="2000" dirty="0" err="1"/>
              <a:t>p_radius</a:t>
            </a:r>
            <a:r>
              <a:rPr lang="en-US" sz="2000" dirty="0"/>
              <a:t> IN NUMBER)</a:t>
            </a:r>
            <a:endParaRPr lang="ru-RU" sz="2000" dirty="0"/>
          </a:p>
          <a:p>
            <a:pPr marL="0" indent="0">
              <a:buNone/>
            </a:pPr>
            <a:r>
              <a:rPr lang="en-US" sz="2000" dirty="0"/>
              <a:t>    </a:t>
            </a:r>
            <a:r>
              <a:rPr lang="en-US" sz="2000" b="1" dirty="0"/>
              <a:t>RETURN</a:t>
            </a:r>
            <a:r>
              <a:rPr lang="en-US" sz="2000" dirty="0"/>
              <a:t> NUMBER</a:t>
            </a:r>
            <a:r>
              <a:rPr lang="ru-RU" sz="2000" dirty="0"/>
              <a:t> </a:t>
            </a:r>
            <a:r>
              <a:rPr lang="en-US" sz="2000" dirty="0"/>
              <a:t> AS</a:t>
            </a:r>
            <a:endParaRPr lang="ru-RU" sz="2000" dirty="0"/>
          </a:p>
          <a:p>
            <a:pPr marL="0" indent="0">
              <a:buNone/>
            </a:pPr>
            <a:r>
              <a:rPr lang="en-US" sz="2000" dirty="0"/>
              <a:t>  </a:t>
            </a:r>
            <a:r>
              <a:rPr lang="en-US" sz="2000" dirty="0" err="1"/>
              <a:t>v_pi</a:t>
            </a:r>
            <a:r>
              <a:rPr lang="en-US" sz="2000" dirty="0"/>
              <a:t>   NUMBER := 3.1415926;</a:t>
            </a:r>
            <a:endParaRPr lang="ru-RU" sz="2000" dirty="0"/>
          </a:p>
          <a:p>
            <a:pPr marL="0" indent="0">
              <a:buNone/>
            </a:pPr>
            <a:r>
              <a:rPr lang="en-US" sz="2000" dirty="0"/>
              <a:t>  </a:t>
            </a:r>
            <a:r>
              <a:rPr lang="en-US" sz="2000" dirty="0" err="1"/>
              <a:t>v_area</a:t>
            </a:r>
            <a:r>
              <a:rPr lang="en-US" sz="2000" dirty="0"/>
              <a:t> NUMBER;</a:t>
            </a:r>
            <a:endParaRPr lang="ru-RU" sz="2000" dirty="0"/>
          </a:p>
          <a:p>
            <a:pPr marL="0" indent="0">
              <a:buNone/>
            </a:pPr>
            <a:r>
              <a:rPr lang="en-US" sz="2000" dirty="0"/>
              <a:t>BEGIN</a:t>
            </a:r>
            <a:endParaRPr lang="ru-RU" sz="2000" dirty="0"/>
          </a:p>
          <a:p>
            <a:pPr marL="0" indent="0">
              <a:buNone/>
            </a:pPr>
            <a:r>
              <a:rPr lang="en-US" sz="2000" dirty="0"/>
              <a:t>  </a:t>
            </a:r>
            <a:r>
              <a:rPr lang="en-US" sz="2000" dirty="0" err="1"/>
              <a:t>v_area</a:t>
            </a:r>
            <a:r>
              <a:rPr lang="en-US" sz="2000" dirty="0"/>
              <a:t> := </a:t>
            </a:r>
            <a:r>
              <a:rPr lang="en-US" sz="2000" dirty="0" err="1"/>
              <a:t>v_pi</a:t>
            </a:r>
            <a:r>
              <a:rPr lang="en-US" sz="2000" dirty="0"/>
              <a:t> * POWER(</a:t>
            </a:r>
            <a:r>
              <a:rPr lang="en-US" sz="2000" dirty="0" err="1"/>
              <a:t>p_radius</a:t>
            </a:r>
            <a:r>
              <a:rPr lang="en-US" sz="2000" dirty="0"/>
              <a:t>, 2);</a:t>
            </a:r>
            <a:endParaRPr lang="ru-RU" sz="2000" dirty="0"/>
          </a:p>
          <a:p>
            <a:pPr marL="0" indent="0">
              <a:buNone/>
            </a:pPr>
            <a:r>
              <a:rPr lang="en-US" sz="2000" b="1" dirty="0"/>
              <a:t> </a:t>
            </a:r>
            <a:r>
              <a:rPr lang="ru-RU" sz="2000" b="1" dirty="0"/>
              <a:t> </a:t>
            </a:r>
            <a:r>
              <a:rPr lang="en-US" sz="2000" b="1" dirty="0"/>
              <a:t>RETURN </a:t>
            </a:r>
            <a:r>
              <a:rPr lang="en-US" sz="2000" dirty="0" err="1"/>
              <a:t>v_area</a:t>
            </a:r>
            <a:r>
              <a:rPr lang="en-US" sz="2000" dirty="0"/>
              <a:t>;</a:t>
            </a:r>
            <a:endParaRPr lang="ru-RU" sz="2000" dirty="0"/>
          </a:p>
          <a:p>
            <a:pPr marL="0" indent="0">
              <a:buNone/>
            </a:pPr>
            <a:r>
              <a:rPr lang="en-US" sz="2000" dirty="0"/>
              <a:t>END </a:t>
            </a:r>
            <a:r>
              <a:rPr lang="en-US" sz="2000" dirty="0" err="1"/>
              <a:t>circle_area</a:t>
            </a:r>
            <a:r>
              <a:rPr lang="en-US" sz="2000" dirty="0"/>
              <a:t>;</a:t>
            </a:r>
            <a:endParaRPr lang="ru-RU" sz="2000" dirty="0"/>
          </a:p>
          <a:p>
            <a:pPr marL="0" indent="0">
              <a:buNone/>
            </a:pP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12</a:t>
            </a:fld>
            <a:endParaRPr lang="ru-RU">
              <a:solidFill>
                <a:prstClr val="black">
                  <a:tint val="75000"/>
                </a:prstClr>
              </a:solidFill>
            </a:endParaRPr>
          </a:p>
        </p:txBody>
      </p:sp>
    </p:spTree>
    <p:extLst>
      <p:ext uri="{BB962C8B-B14F-4D97-AF65-F5344CB8AC3E}">
        <p14:creationId xmlns:p14="http://schemas.microsoft.com/office/powerpoint/2010/main" val="2795769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063552" y="0"/>
            <a:ext cx="8229600" cy="836712"/>
          </a:xfrm>
        </p:spPr>
        <p:txBody>
          <a:bodyPr>
            <a:normAutofit/>
          </a:bodyPr>
          <a:lstStyle/>
          <a:p>
            <a:r>
              <a:rPr lang="ru-RU" sz="3600" dirty="0">
                <a:solidFill>
                  <a:srgbClr val="FF0000"/>
                </a:solidFill>
              </a:rPr>
              <a:t>Процедуры и функции (3/3)</a:t>
            </a:r>
          </a:p>
        </p:txBody>
      </p:sp>
      <p:sp>
        <p:nvSpPr>
          <p:cNvPr id="3" name="Объект 2"/>
          <p:cNvSpPr>
            <a:spLocks noGrp="1"/>
          </p:cNvSpPr>
          <p:nvPr>
            <p:ph idx="1"/>
          </p:nvPr>
        </p:nvSpPr>
        <p:spPr>
          <a:xfrm>
            <a:off x="1981200" y="836712"/>
            <a:ext cx="8229600" cy="5688632"/>
          </a:xfrm>
        </p:spPr>
        <p:txBody>
          <a:bodyPr>
            <a:normAutofit fontScale="92500" lnSpcReduction="20000"/>
          </a:bodyPr>
          <a:lstStyle/>
          <a:p>
            <a:pPr marL="0" indent="0">
              <a:buNone/>
            </a:pPr>
            <a:r>
              <a:rPr lang="ru-RU" sz="2200" dirty="0"/>
              <a:t>     Фраза RETURN, обязательна в спецификации функции. В ней</a:t>
            </a:r>
            <a:r>
              <a:rPr lang="ru-RU" sz="2200" dirty="0">
                <a:solidFill>
                  <a:prstClr val="black"/>
                </a:solidFill>
              </a:rPr>
              <a:t> указывается тип переменной которая будет возвращена. В теле функции</a:t>
            </a:r>
            <a:r>
              <a:rPr lang="ru-RU" sz="2200" dirty="0"/>
              <a:t>, фраза RETURN записывается, по крайней мере, один раз и указывает имя возвращаемой переменной.</a:t>
            </a:r>
          </a:p>
          <a:p>
            <a:pPr marL="0" indent="0">
              <a:buNone/>
            </a:pPr>
            <a:r>
              <a:rPr lang="ru-RU" sz="2200" dirty="0"/>
              <a:t>     Обратите внимание на то, что в именованиях переменных использован префикс “v_”, в имени формального параметра префикс “p_”. Подобные соглашения об именованиях очень удобны, особенно если они соблюдаются широким кругом разработчиков.</a:t>
            </a:r>
          </a:p>
          <a:p>
            <a:pPr marL="0" indent="0">
              <a:buNone/>
            </a:pPr>
            <a:r>
              <a:rPr lang="ru-RU" sz="2200" dirty="0"/>
              <a:t>     Вызовем функцию </a:t>
            </a:r>
            <a:r>
              <a:rPr lang="ru-RU" sz="2200" dirty="0" err="1"/>
              <a:t>circle_area</a:t>
            </a:r>
            <a:r>
              <a:rPr lang="ru-RU" sz="2200" dirty="0"/>
              <a:t> из анонимного блока:</a:t>
            </a:r>
          </a:p>
          <a:p>
            <a:pPr marL="0" indent="0">
              <a:buNone/>
            </a:pPr>
            <a:r>
              <a:rPr lang="ru-RU" sz="2200" dirty="0"/>
              <a:t>BEGIN</a:t>
            </a:r>
          </a:p>
          <a:p>
            <a:pPr marL="0" indent="0">
              <a:buNone/>
            </a:pPr>
            <a:r>
              <a:rPr lang="ru-RU" sz="2200" dirty="0"/>
              <a:t>  DBMS_OUTPUT.PUT_LINE(</a:t>
            </a:r>
            <a:r>
              <a:rPr lang="ru-RU" sz="2200" dirty="0" err="1"/>
              <a:t>circle_area</a:t>
            </a:r>
            <a:r>
              <a:rPr lang="ru-RU" sz="2200" dirty="0"/>
              <a:t>(2));</a:t>
            </a:r>
          </a:p>
          <a:p>
            <a:pPr marL="0" indent="0">
              <a:buNone/>
            </a:pPr>
            <a:r>
              <a:rPr lang="ru-RU" sz="2200" dirty="0"/>
              <a:t>END;</a:t>
            </a:r>
          </a:p>
          <a:p>
            <a:pPr marL="0" indent="0">
              <a:buNone/>
            </a:pPr>
            <a:r>
              <a:rPr lang="ru-RU" sz="2200" dirty="0"/>
              <a:t>     Созданная функция может быть вызвана и из SQL, например,</a:t>
            </a:r>
          </a:p>
          <a:p>
            <a:pPr marL="0" indent="0">
              <a:buNone/>
            </a:pPr>
            <a:r>
              <a:rPr lang="ru-RU" sz="2200" dirty="0"/>
              <a:t>SELECT </a:t>
            </a:r>
            <a:r>
              <a:rPr lang="ru-RU" sz="2200" dirty="0" err="1"/>
              <a:t>circle_area</a:t>
            </a:r>
            <a:r>
              <a:rPr lang="ru-RU" sz="2200" dirty="0"/>
              <a:t>(2) FROM </a:t>
            </a:r>
            <a:r>
              <a:rPr lang="ru-RU" sz="2200" dirty="0" err="1"/>
              <a:t>dual</a:t>
            </a:r>
            <a:r>
              <a:rPr lang="ru-RU" sz="2200" dirty="0"/>
              <a:t>;</a:t>
            </a:r>
          </a:p>
          <a:p>
            <a:pPr marL="0" indent="0">
              <a:buNone/>
            </a:pPr>
            <a:r>
              <a:rPr lang="ru-RU" sz="2200" dirty="0"/>
              <a:t>     </a:t>
            </a:r>
            <a:r>
              <a:rPr lang="ru-RU" sz="2200" dirty="0" err="1"/>
              <a:t>Dual</a:t>
            </a:r>
            <a:r>
              <a:rPr lang="ru-RU" sz="2200" dirty="0"/>
              <a:t> это такая необычная таблица в </a:t>
            </a:r>
            <a:r>
              <a:rPr lang="ru-RU" sz="2200" dirty="0" err="1"/>
              <a:t>Oracle</a:t>
            </a:r>
            <a:r>
              <a:rPr lang="ru-RU" sz="2200" dirty="0"/>
              <a:t>. В ней единственный столбец </a:t>
            </a:r>
            <a:r>
              <a:rPr lang="ru-RU" sz="2200" dirty="0" err="1"/>
              <a:t>dummy</a:t>
            </a:r>
            <a:r>
              <a:rPr lang="ru-RU" sz="2200" dirty="0"/>
              <a:t>. Если пользоваться средствами, разработанными фирмой </a:t>
            </a:r>
            <a:r>
              <a:rPr lang="ru-RU" sz="2200" dirty="0" err="1"/>
              <a:t>Oracle</a:t>
            </a:r>
            <a:r>
              <a:rPr lang="ru-RU" sz="2200" dirty="0"/>
              <a:t>, то кажется, что она всегда состоит из одной строки. Её используют чтобы “сделать вид” что все данных выбираются только из таблиц. Например, системная дата может быть получена запросом:</a:t>
            </a:r>
          </a:p>
          <a:p>
            <a:pPr marL="0" indent="0">
              <a:buNone/>
            </a:pPr>
            <a:r>
              <a:rPr lang="ru-RU" sz="2200" dirty="0"/>
              <a:t>SELECT </a:t>
            </a:r>
            <a:r>
              <a:rPr lang="ru-RU" sz="2200" dirty="0" err="1"/>
              <a:t>sysdate</a:t>
            </a:r>
            <a:r>
              <a:rPr lang="ru-RU" sz="2200" dirty="0"/>
              <a:t> FROM </a:t>
            </a:r>
            <a:r>
              <a:rPr lang="ru-RU" sz="2200" dirty="0" err="1"/>
              <a:t>dual</a:t>
            </a:r>
            <a:r>
              <a:rPr lang="ru-RU" sz="2200" dirty="0"/>
              <a:t>;</a:t>
            </a:r>
          </a:p>
          <a:p>
            <a:pPr marL="0" indent="0">
              <a:buNone/>
            </a:pP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13</a:t>
            </a:fld>
            <a:endParaRPr lang="ru-RU">
              <a:solidFill>
                <a:prstClr val="black">
                  <a:tint val="75000"/>
                </a:prstClr>
              </a:solidFill>
            </a:endParaRPr>
          </a:p>
        </p:txBody>
      </p:sp>
    </p:spTree>
    <p:extLst>
      <p:ext uri="{BB962C8B-B14F-4D97-AF65-F5344CB8AC3E}">
        <p14:creationId xmlns:p14="http://schemas.microsoft.com/office/powerpoint/2010/main" val="39383804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40080"/>
          </a:xfrm>
        </p:spPr>
        <p:txBody>
          <a:bodyPr>
            <a:normAutofit/>
          </a:bodyPr>
          <a:lstStyle/>
          <a:p>
            <a:r>
              <a:rPr lang="ru-RU" sz="3200" dirty="0">
                <a:solidFill>
                  <a:srgbClr val="FF0000"/>
                </a:solidFill>
              </a:rPr>
              <a:t>Сведения о процедурах и функциях</a:t>
            </a:r>
          </a:p>
        </p:txBody>
      </p:sp>
      <p:sp>
        <p:nvSpPr>
          <p:cNvPr id="3" name="Объект 2"/>
          <p:cNvSpPr>
            <a:spLocks noGrp="1"/>
          </p:cNvSpPr>
          <p:nvPr>
            <p:ph idx="1"/>
          </p:nvPr>
        </p:nvSpPr>
        <p:spPr>
          <a:xfrm>
            <a:off x="609600" y="640080"/>
            <a:ext cx="10972800" cy="6217920"/>
          </a:xfrm>
        </p:spPr>
        <p:txBody>
          <a:bodyPr>
            <a:normAutofit fontScale="92500" lnSpcReduction="20000"/>
          </a:bodyPr>
          <a:lstStyle/>
          <a:p>
            <a:pPr marL="0" indent="0">
              <a:buNone/>
            </a:pPr>
            <a:r>
              <a:rPr lang="ru-RU" sz="2200" dirty="0"/>
              <a:t>Для поиска типов и имён созданных функций и процедур используем запрос:</a:t>
            </a:r>
          </a:p>
          <a:p>
            <a:pPr marL="0" indent="0">
              <a:buNone/>
            </a:pPr>
            <a:r>
              <a:rPr lang="ru-RU" sz="2200" dirty="0"/>
              <a:t>     </a:t>
            </a:r>
            <a:r>
              <a:rPr lang="en-US" sz="2200" dirty="0"/>
              <a:t>SELECT </a:t>
            </a:r>
            <a:r>
              <a:rPr lang="en-US" sz="2200" dirty="0" err="1"/>
              <a:t>object_type</a:t>
            </a:r>
            <a:r>
              <a:rPr lang="en-US" sz="2200" dirty="0"/>
              <a:t>, </a:t>
            </a:r>
            <a:r>
              <a:rPr lang="en-US" sz="2200" dirty="0" err="1"/>
              <a:t>object_name</a:t>
            </a:r>
            <a:endParaRPr lang="en-US" sz="2200" dirty="0"/>
          </a:p>
          <a:p>
            <a:pPr marL="0" indent="0">
              <a:buNone/>
            </a:pPr>
            <a:r>
              <a:rPr lang="en-US" sz="2200" dirty="0"/>
              <a:t>     FROM user_objects</a:t>
            </a:r>
          </a:p>
          <a:p>
            <a:pPr marL="0" indent="0">
              <a:buNone/>
            </a:pPr>
            <a:r>
              <a:rPr lang="en-US" sz="2200" dirty="0"/>
              <a:t>     WHERE </a:t>
            </a:r>
            <a:r>
              <a:rPr lang="en-US" sz="2200" dirty="0" err="1"/>
              <a:t>object_type</a:t>
            </a:r>
            <a:r>
              <a:rPr lang="en-US" sz="2200" dirty="0"/>
              <a:t> = 'PROCEDURE'</a:t>
            </a:r>
          </a:p>
          <a:p>
            <a:pPr marL="0" indent="0">
              <a:buNone/>
            </a:pPr>
            <a:r>
              <a:rPr lang="en-US" sz="2200" dirty="0"/>
              <a:t>           OR </a:t>
            </a:r>
            <a:r>
              <a:rPr lang="en-US" sz="2200" dirty="0" err="1"/>
              <a:t>object_type</a:t>
            </a:r>
            <a:r>
              <a:rPr lang="en-US" sz="2200" dirty="0"/>
              <a:t> = 'FUNCTION';</a:t>
            </a:r>
            <a:endParaRPr lang="ru-RU" sz="2200" dirty="0"/>
          </a:p>
          <a:p>
            <a:pPr marL="0" indent="0">
              <a:buNone/>
            </a:pPr>
            <a:endParaRPr lang="en-US" sz="2200" dirty="0"/>
          </a:p>
          <a:p>
            <a:pPr marL="0" indent="0">
              <a:buNone/>
            </a:pPr>
            <a:endParaRPr lang="ru-RU" sz="2200" dirty="0"/>
          </a:p>
          <a:p>
            <a:pPr marL="0" indent="0">
              <a:buNone/>
            </a:pPr>
            <a:r>
              <a:rPr lang="ru-RU" sz="2200" dirty="0"/>
              <a:t>Поиск текстов:</a:t>
            </a:r>
            <a:endParaRPr lang="en-US" sz="2200" dirty="0"/>
          </a:p>
          <a:p>
            <a:pPr marL="0" indent="0">
              <a:buNone/>
            </a:pPr>
            <a:r>
              <a:rPr lang="en-US" sz="2200" dirty="0">
                <a:solidFill>
                  <a:srgbClr val="222222"/>
                </a:solidFill>
                <a:latin typeface="Arial" panose="020B0604020202020204" pitchFamily="34" charset="0"/>
              </a:rPr>
              <a:t>SELECT * FROM user_source</a:t>
            </a:r>
            <a:endParaRPr lang="ru-RU" sz="2200" dirty="0">
              <a:solidFill>
                <a:srgbClr val="222222"/>
              </a:solidFill>
              <a:latin typeface="Arial" panose="020B0604020202020204" pitchFamily="34" charset="0"/>
            </a:endParaRPr>
          </a:p>
          <a:p>
            <a:pPr marL="0" indent="0">
              <a:buNone/>
            </a:pPr>
            <a:endParaRPr lang="en-US" sz="2200" dirty="0"/>
          </a:p>
          <a:p>
            <a:pPr marL="0" indent="0">
              <a:buNone/>
            </a:pPr>
            <a:endParaRPr lang="ru-RU" sz="2200" dirty="0"/>
          </a:p>
          <a:p>
            <a:pPr marL="0" indent="0">
              <a:buNone/>
            </a:pPr>
            <a:r>
              <a:rPr lang="ru-RU" sz="2200" dirty="0"/>
              <a:t>Для удаления созданных процедур или функций используется команда:</a:t>
            </a:r>
          </a:p>
          <a:p>
            <a:pPr marL="0" indent="0">
              <a:buNone/>
            </a:pPr>
            <a:r>
              <a:rPr lang="ru-RU" sz="2200" dirty="0"/>
              <a:t>     </a:t>
            </a:r>
            <a:r>
              <a:rPr lang="en-US" sz="2200" dirty="0"/>
              <a:t>DROP PROCEDURE </a:t>
            </a:r>
            <a:r>
              <a:rPr lang="ru-RU" sz="2200" dirty="0"/>
              <a:t>имя_процедуры;</a:t>
            </a:r>
          </a:p>
          <a:p>
            <a:pPr marL="0" indent="0">
              <a:buNone/>
            </a:pPr>
            <a:r>
              <a:rPr lang="ru-RU" sz="2200" dirty="0"/>
              <a:t>     </a:t>
            </a:r>
            <a:r>
              <a:rPr lang="en-US" sz="2200" dirty="0"/>
              <a:t>DROP FUNCTION </a:t>
            </a:r>
            <a:r>
              <a:rPr lang="ru-RU" sz="2200" dirty="0" err="1"/>
              <a:t>имя_функции</a:t>
            </a:r>
            <a:r>
              <a:rPr lang="ru-RU" sz="2200" dirty="0"/>
              <a:t>;</a:t>
            </a:r>
          </a:p>
          <a:p>
            <a:pPr marL="0" indent="0">
              <a:buNone/>
            </a:pPr>
            <a:endParaRPr lang="ru-RU" sz="2200" dirty="0"/>
          </a:p>
          <a:p>
            <a:pPr marL="0" indent="0">
              <a:buNone/>
            </a:pPr>
            <a:r>
              <a:rPr lang="ru-RU" sz="2200" dirty="0"/>
              <a:t>     PL/SQL не всегда сообщает о подробностях ошибок компиляции. Может просто появиться  сообщение "</a:t>
            </a:r>
            <a:r>
              <a:rPr lang="ru-RU" sz="2200" dirty="0" err="1"/>
              <a:t>procedure</a:t>
            </a:r>
            <a:r>
              <a:rPr lang="ru-RU" sz="2200" dirty="0"/>
              <a:t> </a:t>
            </a:r>
            <a:r>
              <a:rPr lang="ru-RU" sz="2200" dirty="0" err="1"/>
              <a:t>created</a:t>
            </a:r>
            <a:r>
              <a:rPr lang="ru-RU" sz="2200" dirty="0"/>
              <a:t> </a:t>
            </a:r>
            <a:r>
              <a:rPr lang="ru-RU" sz="2200" dirty="0" err="1"/>
              <a:t>with</a:t>
            </a:r>
            <a:r>
              <a:rPr lang="ru-RU" sz="2200" dirty="0"/>
              <a:t> </a:t>
            </a:r>
            <a:r>
              <a:rPr lang="ru-RU" sz="2200" dirty="0" err="1"/>
              <a:t>compilation</a:t>
            </a:r>
            <a:r>
              <a:rPr lang="ru-RU" sz="2200" dirty="0"/>
              <a:t> </a:t>
            </a:r>
            <a:r>
              <a:rPr lang="ru-RU" sz="2200" dirty="0" err="1"/>
              <a:t>errors</a:t>
            </a:r>
            <a:r>
              <a:rPr lang="ru-RU" sz="2200" dirty="0"/>
              <a:t>". В этом случае используйте команду просмотра ошибок: </a:t>
            </a:r>
          </a:p>
          <a:p>
            <a:pPr marL="0" indent="0">
              <a:buNone/>
            </a:pPr>
            <a:r>
              <a:rPr lang="ru-RU" sz="2200" dirty="0"/>
              <a:t>SHOW ERRORS PROCEDURE имя_процедуры;</a:t>
            </a:r>
          </a:p>
          <a:p>
            <a:pPr marL="0" indent="0">
              <a:buNone/>
            </a:pPr>
            <a:r>
              <a:rPr lang="en-US" sz="2200" dirty="0"/>
              <a:t>SHOW ERRORS FUNCTION </a:t>
            </a:r>
            <a:r>
              <a:rPr lang="ru-RU" sz="2200" dirty="0"/>
              <a:t>имя_процедуры;</a:t>
            </a:r>
          </a:p>
          <a:p>
            <a:pPr marL="0" indent="0">
              <a:buNone/>
            </a:pPr>
            <a:endParaRPr lang="ru-RU" sz="2000" dirty="0"/>
          </a:p>
        </p:txBody>
      </p:sp>
      <p:sp>
        <p:nvSpPr>
          <p:cNvPr id="4" name="Прямоугольник 3"/>
          <p:cNvSpPr/>
          <p:nvPr/>
        </p:nvSpPr>
        <p:spPr>
          <a:xfrm>
            <a:off x="5394960" y="1105286"/>
            <a:ext cx="5343664" cy="2862322"/>
          </a:xfrm>
          <a:prstGeom prst="rect">
            <a:avLst/>
          </a:prstGeom>
          <a:ln>
            <a:solidFill>
              <a:schemeClr val="accent1"/>
            </a:solidFill>
          </a:ln>
        </p:spPr>
        <p:txBody>
          <a:bodyPr wrap="square">
            <a:spAutoFit/>
          </a:bodyPr>
          <a:lstStyle/>
          <a:p>
            <a:r>
              <a:rPr lang="ru-RU" sz="2000" dirty="0"/>
              <a:t>Или:</a:t>
            </a:r>
          </a:p>
          <a:p>
            <a:r>
              <a:rPr lang="en-US" sz="2000" dirty="0"/>
              <a:t>SELECT   text</a:t>
            </a:r>
          </a:p>
          <a:p>
            <a:r>
              <a:rPr lang="en-US" sz="2000" dirty="0"/>
              <a:t>    FROM </a:t>
            </a:r>
            <a:r>
              <a:rPr lang="en-US" sz="2000" dirty="0" err="1"/>
              <a:t>all_source</a:t>
            </a:r>
            <a:endParaRPr lang="en-US" sz="2000" dirty="0"/>
          </a:p>
          <a:p>
            <a:r>
              <a:rPr lang="en-US" sz="2000" dirty="0"/>
              <a:t>   WHERE TYPE = UPPER ('procedure')</a:t>
            </a:r>
          </a:p>
          <a:p>
            <a:r>
              <a:rPr lang="en-US" sz="2000" dirty="0"/>
              <a:t>     AND NAME = UPPER ('</a:t>
            </a:r>
            <a:r>
              <a:rPr lang="en-US" sz="2000" dirty="0" err="1"/>
              <a:t>имя_процедуры</a:t>
            </a:r>
            <a:r>
              <a:rPr lang="en-US" sz="2000" dirty="0"/>
              <a:t>')</a:t>
            </a:r>
          </a:p>
          <a:p>
            <a:r>
              <a:rPr lang="en-US" sz="2000" dirty="0"/>
              <a:t>ORDER BY line;</a:t>
            </a:r>
            <a:endParaRPr lang="ru-RU" sz="2000" dirty="0"/>
          </a:p>
          <a:p>
            <a:r>
              <a:rPr lang="ru-RU" sz="2000" dirty="0"/>
              <a:t>А также:</a:t>
            </a:r>
          </a:p>
          <a:p>
            <a:r>
              <a:rPr lang="en-US" sz="2000" dirty="0"/>
              <a:t>SELECT </a:t>
            </a:r>
            <a:r>
              <a:rPr lang="en-US" sz="2000" dirty="0" err="1"/>
              <a:t>dbms_metadata.get_ddl</a:t>
            </a:r>
            <a:r>
              <a:rPr lang="en-US" sz="2000" dirty="0"/>
              <a:t>('PROCEDURE', ‘</a:t>
            </a:r>
            <a:r>
              <a:rPr lang="ru-RU" sz="2000" dirty="0" err="1"/>
              <a:t>имя_процедуры</a:t>
            </a:r>
            <a:r>
              <a:rPr lang="en-US" sz="2000" dirty="0"/>
              <a:t>') FROM dual.</a:t>
            </a:r>
            <a:endParaRPr lang="ru-RU" sz="2000" dirty="0"/>
          </a:p>
        </p:txBody>
      </p:sp>
      <p:sp>
        <p:nvSpPr>
          <p:cNvPr id="5" name="Стрелка вправо 4"/>
          <p:cNvSpPr/>
          <p:nvPr/>
        </p:nvSpPr>
        <p:spPr>
          <a:xfrm>
            <a:off x="4334256" y="2880360"/>
            <a:ext cx="969264" cy="292608"/>
          </a:xfrm>
          <a:prstGeom prst="rightArrow">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Номер слайда 5"/>
          <p:cNvSpPr>
            <a:spLocks noGrp="1"/>
          </p:cNvSpPr>
          <p:nvPr>
            <p:ph type="sldNum" sz="quarter" idx="12"/>
          </p:nvPr>
        </p:nvSpPr>
        <p:spPr/>
        <p:txBody>
          <a:bodyPr/>
          <a:lstStyle/>
          <a:p>
            <a:fld id="{941D3F5A-CB4D-46BC-895C-C3EB119D7FE9}" type="slidenum">
              <a:rPr lang="ru-RU" smtClean="0">
                <a:solidFill>
                  <a:prstClr val="black">
                    <a:tint val="75000"/>
                  </a:prstClr>
                </a:solidFill>
              </a:rPr>
              <a:pPr/>
              <a:t>14</a:t>
            </a:fld>
            <a:endParaRPr lang="ru-RU">
              <a:solidFill>
                <a:prstClr val="black">
                  <a:tint val="75000"/>
                </a:prstClr>
              </a:solidFill>
            </a:endParaRPr>
          </a:p>
        </p:txBody>
      </p:sp>
    </p:spTree>
    <p:extLst>
      <p:ext uri="{BB962C8B-B14F-4D97-AF65-F5344CB8AC3E}">
        <p14:creationId xmlns:p14="http://schemas.microsoft.com/office/powerpoint/2010/main" val="1229336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991544" y="149087"/>
            <a:ext cx="8229600" cy="764704"/>
          </a:xfrm>
        </p:spPr>
        <p:txBody>
          <a:bodyPr>
            <a:normAutofit fontScale="90000"/>
          </a:bodyPr>
          <a:lstStyle/>
          <a:p>
            <a:br>
              <a:rPr lang="ru-RU" dirty="0"/>
            </a:br>
            <a:r>
              <a:rPr lang="ru-RU" sz="4000" dirty="0">
                <a:solidFill>
                  <a:srgbClr val="FF0000"/>
                </a:solidFill>
              </a:rPr>
              <a:t>Пакеты</a:t>
            </a:r>
            <a:br>
              <a:rPr lang="ru-RU" sz="4000" dirty="0">
                <a:solidFill>
                  <a:srgbClr val="FF0000"/>
                </a:solidFill>
              </a:rPr>
            </a:br>
            <a:endParaRPr lang="ru-RU" sz="4000" dirty="0">
              <a:solidFill>
                <a:srgbClr val="FF0000"/>
              </a:solidFill>
            </a:endParaRPr>
          </a:p>
        </p:txBody>
      </p:sp>
      <p:sp>
        <p:nvSpPr>
          <p:cNvPr id="3" name="Объект 2"/>
          <p:cNvSpPr>
            <a:spLocks noGrp="1"/>
          </p:cNvSpPr>
          <p:nvPr>
            <p:ph idx="1"/>
          </p:nvPr>
        </p:nvSpPr>
        <p:spPr>
          <a:xfrm>
            <a:off x="1991544" y="1033060"/>
            <a:ext cx="8229600" cy="5688632"/>
          </a:xfrm>
        </p:spPr>
        <p:txBody>
          <a:bodyPr>
            <a:normAutofit/>
          </a:bodyPr>
          <a:lstStyle/>
          <a:p>
            <a:pPr marL="0" indent="0">
              <a:buNone/>
            </a:pPr>
            <a:r>
              <a:rPr lang="ru-RU" sz="2000" dirty="0"/>
              <a:t>     Пакет это набор программных объектов, как правило, логически связанных и  использующих общие данные. При ссылке на какой-нибудь объект пакета, в память загружается весь пакет, и все его объекты становятся доступными. Пока имеются ссылки  на пакет, он остается в памяти.  </a:t>
            </a:r>
          </a:p>
          <a:p>
            <a:pPr marL="0" indent="0">
              <a:buNone/>
            </a:pPr>
            <a:r>
              <a:rPr lang="ru-RU" sz="2000" dirty="0"/>
              <a:t>     Пакет состоит из двух частей:</a:t>
            </a:r>
          </a:p>
          <a:p>
            <a:pPr marL="0" indent="0">
              <a:buNone/>
            </a:pPr>
            <a:r>
              <a:rPr lang="ru-RU" sz="2000" dirty="0"/>
              <a:t>• спецификация или заголовок пакета;</a:t>
            </a:r>
          </a:p>
          <a:p>
            <a:pPr marL="0" indent="0">
              <a:buNone/>
            </a:pPr>
            <a:r>
              <a:rPr lang="ru-RU" sz="2000" dirty="0"/>
              <a:t>• тело пакета.</a:t>
            </a:r>
          </a:p>
          <a:p>
            <a:pPr marL="0" indent="0">
              <a:buNone/>
            </a:pPr>
            <a:r>
              <a:rPr lang="ru-RU" sz="2000" dirty="0"/>
              <a:t>     Заголовок пакета содержит спецификации переменных, типов данных, процедур, функций и курсоров которые предполагается сделать доступными  извне. Здесь нет  программного  кода. Курсоры – это стандартное средство для реализации запросов SQL. </a:t>
            </a:r>
          </a:p>
          <a:p>
            <a:pPr marL="0" indent="0">
              <a:buNone/>
            </a:pPr>
            <a:r>
              <a:rPr lang="ru-RU" sz="2000" dirty="0"/>
              <a:t>     Тело пакета содержит код всех перечисленных в спецификации модулей. Может  содержать описания переменных и других объектов, но все они локальны и не доступны извне пакета.</a:t>
            </a:r>
          </a:p>
          <a:p>
            <a:pPr marL="0" indent="0">
              <a:buNone/>
            </a:pP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15</a:t>
            </a:fld>
            <a:endParaRPr lang="ru-RU">
              <a:solidFill>
                <a:prstClr val="black">
                  <a:tint val="75000"/>
                </a:prstClr>
              </a:solidFill>
            </a:endParaRPr>
          </a:p>
        </p:txBody>
      </p:sp>
    </p:spTree>
    <p:extLst>
      <p:ext uri="{BB962C8B-B14F-4D97-AF65-F5344CB8AC3E}">
        <p14:creationId xmlns:p14="http://schemas.microsoft.com/office/powerpoint/2010/main" val="952598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42596"/>
            <a:ext cx="10972800" cy="709127"/>
          </a:xfrm>
        </p:spPr>
        <p:txBody>
          <a:bodyPr>
            <a:normAutofit/>
          </a:bodyPr>
          <a:lstStyle/>
          <a:p>
            <a:r>
              <a:rPr lang="ru-RU" sz="3200" dirty="0">
                <a:solidFill>
                  <a:srgbClr val="FF0000"/>
                </a:solidFill>
              </a:rPr>
              <a:t>Пакеты. Команды</a:t>
            </a:r>
          </a:p>
        </p:txBody>
      </p:sp>
      <p:sp>
        <p:nvSpPr>
          <p:cNvPr id="3" name="Объект 2"/>
          <p:cNvSpPr>
            <a:spLocks noGrp="1"/>
          </p:cNvSpPr>
          <p:nvPr>
            <p:ph idx="1"/>
          </p:nvPr>
        </p:nvSpPr>
        <p:spPr>
          <a:xfrm>
            <a:off x="609600" y="1343608"/>
            <a:ext cx="10972800" cy="4525963"/>
          </a:xfrm>
        </p:spPr>
        <p:txBody>
          <a:bodyPr>
            <a:normAutofit/>
          </a:bodyPr>
          <a:lstStyle/>
          <a:p>
            <a:pPr marL="0" indent="0">
              <a:buNone/>
            </a:pPr>
            <a:r>
              <a:rPr lang="en-US" sz="2000" dirty="0"/>
              <a:t>CREATE  [OR  REPLACE]  PACKAGE                              </a:t>
            </a:r>
            <a:r>
              <a:rPr lang="ru-RU" sz="2000" dirty="0"/>
              <a:t>создание или модификация  заголовка;</a:t>
            </a:r>
          </a:p>
          <a:p>
            <a:pPr marL="0" indent="0">
              <a:buNone/>
            </a:pPr>
            <a:r>
              <a:rPr lang="en-US" sz="2000" dirty="0"/>
              <a:t>CREATE  [OR  REPLACE]  PACKAGE  BODY                  </a:t>
            </a:r>
            <a:r>
              <a:rPr lang="ru-RU" sz="2000" dirty="0"/>
              <a:t>создание или модификация  тела;</a:t>
            </a:r>
          </a:p>
          <a:p>
            <a:pPr marL="0" indent="0">
              <a:buNone/>
            </a:pPr>
            <a:endParaRPr lang="ru-RU" sz="2000" dirty="0"/>
          </a:p>
          <a:p>
            <a:pPr marL="0" indent="0">
              <a:buNone/>
            </a:pPr>
            <a:r>
              <a:rPr lang="en-US" sz="2000" dirty="0"/>
              <a:t>ALTER PACKAGE</a:t>
            </a:r>
          </a:p>
          <a:p>
            <a:pPr marL="0" indent="0">
              <a:buNone/>
            </a:pPr>
            <a:endParaRPr lang="ru-RU" sz="2000" dirty="0"/>
          </a:p>
          <a:p>
            <a:pPr marL="0" indent="0">
              <a:buNone/>
            </a:pPr>
            <a:r>
              <a:rPr lang="en-US" sz="2000" dirty="0"/>
              <a:t>DROP  PACKAGE                                                                </a:t>
            </a:r>
            <a:r>
              <a:rPr lang="ru-RU" sz="2000" dirty="0"/>
              <a:t>стирание  и заголовка и  тела</a:t>
            </a:r>
          </a:p>
          <a:p>
            <a:pPr marL="0" indent="0">
              <a:buNone/>
            </a:pPr>
            <a:r>
              <a:rPr lang="en-US" sz="2000" dirty="0"/>
              <a:t>DROP  PACKAGE  BODY                                                   </a:t>
            </a:r>
            <a:r>
              <a:rPr lang="ru-RU" sz="2000" dirty="0"/>
              <a:t>стирание  только  тела.</a:t>
            </a:r>
          </a:p>
          <a:p>
            <a:pPr marL="0" indent="0">
              <a:buNone/>
            </a:pP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16</a:t>
            </a:fld>
            <a:endParaRPr lang="ru-RU">
              <a:solidFill>
                <a:prstClr val="black">
                  <a:tint val="75000"/>
                </a:prstClr>
              </a:solidFill>
            </a:endParaRPr>
          </a:p>
        </p:txBody>
      </p:sp>
    </p:spTree>
    <p:extLst>
      <p:ext uri="{BB962C8B-B14F-4D97-AF65-F5344CB8AC3E}">
        <p14:creationId xmlns:p14="http://schemas.microsoft.com/office/powerpoint/2010/main" val="4095988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85800"/>
          </a:xfrm>
        </p:spPr>
        <p:txBody>
          <a:bodyPr>
            <a:normAutofit/>
          </a:bodyPr>
          <a:lstStyle/>
          <a:p>
            <a:r>
              <a:rPr lang="en-US" sz="3200" dirty="0">
                <a:solidFill>
                  <a:srgbClr val="FF0000"/>
                </a:solidFill>
              </a:rPr>
              <a:t>CREATE PACKAGE/PACKAGE BODY</a:t>
            </a:r>
            <a:endParaRPr lang="ru-RU" sz="3200" dirty="0">
              <a:solidFill>
                <a:srgbClr val="FF0000"/>
              </a:solidFill>
            </a:endParaRPr>
          </a:p>
        </p:txBody>
      </p:sp>
      <p:pic>
        <p:nvPicPr>
          <p:cNvPr id="4" name="Рисунок 3"/>
          <p:cNvPicPr>
            <a:picLocks noChangeAspect="1"/>
          </p:cNvPicPr>
          <p:nvPr/>
        </p:nvPicPr>
        <p:blipFill>
          <a:blip r:embed="rId2"/>
          <a:stretch>
            <a:fillRect/>
          </a:stretch>
        </p:blipFill>
        <p:spPr>
          <a:xfrm>
            <a:off x="705257" y="685800"/>
            <a:ext cx="9305428" cy="2416010"/>
          </a:xfrm>
          <a:prstGeom prst="rect">
            <a:avLst/>
          </a:prstGeom>
        </p:spPr>
      </p:pic>
      <p:pic>
        <p:nvPicPr>
          <p:cNvPr id="5" name="Рисунок 4"/>
          <p:cNvPicPr>
            <a:picLocks noChangeAspect="1"/>
          </p:cNvPicPr>
          <p:nvPr/>
        </p:nvPicPr>
        <p:blipFill>
          <a:blip r:embed="rId3"/>
          <a:stretch>
            <a:fillRect/>
          </a:stretch>
        </p:blipFill>
        <p:spPr>
          <a:xfrm>
            <a:off x="7984759" y="2089219"/>
            <a:ext cx="4051852" cy="1586257"/>
          </a:xfrm>
          <a:prstGeom prst="rect">
            <a:avLst/>
          </a:prstGeom>
        </p:spPr>
      </p:pic>
      <p:pic>
        <p:nvPicPr>
          <p:cNvPr id="6" name="Рисунок 5"/>
          <p:cNvPicPr>
            <a:picLocks noChangeAspect="1"/>
          </p:cNvPicPr>
          <p:nvPr/>
        </p:nvPicPr>
        <p:blipFill>
          <a:blip r:embed="rId4"/>
          <a:stretch>
            <a:fillRect/>
          </a:stretch>
        </p:blipFill>
        <p:spPr>
          <a:xfrm>
            <a:off x="609600" y="3675476"/>
            <a:ext cx="11020425" cy="3171825"/>
          </a:xfrm>
          <a:prstGeom prst="rect">
            <a:avLst/>
          </a:prstGeom>
        </p:spPr>
      </p:pic>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17</a:t>
            </a:fld>
            <a:endParaRPr lang="ru-RU">
              <a:solidFill>
                <a:prstClr val="black">
                  <a:tint val="75000"/>
                </a:prstClr>
              </a:solidFill>
            </a:endParaRPr>
          </a:p>
        </p:txBody>
      </p:sp>
    </p:spTree>
    <p:extLst>
      <p:ext uri="{BB962C8B-B14F-4D97-AF65-F5344CB8AC3E}">
        <p14:creationId xmlns:p14="http://schemas.microsoft.com/office/powerpoint/2010/main" val="2489590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53143"/>
          </a:xfrm>
        </p:spPr>
        <p:txBody>
          <a:bodyPr>
            <a:normAutofit/>
          </a:bodyPr>
          <a:lstStyle/>
          <a:p>
            <a:r>
              <a:rPr lang="ru-RU" sz="3200" dirty="0">
                <a:solidFill>
                  <a:srgbClr val="FF0000"/>
                </a:solidFill>
              </a:rPr>
              <a:t>Пакеты. Упрощённый синтаксис </a:t>
            </a:r>
          </a:p>
        </p:txBody>
      </p:sp>
      <p:sp>
        <p:nvSpPr>
          <p:cNvPr id="3" name="Объект 2"/>
          <p:cNvSpPr>
            <a:spLocks noGrp="1"/>
          </p:cNvSpPr>
          <p:nvPr>
            <p:ph idx="1"/>
          </p:nvPr>
        </p:nvSpPr>
        <p:spPr>
          <a:xfrm>
            <a:off x="2080726" y="653143"/>
            <a:ext cx="7324531" cy="5473021"/>
          </a:xfrm>
        </p:spPr>
        <p:txBody>
          <a:bodyPr>
            <a:normAutofit lnSpcReduction="10000"/>
          </a:bodyPr>
          <a:lstStyle/>
          <a:p>
            <a:r>
              <a:rPr lang="ru-RU" sz="2000" dirty="0">
                <a:latin typeface="Times New Roman" panose="02020603050405020304" pitchFamily="18" charset="0"/>
              </a:rPr>
              <a:t>Заголовок пакета:</a:t>
            </a:r>
          </a:p>
          <a:p>
            <a:pPr marL="0" indent="0">
              <a:buNone/>
            </a:pPr>
            <a:r>
              <a:rPr lang="en-US" sz="2000" dirty="0">
                <a:latin typeface="Times New Roman" panose="02020603050405020304" pitchFamily="18" charset="0"/>
              </a:rPr>
              <a:t>CREATE OR REPLACE PACKAGE </a:t>
            </a:r>
            <a:r>
              <a:rPr lang="en-US" sz="2000" dirty="0" err="1">
                <a:latin typeface="Times New Roman" panose="02020603050405020304" pitchFamily="18" charset="0"/>
              </a:rPr>
              <a:t>имя_модуля</a:t>
            </a:r>
            <a:r>
              <a:rPr lang="en-US" sz="2000" dirty="0">
                <a:latin typeface="Times New Roman" panose="02020603050405020304" pitchFamily="18" charset="0"/>
              </a:rPr>
              <a:t> {IS AS}</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описание_процедуры</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описание_функции</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объявление_переменной</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определение_типа</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объявление_исключительной_ситуации</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объявление_курсора</a:t>
            </a:r>
            <a:r>
              <a:rPr lang="ru-RU" sz="2000" dirty="0">
                <a:latin typeface="Times New Roman" panose="02020603050405020304" pitchFamily="18" charset="0"/>
              </a:rPr>
              <a:t> |</a:t>
            </a:r>
          </a:p>
          <a:p>
            <a:pPr marL="0" indent="0">
              <a:buNone/>
            </a:pPr>
            <a:r>
              <a:rPr lang="en-US" sz="2000" dirty="0">
                <a:latin typeface="Times New Roman" panose="02020603050405020304" pitchFamily="18" charset="0"/>
              </a:rPr>
              <a:t>END [</a:t>
            </a:r>
            <a:r>
              <a:rPr lang="ru-RU" sz="2000" dirty="0" err="1">
                <a:latin typeface="Times New Roman" panose="02020603050405020304" pitchFamily="18" charset="0"/>
              </a:rPr>
              <a:t>имя_модуля</a:t>
            </a:r>
            <a:r>
              <a:rPr lang="ru-RU" sz="2000" dirty="0">
                <a:latin typeface="Times New Roman" panose="02020603050405020304" pitchFamily="18" charset="0"/>
              </a:rPr>
              <a:t>];</a:t>
            </a:r>
          </a:p>
          <a:p>
            <a:pPr marL="0" indent="0">
              <a:buNone/>
            </a:pPr>
            <a:endParaRPr lang="ru-RU" sz="2000" dirty="0">
              <a:latin typeface="Times New Roman" panose="02020603050405020304" pitchFamily="18" charset="0"/>
            </a:endParaRPr>
          </a:p>
          <a:p>
            <a:r>
              <a:rPr lang="ru-RU" sz="2000" dirty="0">
                <a:latin typeface="Times New Roman" panose="02020603050405020304" pitchFamily="18" charset="0"/>
              </a:rPr>
              <a:t>Тело пакета:</a:t>
            </a:r>
          </a:p>
          <a:p>
            <a:pPr marL="0" indent="0">
              <a:buNone/>
            </a:pPr>
            <a:r>
              <a:rPr lang="en-US" sz="2000" dirty="0">
                <a:latin typeface="Times New Roman" panose="02020603050405020304" pitchFamily="18" charset="0"/>
              </a:rPr>
              <a:t>CREATE OR REPLACE PACKAGE BODY </a:t>
            </a:r>
            <a:r>
              <a:rPr lang="en-US" sz="2000" dirty="0" err="1">
                <a:latin typeface="Times New Roman" panose="02020603050405020304" pitchFamily="18" charset="0"/>
              </a:rPr>
              <a:t>имя_модуля</a:t>
            </a:r>
            <a:r>
              <a:rPr lang="en-US" sz="2000" dirty="0">
                <a:latin typeface="Times New Roman" panose="02020603050405020304" pitchFamily="18" charset="0"/>
              </a:rPr>
              <a:t> {IS AS}</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код_инициализации_процедуры</a:t>
            </a:r>
            <a:r>
              <a:rPr lang="ru-RU" sz="2000" dirty="0">
                <a:latin typeface="Times New Roman" panose="02020603050405020304" pitchFamily="18" charset="0"/>
              </a:rPr>
              <a:t> |</a:t>
            </a:r>
          </a:p>
          <a:p>
            <a:pPr marL="0" indent="0">
              <a:buNone/>
            </a:pPr>
            <a:r>
              <a:rPr lang="ru-RU" sz="2000" dirty="0">
                <a:latin typeface="Times New Roman" panose="02020603050405020304" pitchFamily="18" charset="0"/>
              </a:rPr>
              <a:t>    </a:t>
            </a:r>
            <a:r>
              <a:rPr lang="ru-RU" sz="2000" dirty="0" err="1">
                <a:latin typeface="Times New Roman" panose="02020603050405020304" pitchFamily="18" charset="0"/>
              </a:rPr>
              <a:t>код_инициализации_функции</a:t>
            </a:r>
            <a:r>
              <a:rPr lang="ru-RU" sz="2000" dirty="0">
                <a:latin typeface="Times New Roman" panose="02020603050405020304" pitchFamily="18" charset="0"/>
              </a:rPr>
              <a:t> |</a:t>
            </a:r>
          </a:p>
          <a:p>
            <a:pPr marL="0" indent="0">
              <a:buNone/>
            </a:pPr>
            <a:r>
              <a:rPr lang="en-US" sz="2000" dirty="0">
                <a:latin typeface="Times New Roman" panose="02020603050405020304" pitchFamily="18" charset="0"/>
              </a:rPr>
              <a:t>END [</a:t>
            </a:r>
            <a:r>
              <a:rPr lang="ru-RU" sz="2000" dirty="0" err="1">
                <a:latin typeface="Times New Roman" panose="02020603050405020304" pitchFamily="18" charset="0"/>
              </a:rPr>
              <a:t>имя_модуля</a:t>
            </a:r>
            <a:r>
              <a:rPr lang="ru-RU" sz="2000" dirty="0">
                <a:latin typeface="Times New Roman" panose="02020603050405020304" pitchFamily="18" charset="0"/>
              </a:rPr>
              <a:t>];</a:t>
            </a: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18</a:t>
            </a:fld>
            <a:endParaRPr lang="ru-RU">
              <a:solidFill>
                <a:prstClr val="black">
                  <a:tint val="75000"/>
                </a:prstClr>
              </a:solidFill>
            </a:endParaRPr>
          </a:p>
        </p:txBody>
      </p:sp>
    </p:spTree>
    <p:extLst>
      <p:ext uri="{BB962C8B-B14F-4D97-AF65-F5344CB8AC3E}">
        <p14:creationId xmlns:p14="http://schemas.microsoft.com/office/powerpoint/2010/main" val="636123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912359" y="289249"/>
            <a:ext cx="3875314" cy="1138335"/>
          </a:xfrm>
        </p:spPr>
        <p:txBody>
          <a:bodyPr>
            <a:normAutofit/>
          </a:bodyPr>
          <a:lstStyle/>
          <a:p>
            <a:r>
              <a:rPr lang="ru-RU" sz="3200" dirty="0">
                <a:solidFill>
                  <a:srgbClr val="FF0000"/>
                </a:solidFill>
              </a:rPr>
              <a:t>Пакеты. Команда </a:t>
            </a:r>
            <a:r>
              <a:rPr lang="en-US" sz="3200" dirty="0">
                <a:solidFill>
                  <a:srgbClr val="FF0000"/>
                </a:solidFill>
              </a:rPr>
              <a:t>ALTER PACKAGE</a:t>
            </a:r>
            <a:endParaRPr lang="ru-RU" dirty="0"/>
          </a:p>
        </p:txBody>
      </p:sp>
      <p:pic>
        <p:nvPicPr>
          <p:cNvPr id="4" name="Рисунок 3"/>
          <p:cNvPicPr>
            <a:picLocks noChangeAspect="1"/>
          </p:cNvPicPr>
          <p:nvPr/>
        </p:nvPicPr>
        <p:blipFill>
          <a:blip r:embed="rId2"/>
          <a:stretch>
            <a:fillRect/>
          </a:stretch>
        </p:blipFill>
        <p:spPr>
          <a:xfrm>
            <a:off x="747722" y="307910"/>
            <a:ext cx="7481878" cy="6463190"/>
          </a:xfrm>
          <a:prstGeom prst="rect">
            <a:avLst/>
          </a:prstGeom>
        </p:spPr>
      </p:pic>
      <p:sp>
        <p:nvSpPr>
          <p:cNvPr id="3" name="Номер слайда 2"/>
          <p:cNvSpPr>
            <a:spLocks noGrp="1"/>
          </p:cNvSpPr>
          <p:nvPr>
            <p:ph type="sldNum" sz="quarter" idx="12"/>
          </p:nvPr>
        </p:nvSpPr>
        <p:spPr/>
        <p:txBody>
          <a:bodyPr/>
          <a:lstStyle/>
          <a:p>
            <a:fld id="{941D3F5A-CB4D-46BC-895C-C3EB119D7FE9}" type="slidenum">
              <a:rPr lang="ru-RU" smtClean="0">
                <a:solidFill>
                  <a:prstClr val="black">
                    <a:tint val="75000"/>
                  </a:prstClr>
                </a:solidFill>
              </a:rPr>
              <a:pPr/>
              <a:t>19</a:t>
            </a:fld>
            <a:endParaRPr lang="ru-RU">
              <a:solidFill>
                <a:prstClr val="black">
                  <a:tint val="75000"/>
                </a:prstClr>
              </a:solidFill>
            </a:endParaRPr>
          </a:p>
        </p:txBody>
      </p:sp>
    </p:spTree>
    <p:extLst>
      <p:ext uri="{BB962C8B-B14F-4D97-AF65-F5344CB8AC3E}">
        <p14:creationId xmlns:p14="http://schemas.microsoft.com/office/powerpoint/2010/main" val="3425956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926424" y="-1"/>
            <a:ext cx="4655976" cy="2052735"/>
          </a:xfrm>
        </p:spPr>
        <p:txBody>
          <a:bodyPr>
            <a:normAutofit/>
          </a:bodyPr>
          <a:lstStyle/>
          <a:p>
            <a:r>
              <a:rPr lang="ru-RU" sz="3200" dirty="0">
                <a:solidFill>
                  <a:srgbClr val="FF0000"/>
                </a:solidFill>
              </a:rPr>
              <a:t>Пример. Спецификация, тело пакета </a:t>
            </a:r>
            <a:br>
              <a:rPr lang="ru-RU" sz="3200" dirty="0">
                <a:solidFill>
                  <a:srgbClr val="FF0000"/>
                </a:solidFill>
              </a:rPr>
            </a:br>
            <a:r>
              <a:rPr lang="ru-RU" sz="3200" dirty="0">
                <a:solidFill>
                  <a:srgbClr val="FF0000"/>
                </a:solidFill>
              </a:rPr>
              <a:t>и его вызов</a:t>
            </a:r>
          </a:p>
        </p:txBody>
      </p:sp>
      <p:sp>
        <p:nvSpPr>
          <p:cNvPr id="3" name="Объект 2"/>
          <p:cNvSpPr>
            <a:spLocks noGrp="1"/>
          </p:cNvSpPr>
          <p:nvPr>
            <p:ph idx="1"/>
          </p:nvPr>
        </p:nvSpPr>
        <p:spPr>
          <a:xfrm>
            <a:off x="802433" y="1"/>
            <a:ext cx="7819053" cy="6857999"/>
          </a:xfrm>
        </p:spPr>
        <p:txBody>
          <a:bodyPr>
            <a:noAutofit/>
          </a:bodyPr>
          <a:lstStyle/>
          <a:p>
            <a:pPr marL="0" indent="0">
              <a:lnSpc>
                <a:spcPct val="90000"/>
              </a:lnSpc>
              <a:buNone/>
            </a:pPr>
            <a:r>
              <a:rPr lang="ru-RU" sz="2000" u="sng" dirty="0"/>
              <a:t>Спецификация:</a:t>
            </a:r>
          </a:p>
          <a:p>
            <a:pPr marL="0" indent="0">
              <a:lnSpc>
                <a:spcPct val="90000"/>
              </a:lnSpc>
              <a:buNone/>
            </a:pPr>
            <a:r>
              <a:rPr lang="en-US" sz="2000" dirty="0"/>
              <a:t>CREATE OR REPLACE PACKAGE </a:t>
            </a:r>
            <a:r>
              <a:rPr lang="en-US" sz="2000" dirty="0" err="1"/>
              <a:t>my_pkg</a:t>
            </a:r>
            <a:r>
              <a:rPr lang="en-US" sz="2000" dirty="0"/>
              <a:t> IS</a:t>
            </a:r>
          </a:p>
          <a:p>
            <a:pPr marL="0" indent="0">
              <a:lnSpc>
                <a:spcPct val="90000"/>
              </a:lnSpc>
              <a:buNone/>
            </a:pPr>
            <a:r>
              <a:rPr lang="en-US" sz="2000" dirty="0"/>
              <a:t>PROCEDURE </a:t>
            </a:r>
            <a:r>
              <a:rPr lang="en-US" sz="2000" dirty="0" err="1"/>
              <a:t>my_proc</a:t>
            </a:r>
            <a:r>
              <a:rPr lang="en-US" sz="2000" dirty="0"/>
              <a:t>(per1 IN INT);</a:t>
            </a:r>
          </a:p>
          <a:p>
            <a:pPr marL="0" indent="0">
              <a:lnSpc>
                <a:spcPct val="90000"/>
              </a:lnSpc>
              <a:buNone/>
            </a:pPr>
            <a:r>
              <a:rPr lang="en-US" sz="2000" dirty="0"/>
              <a:t>FUNCTION </a:t>
            </a:r>
            <a:r>
              <a:rPr lang="en-US" sz="2000" dirty="0" err="1"/>
              <a:t>my_func</a:t>
            </a:r>
            <a:r>
              <a:rPr lang="en-US" sz="2000" dirty="0"/>
              <a:t>(per1 IN INT, per2 IN INT) RETURN INT;</a:t>
            </a:r>
          </a:p>
          <a:p>
            <a:pPr marL="0" indent="0">
              <a:lnSpc>
                <a:spcPct val="90000"/>
              </a:lnSpc>
              <a:buNone/>
            </a:pPr>
            <a:r>
              <a:rPr lang="en-US" sz="2000" dirty="0"/>
              <a:t>END </a:t>
            </a:r>
            <a:r>
              <a:rPr lang="en-US" sz="2000" dirty="0" err="1"/>
              <a:t>my_pkg</a:t>
            </a:r>
            <a:r>
              <a:rPr lang="en-US" sz="2000" dirty="0"/>
              <a:t>;</a:t>
            </a:r>
            <a:r>
              <a:rPr lang="ru-RU" sz="2000" dirty="0"/>
              <a:t> </a:t>
            </a:r>
            <a:r>
              <a:rPr lang="en-US" sz="2000" dirty="0"/>
              <a:t>/</a:t>
            </a:r>
          </a:p>
          <a:p>
            <a:pPr marL="0" indent="0">
              <a:lnSpc>
                <a:spcPct val="90000"/>
              </a:lnSpc>
              <a:buNone/>
            </a:pPr>
            <a:r>
              <a:rPr lang="ru-RU" sz="2000" u="sng" dirty="0"/>
              <a:t>Тело пакета:</a:t>
            </a:r>
          </a:p>
          <a:p>
            <a:pPr marL="0" indent="0">
              <a:lnSpc>
                <a:spcPct val="90000"/>
              </a:lnSpc>
              <a:buNone/>
            </a:pPr>
            <a:r>
              <a:rPr lang="en-US" sz="2000" dirty="0"/>
              <a:t>CREATE OR REPLACE PACKAGE BODY </a:t>
            </a:r>
            <a:r>
              <a:rPr lang="en-US" sz="2000" dirty="0" err="1"/>
              <a:t>my_pkg</a:t>
            </a:r>
            <a:r>
              <a:rPr lang="en-US" sz="2000" dirty="0"/>
              <a:t> IS</a:t>
            </a:r>
          </a:p>
          <a:p>
            <a:pPr marL="0" indent="0">
              <a:lnSpc>
                <a:spcPct val="90000"/>
              </a:lnSpc>
              <a:buNone/>
            </a:pPr>
            <a:r>
              <a:rPr lang="en-US" sz="2000" dirty="0"/>
              <a:t>PROCEDURE </a:t>
            </a:r>
            <a:r>
              <a:rPr lang="en-US" sz="2000" dirty="0" err="1"/>
              <a:t>my_proc</a:t>
            </a:r>
            <a:r>
              <a:rPr lang="en-US" sz="2000" dirty="0"/>
              <a:t>(per1 IN INT)</a:t>
            </a:r>
          </a:p>
          <a:p>
            <a:pPr marL="0" indent="0">
              <a:lnSpc>
                <a:spcPct val="90000"/>
              </a:lnSpc>
              <a:buNone/>
            </a:pPr>
            <a:r>
              <a:rPr lang="en-US" sz="2000" dirty="0"/>
              <a:t>IS</a:t>
            </a:r>
          </a:p>
          <a:p>
            <a:pPr marL="0" indent="0">
              <a:lnSpc>
                <a:spcPct val="90000"/>
              </a:lnSpc>
              <a:buNone/>
            </a:pPr>
            <a:r>
              <a:rPr lang="en-US" sz="2000" dirty="0"/>
              <a:t>BEGIN</a:t>
            </a:r>
          </a:p>
          <a:p>
            <a:pPr marL="0" indent="0">
              <a:lnSpc>
                <a:spcPct val="90000"/>
              </a:lnSpc>
              <a:buNone/>
            </a:pPr>
            <a:r>
              <a:rPr lang="en-US" sz="2000" dirty="0"/>
              <a:t>DBMS_OUTPUT.enable;</a:t>
            </a:r>
          </a:p>
          <a:p>
            <a:pPr marL="0" indent="0">
              <a:lnSpc>
                <a:spcPct val="90000"/>
              </a:lnSpc>
              <a:buNone/>
            </a:pPr>
            <a:r>
              <a:rPr lang="en-US" sz="2000" dirty="0"/>
              <a:t>DBMS_OUTPUT.put_line('per1 + 2 = ' || TO_CHAR(2 + per1));</a:t>
            </a:r>
          </a:p>
          <a:p>
            <a:pPr marL="0" indent="0">
              <a:lnSpc>
                <a:spcPct val="90000"/>
              </a:lnSpc>
              <a:buNone/>
            </a:pPr>
            <a:r>
              <a:rPr lang="en-US" sz="2000" dirty="0"/>
              <a:t>END my_proc;</a:t>
            </a:r>
            <a:endParaRPr lang="ru-RU" sz="2000" dirty="0"/>
          </a:p>
          <a:p>
            <a:pPr marL="0" indent="0">
              <a:lnSpc>
                <a:spcPct val="90000"/>
              </a:lnSpc>
              <a:buNone/>
            </a:pPr>
            <a:r>
              <a:rPr lang="en-US" sz="2000" dirty="0"/>
              <a:t>FUNCTION my_func(per1 IN INT, per2 IN INT) RETURN INT</a:t>
            </a:r>
          </a:p>
          <a:p>
            <a:pPr marL="0" indent="0">
              <a:lnSpc>
                <a:spcPct val="90000"/>
              </a:lnSpc>
              <a:buNone/>
            </a:pPr>
            <a:r>
              <a:rPr lang="en-US" sz="2000" dirty="0"/>
              <a:t>IS</a:t>
            </a:r>
          </a:p>
          <a:p>
            <a:pPr marL="0" indent="0">
              <a:lnSpc>
                <a:spcPct val="90000"/>
              </a:lnSpc>
              <a:buNone/>
            </a:pPr>
            <a:r>
              <a:rPr lang="en-US" sz="2000" dirty="0"/>
              <a:t>BEGIN</a:t>
            </a:r>
          </a:p>
          <a:p>
            <a:pPr marL="0" indent="0">
              <a:lnSpc>
                <a:spcPct val="90000"/>
              </a:lnSpc>
              <a:buNone/>
            </a:pPr>
            <a:r>
              <a:rPr lang="en-US" sz="2000" dirty="0"/>
              <a:t>RETURN (per1 * per2);</a:t>
            </a:r>
          </a:p>
          <a:p>
            <a:pPr marL="0" indent="0">
              <a:lnSpc>
                <a:spcPct val="90000"/>
              </a:lnSpc>
              <a:buNone/>
            </a:pPr>
            <a:r>
              <a:rPr lang="en-US" sz="2000" dirty="0"/>
              <a:t>END my_func;</a:t>
            </a:r>
          </a:p>
          <a:p>
            <a:pPr marL="0" indent="0">
              <a:lnSpc>
                <a:spcPct val="90000"/>
              </a:lnSpc>
              <a:buNone/>
            </a:pPr>
            <a:r>
              <a:rPr lang="en-US" sz="2000" dirty="0"/>
              <a:t>END my_pkg;</a:t>
            </a:r>
            <a:r>
              <a:rPr lang="ru-RU" sz="2000" dirty="0"/>
              <a:t> </a:t>
            </a:r>
            <a:r>
              <a:rPr lang="en-US" sz="2000" dirty="0"/>
              <a:t>/</a:t>
            </a:r>
            <a:endParaRPr lang="ru-RU" sz="2000" dirty="0"/>
          </a:p>
        </p:txBody>
      </p:sp>
      <p:sp>
        <p:nvSpPr>
          <p:cNvPr id="5" name="Прямоугольник 4"/>
          <p:cNvSpPr/>
          <p:nvPr/>
        </p:nvSpPr>
        <p:spPr>
          <a:xfrm>
            <a:off x="5791200" y="4930226"/>
            <a:ext cx="6156960" cy="1815882"/>
          </a:xfrm>
          <a:prstGeom prst="rect">
            <a:avLst/>
          </a:prstGeom>
          <a:ln>
            <a:solidFill>
              <a:schemeClr val="accent1"/>
            </a:solidFill>
          </a:ln>
        </p:spPr>
        <p:txBody>
          <a:bodyPr wrap="square">
            <a:spAutoFit/>
          </a:bodyPr>
          <a:lstStyle/>
          <a:p>
            <a:pPr>
              <a:lnSpc>
                <a:spcPct val="80000"/>
              </a:lnSpc>
            </a:pPr>
            <a:r>
              <a:rPr lang="ru-RU" sz="2000" u="sng" dirty="0">
                <a:latin typeface="Times New Roman" panose="02020603050405020304" pitchFamily="18" charset="0"/>
              </a:rPr>
              <a:t>Вызов:</a:t>
            </a:r>
          </a:p>
          <a:p>
            <a:pPr>
              <a:lnSpc>
                <a:spcPct val="80000"/>
              </a:lnSpc>
            </a:pPr>
            <a:r>
              <a:rPr lang="en-US" sz="2000" dirty="0">
                <a:latin typeface="Times New Roman" panose="02020603050405020304" pitchFamily="18" charset="0"/>
              </a:rPr>
              <a:t>SET SERVEROUTPUT ON</a:t>
            </a:r>
          </a:p>
          <a:p>
            <a:pPr>
              <a:lnSpc>
                <a:spcPct val="80000"/>
              </a:lnSpc>
            </a:pPr>
            <a:r>
              <a:rPr lang="en-US" sz="2000" dirty="0">
                <a:latin typeface="Times New Roman" panose="02020603050405020304" pitchFamily="18" charset="0"/>
              </a:rPr>
              <a:t>BEGIN</a:t>
            </a:r>
          </a:p>
          <a:p>
            <a:pPr>
              <a:lnSpc>
                <a:spcPct val="80000"/>
              </a:lnSpc>
            </a:pPr>
            <a:r>
              <a:rPr lang="en-US" sz="2000" dirty="0">
                <a:latin typeface="Times New Roman" panose="02020603050405020304" pitchFamily="18" charset="0"/>
              </a:rPr>
              <a:t>my_pkg.my_proc(12);</a:t>
            </a:r>
          </a:p>
          <a:p>
            <a:pPr>
              <a:lnSpc>
                <a:spcPct val="80000"/>
              </a:lnSpc>
            </a:pPr>
            <a:r>
              <a:rPr lang="en-US" sz="2000" dirty="0">
                <a:latin typeface="Times New Roman" panose="02020603050405020304" pitchFamily="18" charset="0"/>
              </a:rPr>
              <a:t>my_pkg.my_proc(TO_CHAR(my_pkg.my_func(3,6)));</a:t>
            </a:r>
          </a:p>
          <a:p>
            <a:pPr>
              <a:lnSpc>
                <a:spcPct val="80000"/>
              </a:lnSpc>
            </a:pPr>
            <a:r>
              <a:rPr lang="en-US" sz="2000" dirty="0">
                <a:latin typeface="Times New Roman" panose="02020603050405020304" pitchFamily="18" charset="0"/>
              </a:rPr>
              <a:t>END;</a:t>
            </a:r>
          </a:p>
          <a:p>
            <a:pPr>
              <a:lnSpc>
                <a:spcPct val="80000"/>
              </a:lnSpc>
            </a:pPr>
            <a:r>
              <a:rPr lang="ru-RU" sz="2000" dirty="0">
                <a:latin typeface="Times New Roman" panose="02020603050405020304" pitchFamily="18" charset="0"/>
              </a:rPr>
              <a:t>/</a:t>
            </a: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20</a:t>
            </a:fld>
            <a:endParaRPr lang="ru-RU">
              <a:solidFill>
                <a:prstClr val="black">
                  <a:tint val="75000"/>
                </a:prstClr>
              </a:solidFill>
            </a:endParaRPr>
          </a:p>
        </p:txBody>
      </p:sp>
    </p:spTree>
    <p:extLst>
      <p:ext uri="{BB962C8B-B14F-4D97-AF65-F5344CB8AC3E}">
        <p14:creationId xmlns:p14="http://schemas.microsoft.com/office/powerpoint/2010/main" val="428062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90465"/>
          </a:xfrm>
        </p:spPr>
        <p:txBody>
          <a:bodyPr>
            <a:normAutofit/>
          </a:bodyPr>
          <a:lstStyle/>
          <a:p>
            <a:r>
              <a:rPr lang="ru-RU" sz="3200" dirty="0">
                <a:solidFill>
                  <a:srgbClr val="FF0000"/>
                </a:solidFill>
                <a:latin typeface="+mn-lt"/>
                <a:ea typeface="Times New Roman" panose="02020603050405020304" pitchFamily="18" charset="0"/>
              </a:rPr>
              <a:t>Одноразовые  процедуры</a:t>
            </a:r>
            <a:endParaRPr lang="ru-RU" sz="3200" dirty="0">
              <a:solidFill>
                <a:srgbClr val="FF0000"/>
              </a:solidFill>
              <a:latin typeface="+mn-lt"/>
            </a:endParaRPr>
          </a:p>
        </p:txBody>
      </p:sp>
      <p:sp>
        <p:nvSpPr>
          <p:cNvPr id="3" name="Объект 2"/>
          <p:cNvSpPr>
            <a:spLocks noGrp="1"/>
          </p:cNvSpPr>
          <p:nvPr>
            <p:ph idx="1"/>
          </p:nvPr>
        </p:nvSpPr>
        <p:spPr>
          <a:xfrm>
            <a:off x="1188097" y="877078"/>
            <a:ext cx="9815805" cy="5775649"/>
          </a:xfrm>
        </p:spPr>
        <p:txBody>
          <a:bodyPr>
            <a:noAutofit/>
          </a:bodyPr>
          <a:lstStyle/>
          <a:p>
            <a:pPr marL="0" indent="0">
              <a:buNone/>
            </a:pPr>
            <a:r>
              <a:rPr lang="ru-RU" sz="2000" dirty="0"/>
              <a:t>         Иногда  удобно  вместо  непосредственного  задания  значений  переменных </a:t>
            </a:r>
          </a:p>
          <a:p>
            <a:pPr marL="0" indent="0">
              <a:buNone/>
            </a:pPr>
            <a:r>
              <a:rPr lang="ru-RU" sz="2000" dirty="0"/>
              <a:t> использовать  блок, срабатывающий  автоматически  при  первом  в  текущей сессии  </a:t>
            </a:r>
          </a:p>
          <a:p>
            <a:pPr marL="0" indent="0">
              <a:buNone/>
            </a:pPr>
            <a:r>
              <a:rPr lang="ru-RU" sz="2000" dirty="0"/>
              <a:t>обращении  к  любому  объекту  в  пакете.</a:t>
            </a:r>
          </a:p>
          <a:p>
            <a:pPr marL="0" indent="0">
              <a:buNone/>
            </a:pPr>
            <a:r>
              <a:rPr lang="ru-RU" sz="2000" u="sng" dirty="0"/>
              <a:t>Пример:  </a:t>
            </a:r>
            <a:r>
              <a:rPr lang="ru-RU" sz="2000" dirty="0"/>
              <a:t>(выделен  добавленный  блок):</a:t>
            </a:r>
          </a:p>
          <a:p>
            <a:pPr marL="0" indent="0">
              <a:buNone/>
            </a:pPr>
            <a:r>
              <a:rPr lang="en-US" sz="2000" dirty="0"/>
              <a:t>create or replace package body </a:t>
            </a:r>
            <a:r>
              <a:rPr lang="en-US" sz="2000" dirty="0" err="1"/>
              <a:t>comm_package</a:t>
            </a:r>
            <a:r>
              <a:rPr lang="en-US" sz="2000" dirty="0"/>
              <a:t> is</a:t>
            </a:r>
          </a:p>
          <a:p>
            <a:pPr marL="0" indent="0">
              <a:buNone/>
            </a:pPr>
            <a:r>
              <a:rPr lang="en-US" sz="2000" dirty="0"/>
              <a:t>    function </a:t>
            </a:r>
            <a:r>
              <a:rPr lang="en-US" sz="2000" dirty="0" err="1"/>
              <a:t>get_comm</a:t>
            </a:r>
            <a:r>
              <a:rPr lang="en-US" sz="2000" dirty="0"/>
              <a:t> return number</a:t>
            </a:r>
          </a:p>
          <a:p>
            <a:pPr marL="0" indent="0">
              <a:buNone/>
            </a:pPr>
            <a:r>
              <a:rPr lang="en-US" sz="2000" dirty="0"/>
              <a:t>................................................</a:t>
            </a:r>
          </a:p>
          <a:p>
            <a:pPr marL="0" indent="0">
              <a:buNone/>
            </a:pPr>
            <a:r>
              <a:rPr lang="en-US" sz="2000" dirty="0"/>
              <a:t>    procedure </a:t>
            </a:r>
            <a:r>
              <a:rPr lang="en-US" sz="2000" dirty="0" err="1"/>
              <a:t>reset_comm_rate</a:t>
            </a:r>
            <a:r>
              <a:rPr lang="en-US" sz="2000" dirty="0"/>
              <a:t>(</a:t>
            </a:r>
            <a:r>
              <a:rPr lang="en-US" sz="2000" dirty="0" err="1"/>
              <a:t>v_comm_rate</a:t>
            </a:r>
            <a:r>
              <a:rPr lang="en-US" sz="2000" dirty="0"/>
              <a:t> in number)</a:t>
            </a:r>
          </a:p>
          <a:p>
            <a:pPr marL="0" indent="0">
              <a:buNone/>
            </a:pPr>
            <a:r>
              <a:rPr lang="en-US" sz="2000" dirty="0"/>
              <a:t>................................................</a:t>
            </a:r>
          </a:p>
          <a:p>
            <a:pPr marL="0" indent="0">
              <a:buNone/>
            </a:pPr>
            <a:r>
              <a:rPr lang="en-US" sz="2000" dirty="0"/>
              <a:t>    end </a:t>
            </a:r>
            <a:r>
              <a:rPr lang="en-US" sz="2000" dirty="0" err="1"/>
              <a:t>reset_comm_rate</a:t>
            </a:r>
            <a:r>
              <a:rPr lang="en-US" sz="2000" dirty="0"/>
              <a:t>;  </a:t>
            </a:r>
          </a:p>
          <a:p>
            <a:pPr marL="0" indent="0">
              <a:buNone/>
            </a:pPr>
            <a:r>
              <a:rPr lang="en-US" sz="2000" dirty="0"/>
              <a:t>    </a:t>
            </a:r>
            <a:r>
              <a:rPr lang="en-US" sz="2000" b="1" dirty="0"/>
              <a:t>BEGIN</a:t>
            </a:r>
          </a:p>
          <a:p>
            <a:pPr marL="0" indent="0">
              <a:buNone/>
            </a:pPr>
            <a:r>
              <a:rPr lang="en-US" sz="2000" b="1" dirty="0"/>
              <a:t>         select  </a:t>
            </a:r>
            <a:r>
              <a:rPr lang="en-US" sz="2000" b="1" dirty="0" err="1"/>
              <a:t>comm_rate</a:t>
            </a:r>
            <a:r>
              <a:rPr lang="en-US" sz="2000" b="1" dirty="0"/>
              <a:t>  into  g_ </a:t>
            </a:r>
            <a:r>
              <a:rPr lang="en-US" sz="2000" b="1" dirty="0" err="1"/>
              <a:t>comm_rate</a:t>
            </a:r>
            <a:endParaRPr lang="en-US" sz="2000" b="1" dirty="0"/>
          </a:p>
          <a:p>
            <a:pPr marL="0" indent="0">
              <a:buNone/>
            </a:pPr>
            <a:r>
              <a:rPr lang="en-US" sz="2000" b="1" dirty="0"/>
              <a:t>         from  </a:t>
            </a:r>
            <a:r>
              <a:rPr lang="en-US" sz="2000" b="1" dirty="0" err="1"/>
              <a:t>ref_table</a:t>
            </a:r>
            <a:endParaRPr lang="en-US" sz="2000" b="1" dirty="0"/>
          </a:p>
          <a:p>
            <a:pPr marL="0" indent="0">
              <a:buNone/>
            </a:pPr>
            <a:r>
              <a:rPr lang="en-US" sz="2000" b="1" dirty="0"/>
              <a:t>         where </a:t>
            </a:r>
            <a:r>
              <a:rPr lang="en-US" sz="2000" b="1" dirty="0" err="1"/>
              <a:t>ref_type</a:t>
            </a:r>
            <a:r>
              <a:rPr lang="en-US" sz="2000" b="1" dirty="0"/>
              <a:t> = ‘COMM_RATE’;</a:t>
            </a:r>
          </a:p>
          <a:p>
            <a:pPr marL="0" indent="0">
              <a:buNone/>
            </a:pPr>
            <a:r>
              <a:rPr lang="en-US" sz="2000" dirty="0"/>
              <a:t>end </a:t>
            </a:r>
            <a:r>
              <a:rPr lang="en-US" sz="2000" dirty="0" err="1"/>
              <a:t>comm_package</a:t>
            </a:r>
            <a:r>
              <a:rPr lang="en-US" sz="2000" dirty="0"/>
              <a:t>;</a:t>
            </a:r>
          </a:p>
          <a:p>
            <a:pPr marL="0" indent="0">
              <a:buNone/>
            </a:pPr>
            <a:r>
              <a:rPr lang="en-US" sz="2000" dirty="0"/>
              <a:t> /</a:t>
            </a:r>
            <a:endParaRPr lang="ru-RU" sz="2000" dirty="0"/>
          </a:p>
        </p:txBody>
      </p:sp>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21</a:t>
            </a:fld>
            <a:endParaRPr lang="ru-RU">
              <a:solidFill>
                <a:prstClr val="black">
                  <a:tint val="75000"/>
                </a:prstClr>
              </a:solidFill>
            </a:endParaRPr>
          </a:p>
        </p:txBody>
      </p:sp>
    </p:spTree>
    <p:extLst>
      <p:ext uri="{BB962C8B-B14F-4D97-AF65-F5344CB8AC3E}">
        <p14:creationId xmlns:p14="http://schemas.microsoft.com/office/powerpoint/2010/main" val="4010301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72815" y="0"/>
            <a:ext cx="8696131" cy="548680"/>
          </a:xfrm>
        </p:spPr>
        <p:txBody>
          <a:bodyPr>
            <a:normAutofit fontScale="90000"/>
          </a:bodyPr>
          <a:lstStyle/>
          <a:p>
            <a:r>
              <a:rPr lang="ru-RU" sz="3600" dirty="0">
                <a:solidFill>
                  <a:srgbClr val="FF0000"/>
                </a:solidFill>
              </a:rPr>
              <a:t>Примеры использования пакетов </a:t>
            </a:r>
            <a:r>
              <a:rPr lang="en-US" sz="3600" dirty="0">
                <a:solidFill>
                  <a:srgbClr val="FF0000"/>
                </a:solidFill>
              </a:rPr>
              <a:t>Oracle</a:t>
            </a:r>
            <a:endParaRPr lang="ru-RU" sz="3600" dirty="0">
              <a:solidFill>
                <a:srgbClr val="FF0000"/>
              </a:solidFill>
            </a:endParaRPr>
          </a:p>
        </p:txBody>
      </p:sp>
      <p:sp>
        <p:nvSpPr>
          <p:cNvPr id="3" name="Объект 2"/>
          <p:cNvSpPr>
            <a:spLocks noGrp="1"/>
          </p:cNvSpPr>
          <p:nvPr>
            <p:ph idx="1"/>
          </p:nvPr>
        </p:nvSpPr>
        <p:spPr>
          <a:xfrm>
            <a:off x="1631504" y="476672"/>
            <a:ext cx="9036496" cy="6264696"/>
          </a:xfrm>
        </p:spPr>
        <p:txBody>
          <a:bodyPr>
            <a:noAutofit/>
          </a:bodyPr>
          <a:lstStyle/>
          <a:p>
            <a:pPr marL="0" indent="0">
              <a:buNone/>
            </a:pPr>
            <a:r>
              <a:rPr lang="ru-RU" sz="2000" dirty="0"/>
              <a:t>     Функция </a:t>
            </a:r>
            <a:r>
              <a:rPr lang="en-US" sz="2000" dirty="0"/>
              <a:t>GET_DDL </a:t>
            </a:r>
            <a:r>
              <a:rPr lang="ru-RU" sz="2000" dirty="0"/>
              <a:t>пакета </a:t>
            </a:r>
            <a:r>
              <a:rPr lang="en-US" sz="2000" dirty="0"/>
              <a:t>DBMS_METADATA </a:t>
            </a:r>
            <a:r>
              <a:rPr lang="ru-RU" sz="2000" dirty="0"/>
              <a:t>позволяет получить тексты определения любого хранимого объекта базы. Примеры:</a:t>
            </a:r>
          </a:p>
          <a:p>
            <a:pPr marL="0" indent="0">
              <a:buNone/>
            </a:pPr>
            <a:r>
              <a:rPr lang="ru-RU" sz="2000" dirty="0"/>
              <a:t>1. Запрос описания процедуры или функции</a:t>
            </a:r>
          </a:p>
          <a:p>
            <a:pPr marL="0" indent="0">
              <a:buNone/>
            </a:pPr>
            <a:r>
              <a:rPr lang="en-US" sz="2000" dirty="0"/>
              <a:t>SELECT dbms_metadata.get_ddl('PROCEDURE', '</a:t>
            </a:r>
            <a:r>
              <a:rPr lang="ru-RU" sz="2000" dirty="0"/>
              <a:t>имя_проц.', '</a:t>
            </a:r>
            <a:r>
              <a:rPr lang="ru-RU" sz="2000" dirty="0" err="1"/>
              <a:t>имя_сх</a:t>
            </a:r>
            <a:r>
              <a:rPr lang="ru-RU" sz="2000" dirty="0"/>
              <a:t>.') </a:t>
            </a:r>
            <a:r>
              <a:rPr lang="en-US" sz="2000" dirty="0"/>
              <a:t>FROM dual;</a:t>
            </a:r>
          </a:p>
          <a:p>
            <a:pPr marL="0" indent="0">
              <a:buNone/>
            </a:pPr>
            <a:r>
              <a:rPr lang="ru-RU" sz="2000" dirty="0"/>
              <a:t>     </a:t>
            </a:r>
            <a:r>
              <a:rPr lang="ru-RU" sz="1900" dirty="0"/>
              <a:t>Например, для только что созданной функции </a:t>
            </a:r>
            <a:r>
              <a:rPr lang="en-US" sz="1900" dirty="0"/>
              <a:t>circle_area: </a:t>
            </a:r>
          </a:p>
          <a:p>
            <a:pPr marL="0" indent="0">
              <a:buNone/>
            </a:pPr>
            <a:r>
              <a:rPr lang="en-US" sz="1900" dirty="0"/>
              <a:t>SELECT dbms_metadata.get_ddl('FUNCTION', 'CIRCLE_AREA', 'HR') FROM dual;</a:t>
            </a:r>
          </a:p>
          <a:p>
            <a:pPr marL="0" indent="0">
              <a:buNone/>
            </a:pPr>
            <a:r>
              <a:rPr lang="ru-RU" sz="2000" dirty="0"/>
              <a:t>2. Запрос описания пользователя </a:t>
            </a:r>
          </a:p>
          <a:p>
            <a:pPr marL="0" indent="0">
              <a:buNone/>
            </a:pPr>
            <a:r>
              <a:rPr lang="en-US" sz="2000" dirty="0"/>
              <a:t>SELECT dbms_metadata.get_ddl('USER', '</a:t>
            </a:r>
            <a:r>
              <a:rPr lang="ru-RU" sz="2000" dirty="0"/>
              <a:t>имя_пользователя') </a:t>
            </a:r>
            <a:r>
              <a:rPr lang="en-US" sz="2000" dirty="0"/>
              <a:t>FROM dual;</a:t>
            </a:r>
          </a:p>
          <a:p>
            <a:pPr marL="0" indent="0">
              <a:buNone/>
            </a:pPr>
            <a:r>
              <a:rPr lang="ru-RU" sz="2000" dirty="0"/>
              <a:t>  В спецификации запроса сначала вид хран.объекта, затем его имя и имя схемы.</a:t>
            </a:r>
          </a:p>
          <a:p>
            <a:pPr marL="0" indent="0">
              <a:buNone/>
            </a:pPr>
            <a:r>
              <a:rPr lang="ru-RU" sz="2000" dirty="0"/>
              <a:t>3.Время:</a:t>
            </a:r>
          </a:p>
          <a:p>
            <a:pPr marL="0" indent="0">
              <a:buNone/>
            </a:pPr>
            <a:endParaRPr lang="ru-RU" sz="2000" dirty="0"/>
          </a:p>
        </p:txBody>
      </p:sp>
      <p:pic>
        <p:nvPicPr>
          <p:cNvPr id="5" name="Рисунок 4"/>
          <p:cNvPicPr>
            <a:picLocks noChangeAspect="1"/>
          </p:cNvPicPr>
          <p:nvPr/>
        </p:nvPicPr>
        <p:blipFill>
          <a:blip r:embed="rId2"/>
          <a:stretch>
            <a:fillRect/>
          </a:stretch>
        </p:blipFill>
        <p:spPr>
          <a:xfrm>
            <a:off x="1962956" y="4199393"/>
            <a:ext cx="6742513" cy="1865505"/>
          </a:xfrm>
          <a:prstGeom prst="rect">
            <a:avLst/>
          </a:prstGeom>
        </p:spPr>
      </p:pic>
      <p:sp>
        <p:nvSpPr>
          <p:cNvPr id="4" name="Номер слайда 3"/>
          <p:cNvSpPr>
            <a:spLocks noGrp="1"/>
          </p:cNvSpPr>
          <p:nvPr>
            <p:ph type="sldNum" sz="quarter" idx="12"/>
          </p:nvPr>
        </p:nvSpPr>
        <p:spPr/>
        <p:txBody>
          <a:bodyPr/>
          <a:lstStyle/>
          <a:p>
            <a:fld id="{941D3F5A-CB4D-46BC-895C-C3EB119D7FE9}" type="slidenum">
              <a:rPr lang="ru-RU" smtClean="0">
                <a:solidFill>
                  <a:prstClr val="black">
                    <a:tint val="75000"/>
                  </a:prstClr>
                </a:solidFill>
              </a:rPr>
              <a:pPr/>
              <a:t>22</a:t>
            </a:fld>
            <a:endParaRPr lang="ru-RU">
              <a:solidFill>
                <a:prstClr val="black">
                  <a:tint val="75000"/>
                </a:prstClr>
              </a:solidFill>
            </a:endParaRPr>
          </a:p>
        </p:txBody>
      </p:sp>
    </p:spTree>
    <p:extLst>
      <p:ext uri="{BB962C8B-B14F-4D97-AF65-F5344CB8AC3E}">
        <p14:creationId xmlns:p14="http://schemas.microsoft.com/office/powerpoint/2010/main" val="2394966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1"/>
            <a:ext cx="10972800" cy="536714"/>
          </a:xfrm>
        </p:spPr>
        <p:txBody>
          <a:bodyPr>
            <a:noAutofit/>
          </a:bodyPr>
          <a:lstStyle/>
          <a:p>
            <a:r>
              <a:rPr lang="ru-RU" sz="3200" dirty="0">
                <a:solidFill>
                  <a:srgbClr val="FF0000"/>
                </a:solidFill>
              </a:rPr>
              <a:t>Курсоры</a:t>
            </a:r>
          </a:p>
        </p:txBody>
      </p:sp>
      <p:sp>
        <p:nvSpPr>
          <p:cNvPr id="3" name="Объект 2"/>
          <p:cNvSpPr>
            <a:spLocks noGrp="1"/>
          </p:cNvSpPr>
          <p:nvPr>
            <p:ph idx="1"/>
          </p:nvPr>
        </p:nvSpPr>
        <p:spPr>
          <a:xfrm>
            <a:off x="609600" y="685800"/>
            <a:ext cx="10972800" cy="6460435"/>
          </a:xfrm>
        </p:spPr>
        <p:txBody>
          <a:bodyPr>
            <a:normAutofit/>
          </a:bodyPr>
          <a:lstStyle/>
          <a:p>
            <a:pPr marL="0" indent="0" algn="just">
              <a:lnSpc>
                <a:spcPct val="80000"/>
              </a:lnSpc>
              <a:buNone/>
            </a:pPr>
            <a:r>
              <a:rPr lang="ru-RU" sz="2000" dirty="0">
                <a:solidFill>
                  <a:srgbClr val="000000"/>
                </a:solidFill>
                <a:latin typeface="verdana" panose="020B0604030504040204" pitchFamily="34" charset="0"/>
              </a:rPr>
              <a:t>      </a:t>
            </a:r>
            <a:r>
              <a:rPr lang="ru-RU" sz="2000" dirty="0">
                <a:solidFill>
                  <a:srgbClr val="000000"/>
                </a:solidFill>
              </a:rPr>
              <a:t>Курсор это результирующий набор получаемый при выполнении запроса и связанный с ним указатель текущей записи.</a:t>
            </a:r>
          </a:p>
          <a:p>
            <a:pPr marL="0" indent="0" algn="just">
              <a:lnSpc>
                <a:spcPct val="80000"/>
              </a:lnSpc>
              <a:buNone/>
            </a:pPr>
            <a:r>
              <a:rPr lang="ru-RU" sz="2000" dirty="0">
                <a:solidFill>
                  <a:srgbClr val="000000"/>
                </a:solidFill>
              </a:rPr>
              <a:t>         В PL/SQL два типа курсоров: явные и неявные.</a:t>
            </a:r>
          </a:p>
          <a:p>
            <a:pPr algn="just">
              <a:lnSpc>
                <a:spcPct val="80000"/>
              </a:lnSpc>
            </a:pPr>
            <a:r>
              <a:rPr lang="ru-RU" sz="2000" dirty="0">
                <a:solidFill>
                  <a:srgbClr val="000000"/>
                </a:solidFill>
              </a:rPr>
              <a:t>Явный курсор объявляется разработчиком, а неявный курсор не требует объявления. Он создается автоматически  при выполнении запроса.</a:t>
            </a:r>
          </a:p>
          <a:p>
            <a:pPr algn="just">
              <a:lnSpc>
                <a:spcPct val="80000"/>
              </a:lnSpc>
            </a:pPr>
            <a:r>
              <a:rPr lang="ru-RU" sz="2000" dirty="0">
                <a:solidFill>
                  <a:srgbClr val="000000"/>
                </a:solidFill>
              </a:rPr>
              <a:t>Курсор может возвращать одну строку, несколько строк или ни одной строки.</a:t>
            </a:r>
          </a:p>
          <a:p>
            <a:pPr algn="just">
              <a:lnSpc>
                <a:spcPct val="80000"/>
              </a:lnSpc>
            </a:pPr>
            <a:r>
              <a:rPr lang="ru-RU" sz="2000" dirty="0">
                <a:solidFill>
                  <a:srgbClr val="000000"/>
                </a:solidFill>
              </a:rPr>
              <a:t>Курсор может быть объявлен в секциях объявлений блока PL/SQL, подпрограммы или пакета.</a:t>
            </a:r>
          </a:p>
          <a:p>
            <a:pPr marL="0" indent="0">
              <a:lnSpc>
                <a:spcPct val="80000"/>
              </a:lnSpc>
              <a:buNone/>
            </a:pPr>
            <a:r>
              <a:rPr lang="ru-RU" sz="2000" dirty="0">
                <a:solidFill>
                  <a:srgbClr val="000000"/>
                </a:solidFill>
              </a:rPr>
              <a:t>         Для управления явным курсором используются  операторы CURSOR , OPEN , FETCH и CLOSE.</a:t>
            </a:r>
          </a:p>
          <a:p>
            <a:pPr marL="0" indent="0">
              <a:lnSpc>
                <a:spcPct val="80000"/>
              </a:lnSpc>
              <a:buNone/>
            </a:pPr>
            <a:r>
              <a:rPr lang="ru-RU" sz="2000" dirty="0">
                <a:solidFill>
                  <a:srgbClr val="000000"/>
                </a:solidFill>
              </a:rPr>
              <a:t>Последовательность их исполнения:</a:t>
            </a:r>
          </a:p>
          <a:p>
            <a:pPr algn="just">
              <a:lnSpc>
                <a:spcPct val="80000"/>
              </a:lnSpc>
            </a:pPr>
            <a:r>
              <a:rPr lang="ru-RU" sz="2000" dirty="0">
                <a:solidFill>
                  <a:srgbClr val="000000"/>
                </a:solidFill>
              </a:rPr>
              <a:t>Оператор CURSOR объявляет явный курсор.</a:t>
            </a:r>
          </a:p>
          <a:p>
            <a:pPr algn="just">
              <a:lnSpc>
                <a:spcPct val="80000"/>
              </a:lnSpc>
            </a:pPr>
            <a:r>
              <a:rPr lang="ru-RU" sz="2000" dirty="0">
                <a:solidFill>
                  <a:srgbClr val="000000"/>
                </a:solidFill>
              </a:rPr>
              <a:t>Оператор OPEN открывает курсор.</a:t>
            </a:r>
          </a:p>
          <a:p>
            <a:pPr>
              <a:lnSpc>
                <a:spcPct val="80000"/>
              </a:lnSpc>
            </a:pPr>
            <a:r>
              <a:rPr lang="ru-RU" sz="2000" dirty="0">
                <a:solidFill>
                  <a:srgbClr val="000000"/>
                </a:solidFill>
              </a:rPr>
              <a:t>Оператор FETCH выполняет извлечение очередной строки из результирующего набора.</a:t>
            </a:r>
          </a:p>
          <a:p>
            <a:pPr>
              <a:lnSpc>
                <a:spcPct val="80000"/>
              </a:lnSpc>
            </a:pPr>
            <a:r>
              <a:rPr lang="ru-RU" sz="2000" dirty="0">
                <a:solidFill>
                  <a:srgbClr val="000000"/>
                </a:solidFill>
              </a:rPr>
              <a:t>Оператор CLOSE закрывает курсор и освобождает занимаемые им ресурсы.</a:t>
            </a:r>
          </a:p>
          <a:p>
            <a:endParaRPr lang="ru-RU" sz="2000" dirty="0">
              <a:solidFill>
                <a:srgbClr val="000000"/>
              </a:solidFill>
            </a:endParaRPr>
          </a:p>
          <a:p>
            <a:endParaRPr lang="ru-RU" sz="2000" dirty="0">
              <a:solidFill>
                <a:srgbClr val="000000"/>
              </a:solidFill>
            </a:endParaRPr>
          </a:p>
          <a:p>
            <a:endParaRPr lang="ru-RU" sz="2000" dirty="0">
              <a:solidFill>
                <a:srgbClr val="000000"/>
              </a:solidFill>
            </a:endParaRPr>
          </a:p>
          <a:p>
            <a:endParaRPr lang="ru-RU" sz="2000" dirty="0">
              <a:solidFill>
                <a:srgbClr val="000000"/>
              </a:solidFill>
            </a:endParaRPr>
          </a:p>
          <a:p>
            <a:endParaRPr lang="ru-RU" sz="2000" dirty="0">
              <a:solidFill>
                <a:srgbClr val="000000"/>
              </a:solidFill>
            </a:endParaRPr>
          </a:p>
          <a:p>
            <a:endParaRPr lang="ru-RU" sz="2000" dirty="0">
              <a:solidFill>
                <a:srgbClr val="000000"/>
              </a:solidFill>
              <a:latin typeface="verdana" panose="020B0604030504040204" pitchFamily="34" charset="0"/>
            </a:endParaRPr>
          </a:p>
          <a:p>
            <a:pPr marL="0" indent="0">
              <a:buNone/>
            </a:pPr>
            <a:endParaRPr lang="ru-RU" sz="2000" dirty="0"/>
          </a:p>
          <a:p>
            <a:pPr marL="0" indent="0">
              <a:buNone/>
            </a:pPr>
            <a:endParaRPr lang="ru-RU" sz="2000" dirty="0"/>
          </a:p>
        </p:txBody>
      </p:sp>
      <p:pic>
        <p:nvPicPr>
          <p:cNvPr id="4" name="Рисунок 3"/>
          <p:cNvPicPr>
            <a:picLocks noChangeAspect="1"/>
          </p:cNvPicPr>
          <p:nvPr/>
        </p:nvPicPr>
        <p:blipFill>
          <a:blip r:embed="rId2"/>
          <a:stretch>
            <a:fillRect/>
          </a:stretch>
        </p:blipFill>
        <p:spPr>
          <a:xfrm>
            <a:off x="1395826" y="4670770"/>
            <a:ext cx="9087836" cy="1908935"/>
          </a:xfrm>
          <a:prstGeom prst="rect">
            <a:avLst/>
          </a:prstGeom>
        </p:spPr>
      </p:pic>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23</a:t>
            </a:fld>
            <a:endParaRPr lang="ru-RU">
              <a:solidFill>
                <a:prstClr val="black">
                  <a:tint val="75000"/>
                </a:prstClr>
              </a:solidFill>
            </a:endParaRPr>
          </a:p>
        </p:txBody>
      </p:sp>
    </p:spTree>
    <p:extLst>
      <p:ext uri="{BB962C8B-B14F-4D97-AF65-F5344CB8AC3E}">
        <p14:creationId xmlns:p14="http://schemas.microsoft.com/office/powerpoint/2010/main" val="1735364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34482"/>
          </a:xfrm>
        </p:spPr>
        <p:txBody>
          <a:bodyPr>
            <a:normAutofit/>
          </a:bodyPr>
          <a:lstStyle/>
          <a:p>
            <a:r>
              <a:rPr lang="ru-RU" sz="3200" dirty="0">
                <a:solidFill>
                  <a:srgbClr val="FF0000"/>
                </a:solidFill>
              </a:rPr>
              <a:t>Разновидности курсоров</a:t>
            </a:r>
          </a:p>
        </p:txBody>
      </p:sp>
      <p:sp>
        <p:nvSpPr>
          <p:cNvPr id="3" name="Объект 2"/>
          <p:cNvSpPr>
            <a:spLocks noGrp="1"/>
          </p:cNvSpPr>
          <p:nvPr>
            <p:ph idx="1"/>
          </p:nvPr>
        </p:nvSpPr>
        <p:spPr>
          <a:xfrm>
            <a:off x="1642189" y="634482"/>
            <a:ext cx="8864080" cy="6223518"/>
          </a:xfrm>
        </p:spPr>
        <p:txBody>
          <a:bodyPr>
            <a:normAutofit lnSpcReduction="10000"/>
          </a:bodyPr>
          <a:lstStyle/>
          <a:p>
            <a:pPr marL="0" indent="0" algn="ctr">
              <a:buNone/>
            </a:pPr>
            <a:r>
              <a:rPr lang="ru-RU" sz="2200" b="1" dirty="0"/>
              <a:t>Простой</a:t>
            </a:r>
          </a:p>
          <a:p>
            <a:pPr marL="0" indent="0">
              <a:buNone/>
            </a:pPr>
            <a:r>
              <a:rPr lang="en-US" sz="2200" dirty="0"/>
              <a:t>CURSOR </a:t>
            </a:r>
            <a:r>
              <a:rPr lang="ru-RU" sz="2200" dirty="0"/>
              <a:t>имя</a:t>
            </a:r>
          </a:p>
          <a:p>
            <a:pPr marL="0" indent="0">
              <a:buNone/>
            </a:pPr>
            <a:r>
              <a:rPr lang="en-US" sz="2200" dirty="0"/>
              <a:t>IS </a:t>
            </a:r>
            <a:r>
              <a:rPr lang="ru-RU" sz="2200" dirty="0"/>
              <a:t>запрос </a:t>
            </a:r>
          </a:p>
          <a:p>
            <a:pPr marL="0" indent="0">
              <a:buNone/>
            </a:pPr>
            <a:r>
              <a:rPr lang="ru-RU" sz="2200" dirty="0"/>
              <a:t>Пример</a:t>
            </a:r>
            <a:r>
              <a:rPr lang="en-US" sz="2200" dirty="0"/>
              <a:t>: cursor c1 is select </a:t>
            </a:r>
            <a:r>
              <a:rPr lang="en-US" sz="2200" dirty="0" err="1"/>
              <a:t>sal</a:t>
            </a:r>
            <a:r>
              <a:rPr lang="en-US" sz="2200" dirty="0"/>
              <a:t> from person where person.id = enter;</a:t>
            </a:r>
          </a:p>
          <a:p>
            <a:pPr marL="0" indent="0">
              <a:buNone/>
            </a:pPr>
            <a:r>
              <a:rPr lang="ru-RU" sz="2200" dirty="0"/>
              <a:t>  </a:t>
            </a:r>
          </a:p>
          <a:p>
            <a:pPr marL="0" indent="0" algn="ctr">
              <a:buNone/>
            </a:pPr>
            <a:r>
              <a:rPr lang="ru-RU" sz="2200" b="1" dirty="0"/>
              <a:t>Параметрический</a:t>
            </a:r>
            <a:endParaRPr lang="en-US" sz="2200" b="1" dirty="0"/>
          </a:p>
          <a:p>
            <a:pPr marL="0" indent="0">
              <a:buNone/>
            </a:pPr>
            <a:r>
              <a:rPr lang="en-US" sz="2200" dirty="0"/>
              <a:t>CURSOR </a:t>
            </a:r>
            <a:r>
              <a:rPr lang="ru-RU" sz="2200" dirty="0"/>
              <a:t>имя</a:t>
            </a:r>
            <a:r>
              <a:rPr lang="en-US" sz="2200" dirty="0"/>
              <a:t> (</a:t>
            </a:r>
            <a:r>
              <a:rPr lang="ru-RU" sz="2200" dirty="0"/>
              <a:t>пар1</a:t>
            </a:r>
            <a:r>
              <a:rPr lang="en-US" sz="2200" dirty="0"/>
              <a:t> </a:t>
            </a:r>
            <a:r>
              <a:rPr lang="ru-RU" sz="2200" dirty="0"/>
              <a:t>тип1, пар2 тип2, ….)</a:t>
            </a:r>
          </a:p>
          <a:p>
            <a:pPr marL="0" indent="0">
              <a:buNone/>
            </a:pPr>
            <a:r>
              <a:rPr lang="en-US" sz="2200" dirty="0"/>
              <a:t>IS </a:t>
            </a:r>
            <a:r>
              <a:rPr lang="ru-RU" sz="2200" dirty="0"/>
              <a:t>запрос </a:t>
            </a:r>
          </a:p>
          <a:p>
            <a:pPr marL="0" indent="0">
              <a:buNone/>
            </a:pPr>
            <a:r>
              <a:rPr lang="ru-RU" sz="2200" dirty="0"/>
              <a:t>Пример</a:t>
            </a:r>
            <a:r>
              <a:rPr lang="en-US" sz="2200" dirty="0"/>
              <a:t>: cursor c</a:t>
            </a:r>
            <a:r>
              <a:rPr lang="ru-RU" sz="2200" dirty="0"/>
              <a:t>2 (</a:t>
            </a:r>
            <a:r>
              <a:rPr lang="en-US" sz="2200" dirty="0"/>
              <a:t>enter in integer</a:t>
            </a:r>
            <a:r>
              <a:rPr lang="ru-RU" sz="2200" dirty="0"/>
              <a:t>)</a:t>
            </a:r>
            <a:r>
              <a:rPr lang="en-US" sz="2200" dirty="0"/>
              <a:t> is select </a:t>
            </a:r>
            <a:r>
              <a:rPr lang="en-US" sz="2200" dirty="0" err="1"/>
              <a:t>sal</a:t>
            </a:r>
            <a:r>
              <a:rPr lang="en-US" sz="2200" dirty="0"/>
              <a:t> from person where person.id = enter;</a:t>
            </a:r>
          </a:p>
          <a:p>
            <a:pPr marL="0" indent="0">
              <a:buNone/>
            </a:pPr>
            <a:endParaRPr lang="ru-RU" sz="2200" dirty="0"/>
          </a:p>
          <a:p>
            <a:pPr marL="0" indent="0" algn="ctr">
              <a:buNone/>
            </a:pPr>
            <a:r>
              <a:rPr lang="ru-RU" sz="2200" b="1" dirty="0"/>
              <a:t>Возвращающий данные</a:t>
            </a:r>
          </a:p>
          <a:p>
            <a:pPr marL="0" indent="0">
              <a:buNone/>
            </a:pPr>
            <a:r>
              <a:rPr lang="en-US" sz="2200" dirty="0"/>
              <a:t>CURSOR </a:t>
            </a:r>
            <a:r>
              <a:rPr lang="ru-RU" sz="2200" dirty="0"/>
              <a:t>имя</a:t>
            </a:r>
            <a:r>
              <a:rPr lang="en-US" sz="2200" dirty="0"/>
              <a:t> </a:t>
            </a:r>
            <a:endParaRPr lang="ru-RU" sz="2200" dirty="0"/>
          </a:p>
          <a:p>
            <a:pPr marL="0" indent="0">
              <a:buNone/>
            </a:pPr>
            <a:r>
              <a:rPr lang="en-US" sz="2200" dirty="0"/>
              <a:t>RETURN  </a:t>
            </a:r>
            <a:r>
              <a:rPr lang="ru-RU" sz="2200" dirty="0"/>
              <a:t>таблица%</a:t>
            </a:r>
            <a:r>
              <a:rPr lang="en-US" sz="2200" dirty="0"/>
              <a:t>ROWTYPE</a:t>
            </a:r>
            <a:endParaRPr lang="ru-RU" sz="2200" dirty="0"/>
          </a:p>
          <a:p>
            <a:pPr marL="0" indent="0">
              <a:buNone/>
            </a:pPr>
            <a:r>
              <a:rPr lang="en-US" sz="2200" dirty="0"/>
              <a:t>IS </a:t>
            </a:r>
            <a:r>
              <a:rPr lang="ru-RU" sz="2200" dirty="0"/>
              <a:t>запрос </a:t>
            </a:r>
          </a:p>
          <a:p>
            <a:pPr marL="0" indent="0">
              <a:buNone/>
            </a:pPr>
            <a:r>
              <a:rPr lang="ru-RU" sz="2200" dirty="0"/>
              <a:t>Пример</a:t>
            </a:r>
            <a:r>
              <a:rPr lang="en-US" sz="2200" dirty="0"/>
              <a:t>: cursor c3 return </a:t>
            </a:r>
            <a:r>
              <a:rPr lang="en-US" sz="2200" dirty="0" err="1"/>
              <a:t>persona%ROWTYPE</a:t>
            </a:r>
            <a:r>
              <a:rPr lang="en-US" sz="2200" dirty="0"/>
              <a:t> is select * from person where person.id = 1;</a:t>
            </a:r>
          </a:p>
          <a:p>
            <a:pPr marL="0" indent="0">
              <a:buNone/>
            </a:pPr>
            <a:endParaRPr lang="ru-RU" sz="2200" dirty="0"/>
          </a:p>
          <a:p>
            <a:pPr marL="0" indent="0">
              <a:buNone/>
            </a:pPr>
            <a:endParaRPr lang="ru-RU" sz="2000" dirty="0"/>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24</a:t>
            </a:fld>
            <a:endParaRPr lang="ru-RU">
              <a:solidFill>
                <a:prstClr val="black">
                  <a:tint val="75000"/>
                </a:prstClr>
              </a:solidFill>
            </a:endParaRPr>
          </a:p>
        </p:txBody>
      </p:sp>
    </p:spTree>
    <p:extLst>
      <p:ext uri="{BB962C8B-B14F-4D97-AF65-F5344CB8AC3E}">
        <p14:creationId xmlns:p14="http://schemas.microsoft.com/office/powerpoint/2010/main" val="2888846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597159"/>
          </a:xfrm>
        </p:spPr>
        <p:txBody>
          <a:bodyPr>
            <a:normAutofit/>
          </a:bodyPr>
          <a:lstStyle/>
          <a:p>
            <a:r>
              <a:rPr lang="ru-RU" sz="3200" dirty="0">
                <a:solidFill>
                  <a:srgbClr val="FF0000"/>
                </a:solidFill>
              </a:rPr>
              <a:t>Синтаксис курсора 1/2</a:t>
            </a:r>
          </a:p>
        </p:txBody>
      </p:sp>
      <p:sp>
        <p:nvSpPr>
          <p:cNvPr id="3" name="Объект 2"/>
          <p:cNvSpPr>
            <a:spLocks noGrp="1"/>
          </p:cNvSpPr>
          <p:nvPr>
            <p:ph idx="1"/>
          </p:nvPr>
        </p:nvSpPr>
        <p:spPr>
          <a:xfrm>
            <a:off x="609600" y="407909"/>
            <a:ext cx="10972800" cy="6260841"/>
          </a:xfrm>
        </p:spPr>
        <p:txBody>
          <a:bodyPr>
            <a:normAutofit lnSpcReduction="10000"/>
          </a:bodyPr>
          <a:lstStyle/>
          <a:p>
            <a:pPr marL="0" indent="0">
              <a:buNone/>
            </a:pPr>
            <a:r>
              <a:rPr lang="ru-RU" sz="2000" u="sng" dirty="0"/>
              <a:t>        Объявление курсора:</a:t>
            </a:r>
          </a:p>
          <a:p>
            <a:pPr marL="0" indent="0">
              <a:buNone/>
            </a:pPr>
            <a:r>
              <a:rPr lang="ru-RU" sz="2000" dirty="0"/>
              <a:t>CURSOR </a:t>
            </a:r>
            <a:r>
              <a:rPr lang="ru-RU" sz="2000" dirty="0" err="1"/>
              <a:t>cursor_name</a:t>
            </a:r>
            <a:r>
              <a:rPr lang="ru-RU" sz="2000" dirty="0"/>
              <a:t> [ (</a:t>
            </a:r>
            <a:r>
              <a:rPr lang="ru-RU" sz="2000" dirty="0" err="1"/>
              <a:t>parameter</a:t>
            </a:r>
            <a:r>
              <a:rPr lang="ru-RU" sz="2000" dirty="0"/>
              <a:t> [, </a:t>
            </a:r>
            <a:r>
              <a:rPr lang="ru-RU" sz="2000" dirty="0" err="1"/>
              <a:t>parameter</a:t>
            </a:r>
            <a:r>
              <a:rPr lang="ru-RU" sz="2000" dirty="0"/>
              <a:t>, ... ] ) ] IS SELECT ...</a:t>
            </a:r>
          </a:p>
          <a:p>
            <a:pPr marL="0" indent="0">
              <a:buNone/>
            </a:pPr>
            <a:r>
              <a:rPr lang="ru-RU" sz="2000" dirty="0"/>
              <a:t>где  </a:t>
            </a:r>
          </a:p>
          <a:p>
            <a:r>
              <a:rPr lang="ru-RU" sz="2000" dirty="0" err="1"/>
              <a:t>cursor_name</a:t>
            </a:r>
            <a:r>
              <a:rPr lang="ru-RU" sz="2000" dirty="0"/>
              <a:t> — имя курсора;</a:t>
            </a:r>
          </a:p>
          <a:p>
            <a:r>
              <a:rPr lang="ru-RU" sz="2000" dirty="0"/>
              <a:t>SELECT …        — предложение SELECT, определяющее строки курсора;</a:t>
            </a:r>
          </a:p>
          <a:p>
            <a:r>
              <a:rPr lang="ru-RU" sz="2000" dirty="0" err="1"/>
              <a:t>paramet</a:t>
            </a:r>
            <a:r>
              <a:rPr lang="en-US" sz="2000" dirty="0"/>
              <a:t>e</a:t>
            </a:r>
            <a:r>
              <a:rPr lang="ru-RU" sz="2000" dirty="0"/>
              <a:t>r        — имеет следующий синтаксис:</a:t>
            </a:r>
          </a:p>
          <a:p>
            <a:pPr marL="0" indent="0">
              <a:buNone/>
            </a:pPr>
            <a:r>
              <a:rPr lang="en-US" sz="2000" dirty="0"/>
              <a:t>            </a:t>
            </a:r>
            <a:r>
              <a:rPr lang="ru-RU" sz="2000" dirty="0" err="1"/>
              <a:t>variable_name</a:t>
            </a:r>
            <a:r>
              <a:rPr lang="ru-RU" sz="2000" dirty="0"/>
              <a:t> [IN] </a:t>
            </a:r>
            <a:r>
              <a:rPr lang="ru-RU" sz="2000" dirty="0" err="1"/>
              <a:t>type_name</a:t>
            </a:r>
            <a:r>
              <a:rPr lang="ru-RU" sz="2000" dirty="0"/>
              <a:t> [ { := | DEFAULT } </a:t>
            </a:r>
            <a:r>
              <a:rPr lang="ru-RU" sz="2000" dirty="0" err="1"/>
              <a:t>value</a:t>
            </a:r>
            <a:r>
              <a:rPr lang="ru-RU" sz="2000" dirty="0"/>
              <a:t> ]</a:t>
            </a:r>
          </a:p>
          <a:p>
            <a:pPr marL="0" indent="0">
              <a:buNone/>
            </a:pPr>
            <a:r>
              <a:rPr lang="en-US" sz="2000" dirty="0"/>
              <a:t>            </a:t>
            </a:r>
            <a:r>
              <a:rPr lang="ru-RU" sz="2000" dirty="0" err="1"/>
              <a:t>type_name</a:t>
            </a:r>
            <a:r>
              <a:rPr lang="ru-RU" sz="2000" dirty="0"/>
              <a:t> — любой тип (подтип) данных PL/SQL без указания ограничений (например, </a:t>
            </a:r>
            <a:r>
              <a:rPr lang="en-US" sz="2000" dirty="0"/>
              <a:t> </a:t>
            </a:r>
          </a:p>
          <a:p>
            <a:pPr marL="0" indent="0">
              <a:buNone/>
            </a:pPr>
            <a:r>
              <a:rPr lang="en-US" sz="2000" dirty="0"/>
              <a:t>            </a:t>
            </a:r>
            <a:r>
              <a:rPr lang="ru-RU" sz="2000" dirty="0"/>
              <a:t>длины символьных значений).</a:t>
            </a:r>
          </a:p>
          <a:p>
            <a:pPr marL="0" indent="0">
              <a:buNone/>
            </a:pPr>
            <a:r>
              <a:rPr lang="ru-RU" sz="2000" dirty="0"/>
              <a:t>        Формальные параметры курсора используются только для передачи значений в WHERE фразу предложения SELECT с целью отбора нужных строк запроса. Передача таких значений производится во время открытия курсора командой OPEN. Если значения формальных параметров отсутствуют в команде OPEN и не заданы по умолчанию (:= </a:t>
            </a:r>
            <a:r>
              <a:rPr lang="ru-RU" sz="2000" dirty="0" err="1"/>
              <a:t>value</a:t>
            </a:r>
            <a:r>
              <a:rPr lang="ru-RU" sz="2000" dirty="0"/>
              <a:t> или DEFAULT </a:t>
            </a:r>
            <a:r>
              <a:rPr lang="ru-RU" sz="2000" dirty="0" err="1"/>
              <a:t>value</a:t>
            </a:r>
            <a:r>
              <a:rPr lang="ru-RU" sz="2000" dirty="0"/>
              <a:t>), то выдается ошибка. При наличии тех и других используются параметры из команды OPEN.</a:t>
            </a:r>
          </a:p>
          <a:p>
            <a:pPr marL="0" indent="0">
              <a:buNone/>
            </a:pPr>
            <a:r>
              <a:rPr lang="ru-RU" sz="2000" u="sng" dirty="0"/>
              <a:t>Открытие курсора (OPEN)</a:t>
            </a:r>
          </a:p>
          <a:p>
            <a:pPr marL="0" indent="0">
              <a:buNone/>
            </a:pPr>
            <a:r>
              <a:rPr lang="ru-RU" sz="2000" dirty="0"/>
              <a:t>OPEN </a:t>
            </a:r>
            <a:r>
              <a:rPr lang="ru-RU" sz="2000" dirty="0" err="1"/>
              <a:t>cursor_name</a:t>
            </a:r>
            <a:r>
              <a:rPr lang="ru-RU" sz="2000" dirty="0"/>
              <a:t> [ (</a:t>
            </a:r>
            <a:r>
              <a:rPr lang="ru-RU" sz="2000" dirty="0" err="1"/>
              <a:t>value</a:t>
            </a:r>
            <a:r>
              <a:rPr lang="ru-RU" sz="2000" dirty="0"/>
              <a:t> [,</a:t>
            </a:r>
            <a:r>
              <a:rPr lang="ru-RU" sz="2000" dirty="0" err="1"/>
              <a:t>value</a:t>
            </a:r>
            <a:r>
              <a:rPr lang="ru-RU" sz="2000" dirty="0"/>
              <a:t>]...) ];</a:t>
            </a:r>
          </a:p>
          <a:p>
            <a:pPr marL="0" indent="0">
              <a:buNone/>
            </a:pPr>
            <a:r>
              <a:rPr lang="ru-RU" sz="2000" dirty="0"/>
              <a:t>где список значений ("</a:t>
            </a:r>
            <a:r>
              <a:rPr lang="ru-RU" sz="2000" dirty="0" err="1"/>
              <a:t>value</a:t>
            </a:r>
            <a:r>
              <a:rPr lang="ru-RU" sz="2000" dirty="0"/>
              <a:t>") используется для передачи параметров курсора и должен по числу и типу данных совпадать с описанием этих параметров.</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25</a:t>
            </a:fld>
            <a:endParaRPr lang="ru-RU">
              <a:solidFill>
                <a:prstClr val="black">
                  <a:tint val="75000"/>
                </a:prstClr>
              </a:solidFill>
            </a:endParaRPr>
          </a:p>
        </p:txBody>
      </p:sp>
    </p:spTree>
    <p:extLst>
      <p:ext uri="{BB962C8B-B14F-4D97-AF65-F5344CB8AC3E}">
        <p14:creationId xmlns:p14="http://schemas.microsoft.com/office/powerpoint/2010/main" val="1555734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783771"/>
          </a:xfrm>
        </p:spPr>
        <p:txBody>
          <a:bodyPr>
            <a:normAutofit/>
          </a:bodyPr>
          <a:lstStyle/>
          <a:p>
            <a:r>
              <a:rPr lang="ru-RU" sz="3200" dirty="0">
                <a:solidFill>
                  <a:srgbClr val="FF0000"/>
                </a:solidFill>
              </a:rPr>
              <a:t>Синтаксис курсора 2/2</a:t>
            </a:r>
          </a:p>
        </p:txBody>
      </p:sp>
      <p:sp>
        <p:nvSpPr>
          <p:cNvPr id="3" name="Объект 2"/>
          <p:cNvSpPr>
            <a:spLocks noGrp="1"/>
          </p:cNvSpPr>
          <p:nvPr>
            <p:ph idx="1"/>
          </p:nvPr>
        </p:nvSpPr>
        <p:spPr>
          <a:xfrm>
            <a:off x="609600" y="783771"/>
            <a:ext cx="10972800" cy="5342393"/>
          </a:xfrm>
        </p:spPr>
        <p:txBody>
          <a:bodyPr>
            <a:normAutofit/>
          </a:bodyPr>
          <a:lstStyle/>
          <a:p>
            <a:pPr marL="0" indent="0">
              <a:buNone/>
            </a:pPr>
            <a:r>
              <a:rPr lang="ru-RU" sz="2000" u="sng" dirty="0"/>
              <a:t>Выборка строк из курсора (FETCH)</a:t>
            </a:r>
          </a:p>
          <a:p>
            <a:pPr marL="0" indent="0">
              <a:buNone/>
            </a:pPr>
            <a:r>
              <a:rPr lang="ru-RU" sz="2000" dirty="0"/>
              <a:t>Команда FETCH, используемая для продвижения на один шаг указателя текущей </a:t>
            </a:r>
          </a:p>
          <a:p>
            <a:pPr marL="0" indent="0">
              <a:buNone/>
            </a:pPr>
            <a:r>
              <a:rPr lang="ru-RU" sz="2000" dirty="0"/>
              <a:t>строки курсора и пересылки ее значений в переменные или запись, имеет </a:t>
            </a:r>
          </a:p>
          <a:p>
            <a:pPr marL="0" indent="0">
              <a:buNone/>
            </a:pPr>
            <a:r>
              <a:rPr lang="ru-RU" sz="2000" dirty="0"/>
              <a:t>следующий синтаксис:</a:t>
            </a:r>
          </a:p>
          <a:p>
            <a:pPr marL="0" indent="0">
              <a:buNone/>
            </a:pPr>
            <a:endParaRPr lang="ru-RU" sz="2000" dirty="0"/>
          </a:p>
          <a:p>
            <a:pPr marL="0" indent="0">
              <a:buNone/>
            </a:pPr>
            <a:r>
              <a:rPr lang="ru-RU" sz="2000" dirty="0"/>
              <a:t>FETCH </a:t>
            </a:r>
            <a:r>
              <a:rPr lang="ru-RU" sz="2000" dirty="0" err="1"/>
              <a:t>cursor_name</a:t>
            </a:r>
            <a:r>
              <a:rPr lang="ru-RU" sz="2000" dirty="0"/>
              <a:t> INTO {variable_name1[,variable_name2]...} | </a:t>
            </a:r>
            <a:r>
              <a:rPr lang="ru-RU" sz="2000" dirty="0" err="1"/>
              <a:t>record_name</a:t>
            </a:r>
            <a:r>
              <a:rPr lang="ru-RU" sz="2000" dirty="0"/>
              <a:t>;</a:t>
            </a:r>
          </a:p>
          <a:p>
            <a:pPr marL="0" indent="0">
              <a:buNone/>
            </a:pPr>
            <a:endParaRPr lang="ru-RU" sz="2000" dirty="0"/>
          </a:p>
          <a:p>
            <a:pPr marL="0" indent="0">
              <a:buNone/>
            </a:pPr>
            <a:r>
              <a:rPr lang="ru-RU" sz="2000" u="sng" dirty="0"/>
              <a:t>Закрытие курсора (CLOSE)</a:t>
            </a:r>
          </a:p>
          <a:p>
            <a:pPr marL="0" indent="0">
              <a:buNone/>
            </a:pPr>
            <a:r>
              <a:rPr lang="ru-RU" sz="2000" dirty="0"/>
              <a:t>Команда CLOSE используется для освобождения всех ресурсов, которые поддерживались открытым курсором (при этом описание курсора сохраняется и его</a:t>
            </a:r>
          </a:p>
          <a:p>
            <a:pPr marL="0" indent="0">
              <a:buNone/>
            </a:pPr>
            <a:r>
              <a:rPr lang="ru-RU" sz="2000" dirty="0"/>
              <a:t>можно снова открыть командой OPEN). Синтаксис команды CLOSE имеет вид:</a:t>
            </a:r>
          </a:p>
          <a:p>
            <a:pPr marL="0" indent="0">
              <a:buNone/>
            </a:pPr>
            <a:endParaRPr lang="ru-RU" sz="2000" dirty="0"/>
          </a:p>
          <a:p>
            <a:pPr marL="0" indent="0">
              <a:buNone/>
            </a:pPr>
            <a:r>
              <a:rPr lang="ru-RU" sz="2000" dirty="0"/>
              <a:t>CLOSE </a:t>
            </a:r>
            <a:r>
              <a:rPr lang="ru-RU" sz="2000" dirty="0" err="1"/>
              <a:t>cursor_name</a:t>
            </a:r>
            <a:r>
              <a:rPr lang="ru-RU" sz="2000" dirty="0"/>
              <a:t>;</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26</a:t>
            </a:fld>
            <a:endParaRPr lang="ru-RU">
              <a:solidFill>
                <a:prstClr val="black">
                  <a:tint val="75000"/>
                </a:prstClr>
              </a:solidFill>
            </a:endParaRPr>
          </a:p>
        </p:txBody>
      </p:sp>
    </p:spTree>
    <p:extLst>
      <p:ext uri="{BB962C8B-B14F-4D97-AF65-F5344CB8AC3E}">
        <p14:creationId xmlns:p14="http://schemas.microsoft.com/office/powerpoint/2010/main" val="4885496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746448"/>
          </a:xfrm>
        </p:spPr>
        <p:txBody>
          <a:bodyPr>
            <a:normAutofit/>
          </a:bodyPr>
          <a:lstStyle/>
          <a:p>
            <a:r>
              <a:rPr lang="ru-RU" sz="3200" dirty="0">
                <a:solidFill>
                  <a:srgbClr val="FF0000"/>
                </a:solidFill>
              </a:rPr>
              <a:t>Атрибуты курсора</a:t>
            </a:r>
          </a:p>
        </p:txBody>
      </p:sp>
      <p:graphicFrame>
        <p:nvGraphicFramePr>
          <p:cNvPr id="4" name="Объект 3"/>
          <p:cNvGraphicFramePr>
            <a:graphicFrameLocks noChangeAspect="1"/>
          </p:cNvGraphicFramePr>
          <p:nvPr>
            <p:extLst>
              <p:ext uri="{D42A27DB-BD31-4B8C-83A1-F6EECF244321}">
                <p14:modId xmlns:p14="http://schemas.microsoft.com/office/powerpoint/2010/main" val="2469846332"/>
              </p:ext>
            </p:extLst>
          </p:nvPr>
        </p:nvGraphicFramePr>
        <p:xfrm>
          <a:off x="1735138" y="646113"/>
          <a:ext cx="8258175" cy="6183312"/>
        </p:xfrm>
        <a:graphic>
          <a:graphicData uri="http://schemas.openxmlformats.org/presentationml/2006/ole">
            <mc:AlternateContent xmlns:mc="http://schemas.openxmlformats.org/markup-compatibility/2006">
              <mc:Choice xmlns:v="urn:schemas-microsoft-com:vml" Requires="v">
                <p:oleObj spid="_x0000_s2169" name="Документ" r:id="rId3" imgW="5925852" imgH="4458500" progId="Word.Document.12">
                  <p:embed/>
                </p:oleObj>
              </mc:Choice>
              <mc:Fallback>
                <p:oleObj name="Документ" r:id="rId3" imgW="5925852" imgH="4458500" progId="Word.Document.12">
                  <p:embed/>
                  <p:pic>
                    <p:nvPicPr>
                      <p:cNvPr id="0" name=""/>
                      <p:cNvPicPr/>
                      <p:nvPr/>
                    </p:nvPicPr>
                    <p:blipFill>
                      <a:blip r:embed="rId4"/>
                      <a:stretch>
                        <a:fillRect/>
                      </a:stretch>
                    </p:blipFill>
                    <p:spPr>
                      <a:xfrm>
                        <a:off x="1735138" y="646113"/>
                        <a:ext cx="8258175" cy="6183312"/>
                      </a:xfrm>
                      <a:prstGeom prst="rect">
                        <a:avLst/>
                      </a:prstGeom>
                    </p:spPr>
                  </p:pic>
                </p:oleObj>
              </mc:Fallback>
            </mc:AlternateContent>
          </a:graphicData>
        </a:graphic>
      </p:graphicFrame>
      <p:sp>
        <p:nvSpPr>
          <p:cNvPr id="3" name="Номер слайда 2"/>
          <p:cNvSpPr>
            <a:spLocks noGrp="1"/>
          </p:cNvSpPr>
          <p:nvPr>
            <p:ph type="sldNum" sz="quarter" idx="12"/>
          </p:nvPr>
        </p:nvSpPr>
        <p:spPr/>
        <p:txBody>
          <a:bodyPr/>
          <a:lstStyle/>
          <a:p>
            <a:fld id="{F6897B34-D6E2-4952-A4EE-BEF9CE40CFF9}" type="slidenum">
              <a:rPr lang="ru-RU" smtClean="0">
                <a:solidFill>
                  <a:prstClr val="black">
                    <a:tint val="75000"/>
                  </a:prstClr>
                </a:solidFill>
              </a:rPr>
              <a:pPr/>
              <a:t>27</a:t>
            </a:fld>
            <a:endParaRPr lang="ru-RU">
              <a:solidFill>
                <a:prstClr val="black">
                  <a:tint val="75000"/>
                </a:prstClr>
              </a:solidFill>
            </a:endParaRPr>
          </a:p>
        </p:txBody>
      </p:sp>
    </p:spTree>
    <p:extLst>
      <p:ext uri="{BB962C8B-B14F-4D97-AF65-F5344CB8AC3E}">
        <p14:creationId xmlns:p14="http://schemas.microsoft.com/office/powerpoint/2010/main" val="1701165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278294" y="345233"/>
            <a:ext cx="9722498" cy="6512767"/>
          </a:xfrm>
        </p:spPr>
        <p:txBody>
          <a:bodyPr>
            <a:normAutofit lnSpcReduction="10000"/>
          </a:bodyPr>
          <a:lstStyle/>
          <a:p>
            <a:pPr marL="0" indent="0">
              <a:buNone/>
            </a:pPr>
            <a:r>
              <a:rPr lang="en-US" sz="2000" dirty="0"/>
              <a:t>DECLARE</a:t>
            </a:r>
          </a:p>
          <a:p>
            <a:pPr marL="0" indent="0">
              <a:buNone/>
            </a:pPr>
            <a:r>
              <a:rPr lang="en-US" sz="2000" dirty="0"/>
              <a:t>   CURSOR </a:t>
            </a:r>
            <a:r>
              <a:rPr lang="en-US" sz="2000" dirty="0" err="1"/>
              <a:t>emp_cursor</a:t>
            </a:r>
            <a:endParaRPr lang="en-US" sz="2000" dirty="0"/>
          </a:p>
          <a:p>
            <a:pPr marL="0" indent="0">
              <a:buNone/>
            </a:pPr>
            <a:r>
              <a:rPr lang="en-US" sz="2000" dirty="0"/>
              <a:t>   IS</a:t>
            </a:r>
          </a:p>
          <a:p>
            <a:pPr marL="0" indent="0">
              <a:buNone/>
            </a:pPr>
            <a:r>
              <a:rPr lang="en-US" sz="2000" dirty="0"/>
              <a:t>   SELECT </a:t>
            </a:r>
            <a:r>
              <a:rPr lang="en-US" sz="2000" dirty="0" err="1"/>
              <a:t>employee_id,last_name,salary,department_id</a:t>
            </a:r>
            <a:endParaRPr lang="en-US" sz="2000" dirty="0"/>
          </a:p>
          <a:p>
            <a:pPr marL="0" indent="0">
              <a:buNone/>
            </a:pPr>
            <a:r>
              <a:rPr lang="en-US" sz="2000" dirty="0"/>
              <a:t>   FROM employees;</a:t>
            </a:r>
          </a:p>
          <a:p>
            <a:pPr marL="0" indent="0">
              <a:buNone/>
            </a:pPr>
            <a:r>
              <a:rPr lang="en-US" sz="2000" dirty="0"/>
              <a:t>   </a:t>
            </a:r>
            <a:r>
              <a:rPr lang="en-US" sz="2000" dirty="0" err="1"/>
              <a:t>v_id</a:t>
            </a:r>
            <a:r>
              <a:rPr lang="en-US" sz="2000" dirty="0"/>
              <a:t> </a:t>
            </a:r>
            <a:r>
              <a:rPr lang="en-US" sz="2000" dirty="0" err="1"/>
              <a:t>employees.employee_id%type</a:t>
            </a:r>
            <a:r>
              <a:rPr lang="en-US" sz="2000" dirty="0"/>
              <a:t>;</a:t>
            </a:r>
          </a:p>
          <a:p>
            <a:pPr marL="0" indent="0">
              <a:buNone/>
            </a:pPr>
            <a:r>
              <a:rPr lang="en-US" sz="2000" dirty="0"/>
              <a:t>   </a:t>
            </a:r>
            <a:r>
              <a:rPr lang="en-US" sz="2000" dirty="0" err="1"/>
              <a:t>v_name</a:t>
            </a:r>
            <a:r>
              <a:rPr lang="en-US" sz="2000" dirty="0"/>
              <a:t> </a:t>
            </a:r>
            <a:r>
              <a:rPr lang="en-US" sz="2000" dirty="0" err="1"/>
              <a:t>employees.last_name%type</a:t>
            </a:r>
            <a:r>
              <a:rPr lang="en-US" sz="2000" dirty="0"/>
              <a:t>;</a:t>
            </a:r>
          </a:p>
          <a:p>
            <a:pPr marL="0" indent="0">
              <a:buNone/>
            </a:pPr>
            <a:r>
              <a:rPr lang="en-US" sz="2000" dirty="0"/>
              <a:t>   </a:t>
            </a:r>
            <a:r>
              <a:rPr lang="en-US" sz="2000" dirty="0" err="1"/>
              <a:t>v_salary</a:t>
            </a:r>
            <a:r>
              <a:rPr lang="en-US" sz="2000" dirty="0"/>
              <a:t> </a:t>
            </a:r>
            <a:r>
              <a:rPr lang="en-US" sz="2000" dirty="0" err="1"/>
              <a:t>employees.salary%type</a:t>
            </a:r>
            <a:r>
              <a:rPr lang="en-US" sz="2000" dirty="0"/>
              <a:t>;</a:t>
            </a:r>
          </a:p>
          <a:p>
            <a:pPr marL="0" indent="0">
              <a:buNone/>
            </a:pPr>
            <a:r>
              <a:rPr lang="en-US" sz="2000" dirty="0"/>
              <a:t>   </a:t>
            </a:r>
            <a:r>
              <a:rPr lang="en-US" sz="2000" dirty="0" err="1"/>
              <a:t>v_dept_id</a:t>
            </a:r>
            <a:r>
              <a:rPr lang="en-US" sz="2000" dirty="0"/>
              <a:t> </a:t>
            </a:r>
            <a:r>
              <a:rPr lang="en-US" sz="2000" dirty="0" err="1"/>
              <a:t>employees.department_id%type</a:t>
            </a:r>
            <a:r>
              <a:rPr lang="en-US" sz="2000" dirty="0"/>
              <a:t>;</a:t>
            </a:r>
          </a:p>
          <a:p>
            <a:pPr marL="0" indent="0">
              <a:buNone/>
            </a:pPr>
            <a:r>
              <a:rPr lang="en-US" sz="2000" dirty="0"/>
              <a:t>BEGIN</a:t>
            </a:r>
          </a:p>
          <a:p>
            <a:pPr marL="0" indent="0">
              <a:buNone/>
            </a:pPr>
            <a:r>
              <a:rPr lang="en-US" sz="2000" dirty="0"/>
              <a:t>   OPEN </a:t>
            </a:r>
            <a:r>
              <a:rPr lang="en-US" sz="2000" dirty="0" err="1"/>
              <a:t>emp_cursor</a:t>
            </a:r>
            <a:r>
              <a:rPr lang="en-US" sz="2000" dirty="0"/>
              <a:t>;</a:t>
            </a:r>
          </a:p>
          <a:p>
            <a:pPr marL="0" indent="0">
              <a:buNone/>
            </a:pPr>
            <a:r>
              <a:rPr lang="en-US" sz="2000" dirty="0"/>
              <a:t>   LOOP</a:t>
            </a:r>
          </a:p>
          <a:p>
            <a:pPr marL="0" indent="0">
              <a:buNone/>
            </a:pPr>
            <a:r>
              <a:rPr lang="en-US" sz="2000" dirty="0"/>
              <a:t>   FETCH </a:t>
            </a:r>
            <a:r>
              <a:rPr lang="en-US" sz="2000" dirty="0" err="1"/>
              <a:t>emp_cursor</a:t>
            </a:r>
            <a:r>
              <a:rPr lang="en-US" sz="2000" dirty="0"/>
              <a:t> INTO </a:t>
            </a:r>
            <a:r>
              <a:rPr lang="en-US" sz="2000" dirty="0" err="1"/>
              <a:t>v_id,v_name,v_salary,v_dept_id</a:t>
            </a:r>
            <a:r>
              <a:rPr lang="en-US" sz="2000" dirty="0"/>
              <a:t>;</a:t>
            </a:r>
          </a:p>
          <a:p>
            <a:pPr marL="0" indent="0">
              <a:buNone/>
            </a:pPr>
            <a:r>
              <a:rPr lang="en-US" sz="2000" dirty="0"/>
              <a:t>   EXIT WHEN </a:t>
            </a:r>
            <a:r>
              <a:rPr lang="en-US" sz="2000" dirty="0" err="1"/>
              <a:t>emp_cursor%notfound</a:t>
            </a:r>
            <a:r>
              <a:rPr lang="en-US" sz="2000" dirty="0"/>
              <a:t>;</a:t>
            </a:r>
          </a:p>
          <a:p>
            <a:pPr marL="0" indent="0">
              <a:buNone/>
            </a:pPr>
            <a:r>
              <a:rPr lang="en-US" sz="2000" dirty="0"/>
              <a:t>   </a:t>
            </a:r>
            <a:r>
              <a:rPr lang="en-US" sz="2000" dirty="0" err="1"/>
              <a:t>dbms_output.put_line</a:t>
            </a:r>
            <a:r>
              <a:rPr lang="en-US" sz="2000" dirty="0"/>
              <a:t>(</a:t>
            </a:r>
            <a:r>
              <a:rPr lang="en-US" sz="2000" dirty="0" err="1"/>
              <a:t>v_id</a:t>
            </a:r>
            <a:r>
              <a:rPr lang="en-US" sz="2000" dirty="0"/>
              <a:t>||', '||</a:t>
            </a:r>
            <a:r>
              <a:rPr lang="en-US" sz="2000" dirty="0" err="1"/>
              <a:t>v_name</a:t>
            </a:r>
            <a:r>
              <a:rPr lang="en-US" sz="2000" dirty="0"/>
              <a:t>||', '||</a:t>
            </a:r>
            <a:r>
              <a:rPr lang="en-US" sz="2000" dirty="0" err="1"/>
              <a:t>v_salary</a:t>
            </a:r>
            <a:r>
              <a:rPr lang="en-US" sz="2000" dirty="0"/>
              <a:t>||','||</a:t>
            </a:r>
            <a:r>
              <a:rPr lang="en-US" sz="2000" dirty="0" err="1"/>
              <a:t>v_dept_id</a:t>
            </a:r>
            <a:r>
              <a:rPr lang="en-US" sz="2000" dirty="0"/>
              <a:t>);</a:t>
            </a:r>
          </a:p>
          <a:p>
            <a:pPr marL="0" indent="0">
              <a:buNone/>
            </a:pPr>
            <a:r>
              <a:rPr lang="en-US" sz="2000" dirty="0"/>
              <a:t>   END LOOP;</a:t>
            </a:r>
          </a:p>
          <a:p>
            <a:pPr marL="0" indent="0">
              <a:buNone/>
            </a:pPr>
            <a:r>
              <a:rPr lang="en-US" sz="2000" dirty="0"/>
              <a:t>   CLOSE </a:t>
            </a:r>
            <a:r>
              <a:rPr lang="en-US" sz="2000" dirty="0" err="1"/>
              <a:t>emp_cursor</a:t>
            </a:r>
            <a:r>
              <a:rPr lang="en-US" sz="2000" dirty="0"/>
              <a:t>;</a:t>
            </a:r>
          </a:p>
          <a:p>
            <a:pPr marL="0" indent="0">
              <a:buNone/>
            </a:pPr>
            <a:r>
              <a:rPr lang="en-US" sz="2000" dirty="0"/>
              <a:t>END;</a:t>
            </a:r>
          </a:p>
          <a:p>
            <a:pPr marL="0" indent="0">
              <a:buNone/>
            </a:pPr>
            <a:r>
              <a:rPr lang="en-US" sz="2000" dirty="0"/>
              <a:t>/</a:t>
            </a:r>
            <a:endParaRPr lang="ru-RU" sz="2000" dirty="0"/>
          </a:p>
        </p:txBody>
      </p:sp>
      <p:sp>
        <p:nvSpPr>
          <p:cNvPr id="2" name="Заголовок 1"/>
          <p:cNvSpPr>
            <a:spLocks noGrp="1"/>
          </p:cNvSpPr>
          <p:nvPr>
            <p:ph type="title"/>
          </p:nvPr>
        </p:nvSpPr>
        <p:spPr>
          <a:xfrm>
            <a:off x="3900196" y="-1"/>
            <a:ext cx="4478694" cy="690465"/>
          </a:xfrm>
        </p:spPr>
        <p:txBody>
          <a:bodyPr>
            <a:normAutofit/>
          </a:bodyPr>
          <a:lstStyle/>
          <a:p>
            <a:r>
              <a:rPr lang="ru-RU" sz="3200" dirty="0">
                <a:solidFill>
                  <a:srgbClr val="FF0000"/>
                </a:solidFill>
              </a:rPr>
              <a:t>Пример курсора</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28</a:t>
            </a:fld>
            <a:endParaRPr lang="ru-RU">
              <a:solidFill>
                <a:prstClr val="black">
                  <a:tint val="75000"/>
                </a:prstClr>
              </a:solidFill>
            </a:endParaRPr>
          </a:p>
        </p:txBody>
      </p:sp>
    </p:spTree>
    <p:extLst>
      <p:ext uri="{BB962C8B-B14F-4D97-AF65-F5344CB8AC3E}">
        <p14:creationId xmlns:p14="http://schemas.microsoft.com/office/powerpoint/2010/main" val="36815151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3660" y="6127"/>
            <a:ext cx="11012041" cy="620973"/>
          </a:xfrm>
        </p:spPr>
        <p:txBody>
          <a:bodyPr>
            <a:normAutofit/>
          </a:bodyPr>
          <a:lstStyle/>
          <a:p>
            <a:r>
              <a:rPr lang="ru-RU" sz="3200" dirty="0">
                <a:solidFill>
                  <a:srgbClr val="FF0000"/>
                </a:solidFill>
                <a:latin typeface="Arial" panose="020B0604020202020204" pitchFamily="34" charset="0"/>
              </a:rPr>
              <a:t>Неявные курсоры быстрее</a:t>
            </a:r>
            <a:endParaRPr lang="ru-RU" dirty="0">
              <a:solidFill>
                <a:srgbClr val="FF0000"/>
              </a:solidFill>
            </a:endParaRPr>
          </a:p>
        </p:txBody>
      </p:sp>
      <p:sp>
        <p:nvSpPr>
          <p:cNvPr id="3" name="Объект 2"/>
          <p:cNvSpPr>
            <a:spLocks noGrp="1"/>
          </p:cNvSpPr>
          <p:nvPr>
            <p:ph idx="1"/>
          </p:nvPr>
        </p:nvSpPr>
        <p:spPr>
          <a:xfrm>
            <a:off x="645421" y="702163"/>
            <a:ext cx="3841520" cy="5952930"/>
          </a:xfrm>
          <a:ln>
            <a:solidFill>
              <a:schemeClr val="accent1"/>
            </a:solidFill>
          </a:ln>
        </p:spPr>
        <p:txBody>
          <a:bodyPr>
            <a:normAutofit/>
          </a:bodyPr>
          <a:lstStyle/>
          <a:p>
            <a:pPr marL="0" indent="0">
              <a:buNone/>
            </a:pPr>
            <a:r>
              <a:rPr lang="en-US" sz="2000" dirty="0"/>
              <a:t>SET SERVEROUTPUT ON</a:t>
            </a:r>
          </a:p>
          <a:p>
            <a:pPr marL="0" indent="0">
              <a:buNone/>
            </a:pPr>
            <a:r>
              <a:rPr lang="en-US" sz="2000" dirty="0"/>
              <a:t>DECLARE</a:t>
            </a:r>
          </a:p>
          <a:p>
            <a:pPr marL="0" indent="0">
              <a:buNone/>
            </a:pPr>
            <a:r>
              <a:rPr lang="en-US" sz="2000" dirty="0"/>
              <a:t>  </a:t>
            </a:r>
            <a:r>
              <a:rPr lang="en-US" sz="2000" dirty="0" err="1"/>
              <a:t>l_loops</a:t>
            </a:r>
            <a:r>
              <a:rPr lang="en-US" sz="2000" dirty="0"/>
              <a:t>  NUMBER := 100000;</a:t>
            </a:r>
          </a:p>
          <a:p>
            <a:pPr marL="0" indent="0">
              <a:buNone/>
            </a:pPr>
            <a:r>
              <a:rPr lang="en-US" sz="2000" dirty="0"/>
              <a:t>  </a:t>
            </a:r>
            <a:r>
              <a:rPr lang="en-US" sz="2000" dirty="0" err="1"/>
              <a:t>l_dummy</a:t>
            </a:r>
            <a:r>
              <a:rPr lang="en-US" sz="2000" dirty="0"/>
              <a:t>  </a:t>
            </a:r>
            <a:r>
              <a:rPr lang="en-US" sz="2000" dirty="0" err="1"/>
              <a:t>dual.dummy%TYPE</a:t>
            </a:r>
            <a:r>
              <a:rPr lang="en-US" sz="2000" dirty="0"/>
              <a:t>;</a:t>
            </a:r>
          </a:p>
          <a:p>
            <a:pPr marL="0" indent="0">
              <a:buNone/>
            </a:pPr>
            <a:r>
              <a:rPr lang="en-US" sz="2000" dirty="0"/>
              <a:t>  </a:t>
            </a:r>
            <a:r>
              <a:rPr lang="en-US" sz="2000" dirty="0" err="1"/>
              <a:t>l_start</a:t>
            </a:r>
            <a:r>
              <a:rPr lang="en-US" sz="2000" dirty="0"/>
              <a:t>  NUMBER;</a:t>
            </a:r>
          </a:p>
          <a:p>
            <a:pPr marL="0" indent="0">
              <a:buNone/>
            </a:pPr>
            <a:endParaRPr lang="en-US" sz="2000" dirty="0"/>
          </a:p>
          <a:p>
            <a:pPr marL="0" indent="0">
              <a:buNone/>
            </a:pPr>
            <a:r>
              <a:rPr lang="en-US" sz="2000" dirty="0"/>
              <a:t>  CURSOR </a:t>
            </a:r>
            <a:r>
              <a:rPr lang="en-US" sz="2000" dirty="0" err="1"/>
              <a:t>c_dual</a:t>
            </a:r>
            <a:r>
              <a:rPr lang="en-US" sz="2000" dirty="0"/>
              <a:t> IS</a:t>
            </a:r>
          </a:p>
          <a:p>
            <a:pPr marL="0" indent="0">
              <a:buNone/>
            </a:pPr>
            <a:r>
              <a:rPr lang="en-US" sz="2000" dirty="0"/>
              <a:t>    SELECT dummy</a:t>
            </a:r>
          </a:p>
          <a:p>
            <a:pPr marL="0" indent="0">
              <a:buNone/>
            </a:pPr>
            <a:r>
              <a:rPr lang="en-US" sz="2000" dirty="0"/>
              <a:t>    FROM   dual;</a:t>
            </a:r>
          </a:p>
          <a:p>
            <a:pPr marL="0" indent="0">
              <a:buNone/>
            </a:pPr>
            <a:r>
              <a:rPr lang="en-US" sz="2000" dirty="0"/>
              <a:t>BEGIN</a:t>
            </a:r>
          </a:p>
          <a:p>
            <a:pPr marL="0" indent="0">
              <a:buNone/>
            </a:pPr>
            <a:r>
              <a:rPr lang="en-US" sz="2000" dirty="0"/>
              <a:t>  </a:t>
            </a:r>
            <a:r>
              <a:rPr lang="en-US" sz="2000" dirty="0" err="1"/>
              <a:t>l_start</a:t>
            </a:r>
            <a:r>
              <a:rPr lang="en-US" sz="2000" dirty="0"/>
              <a:t> := DBMS_UTILITY.get_time;</a:t>
            </a:r>
          </a:p>
          <a:p>
            <a:pPr marL="0" indent="0">
              <a:buNone/>
            </a:pPr>
            <a:r>
              <a:rPr lang="en-US" sz="2000" dirty="0"/>
              <a:t>  FOR </a:t>
            </a:r>
            <a:r>
              <a:rPr lang="en-US" sz="2000" dirty="0" err="1"/>
              <a:t>i</a:t>
            </a:r>
            <a:r>
              <a:rPr lang="en-US" sz="2000" dirty="0"/>
              <a:t> IN 1 .. </a:t>
            </a:r>
            <a:r>
              <a:rPr lang="en-US" sz="2000" dirty="0" err="1"/>
              <a:t>l_loops</a:t>
            </a:r>
            <a:r>
              <a:rPr lang="en-US" sz="2000" dirty="0"/>
              <a:t> LOOP</a:t>
            </a:r>
          </a:p>
          <a:p>
            <a:pPr marL="0" indent="0">
              <a:buNone/>
            </a:pPr>
            <a:r>
              <a:rPr lang="en-US" sz="2000" dirty="0"/>
              <a:t>    OPEN  </a:t>
            </a:r>
            <a:r>
              <a:rPr lang="en-US" sz="2000" dirty="0" err="1"/>
              <a:t>c_dual</a:t>
            </a:r>
            <a:r>
              <a:rPr lang="en-US" sz="2000" dirty="0"/>
              <a:t>;</a:t>
            </a:r>
          </a:p>
          <a:p>
            <a:pPr marL="0" indent="0">
              <a:buNone/>
            </a:pPr>
            <a:r>
              <a:rPr lang="en-US" sz="2000" dirty="0"/>
              <a:t>    FETCH </a:t>
            </a:r>
            <a:r>
              <a:rPr lang="en-US" sz="2000" dirty="0" err="1"/>
              <a:t>c_dual</a:t>
            </a:r>
            <a:r>
              <a:rPr lang="en-US" sz="2000" dirty="0"/>
              <a:t> INTO  </a:t>
            </a:r>
            <a:r>
              <a:rPr lang="en-US" sz="2000" dirty="0" err="1"/>
              <a:t>l_dummy</a:t>
            </a:r>
            <a:r>
              <a:rPr lang="en-US" sz="2000" dirty="0"/>
              <a:t>;</a:t>
            </a:r>
          </a:p>
          <a:p>
            <a:pPr marL="0" indent="0">
              <a:buNone/>
            </a:pPr>
            <a:r>
              <a:rPr lang="en-US" sz="2000" dirty="0"/>
              <a:t>    CLOSE </a:t>
            </a:r>
            <a:r>
              <a:rPr lang="en-US" sz="2000" dirty="0" err="1"/>
              <a:t>c_dual</a:t>
            </a:r>
            <a:r>
              <a:rPr lang="en-US" sz="2000" dirty="0"/>
              <a:t>;</a:t>
            </a:r>
          </a:p>
          <a:p>
            <a:pPr marL="0" indent="0">
              <a:buNone/>
            </a:pPr>
            <a:r>
              <a:rPr lang="en-US" sz="2000" dirty="0"/>
              <a:t>  END LOOP;</a:t>
            </a:r>
          </a:p>
          <a:p>
            <a:pPr marL="0" indent="0">
              <a:buNone/>
            </a:pPr>
            <a:endParaRPr lang="en-US" sz="2000" dirty="0"/>
          </a:p>
        </p:txBody>
      </p:sp>
      <p:sp>
        <p:nvSpPr>
          <p:cNvPr id="4" name="Объект 2"/>
          <p:cNvSpPr txBox="1">
            <a:spLocks/>
          </p:cNvSpPr>
          <p:nvPr/>
        </p:nvSpPr>
        <p:spPr>
          <a:xfrm>
            <a:off x="4763069" y="702163"/>
            <a:ext cx="4600640" cy="5952930"/>
          </a:xfrm>
          <a:prstGeom prst="rect">
            <a:avLst/>
          </a:prstGeom>
          <a:ln>
            <a:solidFill>
              <a:schemeClr val="accent1"/>
            </a:solidFill>
          </a:ln>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Font typeface="Arial" panose="020B0604020202020204" pitchFamily="34" charset="0"/>
              <a:buNone/>
            </a:pPr>
            <a:r>
              <a:rPr lang="en-US" sz="2000" dirty="0"/>
              <a:t> DBMS_OUTPUT.put_line('Explicit: ' || </a:t>
            </a:r>
          </a:p>
          <a:p>
            <a:pPr marL="0" indent="0">
              <a:lnSpc>
                <a:spcPct val="90000"/>
              </a:lnSpc>
              <a:buFont typeface="Arial" panose="020B0604020202020204" pitchFamily="34" charset="0"/>
              <a:buNone/>
            </a:pPr>
            <a:r>
              <a:rPr lang="en-US" sz="2000" dirty="0"/>
              <a:t>                       (DBMS_UTILITY.get_time - </a:t>
            </a:r>
            <a:r>
              <a:rPr lang="en-US" sz="2000" dirty="0" err="1"/>
              <a:t>l_start</a:t>
            </a:r>
            <a:r>
              <a:rPr lang="en-US" sz="2000" dirty="0"/>
              <a:t>) || ' </a:t>
            </a:r>
            <a:r>
              <a:rPr lang="en-US" sz="2000" dirty="0" err="1"/>
              <a:t>hsecs</a:t>
            </a:r>
            <a:r>
              <a:rPr lang="en-US" sz="2000" dirty="0"/>
              <a:t>');</a:t>
            </a:r>
          </a:p>
          <a:p>
            <a:pPr marL="0" indent="0">
              <a:lnSpc>
                <a:spcPct val="90000"/>
              </a:lnSpc>
              <a:buFont typeface="Arial" panose="020B0604020202020204" pitchFamily="34" charset="0"/>
              <a:buNone/>
            </a:pPr>
            <a:endParaRPr lang="en-US" sz="800" dirty="0"/>
          </a:p>
          <a:p>
            <a:pPr marL="0" indent="0">
              <a:lnSpc>
                <a:spcPct val="90000"/>
              </a:lnSpc>
              <a:buFont typeface="Arial" panose="020B0604020202020204" pitchFamily="34" charset="0"/>
              <a:buNone/>
            </a:pPr>
            <a:r>
              <a:rPr lang="en-US" sz="2000" dirty="0"/>
              <a:t>  </a:t>
            </a:r>
            <a:r>
              <a:rPr lang="en-US" sz="2000" dirty="0" err="1"/>
              <a:t>l_start</a:t>
            </a:r>
            <a:r>
              <a:rPr lang="en-US" sz="2000" dirty="0"/>
              <a:t> := DBMS_UTILITY.get_time;</a:t>
            </a:r>
          </a:p>
          <a:p>
            <a:pPr marL="0" indent="0">
              <a:lnSpc>
                <a:spcPct val="90000"/>
              </a:lnSpc>
              <a:buFont typeface="Arial" panose="020B0604020202020204" pitchFamily="34" charset="0"/>
              <a:buNone/>
            </a:pPr>
            <a:endParaRPr lang="en-US" sz="2000" dirty="0"/>
          </a:p>
          <a:p>
            <a:pPr marL="0" indent="0">
              <a:lnSpc>
                <a:spcPct val="90000"/>
              </a:lnSpc>
              <a:buFont typeface="Arial" panose="020B0604020202020204" pitchFamily="34" charset="0"/>
              <a:buNone/>
            </a:pPr>
            <a:r>
              <a:rPr lang="en-US" sz="2000" dirty="0"/>
              <a:t>  FOR </a:t>
            </a:r>
            <a:r>
              <a:rPr lang="en-US" sz="2000" dirty="0" err="1"/>
              <a:t>i</a:t>
            </a:r>
            <a:r>
              <a:rPr lang="en-US" sz="2000" dirty="0"/>
              <a:t> IN 1 .. </a:t>
            </a:r>
            <a:r>
              <a:rPr lang="en-US" sz="2000" dirty="0" err="1"/>
              <a:t>l_loops</a:t>
            </a:r>
            <a:r>
              <a:rPr lang="en-US" sz="2000" dirty="0"/>
              <a:t> LOOP</a:t>
            </a:r>
          </a:p>
          <a:p>
            <a:pPr marL="0" indent="0">
              <a:lnSpc>
                <a:spcPct val="90000"/>
              </a:lnSpc>
              <a:buFont typeface="Arial" panose="020B0604020202020204" pitchFamily="34" charset="0"/>
              <a:buNone/>
            </a:pPr>
            <a:r>
              <a:rPr lang="en-US" sz="2000" dirty="0"/>
              <a:t>    SELECT dummy</a:t>
            </a:r>
          </a:p>
          <a:p>
            <a:pPr marL="0" indent="0">
              <a:lnSpc>
                <a:spcPct val="90000"/>
              </a:lnSpc>
              <a:buFont typeface="Arial" panose="020B0604020202020204" pitchFamily="34" charset="0"/>
              <a:buNone/>
            </a:pPr>
            <a:r>
              <a:rPr lang="en-US" sz="2000" dirty="0"/>
              <a:t>    INTO   </a:t>
            </a:r>
            <a:r>
              <a:rPr lang="en-US" sz="2000" dirty="0" err="1"/>
              <a:t>l_dummy</a:t>
            </a:r>
            <a:endParaRPr lang="en-US" sz="2000" dirty="0"/>
          </a:p>
          <a:p>
            <a:pPr marL="0" indent="0">
              <a:lnSpc>
                <a:spcPct val="90000"/>
              </a:lnSpc>
              <a:buFont typeface="Arial" panose="020B0604020202020204" pitchFamily="34" charset="0"/>
              <a:buNone/>
            </a:pPr>
            <a:r>
              <a:rPr lang="en-US" sz="2000" dirty="0"/>
              <a:t>    FROM   dual;</a:t>
            </a:r>
          </a:p>
          <a:p>
            <a:pPr marL="0" indent="0">
              <a:lnSpc>
                <a:spcPct val="90000"/>
              </a:lnSpc>
              <a:buFont typeface="Arial" panose="020B0604020202020204" pitchFamily="34" charset="0"/>
              <a:buNone/>
            </a:pPr>
            <a:r>
              <a:rPr lang="en-US" sz="2000" dirty="0"/>
              <a:t>  END LOOP;</a:t>
            </a:r>
          </a:p>
          <a:p>
            <a:pPr marL="0" indent="0">
              <a:lnSpc>
                <a:spcPct val="90000"/>
              </a:lnSpc>
              <a:buFont typeface="Arial" panose="020B0604020202020204" pitchFamily="34" charset="0"/>
              <a:buNone/>
            </a:pPr>
            <a:endParaRPr lang="en-US" sz="800" dirty="0"/>
          </a:p>
          <a:p>
            <a:pPr marL="0" indent="0">
              <a:lnSpc>
                <a:spcPct val="90000"/>
              </a:lnSpc>
              <a:buFont typeface="Arial" panose="020B0604020202020204" pitchFamily="34" charset="0"/>
              <a:buNone/>
            </a:pPr>
            <a:r>
              <a:rPr lang="en-US" sz="2000" dirty="0"/>
              <a:t>  DBMS_OUTPUT.put_line('Implicit: ' || </a:t>
            </a:r>
          </a:p>
          <a:p>
            <a:pPr marL="0" indent="0">
              <a:lnSpc>
                <a:spcPct val="90000"/>
              </a:lnSpc>
              <a:buFont typeface="Arial" panose="020B0604020202020204" pitchFamily="34" charset="0"/>
              <a:buNone/>
            </a:pPr>
            <a:r>
              <a:rPr lang="en-US" sz="2000" dirty="0"/>
              <a:t>                       (DBMS_UTILITY.get_time - </a:t>
            </a:r>
            <a:r>
              <a:rPr lang="en-US" sz="2000" dirty="0" err="1"/>
              <a:t>l_start</a:t>
            </a:r>
            <a:r>
              <a:rPr lang="en-US" sz="2000" dirty="0"/>
              <a:t>) || ' </a:t>
            </a:r>
            <a:r>
              <a:rPr lang="en-US" sz="2000" dirty="0" err="1"/>
              <a:t>hsecs</a:t>
            </a:r>
            <a:r>
              <a:rPr lang="en-US" sz="2000" dirty="0"/>
              <a:t>');</a:t>
            </a:r>
          </a:p>
          <a:p>
            <a:pPr marL="0" indent="0">
              <a:lnSpc>
                <a:spcPct val="90000"/>
              </a:lnSpc>
              <a:buFont typeface="Arial" panose="020B0604020202020204" pitchFamily="34" charset="0"/>
              <a:buNone/>
            </a:pPr>
            <a:r>
              <a:rPr lang="en-US" sz="2000" dirty="0"/>
              <a:t>END;</a:t>
            </a:r>
          </a:p>
          <a:p>
            <a:pPr marL="0" indent="0">
              <a:lnSpc>
                <a:spcPct val="90000"/>
              </a:lnSpc>
              <a:buFont typeface="Arial" panose="020B0604020202020204" pitchFamily="34" charset="0"/>
              <a:buNone/>
            </a:pPr>
            <a:r>
              <a:rPr lang="en-US" sz="2000" dirty="0"/>
              <a:t>/</a:t>
            </a:r>
            <a:endParaRPr lang="ru-RU" sz="2000" dirty="0"/>
          </a:p>
        </p:txBody>
      </p:sp>
      <p:pic>
        <p:nvPicPr>
          <p:cNvPr id="6" name="Рисунок 5"/>
          <p:cNvPicPr>
            <a:picLocks noChangeAspect="1"/>
          </p:cNvPicPr>
          <p:nvPr/>
        </p:nvPicPr>
        <p:blipFill>
          <a:blip r:embed="rId2"/>
          <a:stretch>
            <a:fillRect/>
          </a:stretch>
        </p:blipFill>
        <p:spPr>
          <a:xfrm>
            <a:off x="6936408" y="4950057"/>
            <a:ext cx="4707679" cy="1780099"/>
          </a:xfrm>
          <a:prstGeom prst="rect">
            <a:avLst/>
          </a:prstGeom>
        </p:spPr>
      </p:pic>
      <p:sp>
        <p:nvSpPr>
          <p:cNvPr id="5" name="Скругленная прямоугольная выноска 4"/>
          <p:cNvSpPr/>
          <p:nvPr/>
        </p:nvSpPr>
        <p:spPr>
          <a:xfrm>
            <a:off x="8674444" y="1843432"/>
            <a:ext cx="2883243" cy="777922"/>
          </a:xfrm>
          <a:prstGeom prst="wedgeRoundRectCallout">
            <a:avLst>
              <a:gd name="adj1" fmla="val -60948"/>
              <a:gd name="adj2" fmla="val -109193"/>
              <a:gd name="adj3" fmla="val 16667"/>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solidFill>
                  <a:schemeClr val="tx1"/>
                </a:solidFill>
              </a:rPr>
              <a:t>Обратите внимание на </a:t>
            </a:r>
            <a:r>
              <a:rPr lang="en-US" dirty="0">
                <a:solidFill>
                  <a:schemeClr val="tx1"/>
                </a:solidFill>
              </a:rPr>
              <a:t>DBMS_UTILITY.get_time</a:t>
            </a:r>
            <a:endParaRPr lang="ru-RU" dirty="0">
              <a:solidFill>
                <a:schemeClr val="tx1"/>
              </a:solidFill>
            </a:endParaRPr>
          </a:p>
        </p:txBody>
      </p:sp>
      <p:sp>
        <p:nvSpPr>
          <p:cNvPr id="7" name="Номер слайда 6"/>
          <p:cNvSpPr>
            <a:spLocks noGrp="1"/>
          </p:cNvSpPr>
          <p:nvPr>
            <p:ph type="sldNum" sz="quarter" idx="12"/>
          </p:nvPr>
        </p:nvSpPr>
        <p:spPr/>
        <p:txBody>
          <a:bodyPr/>
          <a:lstStyle/>
          <a:p>
            <a:fld id="{F6897B34-D6E2-4952-A4EE-BEF9CE40CFF9}" type="slidenum">
              <a:rPr lang="ru-RU" smtClean="0">
                <a:solidFill>
                  <a:prstClr val="black">
                    <a:tint val="75000"/>
                  </a:prstClr>
                </a:solidFill>
              </a:rPr>
              <a:pPr/>
              <a:t>29</a:t>
            </a:fld>
            <a:endParaRPr lang="ru-RU">
              <a:solidFill>
                <a:prstClr val="black">
                  <a:tint val="75000"/>
                </a:prstClr>
              </a:solidFill>
            </a:endParaRPr>
          </a:p>
        </p:txBody>
      </p:sp>
    </p:spTree>
    <p:extLst>
      <p:ext uri="{BB962C8B-B14F-4D97-AF65-F5344CB8AC3E}">
        <p14:creationId xmlns:p14="http://schemas.microsoft.com/office/powerpoint/2010/main" val="1469675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15820"/>
          </a:xfrm>
        </p:spPr>
        <p:txBody>
          <a:bodyPr>
            <a:normAutofit/>
          </a:bodyPr>
          <a:lstStyle/>
          <a:p>
            <a:r>
              <a:rPr lang="ru-RU" sz="3200" dirty="0">
                <a:solidFill>
                  <a:srgbClr val="FF0000"/>
                </a:solidFill>
                <a:latin typeface="+mn-lt"/>
              </a:rPr>
              <a:t>Курсорный цикл </a:t>
            </a:r>
            <a:r>
              <a:rPr lang="en-US" sz="3200" dirty="0">
                <a:solidFill>
                  <a:srgbClr val="FF0000"/>
                </a:solidFill>
                <a:latin typeface="+mn-lt"/>
              </a:rPr>
              <a:t>FOR</a:t>
            </a:r>
            <a:endParaRPr lang="ru-RU" sz="3200" dirty="0">
              <a:solidFill>
                <a:srgbClr val="FF0000"/>
              </a:solidFill>
              <a:latin typeface="+mn-lt"/>
            </a:endParaRPr>
          </a:p>
        </p:txBody>
      </p:sp>
      <p:sp>
        <p:nvSpPr>
          <p:cNvPr id="3" name="Объект 2"/>
          <p:cNvSpPr>
            <a:spLocks noGrp="1"/>
          </p:cNvSpPr>
          <p:nvPr>
            <p:ph idx="1"/>
          </p:nvPr>
        </p:nvSpPr>
        <p:spPr>
          <a:xfrm>
            <a:off x="609600" y="615820"/>
            <a:ext cx="10972800" cy="6180395"/>
          </a:xfrm>
        </p:spPr>
        <p:txBody>
          <a:bodyPr>
            <a:noAutofit/>
          </a:bodyPr>
          <a:lstStyle/>
          <a:p>
            <a:pPr marL="0" indent="0">
              <a:lnSpc>
                <a:spcPct val="80000"/>
              </a:lnSpc>
              <a:buNone/>
            </a:pPr>
            <a:r>
              <a:rPr lang="en-US" sz="1800" dirty="0">
                <a:latin typeface="inherit"/>
              </a:rPr>
              <a:t>       </a:t>
            </a:r>
            <a:r>
              <a:rPr lang="ru-RU" sz="1800" dirty="0">
                <a:latin typeface="inherit"/>
              </a:rPr>
              <a:t>Синтаксис курсорного </a:t>
            </a:r>
            <a:r>
              <a:rPr lang="en-US" sz="1800" dirty="0">
                <a:latin typeface="inherit"/>
              </a:rPr>
              <a:t>FOR:</a:t>
            </a:r>
            <a:endParaRPr lang="ru-RU" sz="1800" dirty="0">
              <a:latin typeface="inherit"/>
            </a:endParaRPr>
          </a:p>
          <a:p>
            <a:pPr marL="0" indent="0">
              <a:lnSpc>
                <a:spcPct val="80000"/>
              </a:lnSpc>
              <a:buNone/>
            </a:pPr>
            <a:r>
              <a:rPr lang="ru-RU" sz="1800" dirty="0">
                <a:latin typeface="inherit"/>
              </a:rPr>
              <a:t>FOR </a:t>
            </a:r>
            <a:r>
              <a:rPr lang="ru-RU" sz="1800" dirty="0" err="1">
                <a:latin typeface="Monaco"/>
              </a:rPr>
              <a:t>курсорная_переменная</a:t>
            </a:r>
            <a:r>
              <a:rPr lang="ru-RU" sz="1800" dirty="0">
                <a:latin typeface="inherit"/>
              </a:rPr>
              <a:t> IN </a:t>
            </a:r>
            <a:r>
              <a:rPr lang="ru-RU" sz="1800" dirty="0">
                <a:latin typeface="Monaco"/>
              </a:rPr>
              <a:t>имя</a:t>
            </a:r>
            <a:r>
              <a:rPr lang="ru-RU" sz="1800" dirty="0">
                <a:latin typeface="inherit"/>
              </a:rPr>
              <a:t>_</a:t>
            </a:r>
            <a:r>
              <a:rPr lang="ru-RU" sz="1800" dirty="0">
                <a:latin typeface="Monaco"/>
              </a:rPr>
              <a:t>курсора</a:t>
            </a:r>
            <a:r>
              <a:rPr lang="ru-RU" sz="1800" dirty="0">
                <a:latin typeface="inherit"/>
              </a:rPr>
              <a:t> </a:t>
            </a:r>
            <a:r>
              <a:rPr lang="en-US" sz="1800" dirty="0">
                <a:latin typeface="inherit"/>
              </a:rPr>
              <a:t>[ (</a:t>
            </a:r>
            <a:r>
              <a:rPr lang="ru-RU" sz="1800" dirty="0">
                <a:latin typeface="inherit"/>
              </a:rPr>
              <a:t>значение</a:t>
            </a:r>
            <a:r>
              <a:rPr lang="en-US" sz="1800" dirty="0">
                <a:latin typeface="inherit"/>
              </a:rPr>
              <a:t> [,</a:t>
            </a:r>
            <a:r>
              <a:rPr lang="ru-RU" sz="1800" dirty="0">
                <a:latin typeface="inherit"/>
              </a:rPr>
              <a:t>значение</a:t>
            </a:r>
            <a:r>
              <a:rPr lang="en-US" sz="1800" dirty="0">
                <a:latin typeface="inherit"/>
              </a:rPr>
              <a:t>]...) ]</a:t>
            </a:r>
            <a:endParaRPr lang="ru-RU" sz="1800" dirty="0">
              <a:latin typeface="inherit"/>
            </a:endParaRPr>
          </a:p>
          <a:p>
            <a:pPr marL="0" indent="0">
              <a:lnSpc>
                <a:spcPct val="80000"/>
              </a:lnSpc>
              <a:buNone/>
            </a:pPr>
            <a:r>
              <a:rPr lang="ru-RU" sz="1800" dirty="0">
                <a:latin typeface="inherit"/>
              </a:rPr>
              <a:t>LOOP</a:t>
            </a:r>
            <a:endParaRPr lang="ru-RU" sz="1800" dirty="0">
              <a:latin typeface="Monaco"/>
            </a:endParaRPr>
          </a:p>
          <a:p>
            <a:pPr marL="0" indent="0">
              <a:lnSpc>
                <a:spcPct val="80000"/>
              </a:lnSpc>
              <a:buNone/>
            </a:pPr>
            <a:r>
              <a:rPr lang="ru-RU" sz="1800" dirty="0">
                <a:latin typeface="Monaco"/>
              </a:rPr>
              <a:t>операторы</a:t>
            </a:r>
            <a:r>
              <a:rPr lang="ru-RU" sz="1800" dirty="0">
                <a:latin typeface="inherit"/>
              </a:rPr>
              <a:t>;</a:t>
            </a:r>
            <a:endParaRPr lang="ru-RU" sz="1800" dirty="0">
              <a:latin typeface="Monaco"/>
            </a:endParaRPr>
          </a:p>
          <a:p>
            <a:pPr marL="0" indent="0">
              <a:lnSpc>
                <a:spcPct val="80000"/>
              </a:lnSpc>
              <a:buNone/>
            </a:pPr>
            <a:r>
              <a:rPr lang="ru-RU" sz="1800" dirty="0">
                <a:latin typeface="inherit"/>
              </a:rPr>
              <a:t>END LOOP;</a:t>
            </a:r>
          </a:p>
          <a:p>
            <a:pPr marL="0" indent="0">
              <a:lnSpc>
                <a:spcPct val="80000"/>
              </a:lnSpc>
              <a:buNone/>
            </a:pPr>
            <a:r>
              <a:rPr lang="ru-RU" sz="1800" dirty="0">
                <a:solidFill>
                  <a:srgbClr val="333333"/>
                </a:solidFill>
                <a:latin typeface="Lucida Grande"/>
              </a:rPr>
              <a:t>        Список значений используется для передачи параметров курсора (он заменяет список из команды OPEN в обычном курсоре)</a:t>
            </a:r>
            <a:endParaRPr lang="ru-RU" sz="1800" dirty="0">
              <a:latin typeface="Monaco"/>
            </a:endParaRPr>
          </a:p>
          <a:p>
            <a:pPr marL="0" indent="0">
              <a:lnSpc>
                <a:spcPct val="80000"/>
              </a:lnSpc>
              <a:buNone/>
            </a:pPr>
            <a:r>
              <a:rPr lang="en-US" sz="1800" dirty="0"/>
              <a:t>    </a:t>
            </a:r>
            <a:r>
              <a:rPr lang="ru-RU" sz="1800" dirty="0"/>
              <a:t>   </a:t>
            </a:r>
            <a:r>
              <a:rPr lang="en-US" sz="1800" dirty="0"/>
              <a:t> </a:t>
            </a:r>
            <a:r>
              <a:rPr lang="ru-RU" sz="1800" dirty="0"/>
              <a:t>О</a:t>
            </a:r>
            <a:r>
              <a:rPr lang="ru-RU" sz="1800" dirty="0">
                <a:solidFill>
                  <a:srgbClr val="0C0C0C"/>
                </a:solidFill>
              </a:rPr>
              <a:t>ткрытие и закрытие курсора производится автоматически. </a:t>
            </a:r>
            <a:r>
              <a:rPr lang="en-US" sz="1800" dirty="0"/>
              <a:t>     </a:t>
            </a:r>
            <a:endParaRPr lang="ru-RU" sz="1800" dirty="0"/>
          </a:p>
          <a:p>
            <a:pPr marL="0" indent="0">
              <a:lnSpc>
                <a:spcPct val="80000"/>
              </a:lnSpc>
              <a:buNone/>
            </a:pPr>
            <a:r>
              <a:rPr lang="ru-RU" sz="1800" dirty="0"/>
              <a:t>        Понятно, что такой курсор доступен только внутри цикла.</a:t>
            </a:r>
          </a:p>
          <a:p>
            <a:pPr marL="0" indent="0">
              <a:lnSpc>
                <a:spcPct val="80000"/>
              </a:lnSpc>
              <a:buNone/>
            </a:pPr>
            <a:r>
              <a:rPr lang="ru-RU" sz="1800" u="sng" dirty="0"/>
              <a:t>Пример</a:t>
            </a:r>
            <a:r>
              <a:rPr lang="ru-RU" sz="1800" dirty="0"/>
              <a:t>:</a:t>
            </a:r>
          </a:p>
          <a:p>
            <a:pPr marL="0" indent="0">
              <a:lnSpc>
                <a:spcPct val="70000"/>
              </a:lnSpc>
              <a:buNone/>
            </a:pPr>
            <a:r>
              <a:rPr lang="en-US" sz="1800" dirty="0"/>
              <a:t>DECLARE</a:t>
            </a:r>
          </a:p>
          <a:p>
            <a:pPr marL="0" indent="0">
              <a:lnSpc>
                <a:spcPct val="70000"/>
              </a:lnSpc>
              <a:buNone/>
            </a:pPr>
            <a:r>
              <a:rPr lang="ru-RU" sz="1800" dirty="0"/>
              <a:t>    </a:t>
            </a:r>
            <a:r>
              <a:rPr lang="en-US" sz="1800" dirty="0"/>
              <a:t>CURSOR  </a:t>
            </a:r>
            <a:r>
              <a:rPr lang="en-US" sz="1800" dirty="0" err="1"/>
              <a:t>get_tables</a:t>
            </a:r>
            <a:r>
              <a:rPr lang="en-US" sz="1800" dirty="0"/>
              <a:t>  IS	</a:t>
            </a:r>
            <a:r>
              <a:rPr lang="ru-RU" sz="1800" dirty="0"/>
              <a:t> </a:t>
            </a:r>
            <a:r>
              <a:rPr lang="en-US" sz="1800" dirty="0"/>
              <a:t>-- </a:t>
            </a:r>
            <a:r>
              <a:rPr lang="ru-RU" sz="1800" dirty="0"/>
              <a:t>определение  курсора</a:t>
            </a:r>
          </a:p>
          <a:p>
            <a:pPr marL="0" indent="0">
              <a:lnSpc>
                <a:spcPct val="70000"/>
              </a:lnSpc>
              <a:buNone/>
            </a:pPr>
            <a:r>
              <a:rPr lang="ru-RU" sz="1800" dirty="0"/>
              <a:t>    </a:t>
            </a:r>
            <a:r>
              <a:rPr lang="en-US" sz="1800" dirty="0"/>
              <a:t>SELECT  *  FROM  </a:t>
            </a:r>
            <a:r>
              <a:rPr lang="en-US" sz="1800" dirty="0" err="1"/>
              <a:t>user_tables</a:t>
            </a:r>
            <a:r>
              <a:rPr lang="en-US" sz="1800" dirty="0"/>
              <a:t>;</a:t>
            </a:r>
          </a:p>
          <a:p>
            <a:pPr marL="0" indent="0">
              <a:lnSpc>
                <a:spcPct val="70000"/>
              </a:lnSpc>
              <a:buNone/>
            </a:pPr>
            <a:r>
              <a:rPr lang="en-US" sz="1800" dirty="0"/>
              <a:t>BEGIN</a:t>
            </a:r>
          </a:p>
          <a:p>
            <a:pPr marL="0" indent="0">
              <a:lnSpc>
                <a:spcPct val="70000"/>
              </a:lnSpc>
              <a:buNone/>
            </a:pPr>
            <a:r>
              <a:rPr lang="ru-RU" sz="1800" dirty="0"/>
              <a:t>    </a:t>
            </a:r>
            <a:r>
              <a:rPr lang="en-US" sz="1800" dirty="0"/>
              <a:t>FOR  </a:t>
            </a:r>
            <a:r>
              <a:rPr lang="en-US" sz="1800" dirty="0" err="1"/>
              <a:t>get_tables_cur</a:t>
            </a:r>
            <a:r>
              <a:rPr lang="en-US" sz="1800" dirty="0"/>
              <a:t>  IN  </a:t>
            </a:r>
            <a:r>
              <a:rPr lang="en-US" sz="1800" dirty="0" err="1"/>
              <a:t>get_tables</a:t>
            </a:r>
            <a:r>
              <a:rPr lang="en-US" sz="1800" dirty="0"/>
              <a:t>  LOOP	-- </a:t>
            </a:r>
            <a:r>
              <a:rPr lang="ru-RU" sz="1800" dirty="0"/>
              <a:t>определяет  переменную-строку  курсора</a:t>
            </a:r>
          </a:p>
          <a:p>
            <a:pPr marL="0" indent="0">
              <a:lnSpc>
                <a:spcPct val="70000"/>
              </a:lnSpc>
              <a:buNone/>
            </a:pPr>
            <a:r>
              <a:rPr lang="ru-RU" sz="1800" dirty="0"/>
              <a:t>    </a:t>
            </a:r>
            <a:r>
              <a:rPr lang="en-US" sz="1800" dirty="0" err="1"/>
              <a:t>dbms_output.put_line</a:t>
            </a:r>
            <a:r>
              <a:rPr lang="en-US" sz="1800" dirty="0"/>
              <a:t>(</a:t>
            </a:r>
            <a:r>
              <a:rPr lang="en-US" sz="1800" dirty="0" err="1"/>
              <a:t>get_tables_cur.table_name</a:t>
            </a:r>
            <a:r>
              <a:rPr lang="en-US" sz="1800" dirty="0"/>
              <a:t>);  -- </a:t>
            </a:r>
            <a:r>
              <a:rPr lang="ru-RU" sz="1800" dirty="0"/>
              <a:t>выводит  значение в столбце</a:t>
            </a:r>
          </a:p>
          <a:p>
            <a:pPr marL="0" indent="0">
              <a:lnSpc>
                <a:spcPct val="70000"/>
              </a:lnSpc>
              <a:buNone/>
            </a:pPr>
            <a:r>
              <a:rPr lang="ru-RU" sz="1800" dirty="0"/>
              <a:t>	</a:t>
            </a:r>
            <a:r>
              <a:rPr lang="en-US" sz="1800" dirty="0"/>
              <a:t>END LOOP;</a:t>
            </a:r>
          </a:p>
          <a:p>
            <a:pPr marL="0" indent="0">
              <a:lnSpc>
                <a:spcPct val="70000"/>
              </a:lnSpc>
              <a:buNone/>
            </a:pPr>
            <a:r>
              <a:rPr lang="en-US" sz="1800" dirty="0"/>
              <a:t>END;</a:t>
            </a:r>
          </a:p>
          <a:p>
            <a:pPr marL="0" indent="0">
              <a:lnSpc>
                <a:spcPct val="80000"/>
              </a:lnSpc>
              <a:buNone/>
            </a:pPr>
            <a:r>
              <a:rPr lang="ru-RU" sz="1800" dirty="0"/>
              <a:t>Оказывается  текст  программы  можно  еще  упростить:</a:t>
            </a:r>
          </a:p>
          <a:p>
            <a:pPr marL="0" indent="0">
              <a:lnSpc>
                <a:spcPct val="70000"/>
              </a:lnSpc>
              <a:buNone/>
            </a:pPr>
            <a:r>
              <a:rPr lang="en-US" sz="1800" dirty="0"/>
              <a:t>BEGIN</a:t>
            </a:r>
          </a:p>
          <a:p>
            <a:pPr marL="0" indent="0">
              <a:lnSpc>
                <a:spcPct val="70000"/>
              </a:lnSpc>
              <a:buNone/>
            </a:pPr>
            <a:r>
              <a:rPr lang="en-US" sz="1800" dirty="0"/>
              <a:t>    FOR  </a:t>
            </a:r>
            <a:r>
              <a:rPr lang="en-US" sz="1800" dirty="0" err="1"/>
              <a:t>get_tables_cur</a:t>
            </a:r>
            <a:r>
              <a:rPr lang="en-US" sz="1800" dirty="0"/>
              <a:t> IN  (SELECT  *  FROM  </a:t>
            </a:r>
            <a:r>
              <a:rPr lang="en-US" sz="1800" dirty="0" err="1"/>
              <a:t>user_tables</a:t>
            </a:r>
            <a:r>
              <a:rPr lang="en-US" sz="1800" dirty="0"/>
              <a:t>)  LOOP</a:t>
            </a:r>
          </a:p>
          <a:p>
            <a:pPr marL="0" indent="0">
              <a:lnSpc>
                <a:spcPct val="70000"/>
              </a:lnSpc>
              <a:buNone/>
            </a:pPr>
            <a:r>
              <a:rPr lang="en-US" sz="1800" dirty="0" err="1"/>
              <a:t>dbms_output.put_line</a:t>
            </a:r>
            <a:r>
              <a:rPr lang="en-US" sz="1800" dirty="0"/>
              <a:t>(</a:t>
            </a:r>
            <a:r>
              <a:rPr lang="en-US" sz="1800" dirty="0" err="1"/>
              <a:t>get_tables_cur.table_name</a:t>
            </a:r>
            <a:r>
              <a:rPr lang="en-US" sz="1800" dirty="0"/>
              <a:t>);</a:t>
            </a:r>
          </a:p>
          <a:p>
            <a:pPr marL="0" indent="0">
              <a:lnSpc>
                <a:spcPct val="70000"/>
              </a:lnSpc>
              <a:buNone/>
            </a:pPr>
            <a:r>
              <a:rPr lang="en-US" sz="1800" dirty="0"/>
              <a:t>    END LOOP;</a:t>
            </a:r>
          </a:p>
          <a:p>
            <a:pPr marL="0" indent="0">
              <a:lnSpc>
                <a:spcPct val="70000"/>
              </a:lnSpc>
              <a:buNone/>
            </a:pPr>
            <a:r>
              <a:rPr lang="en-US" sz="1800" dirty="0"/>
              <a:t>END;</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30</a:t>
            </a:fld>
            <a:endParaRPr lang="ru-RU">
              <a:solidFill>
                <a:prstClr val="black">
                  <a:tint val="75000"/>
                </a:prstClr>
              </a:solidFill>
            </a:endParaRPr>
          </a:p>
        </p:txBody>
      </p:sp>
    </p:spTree>
    <p:extLst>
      <p:ext uri="{BB962C8B-B14F-4D97-AF65-F5344CB8AC3E}">
        <p14:creationId xmlns:p14="http://schemas.microsoft.com/office/powerpoint/2010/main" val="3981879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46205" y="0"/>
            <a:ext cx="10536195" cy="615820"/>
          </a:xfrm>
        </p:spPr>
        <p:txBody>
          <a:bodyPr>
            <a:normAutofit/>
          </a:bodyPr>
          <a:lstStyle/>
          <a:p>
            <a:r>
              <a:rPr lang="ru-RU" sz="3200">
                <a:solidFill>
                  <a:srgbClr val="FF0000"/>
                </a:solidFill>
              </a:rPr>
              <a:t>Ещё пример </a:t>
            </a:r>
            <a:r>
              <a:rPr lang="ru-RU" sz="3200" dirty="0">
                <a:solidFill>
                  <a:srgbClr val="FF0000"/>
                </a:solidFill>
              </a:rPr>
              <a:t>курсорного </a:t>
            </a:r>
            <a:r>
              <a:rPr lang="en-US" sz="3200" dirty="0">
                <a:solidFill>
                  <a:srgbClr val="FF0000"/>
                </a:solidFill>
              </a:rPr>
              <a:t>FOR</a:t>
            </a:r>
            <a:endParaRPr lang="ru-RU" sz="3200" dirty="0">
              <a:solidFill>
                <a:srgbClr val="FF0000"/>
              </a:solidFill>
            </a:endParaRPr>
          </a:p>
        </p:txBody>
      </p:sp>
      <p:sp>
        <p:nvSpPr>
          <p:cNvPr id="3" name="Объект 2"/>
          <p:cNvSpPr>
            <a:spLocks noGrp="1"/>
          </p:cNvSpPr>
          <p:nvPr>
            <p:ph idx="1"/>
          </p:nvPr>
        </p:nvSpPr>
        <p:spPr>
          <a:xfrm>
            <a:off x="596907" y="783771"/>
            <a:ext cx="5717395" cy="4883861"/>
          </a:xfrm>
          <a:ln w="19050">
            <a:solidFill>
              <a:schemeClr val="accent1"/>
            </a:solidFill>
          </a:ln>
        </p:spPr>
        <p:txBody>
          <a:bodyPr>
            <a:noAutofit/>
          </a:bodyPr>
          <a:lstStyle/>
          <a:p>
            <a:pPr marL="0" indent="0">
              <a:buNone/>
            </a:pPr>
            <a:r>
              <a:rPr lang="en-US" sz="2000" dirty="0"/>
              <a:t>DECLARE</a:t>
            </a:r>
          </a:p>
          <a:p>
            <a:pPr marL="0" indent="0">
              <a:buNone/>
            </a:pPr>
            <a:r>
              <a:rPr lang="en-US" sz="2000" dirty="0"/>
              <a:t>    </a:t>
            </a:r>
            <a:r>
              <a:rPr lang="en-US" sz="2000" dirty="0" err="1"/>
              <a:t>emp_dept_id</a:t>
            </a:r>
            <a:r>
              <a:rPr lang="en-US" sz="2000" dirty="0"/>
              <a:t> </a:t>
            </a:r>
            <a:r>
              <a:rPr lang="en-US" sz="2000" dirty="0" err="1"/>
              <a:t>employees.department_id%TYPE</a:t>
            </a:r>
            <a:r>
              <a:rPr lang="en-US" sz="2000" dirty="0"/>
              <a:t>;</a:t>
            </a:r>
          </a:p>
          <a:p>
            <a:pPr marL="0" indent="0">
              <a:buNone/>
            </a:pPr>
            <a:r>
              <a:rPr lang="en-US" sz="2000" dirty="0"/>
              <a:t>    </a:t>
            </a:r>
            <a:r>
              <a:rPr lang="en-US" sz="2000" dirty="0" err="1"/>
              <a:t>emp_emp_id</a:t>
            </a:r>
            <a:r>
              <a:rPr lang="en-US" sz="2000" dirty="0"/>
              <a:t> </a:t>
            </a:r>
            <a:r>
              <a:rPr lang="en-US" sz="2000" dirty="0" err="1"/>
              <a:t>employees.employee_id%TYPE</a:t>
            </a:r>
            <a:r>
              <a:rPr lang="en-US" sz="2000" dirty="0"/>
              <a:t>;</a:t>
            </a:r>
          </a:p>
          <a:p>
            <a:pPr marL="0" indent="0">
              <a:buNone/>
            </a:pPr>
            <a:r>
              <a:rPr lang="en-US" sz="2000" dirty="0"/>
              <a:t>    </a:t>
            </a:r>
            <a:r>
              <a:rPr lang="en-US" sz="2000" dirty="0" err="1"/>
              <a:t>emp_last_name</a:t>
            </a:r>
            <a:r>
              <a:rPr lang="en-US" sz="2000" dirty="0"/>
              <a:t> </a:t>
            </a:r>
            <a:r>
              <a:rPr lang="en-US" sz="2000" dirty="0" err="1"/>
              <a:t>employees.last_name%TYPE</a:t>
            </a:r>
            <a:r>
              <a:rPr lang="en-US" sz="2000" dirty="0"/>
              <a:t>;</a:t>
            </a:r>
          </a:p>
          <a:p>
            <a:pPr marL="0" indent="0">
              <a:buNone/>
            </a:pPr>
            <a:r>
              <a:rPr lang="en-US" sz="2000" dirty="0"/>
              <a:t>    </a:t>
            </a:r>
            <a:r>
              <a:rPr lang="en-US" sz="2000" dirty="0" err="1"/>
              <a:t>dept_dept_id</a:t>
            </a:r>
            <a:r>
              <a:rPr lang="en-US" sz="2000" dirty="0"/>
              <a:t> </a:t>
            </a:r>
            <a:r>
              <a:rPr lang="en-US" sz="2000" dirty="0" err="1"/>
              <a:t>departments.department_id%TYPE</a:t>
            </a:r>
            <a:r>
              <a:rPr lang="en-US" sz="2000" dirty="0"/>
              <a:t>;</a:t>
            </a:r>
          </a:p>
          <a:p>
            <a:pPr marL="0" indent="0">
              <a:buNone/>
            </a:pPr>
            <a:r>
              <a:rPr lang="en-US" sz="2000" dirty="0"/>
              <a:t>    </a:t>
            </a:r>
            <a:r>
              <a:rPr lang="en-US" sz="2000" dirty="0" err="1"/>
              <a:t>dept_dept_name</a:t>
            </a:r>
            <a:r>
              <a:rPr lang="en-US" sz="2000" dirty="0"/>
              <a:t> </a:t>
            </a:r>
            <a:r>
              <a:rPr lang="en-US" sz="2000" dirty="0" err="1"/>
              <a:t>departments.department_name%TYPE</a:t>
            </a:r>
            <a:r>
              <a:rPr lang="en-US" sz="2000" dirty="0"/>
              <a:t>;</a:t>
            </a:r>
          </a:p>
          <a:p>
            <a:pPr marL="0" indent="0">
              <a:buNone/>
            </a:pPr>
            <a:r>
              <a:rPr lang="en-US" sz="2000" dirty="0"/>
              <a:t>    </a:t>
            </a:r>
            <a:r>
              <a:rPr lang="en-US" sz="2000" dirty="0" err="1"/>
              <a:t>v_count</a:t>
            </a:r>
            <a:r>
              <a:rPr lang="en-US" sz="2000" dirty="0"/>
              <a:t> number DEFAULT 0;</a:t>
            </a:r>
          </a:p>
          <a:p>
            <a:pPr marL="0" indent="0">
              <a:buNone/>
            </a:pPr>
            <a:r>
              <a:rPr lang="en-US" sz="2000" dirty="0"/>
              <a:t>BEGIN</a:t>
            </a:r>
          </a:p>
          <a:p>
            <a:pPr marL="0" indent="0">
              <a:buNone/>
            </a:pPr>
            <a:r>
              <a:rPr lang="en-US" sz="2000" dirty="0"/>
              <a:t>  FOR </a:t>
            </a:r>
            <a:r>
              <a:rPr lang="en-US" sz="2000" dirty="0" err="1"/>
              <a:t>i</a:t>
            </a:r>
            <a:r>
              <a:rPr lang="en-US" sz="2000" dirty="0"/>
              <a:t> IN (SELECT DISTINCT</a:t>
            </a:r>
            <a:endParaRPr lang="ru-RU" sz="2000" dirty="0"/>
          </a:p>
          <a:p>
            <a:pPr marL="0" indent="0">
              <a:buNone/>
            </a:pPr>
            <a:r>
              <a:rPr lang="en-US" sz="2000" dirty="0"/>
              <a:t> </a:t>
            </a:r>
            <a:r>
              <a:rPr lang="en-US" sz="2000" dirty="0" err="1"/>
              <a:t>department_id</a:t>
            </a:r>
            <a:r>
              <a:rPr lang="en-US" sz="2000" dirty="0"/>
              <a:t>, </a:t>
            </a:r>
            <a:r>
              <a:rPr lang="ru-RU" sz="2000" dirty="0"/>
              <a:t>  </a:t>
            </a:r>
            <a:r>
              <a:rPr lang="en-US" sz="2000" dirty="0" err="1"/>
              <a:t>department_name</a:t>
            </a:r>
            <a:endParaRPr lang="en-US" sz="2000" dirty="0"/>
          </a:p>
          <a:p>
            <a:pPr marL="0" indent="0">
              <a:buNone/>
            </a:pPr>
            <a:r>
              <a:rPr lang="en-US" sz="2000" dirty="0"/>
              <a:t>      INTO </a:t>
            </a:r>
            <a:r>
              <a:rPr lang="en-US" sz="2000" dirty="0" err="1"/>
              <a:t>dept_dept_id</a:t>
            </a:r>
            <a:r>
              <a:rPr lang="en-US" sz="2000" dirty="0"/>
              <a:t>, </a:t>
            </a:r>
            <a:r>
              <a:rPr lang="en-US" sz="2000" dirty="0" err="1"/>
              <a:t>dept_dept_name</a:t>
            </a:r>
            <a:endParaRPr lang="en-US" sz="2000" dirty="0"/>
          </a:p>
          <a:p>
            <a:pPr marL="0" indent="0">
              <a:buNone/>
            </a:pPr>
            <a:r>
              <a:rPr lang="en-US" sz="2000" dirty="0"/>
              <a:t>   FROM departments)</a:t>
            </a:r>
          </a:p>
        </p:txBody>
      </p:sp>
      <p:sp>
        <p:nvSpPr>
          <p:cNvPr id="5" name="Объект 2"/>
          <p:cNvSpPr txBox="1">
            <a:spLocks/>
          </p:cNvSpPr>
          <p:nvPr/>
        </p:nvSpPr>
        <p:spPr>
          <a:xfrm>
            <a:off x="6520333" y="783771"/>
            <a:ext cx="5169159" cy="5840964"/>
          </a:xfrm>
          <a:prstGeom prst="rect">
            <a:avLst/>
          </a:prstGeom>
          <a:solidFill>
            <a:schemeClr val="bg1"/>
          </a:solidFill>
          <a:ln w="19050">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r>
              <a:rPr lang="en-US" sz="1800" dirty="0"/>
              <a:t>LOOP</a:t>
            </a:r>
          </a:p>
          <a:p>
            <a:pPr marL="0" indent="0">
              <a:buFont typeface="Arial" panose="020B0604020202020204" pitchFamily="34" charset="0"/>
              <a:buNone/>
            </a:pPr>
            <a:r>
              <a:rPr lang="en-US" sz="1800" dirty="0"/>
              <a:t>        --</a:t>
            </a:r>
            <a:r>
              <a:rPr lang="en-US" sz="1800" dirty="0" err="1"/>
              <a:t>v_COUNT</a:t>
            </a:r>
            <a:r>
              <a:rPr lang="en-US" sz="1800" dirty="0"/>
              <a:t> := </a:t>
            </a:r>
            <a:r>
              <a:rPr lang="en-US" sz="1800" dirty="0" err="1"/>
              <a:t>v_COUNT</a:t>
            </a:r>
            <a:r>
              <a:rPr lang="en-US" sz="1800" dirty="0"/>
              <a:t> + 1;</a:t>
            </a:r>
          </a:p>
          <a:p>
            <a:pPr marL="0" indent="0">
              <a:buFont typeface="Arial" panose="020B0604020202020204" pitchFamily="34" charset="0"/>
              <a:buNone/>
            </a:pPr>
            <a:r>
              <a:rPr lang="en-US" sz="1800" dirty="0"/>
              <a:t>        DBMS_OUTPUT.PUT_LINE('HELLO'||</a:t>
            </a:r>
            <a:r>
              <a:rPr lang="en-US" sz="1800" dirty="0" err="1"/>
              <a:t>dept_dept_id</a:t>
            </a:r>
            <a:r>
              <a:rPr lang="en-US" sz="1800" dirty="0"/>
              <a:t>||' '||</a:t>
            </a:r>
            <a:r>
              <a:rPr lang="en-US" sz="1800" dirty="0" err="1"/>
              <a:t>dept_dept_name</a:t>
            </a:r>
            <a:r>
              <a:rPr lang="en-US" sz="1800" dirty="0"/>
              <a:t>);</a:t>
            </a:r>
          </a:p>
          <a:p>
            <a:pPr marL="0" indent="0">
              <a:buFont typeface="Arial" panose="020B0604020202020204" pitchFamily="34" charset="0"/>
              <a:buNone/>
            </a:pPr>
            <a:r>
              <a:rPr lang="en-US" sz="1800" dirty="0"/>
              <a:t>        FOR j IN (SELECT </a:t>
            </a:r>
            <a:r>
              <a:rPr lang="en-US" sz="1800" dirty="0" err="1"/>
              <a:t>employee_id</a:t>
            </a:r>
            <a:r>
              <a:rPr lang="en-US" sz="1800" dirty="0"/>
              <a:t>, </a:t>
            </a:r>
            <a:r>
              <a:rPr lang="en-US" sz="1800" dirty="0" err="1"/>
              <a:t>last_name</a:t>
            </a:r>
            <a:endParaRPr lang="en-US" sz="1800" dirty="0"/>
          </a:p>
          <a:p>
            <a:pPr marL="0" indent="0">
              <a:buFont typeface="Arial" panose="020B0604020202020204" pitchFamily="34" charset="0"/>
              <a:buNone/>
            </a:pPr>
            <a:r>
              <a:rPr lang="en-US" sz="1800" dirty="0"/>
              <a:t>            INTO </a:t>
            </a:r>
            <a:r>
              <a:rPr lang="en-US" sz="1800" dirty="0" err="1"/>
              <a:t>emp_emp_id</a:t>
            </a:r>
            <a:r>
              <a:rPr lang="en-US" sz="1800" dirty="0"/>
              <a:t>, </a:t>
            </a:r>
            <a:r>
              <a:rPr lang="en-US" sz="1800" dirty="0" err="1"/>
              <a:t>emp_last_name</a:t>
            </a:r>
            <a:endParaRPr lang="en-US" sz="1800" dirty="0"/>
          </a:p>
          <a:p>
            <a:pPr marL="0" indent="0">
              <a:buFont typeface="Arial" panose="020B0604020202020204" pitchFamily="34" charset="0"/>
              <a:buNone/>
            </a:pPr>
            <a:r>
              <a:rPr lang="en-US" sz="1800" dirty="0"/>
              <a:t>            FROM employees)</a:t>
            </a:r>
          </a:p>
          <a:p>
            <a:pPr marL="0" indent="0">
              <a:buFont typeface="Arial" panose="020B0604020202020204" pitchFamily="34" charset="0"/>
              <a:buNone/>
            </a:pPr>
            <a:r>
              <a:rPr lang="en-US" sz="1800" dirty="0"/>
              <a:t>            --WHERE </a:t>
            </a:r>
            <a:r>
              <a:rPr lang="en-US" sz="1800" dirty="0" err="1"/>
              <a:t>department_id</a:t>
            </a:r>
            <a:r>
              <a:rPr lang="en-US" sz="1800" dirty="0"/>
              <a:t>=</a:t>
            </a:r>
            <a:r>
              <a:rPr lang="en-US" sz="1800" dirty="0" err="1"/>
              <a:t>dept_dept_id</a:t>
            </a:r>
            <a:r>
              <a:rPr lang="en-US" sz="1800" dirty="0"/>
              <a:t>)</a:t>
            </a:r>
          </a:p>
          <a:p>
            <a:pPr marL="0" indent="0">
              <a:buFont typeface="Arial" panose="020B0604020202020204" pitchFamily="34" charset="0"/>
              <a:buNone/>
            </a:pPr>
            <a:r>
              <a:rPr lang="en-US" sz="1800" dirty="0"/>
              <a:t>        LOOP</a:t>
            </a:r>
          </a:p>
          <a:p>
            <a:pPr marL="0" indent="0">
              <a:buFont typeface="Arial" panose="020B0604020202020204" pitchFamily="34" charset="0"/>
              <a:buNone/>
            </a:pPr>
            <a:r>
              <a:rPr lang="en-US" sz="1800" dirty="0"/>
              <a:t>            DBMS_OUTPUT.PUT_LINE(</a:t>
            </a:r>
            <a:r>
              <a:rPr lang="en-US" sz="1800" dirty="0" err="1"/>
              <a:t>emp_emp_id</a:t>
            </a:r>
            <a:r>
              <a:rPr lang="en-US" sz="1800" dirty="0"/>
              <a:t>||' '||</a:t>
            </a:r>
            <a:r>
              <a:rPr lang="en-US" sz="1800" dirty="0" err="1"/>
              <a:t>emp_last_name</a:t>
            </a:r>
            <a:r>
              <a:rPr lang="en-US" sz="1800" dirty="0"/>
              <a:t>);</a:t>
            </a:r>
          </a:p>
          <a:p>
            <a:pPr marL="0" indent="0">
              <a:buFont typeface="Arial" panose="020B0604020202020204" pitchFamily="34" charset="0"/>
              <a:buNone/>
            </a:pPr>
            <a:r>
              <a:rPr lang="en-US" sz="1800" dirty="0"/>
              <a:t>            </a:t>
            </a:r>
            <a:r>
              <a:rPr lang="en-US" sz="1800" dirty="0" err="1"/>
              <a:t>v_COUNT</a:t>
            </a:r>
            <a:r>
              <a:rPr lang="en-US" sz="1800" dirty="0"/>
              <a:t> := </a:t>
            </a:r>
            <a:r>
              <a:rPr lang="en-US" sz="1800" dirty="0" err="1"/>
              <a:t>v_COUNT</a:t>
            </a:r>
            <a:r>
              <a:rPr lang="en-US" sz="1800" dirty="0"/>
              <a:t> + 1;</a:t>
            </a:r>
          </a:p>
          <a:p>
            <a:pPr marL="0" indent="0">
              <a:buFont typeface="Arial" panose="020B0604020202020204" pitchFamily="34" charset="0"/>
              <a:buNone/>
            </a:pPr>
            <a:r>
              <a:rPr lang="en-US" sz="1800" dirty="0"/>
              <a:t>        END LOOP;</a:t>
            </a:r>
          </a:p>
          <a:p>
            <a:pPr marL="0" indent="0">
              <a:buFont typeface="Arial" panose="020B0604020202020204" pitchFamily="34" charset="0"/>
              <a:buNone/>
            </a:pPr>
            <a:r>
              <a:rPr lang="en-US" sz="1800" dirty="0"/>
              <a:t>    END LOOP;</a:t>
            </a:r>
          </a:p>
          <a:p>
            <a:pPr marL="0" indent="0">
              <a:buFont typeface="Arial" panose="020B0604020202020204" pitchFamily="34" charset="0"/>
              <a:buNone/>
            </a:pPr>
            <a:r>
              <a:rPr lang="en-US" sz="1800" dirty="0"/>
              <a:t>    DBMS_OUTPUT.PUT_LINE(</a:t>
            </a:r>
            <a:r>
              <a:rPr lang="en-US" sz="1800" dirty="0" err="1"/>
              <a:t>v_COUNT</a:t>
            </a:r>
            <a:r>
              <a:rPr lang="en-US" sz="1800" dirty="0"/>
              <a:t>);</a:t>
            </a:r>
          </a:p>
          <a:p>
            <a:pPr marL="0" indent="0">
              <a:buFont typeface="Arial" panose="020B0604020202020204" pitchFamily="34" charset="0"/>
              <a:buNone/>
            </a:pPr>
            <a:r>
              <a:rPr lang="en-US" sz="1800" dirty="0"/>
              <a:t>END;</a:t>
            </a:r>
            <a:endParaRPr lang="ru-RU" sz="1800" dirty="0"/>
          </a:p>
          <a:p>
            <a:pPr marL="0" indent="0">
              <a:buFont typeface="Arial" panose="020B0604020202020204" pitchFamily="34" charset="0"/>
              <a:buNone/>
            </a:pPr>
            <a:r>
              <a:rPr lang="ru-RU" sz="1800" dirty="0"/>
              <a:t>/</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31</a:t>
            </a:fld>
            <a:endParaRPr lang="ru-RU">
              <a:solidFill>
                <a:prstClr val="black">
                  <a:tint val="75000"/>
                </a:prstClr>
              </a:solidFill>
            </a:endParaRPr>
          </a:p>
        </p:txBody>
      </p:sp>
    </p:spTree>
    <p:extLst>
      <p:ext uri="{BB962C8B-B14F-4D97-AF65-F5344CB8AC3E}">
        <p14:creationId xmlns:p14="http://schemas.microsoft.com/office/powerpoint/2010/main" val="40288496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9919"/>
            <a:ext cx="10972800" cy="671804"/>
          </a:xfrm>
        </p:spPr>
        <p:txBody>
          <a:bodyPr>
            <a:normAutofit/>
          </a:bodyPr>
          <a:lstStyle/>
          <a:p>
            <a:r>
              <a:rPr lang="ru-RU" sz="3200" dirty="0">
                <a:solidFill>
                  <a:srgbClr val="FF0000"/>
                </a:solidFill>
              </a:rPr>
              <a:t>Триггеры</a:t>
            </a:r>
          </a:p>
        </p:txBody>
      </p:sp>
      <p:sp>
        <p:nvSpPr>
          <p:cNvPr id="3" name="Объект 2"/>
          <p:cNvSpPr>
            <a:spLocks noGrp="1"/>
          </p:cNvSpPr>
          <p:nvPr>
            <p:ph idx="1"/>
          </p:nvPr>
        </p:nvSpPr>
        <p:spPr>
          <a:xfrm>
            <a:off x="609600" y="1042416"/>
            <a:ext cx="10972800" cy="5751576"/>
          </a:xfrm>
        </p:spPr>
        <p:txBody>
          <a:bodyPr>
            <a:normAutofit fontScale="92500" lnSpcReduction="20000"/>
          </a:bodyPr>
          <a:lstStyle/>
          <a:p>
            <a:pPr marL="0" indent="0">
              <a:buNone/>
            </a:pPr>
            <a:r>
              <a:rPr lang="ru-RU" sz="2000" dirty="0">
                <a:solidFill>
                  <a:srgbClr val="222222"/>
                </a:solidFill>
                <a:latin typeface="-apple-system"/>
              </a:rPr>
              <a:t>      </a:t>
            </a:r>
            <a:r>
              <a:rPr lang="ru-RU" sz="2200" dirty="0">
                <a:solidFill>
                  <a:srgbClr val="222222"/>
                </a:solidFill>
                <a:latin typeface="-apple-system"/>
              </a:rPr>
              <a:t>Триггер – это именованный </a:t>
            </a:r>
            <a:r>
              <a:rPr lang="en-US" sz="2200" dirty="0">
                <a:solidFill>
                  <a:srgbClr val="222222"/>
                </a:solidFill>
                <a:latin typeface="-apple-system"/>
              </a:rPr>
              <a:t>PL/SQL </a:t>
            </a:r>
            <a:r>
              <a:rPr lang="ru-RU" sz="2200" dirty="0">
                <a:solidFill>
                  <a:srgbClr val="222222"/>
                </a:solidFill>
                <a:latin typeface="-apple-system"/>
              </a:rPr>
              <a:t> блок, который хранится в базе данных и вызывается не по имени, а некоторым событием.</a:t>
            </a:r>
          </a:p>
          <a:p>
            <a:pPr marL="0" indent="0">
              <a:buNone/>
            </a:pPr>
            <a:r>
              <a:rPr lang="ru-RU" sz="2200" dirty="0">
                <a:solidFill>
                  <a:srgbClr val="222222"/>
                </a:solidFill>
                <a:latin typeface="-apple-system"/>
              </a:rPr>
              <a:t>      Классификация триггеров:</a:t>
            </a:r>
          </a:p>
          <a:p>
            <a:r>
              <a:rPr lang="ru-RU" sz="2200" dirty="0">
                <a:solidFill>
                  <a:srgbClr val="222222"/>
                </a:solidFill>
                <a:latin typeface="-apple-system"/>
              </a:rPr>
              <a:t>По событиям запуска – </a:t>
            </a:r>
            <a:r>
              <a:rPr lang="en-US" sz="2200" dirty="0">
                <a:solidFill>
                  <a:srgbClr val="222222"/>
                </a:solidFill>
                <a:latin typeface="-apple-system"/>
              </a:rPr>
              <a:t>INSERT, UPDATE, DELETE </a:t>
            </a:r>
            <a:r>
              <a:rPr lang="ru-RU" sz="2200" dirty="0">
                <a:solidFill>
                  <a:srgbClr val="222222"/>
                </a:solidFill>
                <a:latin typeface="-apple-system"/>
              </a:rPr>
              <a:t>и 26 серверных событий.</a:t>
            </a:r>
          </a:p>
          <a:p>
            <a:r>
              <a:rPr lang="ru-RU" sz="2200" dirty="0">
                <a:solidFill>
                  <a:srgbClr val="222222"/>
                </a:solidFill>
                <a:latin typeface="-apple-system"/>
              </a:rPr>
              <a:t>По очерёдности срабатывания – </a:t>
            </a:r>
            <a:r>
              <a:rPr lang="en-US" sz="2200" dirty="0">
                <a:solidFill>
                  <a:srgbClr val="222222"/>
                </a:solidFill>
                <a:latin typeface="-apple-system"/>
              </a:rPr>
              <a:t>BEFORE, AFTER.</a:t>
            </a:r>
          </a:p>
          <a:p>
            <a:r>
              <a:rPr lang="ru-RU" sz="2200" dirty="0">
                <a:solidFill>
                  <a:srgbClr val="222222"/>
                </a:solidFill>
                <a:latin typeface="-apple-system"/>
              </a:rPr>
              <a:t>По способу срабатывания – уровень строки, уровень таблицы.</a:t>
            </a:r>
          </a:p>
          <a:p>
            <a:pPr lvl="0"/>
            <a:r>
              <a:rPr lang="ru-RU" sz="2200" dirty="0">
                <a:solidFill>
                  <a:srgbClr val="222222"/>
                </a:solidFill>
                <a:latin typeface="-apple-system"/>
              </a:rPr>
              <a:t>По объекту, к которому привязан -- к таблице, к представлению (</a:t>
            </a:r>
            <a:r>
              <a:rPr lang="ru-RU" sz="2200" dirty="0" err="1">
                <a:solidFill>
                  <a:srgbClr val="222222"/>
                </a:solidFill>
                <a:latin typeface="-apple-system"/>
              </a:rPr>
              <a:t>instead</a:t>
            </a:r>
            <a:r>
              <a:rPr lang="ru-RU" sz="2200" dirty="0">
                <a:solidFill>
                  <a:srgbClr val="222222"/>
                </a:solidFill>
                <a:latin typeface="-apple-system"/>
              </a:rPr>
              <a:t> </a:t>
            </a:r>
            <a:r>
              <a:rPr lang="ru-RU" sz="2200" dirty="0" err="1">
                <a:solidFill>
                  <a:srgbClr val="222222"/>
                </a:solidFill>
                <a:latin typeface="-apple-system"/>
              </a:rPr>
              <a:t>of</a:t>
            </a:r>
            <a:r>
              <a:rPr lang="ru-RU" sz="2200" dirty="0">
                <a:solidFill>
                  <a:srgbClr val="222222"/>
                </a:solidFill>
                <a:latin typeface="-apple-system"/>
              </a:rPr>
              <a:t> trigger)</a:t>
            </a:r>
          </a:p>
          <a:p>
            <a:pPr lvl="0"/>
            <a:r>
              <a:rPr lang="ru-RU" sz="2200" dirty="0">
                <a:solidFill>
                  <a:srgbClr val="222222"/>
                </a:solidFill>
                <a:latin typeface="-apple-system"/>
              </a:rPr>
              <a:t>По области действия --Уровень всей команды (</a:t>
            </a:r>
            <a:r>
              <a:rPr lang="en-US" sz="2200" dirty="0">
                <a:solidFill>
                  <a:srgbClr val="222222"/>
                </a:solidFill>
                <a:latin typeface="-apple-system"/>
              </a:rPr>
              <a:t>statement level triggers)</a:t>
            </a:r>
            <a:r>
              <a:rPr lang="ru-RU" sz="2200" dirty="0">
                <a:solidFill>
                  <a:srgbClr val="222222"/>
                </a:solidFill>
                <a:latin typeface="-apple-system"/>
              </a:rPr>
              <a:t>, Уровень записи</a:t>
            </a:r>
          </a:p>
          <a:p>
            <a:pPr marL="0" lvl="0" indent="0">
              <a:buNone/>
            </a:pPr>
            <a:r>
              <a:rPr lang="ru-RU" sz="2200" dirty="0">
                <a:solidFill>
                  <a:srgbClr val="222222"/>
                </a:solidFill>
                <a:latin typeface="-apple-system"/>
              </a:rPr>
              <a:t>      (</a:t>
            </a:r>
            <a:r>
              <a:rPr lang="en-US" sz="2200" dirty="0">
                <a:solidFill>
                  <a:srgbClr val="222222"/>
                </a:solidFill>
                <a:latin typeface="-apple-system"/>
              </a:rPr>
              <a:t>row level triggers)</a:t>
            </a:r>
            <a:r>
              <a:rPr lang="ru-RU" sz="2200" dirty="0">
                <a:solidFill>
                  <a:srgbClr val="222222"/>
                </a:solidFill>
                <a:latin typeface="-apple-system"/>
              </a:rPr>
              <a:t>, составные триггеры (</a:t>
            </a:r>
            <a:r>
              <a:rPr lang="en-US" sz="2200" dirty="0">
                <a:solidFill>
                  <a:srgbClr val="222222"/>
                </a:solidFill>
                <a:latin typeface="-apple-system"/>
              </a:rPr>
              <a:t>compound triggers)</a:t>
            </a:r>
          </a:p>
          <a:p>
            <a:pPr lvl="0"/>
            <a:endParaRPr lang="ru-RU" sz="2200" dirty="0">
              <a:solidFill>
                <a:srgbClr val="222222"/>
              </a:solidFill>
              <a:latin typeface="-apple-system"/>
            </a:endParaRPr>
          </a:p>
          <a:p>
            <a:pPr marL="0" indent="0">
              <a:buNone/>
            </a:pPr>
            <a:endParaRPr lang="ru-RU" sz="2200" b="1" dirty="0">
              <a:solidFill>
                <a:srgbClr val="222222"/>
              </a:solidFill>
              <a:latin typeface="-apple-system"/>
            </a:endParaRPr>
          </a:p>
          <a:p>
            <a:pPr marL="0" indent="0">
              <a:buNone/>
            </a:pPr>
            <a:r>
              <a:rPr lang="ru-RU" sz="2200" b="1" dirty="0">
                <a:solidFill>
                  <a:srgbClr val="222222"/>
                </a:solidFill>
                <a:latin typeface="-apple-system"/>
              </a:rPr>
              <a:t>      </a:t>
            </a:r>
            <a:r>
              <a:rPr lang="ru-RU" sz="2200" dirty="0">
                <a:solidFill>
                  <a:srgbClr val="222222"/>
                </a:solidFill>
                <a:latin typeface="-apple-system"/>
              </a:rPr>
              <a:t>Классификация триггеров по области и особенностям применения</a:t>
            </a:r>
            <a:r>
              <a:rPr lang="en-US" sz="2200" dirty="0">
                <a:solidFill>
                  <a:srgbClr val="222222"/>
                </a:solidFill>
                <a:latin typeface="-apple-system"/>
              </a:rPr>
              <a:t>:</a:t>
            </a:r>
            <a:endParaRPr lang="ru-RU" sz="2200" b="1" dirty="0">
              <a:solidFill>
                <a:srgbClr val="222222"/>
              </a:solidFill>
              <a:latin typeface="-apple-system"/>
            </a:endParaRPr>
          </a:p>
          <a:p>
            <a:r>
              <a:rPr lang="en-US" sz="2200" dirty="0">
                <a:solidFill>
                  <a:srgbClr val="222222"/>
                </a:solidFill>
                <a:latin typeface="-apple-system"/>
              </a:rPr>
              <a:t>DML </a:t>
            </a:r>
            <a:r>
              <a:rPr lang="ru-RU" sz="2200" dirty="0">
                <a:solidFill>
                  <a:srgbClr val="222222"/>
                </a:solidFill>
                <a:latin typeface="-apple-system"/>
              </a:rPr>
              <a:t>триггер</a:t>
            </a:r>
            <a:r>
              <a:rPr lang="en-US" sz="2200" dirty="0">
                <a:solidFill>
                  <a:srgbClr val="222222"/>
                </a:solidFill>
                <a:latin typeface="-apple-system"/>
              </a:rPr>
              <a:t> (</a:t>
            </a:r>
            <a:r>
              <a:rPr lang="ru-RU" sz="2200" dirty="0">
                <a:solidFill>
                  <a:srgbClr val="222222"/>
                </a:solidFill>
                <a:latin typeface="-apple-system"/>
              </a:rPr>
              <a:t>на таблицу или представление)</a:t>
            </a:r>
          </a:p>
          <a:p>
            <a:r>
              <a:rPr lang="en-US" sz="2200" dirty="0">
                <a:solidFill>
                  <a:srgbClr val="222222"/>
                </a:solidFill>
                <a:latin typeface="-apple-system"/>
              </a:rPr>
              <a:t>System </a:t>
            </a:r>
            <a:r>
              <a:rPr lang="ru-RU" sz="2200" dirty="0">
                <a:solidFill>
                  <a:srgbClr val="222222"/>
                </a:solidFill>
                <a:latin typeface="-apple-system"/>
              </a:rPr>
              <a:t>триггер</a:t>
            </a:r>
            <a:r>
              <a:rPr lang="en-US" sz="2200" dirty="0">
                <a:solidFill>
                  <a:srgbClr val="222222"/>
                </a:solidFill>
                <a:latin typeface="-apple-system"/>
              </a:rPr>
              <a:t> (</a:t>
            </a:r>
            <a:r>
              <a:rPr lang="ru-RU" sz="2200" dirty="0">
                <a:solidFill>
                  <a:srgbClr val="222222"/>
                </a:solidFill>
                <a:latin typeface="-apple-system"/>
              </a:rPr>
              <a:t>на схему или базу данных)</a:t>
            </a:r>
          </a:p>
          <a:p>
            <a:r>
              <a:rPr lang="en-US" sz="2200" dirty="0">
                <a:solidFill>
                  <a:srgbClr val="222222"/>
                </a:solidFill>
                <a:latin typeface="-apple-system"/>
              </a:rPr>
              <a:t>Conditional </a:t>
            </a:r>
            <a:r>
              <a:rPr lang="ru-RU" sz="2200" dirty="0">
                <a:solidFill>
                  <a:srgbClr val="222222"/>
                </a:solidFill>
                <a:latin typeface="-apple-system"/>
              </a:rPr>
              <a:t>триггер</a:t>
            </a:r>
            <a:r>
              <a:rPr lang="en-US" sz="2200" dirty="0">
                <a:solidFill>
                  <a:srgbClr val="222222"/>
                </a:solidFill>
                <a:latin typeface="-apple-system"/>
              </a:rPr>
              <a:t> (</a:t>
            </a:r>
            <a:r>
              <a:rPr lang="ru-RU" sz="2200" dirty="0">
                <a:solidFill>
                  <a:srgbClr val="222222"/>
                </a:solidFill>
                <a:latin typeface="-apple-system"/>
              </a:rPr>
              <a:t>имеют условие </a:t>
            </a:r>
            <a:r>
              <a:rPr lang="en-US" sz="2200" dirty="0">
                <a:solidFill>
                  <a:srgbClr val="222222"/>
                </a:solidFill>
                <a:latin typeface="-apple-system"/>
              </a:rPr>
              <a:t>when</a:t>
            </a:r>
            <a:r>
              <a:rPr lang="ru-RU" sz="2200" dirty="0">
                <a:solidFill>
                  <a:srgbClr val="222222"/>
                </a:solidFill>
                <a:latin typeface="-apple-system"/>
              </a:rPr>
              <a:t> определяющее возможность срабатывания</a:t>
            </a:r>
            <a:r>
              <a:rPr lang="en-US" sz="2200" dirty="0">
                <a:solidFill>
                  <a:srgbClr val="222222"/>
                </a:solidFill>
                <a:latin typeface="-apple-system"/>
              </a:rPr>
              <a:t>)</a:t>
            </a:r>
          </a:p>
          <a:p>
            <a:r>
              <a:rPr lang="ru-RU" sz="2200" dirty="0" err="1"/>
              <a:t>Instead</a:t>
            </a:r>
            <a:r>
              <a:rPr lang="ru-RU" sz="2200" dirty="0"/>
              <a:t> </a:t>
            </a:r>
            <a:r>
              <a:rPr lang="ru-RU" sz="2200" dirty="0" err="1"/>
              <a:t>of</a:t>
            </a:r>
            <a:r>
              <a:rPr lang="ru-RU" sz="2200" dirty="0"/>
              <a:t> </a:t>
            </a:r>
            <a:r>
              <a:rPr lang="ru-RU" sz="2200" dirty="0">
                <a:solidFill>
                  <a:srgbClr val="222222"/>
                </a:solidFill>
                <a:latin typeface="-apple-system"/>
              </a:rPr>
              <a:t>триггер</a:t>
            </a:r>
            <a:r>
              <a:rPr lang="ru-RU" sz="2200" dirty="0"/>
              <a:t> (</a:t>
            </a:r>
            <a:r>
              <a:rPr lang="ru-RU" sz="2200" dirty="0" err="1"/>
              <a:t>dml</a:t>
            </a:r>
            <a:r>
              <a:rPr lang="ru-RU" sz="2200" dirty="0"/>
              <a:t> триггер на представление или </a:t>
            </a:r>
            <a:r>
              <a:rPr lang="ru-RU" sz="2200" dirty="0" err="1"/>
              <a:t>system</a:t>
            </a:r>
            <a:r>
              <a:rPr lang="ru-RU" sz="2200" dirty="0"/>
              <a:t> триггер на команду</a:t>
            </a:r>
            <a:r>
              <a:rPr lang="en-US" sz="2200" dirty="0"/>
              <a:t> create)</a:t>
            </a:r>
            <a:endParaRPr lang="en-US" sz="2200" dirty="0">
              <a:solidFill>
                <a:srgbClr val="222222"/>
              </a:solidFill>
              <a:latin typeface="-apple-system"/>
            </a:endParaRPr>
          </a:p>
          <a:p>
            <a:pPr marL="0" indent="0">
              <a:buNone/>
            </a:pPr>
            <a:br>
              <a:rPr lang="ru-RU" sz="2000" dirty="0"/>
            </a:br>
            <a:endParaRPr lang="ru-RU" sz="2000" b="1" dirty="0">
              <a:solidFill>
                <a:srgbClr val="222222"/>
              </a:solidFill>
              <a:latin typeface="-apple-system"/>
            </a:endParaRP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32</a:t>
            </a:fld>
            <a:endParaRPr lang="ru-RU">
              <a:solidFill>
                <a:prstClr val="black">
                  <a:tint val="75000"/>
                </a:prstClr>
              </a:solidFill>
            </a:endParaRPr>
          </a:p>
        </p:txBody>
      </p:sp>
    </p:spTree>
    <p:extLst>
      <p:ext uri="{BB962C8B-B14F-4D97-AF65-F5344CB8AC3E}">
        <p14:creationId xmlns:p14="http://schemas.microsoft.com/office/powerpoint/2010/main" val="1898486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35620"/>
          </a:xfrm>
        </p:spPr>
        <p:txBody>
          <a:bodyPr>
            <a:normAutofit/>
          </a:bodyPr>
          <a:lstStyle/>
          <a:p>
            <a:r>
              <a:rPr lang="ru-RU" sz="3200" dirty="0">
                <a:solidFill>
                  <a:srgbClr val="FF0000"/>
                </a:solidFill>
              </a:rPr>
              <a:t>Необходимые привилегии</a:t>
            </a:r>
          </a:p>
        </p:txBody>
      </p:sp>
      <p:sp>
        <p:nvSpPr>
          <p:cNvPr id="3" name="Объект 2"/>
          <p:cNvSpPr>
            <a:spLocks noGrp="1"/>
          </p:cNvSpPr>
          <p:nvPr>
            <p:ph idx="1"/>
          </p:nvPr>
        </p:nvSpPr>
        <p:spPr>
          <a:xfrm>
            <a:off x="992458" y="836341"/>
            <a:ext cx="10589941" cy="6021658"/>
          </a:xfrm>
        </p:spPr>
        <p:txBody>
          <a:bodyPr>
            <a:normAutofit fontScale="77500" lnSpcReduction="20000"/>
          </a:bodyPr>
          <a:lstStyle/>
          <a:p>
            <a:pPr marL="0" indent="0">
              <a:buNone/>
            </a:pPr>
            <a:r>
              <a:rPr lang="ru-RU" sz="2900" b="1" dirty="0"/>
              <a:t>Привилегии, требуемые для создания триггеров</a:t>
            </a:r>
          </a:p>
          <a:p>
            <a:pPr marL="0" indent="0">
              <a:buNone/>
            </a:pPr>
            <a:endParaRPr lang="ru-RU" sz="2900" dirty="0"/>
          </a:p>
          <a:p>
            <a:pPr marL="0" indent="0">
              <a:buNone/>
            </a:pPr>
            <a:r>
              <a:rPr lang="ru-RU" sz="2900" dirty="0"/>
              <a:t>      Для создания триггера в своей схеме, необходимо иметь </a:t>
            </a:r>
          </a:p>
          <a:p>
            <a:pPr marL="0" indent="0">
              <a:buNone/>
            </a:pPr>
            <a:r>
              <a:rPr lang="ru-RU" sz="2900" dirty="0"/>
              <a:t>системную привилегию CREATE TRIGGER, и либо</a:t>
            </a:r>
          </a:p>
          <a:p>
            <a:pPr marL="0" indent="0">
              <a:buNone/>
            </a:pPr>
            <a:r>
              <a:rPr lang="ru-RU" sz="2900" dirty="0"/>
              <a:t> </a:t>
            </a:r>
          </a:p>
          <a:p>
            <a:r>
              <a:rPr lang="ru-RU" sz="2900" dirty="0"/>
              <a:t> владеть   таблицей,   указанной в теле триггера, либо</a:t>
            </a:r>
          </a:p>
          <a:p>
            <a:r>
              <a:rPr lang="ru-RU" sz="2900" dirty="0"/>
              <a:t> иметь привилегию ALTER  для таблицы, указанной в теле триггера, либо</a:t>
            </a:r>
          </a:p>
          <a:p>
            <a:r>
              <a:rPr lang="ru-RU" sz="2900" dirty="0"/>
              <a:t> иметь системную привилегию ALTER ANY TABLE </a:t>
            </a:r>
          </a:p>
          <a:p>
            <a:pPr marL="0" indent="0">
              <a:buNone/>
            </a:pPr>
            <a:r>
              <a:rPr lang="ru-RU" sz="2900" dirty="0"/>
              <a:t>        Чтобы создать  триггер в чужой схеме необходимо иметь системную привилегию  CREATE ANY TRIGGER. </a:t>
            </a:r>
          </a:p>
          <a:p>
            <a:pPr marL="0" indent="0">
              <a:buNone/>
            </a:pPr>
            <a:r>
              <a:rPr lang="ru-RU" sz="2900" dirty="0"/>
              <a:t> </a:t>
            </a:r>
          </a:p>
          <a:p>
            <a:pPr marL="0" indent="0">
              <a:buNone/>
            </a:pPr>
            <a:r>
              <a:rPr lang="ru-RU" sz="2900" b="1" dirty="0"/>
              <a:t>Привилегии для объектов схем, адресуемых в теле триггера</a:t>
            </a:r>
          </a:p>
          <a:p>
            <a:pPr marL="0" indent="0">
              <a:buNone/>
            </a:pPr>
            <a:r>
              <a:rPr lang="ru-RU" sz="2900" dirty="0"/>
              <a:t> </a:t>
            </a:r>
          </a:p>
          <a:p>
            <a:pPr marL="0" indent="0">
              <a:buNone/>
            </a:pPr>
            <a:r>
              <a:rPr lang="ru-RU" sz="2900" dirty="0"/>
              <a:t>        Владелец триггера должен иметь объектные привилегии для  объектов, адресуемых в  теле триггера, причем эти  привилегии должны  быть получены  им явно, то есть не через роли.  Предложения в теле триггера оперируют в аккаунте владельца  триггера,  а  не  того  пользователя,  который выдает предложение, возбуждающее триггер.</a:t>
            </a:r>
          </a:p>
          <a:p>
            <a:pPr marL="0" indent="0">
              <a:buNone/>
            </a:pPr>
            <a:r>
              <a:rPr lang="ru-RU" sz="2000" dirty="0"/>
              <a:t> </a:t>
            </a:r>
          </a:p>
          <a:p>
            <a:pPr marL="0" indent="0">
              <a:buNone/>
            </a:pPr>
            <a:endParaRPr lang="ru-RU" sz="2000" dirty="0"/>
          </a:p>
          <a:p>
            <a:pPr marL="0" indent="0">
              <a:buNone/>
            </a:pPr>
            <a:endParaRPr lang="ru-RU" sz="2000" dirty="0"/>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33</a:t>
            </a:fld>
            <a:endParaRPr lang="ru-RU">
              <a:solidFill>
                <a:prstClr val="black">
                  <a:tint val="75000"/>
                </a:prstClr>
              </a:solidFill>
            </a:endParaRPr>
          </a:p>
        </p:txBody>
      </p:sp>
    </p:spTree>
    <p:extLst>
      <p:ext uri="{BB962C8B-B14F-4D97-AF65-F5344CB8AC3E}">
        <p14:creationId xmlns:p14="http://schemas.microsoft.com/office/powerpoint/2010/main" val="15708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137982"/>
            <a:ext cx="10972800" cy="586424"/>
          </a:xfrm>
        </p:spPr>
        <p:txBody>
          <a:bodyPr>
            <a:normAutofit fontScale="90000"/>
          </a:bodyPr>
          <a:lstStyle/>
          <a:p>
            <a:r>
              <a:rPr lang="ru-RU" dirty="0">
                <a:solidFill>
                  <a:srgbClr val="FF0000"/>
                </a:solidFill>
              </a:rPr>
              <a:t>Управление триггерами</a:t>
            </a:r>
          </a:p>
        </p:txBody>
      </p:sp>
      <p:sp>
        <p:nvSpPr>
          <p:cNvPr id="3" name="Объект 2"/>
          <p:cNvSpPr>
            <a:spLocks noGrp="1"/>
          </p:cNvSpPr>
          <p:nvPr>
            <p:ph idx="1"/>
          </p:nvPr>
        </p:nvSpPr>
        <p:spPr>
          <a:xfrm>
            <a:off x="609600" y="839096"/>
            <a:ext cx="10972800" cy="5907393"/>
          </a:xfrm>
        </p:spPr>
        <p:txBody>
          <a:bodyPr>
            <a:noAutofit/>
          </a:bodyPr>
          <a:lstStyle/>
          <a:p>
            <a:pPr marL="0" indent="0">
              <a:lnSpc>
                <a:spcPct val="80000"/>
              </a:lnSpc>
              <a:buNone/>
            </a:pPr>
            <a:r>
              <a:rPr lang="ru-RU" sz="2000" dirty="0">
                <a:solidFill>
                  <a:srgbClr val="000000"/>
                </a:solidFill>
              </a:rPr>
              <a:t>      Триггер по умолчанию включается в момент его создания. Можно одновременно отключить все триггеры, ассоциированные с таблицей, с помощью команды </a:t>
            </a:r>
            <a:r>
              <a:rPr lang="ru-RU" sz="2000" b="1" dirty="0">
                <a:solidFill>
                  <a:srgbClr val="000000"/>
                </a:solidFill>
              </a:rPr>
              <a:t>ALTER TABLE</a:t>
            </a:r>
            <a:r>
              <a:rPr lang="ru-RU" sz="2000" dirty="0">
                <a:solidFill>
                  <a:srgbClr val="000000"/>
                </a:solidFill>
              </a:rPr>
              <a:t> с опцией </a:t>
            </a:r>
            <a:r>
              <a:rPr lang="ru-RU" sz="2000" b="1" dirty="0">
                <a:solidFill>
                  <a:srgbClr val="000000"/>
                </a:solidFill>
              </a:rPr>
              <a:t>DISABLE ALL TRIGGERS</a:t>
            </a:r>
            <a:r>
              <a:rPr lang="ru-RU" sz="2000" dirty="0">
                <a:solidFill>
                  <a:srgbClr val="000000"/>
                </a:solidFill>
              </a:rPr>
              <a:t>.</a:t>
            </a:r>
            <a:endParaRPr lang="ru-RU" sz="2000" dirty="0"/>
          </a:p>
          <a:p>
            <a:pPr marL="0" indent="0">
              <a:lnSpc>
                <a:spcPct val="80000"/>
              </a:lnSpc>
              <a:buNone/>
            </a:pPr>
            <a:r>
              <a:rPr lang="ru-RU" sz="2000" dirty="0">
                <a:solidFill>
                  <a:prstClr val="black"/>
                </a:solidFill>
              </a:rPr>
              <a:t>-- получение информации о триггерах схемы:</a:t>
            </a:r>
            <a:br>
              <a:rPr lang="ru-RU" sz="2000" dirty="0">
                <a:solidFill>
                  <a:prstClr val="black"/>
                </a:solidFill>
              </a:rPr>
            </a:br>
            <a:r>
              <a:rPr lang="en-US" sz="2000" dirty="0">
                <a:solidFill>
                  <a:prstClr val="black"/>
                </a:solidFill>
              </a:rPr>
              <a:t>select * from </a:t>
            </a:r>
            <a:r>
              <a:rPr lang="en-US" sz="2000" dirty="0" err="1">
                <a:solidFill>
                  <a:prstClr val="black"/>
                </a:solidFill>
              </a:rPr>
              <a:t>user_triggers</a:t>
            </a:r>
            <a:r>
              <a:rPr lang="en-US" sz="2000" dirty="0">
                <a:solidFill>
                  <a:prstClr val="black"/>
                </a:solidFill>
              </a:rPr>
              <a:t>;</a:t>
            </a:r>
            <a:endParaRPr lang="ru-RU" sz="2000" dirty="0"/>
          </a:p>
          <a:p>
            <a:pPr marL="0" indent="0">
              <a:lnSpc>
                <a:spcPct val="80000"/>
              </a:lnSpc>
              <a:buNone/>
            </a:pPr>
            <a:r>
              <a:rPr lang="en-US" sz="2000" dirty="0"/>
              <a:t>-- </a:t>
            </a:r>
            <a:r>
              <a:rPr lang="ru-RU" sz="2000" dirty="0"/>
              <a:t>информация о триггерах</a:t>
            </a:r>
            <a:r>
              <a:rPr lang="en-US" sz="2000" dirty="0"/>
              <a:t> </a:t>
            </a:r>
            <a:r>
              <a:rPr lang="ru-RU" sz="2000" dirty="0"/>
              <a:t> в </a:t>
            </a:r>
            <a:r>
              <a:rPr lang="en-US" sz="2000" dirty="0">
                <a:solidFill>
                  <a:prstClr val="black"/>
                </a:solidFill>
              </a:rPr>
              <a:t>dba_triggers</a:t>
            </a:r>
          </a:p>
          <a:p>
            <a:pPr marL="0" indent="0">
              <a:lnSpc>
                <a:spcPct val="80000"/>
              </a:lnSpc>
              <a:buNone/>
            </a:pPr>
            <a:r>
              <a:rPr lang="en-US" sz="2000" dirty="0">
                <a:solidFill>
                  <a:prstClr val="black"/>
                </a:solidFill>
              </a:rPr>
              <a:t>– </a:t>
            </a:r>
            <a:r>
              <a:rPr lang="ru-RU" sz="2000" dirty="0"/>
              <a:t>код тела триггера в </a:t>
            </a:r>
            <a:r>
              <a:rPr lang="en-US" sz="2000" dirty="0"/>
              <a:t>dba_source </a:t>
            </a:r>
            <a:endParaRPr lang="ru-RU" sz="2000" dirty="0"/>
          </a:p>
          <a:p>
            <a:pPr marL="0" indent="0">
              <a:lnSpc>
                <a:spcPct val="80000"/>
              </a:lnSpc>
              <a:buNone/>
            </a:pPr>
            <a:r>
              <a:rPr lang="en-US" sz="2000" dirty="0"/>
              <a:t>– </a:t>
            </a:r>
            <a:r>
              <a:rPr lang="ru-RU" sz="2000" dirty="0" err="1"/>
              <a:t>валидность</a:t>
            </a:r>
            <a:r>
              <a:rPr lang="ru-RU" sz="2000" dirty="0"/>
              <a:t> триггера в </a:t>
            </a:r>
            <a:r>
              <a:rPr lang="en-US" sz="2000" dirty="0"/>
              <a:t>dba_objects </a:t>
            </a:r>
            <a:endParaRPr lang="ru-RU" sz="2000" dirty="0"/>
          </a:p>
          <a:p>
            <a:pPr marL="0" indent="0">
              <a:lnSpc>
                <a:spcPct val="80000"/>
              </a:lnSpc>
              <a:buNone/>
            </a:pPr>
            <a:r>
              <a:rPr lang="ru-RU" sz="2000" dirty="0"/>
              <a:t>-- отключение триггера: </a:t>
            </a:r>
          </a:p>
          <a:p>
            <a:pPr marL="0" indent="0">
              <a:lnSpc>
                <a:spcPct val="80000"/>
              </a:lnSpc>
              <a:buNone/>
            </a:pPr>
            <a:r>
              <a:rPr lang="en-US" sz="2000" dirty="0"/>
              <a:t>ALTER TRIGGER </a:t>
            </a:r>
            <a:r>
              <a:rPr lang="ru-RU" sz="2000" dirty="0"/>
              <a:t>имя_триггера</a:t>
            </a:r>
            <a:r>
              <a:rPr lang="en-US" sz="2000" dirty="0"/>
              <a:t> DISABLE;</a:t>
            </a:r>
          </a:p>
          <a:p>
            <a:pPr marL="0" indent="0">
              <a:lnSpc>
                <a:spcPct val="80000"/>
              </a:lnSpc>
              <a:buNone/>
            </a:pPr>
            <a:r>
              <a:rPr lang="en-US" sz="2000" dirty="0"/>
              <a:t>-- </a:t>
            </a:r>
            <a:r>
              <a:rPr lang="ru-RU" sz="2000" dirty="0"/>
              <a:t>подключение триггера: </a:t>
            </a:r>
          </a:p>
          <a:p>
            <a:pPr marL="0" indent="0">
              <a:lnSpc>
                <a:spcPct val="80000"/>
              </a:lnSpc>
              <a:buNone/>
            </a:pPr>
            <a:r>
              <a:rPr lang="en-US" sz="2000" dirty="0"/>
              <a:t>ALTER TRIGGER </a:t>
            </a:r>
            <a:r>
              <a:rPr lang="ru-RU" sz="2000" dirty="0"/>
              <a:t>имя_триггера</a:t>
            </a:r>
            <a:r>
              <a:rPr lang="en-US" sz="2000" dirty="0"/>
              <a:t> ENABLE;</a:t>
            </a:r>
          </a:p>
          <a:p>
            <a:pPr marL="0" indent="0">
              <a:lnSpc>
                <a:spcPct val="80000"/>
              </a:lnSpc>
              <a:buNone/>
            </a:pPr>
            <a:r>
              <a:rPr lang="en-US" sz="2000" dirty="0"/>
              <a:t>-- </a:t>
            </a:r>
            <a:r>
              <a:rPr lang="ru-RU" sz="2000" dirty="0"/>
              <a:t>отключение всех триггеров таблицы: </a:t>
            </a:r>
          </a:p>
          <a:p>
            <a:pPr marL="0" indent="0">
              <a:lnSpc>
                <a:spcPct val="80000"/>
              </a:lnSpc>
              <a:buNone/>
            </a:pPr>
            <a:r>
              <a:rPr lang="en-US" sz="2000" dirty="0"/>
              <a:t>ALTER TABLE </a:t>
            </a:r>
            <a:r>
              <a:rPr lang="ru-RU" sz="2000" dirty="0" err="1"/>
              <a:t>имя_таблицы</a:t>
            </a:r>
            <a:r>
              <a:rPr lang="ru-RU" sz="2000" dirty="0"/>
              <a:t> </a:t>
            </a:r>
            <a:r>
              <a:rPr lang="en-US" sz="2000" dirty="0"/>
              <a:t>DISABLE ALL TRIGGERS;</a:t>
            </a:r>
            <a:endParaRPr lang="ru-RU" sz="2000" dirty="0"/>
          </a:p>
          <a:p>
            <a:pPr marL="0" indent="0">
              <a:lnSpc>
                <a:spcPct val="80000"/>
              </a:lnSpc>
              <a:buNone/>
            </a:pPr>
            <a:r>
              <a:rPr lang="ru-RU" sz="2000" dirty="0"/>
              <a:t>-- активирование всех триггеров таблицы:</a:t>
            </a:r>
            <a:br>
              <a:rPr lang="ru-RU" sz="2000" dirty="0"/>
            </a:br>
            <a:r>
              <a:rPr lang="en-US" sz="2000" dirty="0"/>
              <a:t>ALTER TABLE </a:t>
            </a:r>
            <a:r>
              <a:rPr lang="ru-RU" sz="2000" dirty="0" err="1"/>
              <a:t>имя_таблицы</a:t>
            </a:r>
            <a:r>
              <a:rPr lang="ru-RU" sz="2000" dirty="0"/>
              <a:t> </a:t>
            </a:r>
            <a:r>
              <a:rPr lang="en-US" sz="2000" dirty="0"/>
              <a:t>ENABLE ALL TRIGGERS;</a:t>
            </a:r>
            <a:br>
              <a:rPr lang="en-US" sz="2000" dirty="0"/>
            </a:br>
            <a:r>
              <a:rPr lang="ru-RU" sz="2000" dirty="0"/>
              <a:t>-- удаление триггера</a:t>
            </a:r>
            <a:br>
              <a:rPr lang="ru-RU" sz="2000" dirty="0"/>
            </a:br>
            <a:r>
              <a:rPr lang="en-US" sz="2000" dirty="0"/>
              <a:t>DROP TRIGGER </a:t>
            </a:r>
            <a:r>
              <a:rPr lang="ru-RU" sz="2000" dirty="0" err="1"/>
              <a:t>имя_триггера</a:t>
            </a:r>
            <a:r>
              <a:rPr lang="ru-RU" sz="2000" dirty="0"/>
              <a:t>;</a:t>
            </a:r>
          </a:p>
          <a:p>
            <a:pPr marL="0" indent="0">
              <a:lnSpc>
                <a:spcPct val="80000"/>
              </a:lnSpc>
              <a:buNone/>
            </a:pPr>
            <a:r>
              <a:rPr lang="ru-RU" sz="2000" dirty="0"/>
              <a:t>-- просмотр ошибок триггера</a:t>
            </a:r>
          </a:p>
          <a:p>
            <a:pPr marL="0" indent="0">
              <a:lnSpc>
                <a:spcPct val="80000"/>
              </a:lnSpc>
              <a:buNone/>
            </a:pPr>
            <a:r>
              <a:rPr lang="en-US" sz="2000" dirty="0"/>
              <a:t>SHOW ERRORS TRIGGER </a:t>
            </a:r>
            <a:r>
              <a:rPr lang="ru-RU" sz="2000" dirty="0" err="1"/>
              <a:t>имя_триггера</a:t>
            </a:r>
            <a:r>
              <a:rPr lang="ru-RU" sz="2000" dirty="0"/>
              <a:t>;</a:t>
            </a:r>
          </a:p>
          <a:p>
            <a:pPr marL="0" indent="0">
              <a:lnSpc>
                <a:spcPct val="90000"/>
              </a:lnSpc>
              <a:buNone/>
            </a:pPr>
            <a:endParaRPr lang="ru-RU" sz="2000" dirty="0"/>
          </a:p>
        </p:txBody>
      </p:sp>
      <p:sp>
        <p:nvSpPr>
          <p:cNvPr id="4" name="Прямоугольник 3"/>
          <p:cNvSpPr/>
          <p:nvPr/>
        </p:nvSpPr>
        <p:spPr>
          <a:xfrm>
            <a:off x="5927463" y="1654901"/>
            <a:ext cx="5507916" cy="1631216"/>
          </a:xfrm>
          <a:prstGeom prst="rect">
            <a:avLst/>
          </a:prstGeom>
          <a:ln w="12700">
            <a:solidFill>
              <a:schemeClr val="accent1"/>
            </a:solidFill>
          </a:ln>
        </p:spPr>
        <p:txBody>
          <a:bodyPr wrap="square">
            <a:spAutoFit/>
          </a:bodyPr>
          <a:lstStyle/>
          <a:p>
            <a:r>
              <a:rPr lang="ru-RU" sz="2000" dirty="0"/>
              <a:t>Например:</a:t>
            </a:r>
          </a:p>
          <a:p>
            <a:r>
              <a:rPr lang="en-US" sz="2000" dirty="0"/>
              <a:t>SELECT </a:t>
            </a:r>
            <a:r>
              <a:rPr lang="en-US" sz="2000" dirty="0" err="1"/>
              <a:t>trigger_name</a:t>
            </a:r>
            <a:r>
              <a:rPr lang="en-US" sz="2000" dirty="0"/>
              <a:t> FROM </a:t>
            </a:r>
            <a:r>
              <a:rPr lang="en-US" sz="2000" dirty="0" err="1"/>
              <a:t>user_triggers</a:t>
            </a:r>
            <a:r>
              <a:rPr lang="en-US" sz="2000" dirty="0"/>
              <a:t>;</a:t>
            </a:r>
          </a:p>
          <a:p>
            <a:endParaRPr lang="ru-RU" sz="2000" dirty="0"/>
          </a:p>
          <a:p>
            <a:r>
              <a:rPr lang="en-US" sz="2000" dirty="0"/>
              <a:t>SELECT </a:t>
            </a:r>
            <a:r>
              <a:rPr lang="en-US" sz="2000" dirty="0" err="1"/>
              <a:t>trigger_type</a:t>
            </a:r>
            <a:r>
              <a:rPr lang="en-US" sz="2000" dirty="0"/>
              <a:t>, </a:t>
            </a:r>
            <a:r>
              <a:rPr lang="en-US" sz="2000" dirty="0" err="1"/>
              <a:t>table_name</a:t>
            </a:r>
            <a:r>
              <a:rPr lang="en-US" sz="2000" dirty="0"/>
              <a:t>, </a:t>
            </a:r>
            <a:r>
              <a:rPr lang="en-US" sz="2000" dirty="0" err="1"/>
              <a:t>triggering_event</a:t>
            </a:r>
            <a:endParaRPr lang="en-US" sz="2000" dirty="0"/>
          </a:p>
          <a:p>
            <a:r>
              <a:rPr lang="en-US" sz="2000" dirty="0"/>
              <a:t>FROM </a:t>
            </a:r>
            <a:r>
              <a:rPr lang="en-US" sz="2000" dirty="0" err="1"/>
              <a:t>user_triggers</a:t>
            </a:r>
            <a:r>
              <a:rPr lang="ru-RU" sz="2000" dirty="0"/>
              <a:t>;</a:t>
            </a:r>
          </a:p>
        </p:txBody>
      </p:sp>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34</a:t>
            </a:fld>
            <a:endParaRPr lang="ru-RU">
              <a:solidFill>
                <a:prstClr val="black">
                  <a:tint val="75000"/>
                </a:prstClr>
              </a:solidFill>
            </a:endParaRPr>
          </a:p>
        </p:txBody>
      </p:sp>
    </p:spTree>
    <p:extLst>
      <p:ext uri="{BB962C8B-B14F-4D97-AF65-F5344CB8AC3E}">
        <p14:creationId xmlns:p14="http://schemas.microsoft.com/office/powerpoint/2010/main" val="4131357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12648"/>
          </a:xfrm>
        </p:spPr>
        <p:txBody>
          <a:bodyPr>
            <a:normAutofit/>
          </a:bodyPr>
          <a:lstStyle/>
          <a:p>
            <a:r>
              <a:rPr lang="ru-RU" sz="3200" dirty="0">
                <a:solidFill>
                  <a:srgbClr val="FF0000"/>
                </a:solidFill>
              </a:rPr>
              <a:t>Триггеры</a:t>
            </a:r>
            <a:r>
              <a:rPr lang="en-US" sz="3200" dirty="0">
                <a:solidFill>
                  <a:srgbClr val="FF0000"/>
                </a:solidFill>
              </a:rPr>
              <a:t> DML</a:t>
            </a:r>
            <a:endParaRPr lang="ru-RU" sz="3200" dirty="0"/>
          </a:p>
        </p:txBody>
      </p:sp>
      <p:sp>
        <p:nvSpPr>
          <p:cNvPr id="3" name="Объект 2"/>
          <p:cNvSpPr>
            <a:spLocks noGrp="1"/>
          </p:cNvSpPr>
          <p:nvPr>
            <p:ph idx="1"/>
          </p:nvPr>
        </p:nvSpPr>
        <p:spPr>
          <a:xfrm>
            <a:off x="609600" y="612649"/>
            <a:ext cx="10972800" cy="5513516"/>
          </a:xfrm>
        </p:spPr>
        <p:txBody>
          <a:bodyPr>
            <a:normAutofit/>
          </a:bodyPr>
          <a:lstStyle/>
          <a:p>
            <a:r>
              <a:rPr lang="ru-RU" sz="2000" dirty="0"/>
              <a:t>Создаются для таблиц или </a:t>
            </a:r>
            <a:r>
              <a:rPr lang="en-US" sz="2000" dirty="0"/>
              <a:t>view</a:t>
            </a:r>
            <a:r>
              <a:rPr lang="ru-RU" sz="2000" dirty="0"/>
              <a:t>, срабатывают при вставке, обновлении или удалении записей.</a:t>
            </a:r>
          </a:p>
          <a:p>
            <a:r>
              <a:rPr lang="ru-RU" sz="2000" dirty="0"/>
              <a:t>Триггер может быть создан не в той схеме, где определена таблица. В этом случае текущей схемой при выполнении триггера считается схема в которой находится триггер.</a:t>
            </a:r>
          </a:p>
          <a:p>
            <a:r>
              <a:rPr lang="ru-RU" sz="2000" dirty="0"/>
              <a:t>При операции MERGE срабатывают триггеры на изменение, вставку или удаление</a:t>
            </a:r>
          </a:p>
          <a:p>
            <a:pPr marL="0" indent="0">
              <a:buNone/>
            </a:pPr>
            <a:r>
              <a:rPr lang="ru-RU" sz="2000" dirty="0"/>
              <a:t>       записей в зависимости от выполняемой операции.</a:t>
            </a:r>
          </a:p>
          <a:p>
            <a:r>
              <a:rPr lang="ru-RU" sz="2000" dirty="0"/>
              <a:t>Триггер и выполненные им изменения таблиц это часть транзакции, ошибка в триггере откатывает операцию. Если откатывается транзакция, выполненные триггером изменения  тоже откатываются.</a:t>
            </a:r>
          </a:p>
          <a:p>
            <a:r>
              <a:rPr lang="ru-RU" sz="2000" dirty="0"/>
              <a:t>В триггерах запрещены инструкции DDL и управления транзакциями (исключения –</a:t>
            </a:r>
          </a:p>
          <a:p>
            <a:pPr marL="0" indent="0">
              <a:buNone/>
            </a:pPr>
            <a:r>
              <a:rPr lang="ru-RU" sz="2000" dirty="0"/>
              <a:t>       автономные транзакции).</a:t>
            </a:r>
          </a:p>
          <a:p>
            <a:pPr marL="0" indent="0">
              <a:buNone/>
            </a:pPr>
            <a:r>
              <a:rPr lang="ru-RU" sz="2000" dirty="0"/>
              <a:t>Тело триггера не может содержать инструкций:</a:t>
            </a:r>
            <a:br>
              <a:rPr lang="ru-RU" sz="2000" dirty="0"/>
            </a:br>
            <a:r>
              <a:rPr lang="ru-RU" sz="2000" dirty="0"/>
              <a:t>• определения, удаления и изменения объектов базы</a:t>
            </a:r>
            <a:br>
              <a:rPr lang="ru-RU" sz="2000" dirty="0"/>
            </a:br>
            <a:r>
              <a:rPr lang="ru-RU" sz="2000" dirty="0"/>
              <a:t>• обработки транзакций (COMMIT, ROLLBACK)</a:t>
            </a:r>
            <a:br>
              <a:rPr lang="ru-RU" sz="2000" dirty="0"/>
            </a:br>
            <a:r>
              <a:rPr lang="ru-RU" sz="2000" dirty="0"/>
              <a:t>• подключения и отключения к БД (CONNECT, DISCONNECT)</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35</a:t>
            </a:fld>
            <a:endParaRPr lang="ru-RU">
              <a:solidFill>
                <a:prstClr val="black">
                  <a:tint val="75000"/>
                </a:prstClr>
              </a:solidFill>
            </a:endParaRPr>
          </a:p>
        </p:txBody>
      </p:sp>
    </p:spTree>
    <p:extLst>
      <p:ext uri="{BB962C8B-B14F-4D97-AF65-F5344CB8AC3E}">
        <p14:creationId xmlns:p14="http://schemas.microsoft.com/office/powerpoint/2010/main" val="25380230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90465"/>
          </a:xfrm>
        </p:spPr>
        <p:txBody>
          <a:bodyPr>
            <a:normAutofit/>
          </a:bodyPr>
          <a:lstStyle/>
          <a:p>
            <a:pPr>
              <a:tabLst>
                <a:tab pos="1978025" algn="l"/>
              </a:tabLst>
            </a:pPr>
            <a:r>
              <a:rPr lang="ru-RU" sz="3200" dirty="0">
                <a:solidFill>
                  <a:srgbClr val="FF0000"/>
                </a:solidFill>
              </a:rPr>
              <a:t>Синтаксис триггеров</a:t>
            </a:r>
            <a:r>
              <a:rPr lang="en-US" sz="3200" dirty="0">
                <a:solidFill>
                  <a:srgbClr val="FF0000"/>
                </a:solidFill>
              </a:rPr>
              <a:t> DML 1/</a:t>
            </a:r>
            <a:r>
              <a:rPr lang="ru-RU" sz="3200" dirty="0">
                <a:solidFill>
                  <a:srgbClr val="FF0000"/>
                </a:solidFill>
              </a:rPr>
              <a:t>3</a:t>
            </a:r>
          </a:p>
        </p:txBody>
      </p:sp>
      <p:pic>
        <p:nvPicPr>
          <p:cNvPr id="5" name="Рисунок 4"/>
          <p:cNvPicPr>
            <a:picLocks noChangeAspect="1"/>
          </p:cNvPicPr>
          <p:nvPr/>
        </p:nvPicPr>
        <p:blipFill>
          <a:blip r:embed="rId2"/>
          <a:stretch>
            <a:fillRect/>
          </a:stretch>
        </p:blipFill>
        <p:spPr>
          <a:xfrm>
            <a:off x="3396343" y="1060569"/>
            <a:ext cx="7405299" cy="2142029"/>
          </a:xfrm>
          <a:prstGeom prst="rect">
            <a:avLst/>
          </a:prstGeom>
        </p:spPr>
      </p:pic>
      <p:sp>
        <p:nvSpPr>
          <p:cNvPr id="3" name="Объект 2"/>
          <p:cNvSpPr>
            <a:spLocks noGrp="1"/>
          </p:cNvSpPr>
          <p:nvPr>
            <p:ph idx="1"/>
          </p:nvPr>
        </p:nvSpPr>
        <p:spPr>
          <a:xfrm>
            <a:off x="609600" y="1600201"/>
            <a:ext cx="10972800" cy="1784783"/>
          </a:xfrm>
        </p:spPr>
        <p:txBody>
          <a:bodyPr>
            <a:normAutofit lnSpcReduction="10000"/>
          </a:bodyPr>
          <a:lstStyle/>
          <a:p>
            <a:pPr marL="0" indent="0">
              <a:buNone/>
            </a:pPr>
            <a:r>
              <a:rPr lang="en-US" sz="2000" dirty="0">
                <a:solidFill>
                  <a:srgbClr val="222222"/>
                </a:solidFill>
                <a:latin typeface="-apple-system"/>
              </a:rPr>
              <a:t> </a:t>
            </a:r>
            <a:r>
              <a:rPr lang="en-US" sz="2000" dirty="0" err="1">
                <a:solidFill>
                  <a:srgbClr val="222222"/>
                </a:solidFill>
                <a:latin typeface="-apple-system"/>
              </a:rPr>
              <a:t>plsql_trigger_source</a:t>
            </a:r>
            <a:r>
              <a:rPr lang="ru-RU" sz="2000" dirty="0">
                <a:solidFill>
                  <a:srgbClr val="222222"/>
                </a:solidFill>
                <a:latin typeface="-apple-system"/>
              </a:rPr>
              <a:t> </a:t>
            </a:r>
            <a:r>
              <a:rPr lang="en-US" sz="2000" dirty="0">
                <a:solidFill>
                  <a:srgbClr val="222222"/>
                </a:solidFill>
                <a:latin typeface="-apple-system"/>
              </a:rPr>
              <a:t>::=</a:t>
            </a:r>
          </a:p>
          <a:p>
            <a:pPr marL="0" indent="0">
              <a:buNone/>
            </a:pPr>
            <a:endParaRPr lang="en-US" sz="2000" dirty="0">
              <a:solidFill>
                <a:srgbClr val="222222"/>
              </a:solidFill>
              <a:latin typeface="-apple-system"/>
            </a:endParaRPr>
          </a:p>
          <a:p>
            <a:pPr marL="0" indent="0">
              <a:buNone/>
            </a:pPr>
            <a:endParaRPr lang="en-US" sz="2000" dirty="0">
              <a:solidFill>
                <a:srgbClr val="222222"/>
              </a:solidFill>
              <a:latin typeface="-apple-system"/>
            </a:endParaRPr>
          </a:p>
          <a:p>
            <a:pPr marL="0" indent="0">
              <a:buNone/>
            </a:pPr>
            <a:endParaRPr lang="en-US" sz="2000" dirty="0">
              <a:solidFill>
                <a:srgbClr val="222222"/>
              </a:solidFill>
              <a:latin typeface="-apple-system"/>
            </a:endParaRPr>
          </a:p>
          <a:p>
            <a:pPr marL="0" indent="0">
              <a:buNone/>
            </a:pPr>
            <a:r>
              <a:rPr lang="en-US" sz="2000" dirty="0" err="1">
                <a:solidFill>
                  <a:srgbClr val="222222"/>
                </a:solidFill>
                <a:latin typeface="-apple-system"/>
              </a:rPr>
              <a:t>simple_dml_trigger</a:t>
            </a:r>
            <a:r>
              <a:rPr lang="en-US" sz="2000" dirty="0">
                <a:solidFill>
                  <a:srgbClr val="222222"/>
                </a:solidFill>
                <a:latin typeface="-apple-system"/>
              </a:rPr>
              <a:t>  ::=</a:t>
            </a:r>
            <a:endParaRPr lang="ru-RU" sz="2000" dirty="0"/>
          </a:p>
        </p:txBody>
      </p:sp>
      <p:pic>
        <p:nvPicPr>
          <p:cNvPr id="6" name="Рисунок 5"/>
          <p:cNvPicPr>
            <a:picLocks noChangeAspect="1"/>
          </p:cNvPicPr>
          <p:nvPr/>
        </p:nvPicPr>
        <p:blipFill>
          <a:blip r:embed="rId3"/>
          <a:stretch>
            <a:fillRect/>
          </a:stretch>
        </p:blipFill>
        <p:spPr>
          <a:xfrm>
            <a:off x="1492899" y="3384985"/>
            <a:ext cx="9084809" cy="3473015"/>
          </a:xfrm>
          <a:prstGeom prst="rect">
            <a:avLst/>
          </a:prstGeom>
        </p:spPr>
      </p:pic>
      <p:pic>
        <p:nvPicPr>
          <p:cNvPr id="4" name="Рисунок 3"/>
          <p:cNvPicPr>
            <a:picLocks noChangeAspect="1"/>
          </p:cNvPicPr>
          <p:nvPr/>
        </p:nvPicPr>
        <p:blipFill>
          <a:blip r:embed="rId4"/>
          <a:stretch>
            <a:fillRect/>
          </a:stretch>
        </p:blipFill>
        <p:spPr>
          <a:xfrm>
            <a:off x="298580" y="690465"/>
            <a:ext cx="7373128" cy="735582"/>
          </a:xfrm>
          <a:prstGeom prst="rect">
            <a:avLst/>
          </a:prstGeom>
        </p:spPr>
      </p:pic>
      <p:sp>
        <p:nvSpPr>
          <p:cNvPr id="7" name="Номер слайда 6"/>
          <p:cNvSpPr>
            <a:spLocks noGrp="1"/>
          </p:cNvSpPr>
          <p:nvPr>
            <p:ph type="sldNum" sz="quarter" idx="12"/>
          </p:nvPr>
        </p:nvSpPr>
        <p:spPr/>
        <p:txBody>
          <a:bodyPr/>
          <a:lstStyle/>
          <a:p>
            <a:fld id="{F6897B34-D6E2-4952-A4EE-BEF9CE40CFF9}" type="slidenum">
              <a:rPr lang="ru-RU" smtClean="0">
                <a:solidFill>
                  <a:prstClr val="black">
                    <a:tint val="75000"/>
                  </a:prstClr>
                </a:solidFill>
              </a:rPr>
              <a:pPr/>
              <a:t>36</a:t>
            </a:fld>
            <a:endParaRPr lang="ru-RU">
              <a:solidFill>
                <a:prstClr val="black">
                  <a:tint val="75000"/>
                </a:prstClr>
              </a:solidFill>
            </a:endParaRPr>
          </a:p>
        </p:txBody>
      </p:sp>
    </p:spTree>
    <p:extLst>
      <p:ext uri="{BB962C8B-B14F-4D97-AF65-F5344CB8AC3E}">
        <p14:creationId xmlns:p14="http://schemas.microsoft.com/office/powerpoint/2010/main" val="1445182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289258" y="186613"/>
            <a:ext cx="8030527" cy="5385624"/>
          </a:xfrm>
          <a:prstGeom prst="rect">
            <a:avLst/>
          </a:prstGeom>
        </p:spPr>
      </p:pic>
      <p:pic>
        <p:nvPicPr>
          <p:cNvPr id="5" name="Рисунок 4"/>
          <p:cNvPicPr>
            <a:picLocks noChangeAspect="1"/>
          </p:cNvPicPr>
          <p:nvPr/>
        </p:nvPicPr>
        <p:blipFill>
          <a:blip r:embed="rId3"/>
          <a:stretch>
            <a:fillRect/>
          </a:stretch>
        </p:blipFill>
        <p:spPr>
          <a:xfrm>
            <a:off x="7114486" y="3805711"/>
            <a:ext cx="4816257" cy="2792210"/>
          </a:xfrm>
          <a:prstGeom prst="rect">
            <a:avLst/>
          </a:prstGeom>
        </p:spPr>
      </p:pic>
      <p:sp>
        <p:nvSpPr>
          <p:cNvPr id="2" name="Заголовок 1"/>
          <p:cNvSpPr>
            <a:spLocks noGrp="1"/>
          </p:cNvSpPr>
          <p:nvPr>
            <p:ph type="title"/>
          </p:nvPr>
        </p:nvSpPr>
        <p:spPr>
          <a:xfrm>
            <a:off x="6096000" y="0"/>
            <a:ext cx="5834743" cy="1156996"/>
          </a:xfrm>
        </p:spPr>
        <p:txBody>
          <a:bodyPr>
            <a:normAutofit/>
          </a:bodyPr>
          <a:lstStyle/>
          <a:p>
            <a:r>
              <a:rPr lang="ru-RU" sz="3200" dirty="0">
                <a:solidFill>
                  <a:srgbClr val="FF0000"/>
                </a:solidFill>
              </a:rPr>
              <a:t>Синтаксис триггеров</a:t>
            </a:r>
            <a:r>
              <a:rPr lang="en-US" sz="3200" dirty="0">
                <a:solidFill>
                  <a:srgbClr val="FF0000"/>
                </a:solidFill>
              </a:rPr>
              <a:t> DML 2/</a:t>
            </a:r>
            <a:r>
              <a:rPr lang="ru-RU" sz="3200" dirty="0">
                <a:solidFill>
                  <a:srgbClr val="FF0000"/>
                </a:solidFill>
              </a:rPr>
              <a:t>3</a:t>
            </a:r>
            <a:endParaRPr lang="ru-RU" dirty="0"/>
          </a:p>
        </p:txBody>
      </p:sp>
      <p:sp>
        <p:nvSpPr>
          <p:cNvPr id="3" name="Номер слайда 2"/>
          <p:cNvSpPr>
            <a:spLocks noGrp="1"/>
          </p:cNvSpPr>
          <p:nvPr>
            <p:ph type="sldNum" sz="quarter" idx="12"/>
          </p:nvPr>
        </p:nvSpPr>
        <p:spPr/>
        <p:txBody>
          <a:bodyPr/>
          <a:lstStyle/>
          <a:p>
            <a:fld id="{F6897B34-D6E2-4952-A4EE-BEF9CE40CFF9}" type="slidenum">
              <a:rPr lang="ru-RU" smtClean="0">
                <a:solidFill>
                  <a:prstClr val="black">
                    <a:tint val="75000"/>
                  </a:prstClr>
                </a:solidFill>
              </a:rPr>
              <a:pPr/>
              <a:t>37</a:t>
            </a:fld>
            <a:endParaRPr lang="ru-RU">
              <a:solidFill>
                <a:prstClr val="black">
                  <a:tint val="75000"/>
                </a:prstClr>
              </a:solidFill>
            </a:endParaRPr>
          </a:p>
        </p:txBody>
      </p:sp>
    </p:spTree>
    <p:extLst>
      <p:ext uri="{BB962C8B-B14F-4D97-AF65-F5344CB8AC3E}">
        <p14:creationId xmlns:p14="http://schemas.microsoft.com/office/powerpoint/2010/main" val="5639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548640"/>
          </a:xfrm>
        </p:spPr>
        <p:txBody>
          <a:bodyPr>
            <a:noAutofit/>
          </a:bodyPr>
          <a:lstStyle/>
          <a:p>
            <a:r>
              <a:rPr lang="ru-RU" sz="3200" dirty="0">
                <a:solidFill>
                  <a:srgbClr val="FF0000"/>
                </a:solidFill>
              </a:rPr>
              <a:t>Синтаксис триггеров</a:t>
            </a:r>
            <a:r>
              <a:rPr lang="en-US" sz="3200" dirty="0">
                <a:solidFill>
                  <a:srgbClr val="FF0000"/>
                </a:solidFill>
              </a:rPr>
              <a:t> DML </a:t>
            </a:r>
            <a:r>
              <a:rPr lang="ru-RU" sz="3200" dirty="0">
                <a:solidFill>
                  <a:srgbClr val="FF0000"/>
                </a:solidFill>
              </a:rPr>
              <a:t>3</a:t>
            </a:r>
            <a:r>
              <a:rPr lang="en-US" sz="3200" dirty="0">
                <a:solidFill>
                  <a:srgbClr val="FF0000"/>
                </a:solidFill>
              </a:rPr>
              <a:t>/</a:t>
            </a:r>
            <a:r>
              <a:rPr lang="ru-RU" sz="3200" dirty="0">
                <a:solidFill>
                  <a:srgbClr val="FF0000"/>
                </a:solidFill>
              </a:rPr>
              <a:t>3</a:t>
            </a:r>
          </a:p>
        </p:txBody>
      </p:sp>
      <p:sp>
        <p:nvSpPr>
          <p:cNvPr id="3" name="Объект 2"/>
          <p:cNvSpPr>
            <a:spLocks noGrp="1"/>
          </p:cNvSpPr>
          <p:nvPr>
            <p:ph idx="1"/>
          </p:nvPr>
        </p:nvSpPr>
        <p:spPr>
          <a:xfrm>
            <a:off x="609600" y="548641"/>
            <a:ext cx="10972800" cy="5577524"/>
          </a:xfrm>
        </p:spPr>
        <p:txBody>
          <a:bodyPr>
            <a:normAutofit/>
          </a:bodyPr>
          <a:lstStyle/>
          <a:p>
            <a:pPr marL="0" indent="0">
              <a:buNone/>
            </a:pPr>
            <a:r>
              <a:rPr lang="ru-RU" sz="2000" dirty="0"/>
              <a:t>Заготовка для простого триггера:</a:t>
            </a:r>
          </a:p>
          <a:p>
            <a:pPr marL="0" indent="0">
              <a:buNone/>
            </a:pPr>
            <a:endParaRPr lang="ru-RU" sz="2000" dirty="0"/>
          </a:p>
          <a:p>
            <a:pPr marL="0" indent="0">
              <a:buNone/>
            </a:pPr>
            <a:r>
              <a:rPr lang="en-US" sz="2000" dirty="0"/>
              <a:t>CREATE [OR REPLACE] TRIGGER </a:t>
            </a:r>
            <a:r>
              <a:rPr lang="ru-RU" sz="2000" dirty="0"/>
              <a:t>имя </a:t>
            </a:r>
            <a:endParaRPr lang="en-US" sz="2000" dirty="0"/>
          </a:p>
          <a:p>
            <a:pPr marL="0" indent="0">
              <a:buNone/>
            </a:pPr>
            <a:r>
              <a:rPr lang="en-US" sz="2000" dirty="0"/>
              <a:t>[BEFORE|AFTER] [INSERT |OR| UPDATE|DELETE]</a:t>
            </a:r>
          </a:p>
          <a:p>
            <a:pPr marL="0" indent="0">
              <a:buNone/>
            </a:pPr>
            <a:r>
              <a:rPr lang="en-US" sz="2000" dirty="0"/>
              <a:t>ON </a:t>
            </a:r>
            <a:r>
              <a:rPr lang="ru-RU" sz="2000" dirty="0" err="1"/>
              <a:t>имя_таблицы</a:t>
            </a:r>
            <a:endParaRPr lang="ru-RU" sz="2000" dirty="0"/>
          </a:p>
          <a:p>
            <a:pPr marL="0" indent="0">
              <a:buNone/>
            </a:pPr>
            <a:r>
              <a:rPr lang="en-US" sz="2000" dirty="0"/>
              <a:t>FOR EACH ROW [WHEN </a:t>
            </a:r>
            <a:r>
              <a:rPr lang="ru-RU" sz="2000" dirty="0"/>
              <a:t>условие</a:t>
            </a:r>
            <a:r>
              <a:rPr lang="en-US" sz="2000" dirty="0"/>
              <a:t>]</a:t>
            </a:r>
          </a:p>
          <a:p>
            <a:pPr marL="0" indent="0">
              <a:buNone/>
            </a:pPr>
            <a:r>
              <a:rPr lang="en-US" sz="2000" dirty="0"/>
              <a:t>DECLARE</a:t>
            </a:r>
            <a:endParaRPr lang="ru-RU" sz="2000" dirty="0"/>
          </a:p>
          <a:p>
            <a:pPr marL="0" indent="0">
              <a:buNone/>
            </a:pPr>
            <a:r>
              <a:rPr lang="en-US" sz="2000" dirty="0"/>
              <a:t>-- </a:t>
            </a:r>
            <a:r>
              <a:rPr lang="ru-RU" sz="2000" dirty="0" err="1"/>
              <a:t>описание_локальных_переменных</a:t>
            </a:r>
            <a:endParaRPr lang="ru-RU" sz="2000" dirty="0"/>
          </a:p>
          <a:p>
            <a:pPr marL="0" indent="0">
              <a:buNone/>
            </a:pPr>
            <a:r>
              <a:rPr lang="en-US" sz="2000" dirty="0"/>
              <a:t>BEGIN</a:t>
            </a:r>
          </a:p>
          <a:p>
            <a:pPr marL="0" indent="0">
              <a:buNone/>
            </a:pPr>
            <a:r>
              <a:rPr lang="ru-RU" sz="2000" dirty="0"/>
              <a:t>--последовательность операторов</a:t>
            </a:r>
          </a:p>
          <a:p>
            <a:pPr marL="0" indent="0">
              <a:buNone/>
            </a:pPr>
            <a:r>
              <a:rPr lang="en-US" sz="2000" dirty="0"/>
              <a:t>EXCEPTION</a:t>
            </a:r>
          </a:p>
          <a:p>
            <a:pPr marL="0" indent="0">
              <a:buNone/>
            </a:pPr>
            <a:r>
              <a:rPr lang="ru-RU" sz="2000" dirty="0"/>
              <a:t>-- обработка исключений</a:t>
            </a:r>
          </a:p>
          <a:p>
            <a:pPr marL="0" indent="0">
              <a:buNone/>
            </a:pPr>
            <a:r>
              <a:rPr lang="en-US" sz="2000" dirty="0"/>
              <a:t>END </a:t>
            </a:r>
            <a:r>
              <a:rPr lang="ru-RU" sz="2000" dirty="0"/>
              <a:t>имя</a:t>
            </a:r>
            <a:r>
              <a:rPr lang="en-US" sz="2000" dirty="0"/>
              <a:t>;</a:t>
            </a:r>
            <a:endParaRPr lang="ru-RU" sz="2000" dirty="0"/>
          </a:p>
          <a:p>
            <a:pPr marL="0" indent="0">
              <a:buNone/>
            </a:pPr>
            <a:endParaRPr lang="ru-RU" sz="2000" dirty="0"/>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38</a:t>
            </a:fld>
            <a:endParaRPr lang="ru-RU">
              <a:solidFill>
                <a:prstClr val="black">
                  <a:tint val="75000"/>
                </a:prstClr>
              </a:solidFill>
            </a:endParaRPr>
          </a:p>
        </p:txBody>
      </p:sp>
    </p:spTree>
    <p:extLst>
      <p:ext uri="{BB962C8B-B14F-4D97-AF65-F5344CB8AC3E}">
        <p14:creationId xmlns:p14="http://schemas.microsoft.com/office/powerpoint/2010/main" val="41902099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402336"/>
          </a:xfrm>
        </p:spPr>
        <p:txBody>
          <a:bodyPr>
            <a:normAutofit fontScale="90000"/>
          </a:bodyPr>
          <a:lstStyle/>
          <a:p>
            <a:r>
              <a:rPr lang="ru-RU" sz="3200" dirty="0">
                <a:solidFill>
                  <a:srgbClr val="FF0000"/>
                </a:solidFill>
              </a:rPr>
              <a:t>Зачем нужны триггеры. Псевдозаписи</a:t>
            </a:r>
          </a:p>
        </p:txBody>
      </p:sp>
      <p:sp>
        <p:nvSpPr>
          <p:cNvPr id="3" name="Объект 2"/>
          <p:cNvSpPr>
            <a:spLocks noGrp="1"/>
          </p:cNvSpPr>
          <p:nvPr>
            <p:ph idx="1"/>
          </p:nvPr>
        </p:nvSpPr>
        <p:spPr>
          <a:xfrm>
            <a:off x="609600" y="402336"/>
            <a:ext cx="10972800" cy="6373368"/>
          </a:xfrm>
        </p:spPr>
        <p:txBody>
          <a:bodyPr>
            <a:normAutofit/>
          </a:bodyPr>
          <a:lstStyle/>
          <a:p>
            <a:r>
              <a:rPr lang="ru-RU" sz="2000" dirty="0"/>
              <a:t>Для организации каскадных изменений данных</a:t>
            </a:r>
          </a:p>
          <a:p>
            <a:r>
              <a:rPr lang="ru-RU" sz="2000" dirty="0"/>
              <a:t>Для реакции на системные события </a:t>
            </a:r>
          </a:p>
          <a:p>
            <a:r>
              <a:rPr lang="ru-RU" sz="2000" dirty="0"/>
              <a:t>Для изменения данных в таблицах, если </a:t>
            </a:r>
            <a:r>
              <a:rPr lang="ru-RU" sz="2000" dirty="0" err="1"/>
              <a:t>dml</a:t>
            </a:r>
            <a:r>
              <a:rPr lang="ru-RU" sz="2000" dirty="0"/>
              <a:t>-операция выполняется через </a:t>
            </a:r>
            <a:r>
              <a:rPr lang="en-US" sz="2000" dirty="0"/>
              <a:t>view</a:t>
            </a:r>
            <a:endParaRPr lang="ru-RU" sz="2000" dirty="0"/>
          </a:p>
          <a:p>
            <a:r>
              <a:rPr lang="ru-RU" sz="2000" dirty="0"/>
              <a:t>Для предотвращения </a:t>
            </a:r>
            <a:r>
              <a:rPr lang="ru-RU" sz="2000" dirty="0" err="1"/>
              <a:t>dml</a:t>
            </a:r>
            <a:r>
              <a:rPr lang="ru-RU" sz="2000" dirty="0"/>
              <a:t>-операций в какое-то время или при каких-то условиях</a:t>
            </a:r>
          </a:p>
          <a:p>
            <a:r>
              <a:rPr lang="ru-RU" sz="2000" dirty="0"/>
              <a:t>Для реализации сложных ограничений целостности данных, не реализуемых декларативно</a:t>
            </a:r>
          </a:p>
          <a:p>
            <a:r>
              <a:rPr lang="ru-RU" sz="2000" dirty="0"/>
              <a:t>Для организации аудита (но обычно </a:t>
            </a:r>
            <a:r>
              <a:rPr lang="en-US" sz="2000" dirty="0"/>
              <a:t>SELECT </a:t>
            </a:r>
            <a:r>
              <a:rPr lang="ru-RU" sz="2000" dirty="0"/>
              <a:t>это не триггерное событие)</a:t>
            </a:r>
          </a:p>
          <a:p>
            <a:r>
              <a:rPr lang="ru-RU" sz="2000" dirty="0"/>
              <a:t>Для реализации бизнес логики</a:t>
            </a:r>
          </a:p>
          <a:p>
            <a:r>
              <a:rPr lang="ru-RU" sz="2000" dirty="0"/>
              <a:t>Для автоматической генерации значений </a:t>
            </a:r>
          </a:p>
          <a:p>
            <a:pPr marL="0" indent="0">
              <a:buNone/>
            </a:pPr>
            <a:r>
              <a:rPr lang="ru-RU" sz="2000" b="1" dirty="0"/>
              <a:t>Псевдозаписи</a:t>
            </a:r>
          </a:p>
          <a:p>
            <a:r>
              <a:rPr lang="ru-RU" sz="2000" dirty="0"/>
              <a:t>Псевдозаписи old и </a:t>
            </a:r>
            <a:r>
              <a:rPr lang="ru-RU" sz="2000" dirty="0" err="1"/>
              <a:t>new</a:t>
            </a:r>
            <a:r>
              <a:rPr lang="ru-RU" sz="2000" dirty="0"/>
              <a:t> у триггеров row </a:t>
            </a:r>
            <a:r>
              <a:rPr lang="ru-RU" sz="2000" dirty="0" err="1"/>
              <a:t>level</a:t>
            </a:r>
            <a:r>
              <a:rPr lang="ru-RU" sz="2000" dirty="0"/>
              <a:t> и </a:t>
            </a:r>
            <a:r>
              <a:rPr lang="ru-RU" sz="2000" dirty="0" err="1"/>
              <a:t>compound</a:t>
            </a:r>
            <a:r>
              <a:rPr lang="ru-RU" sz="2000" dirty="0"/>
              <a:t> позволяют для изменяемой записи получить значения полей до изменения и после него.</a:t>
            </a:r>
          </a:p>
          <a:p>
            <a:r>
              <a:rPr lang="ru-RU" sz="2000" dirty="0"/>
              <a:t>С помощью конструкции </a:t>
            </a:r>
            <a:r>
              <a:rPr lang="en-US" sz="2000" dirty="0"/>
              <a:t>REFERENCING</a:t>
            </a:r>
            <a:r>
              <a:rPr lang="ru-RU" sz="2000" b="1" dirty="0"/>
              <a:t> </a:t>
            </a:r>
            <a:r>
              <a:rPr lang="ru-RU" sz="2000" dirty="0"/>
              <a:t>можно изменить их имена. </a:t>
            </a:r>
          </a:p>
        </p:txBody>
      </p:sp>
      <p:graphicFrame>
        <p:nvGraphicFramePr>
          <p:cNvPr id="4" name="Таблица 3"/>
          <p:cNvGraphicFramePr>
            <a:graphicFrameLocks noGrp="1"/>
          </p:cNvGraphicFramePr>
          <p:nvPr>
            <p:extLst>
              <p:ext uri="{D42A27DB-BD31-4B8C-83A1-F6EECF244321}">
                <p14:modId xmlns:p14="http://schemas.microsoft.com/office/powerpoint/2010/main" val="4074853531"/>
              </p:ext>
            </p:extLst>
          </p:nvPr>
        </p:nvGraphicFramePr>
        <p:xfrm>
          <a:off x="2190597" y="4831343"/>
          <a:ext cx="8127999" cy="1753576"/>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ru-RU" sz="1800" dirty="0"/>
                        <a:t>ОПЕРАЦИЯ СРАБАТЫВАНИЯ ТРИГГЕРА </a:t>
                      </a:r>
                      <a:endParaRPr lang="ru-RU" dirty="0"/>
                    </a:p>
                  </a:txBody>
                  <a:tcPr/>
                </a:tc>
                <a:tc>
                  <a:txBody>
                    <a:bodyPr/>
                    <a:lstStyle/>
                    <a:p>
                      <a:r>
                        <a:rPr lang="ru-RU" sz="1800" dirty="0"/>
                        <a:t>OLD.COLUMN</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t>NEW.COLUMN</a:t>
                      </a:r>
                    </a:p>
                    <a:p>
                      <a:endParaRPr lang="ru-RU" dirty="0"/>
                    </a:p>
                  </a:txBody>
                  <a:tcPr/>
                </a:tc>
                <a:extLst>
                  <a:ext uri="{0D108BD9-81ED-4DB2-BD59-A6C34878D82A}">
                    <a16:rowId xmlns:a16="http://schemas.microsoft.com/office/drawing/2014/main" val="10000"/>
                  </a:ext>
                </a:extLst>
              </a:tr>
              <a:tr h="371816">
                <a:tc>
                  <a:txBody>
                    <a:bodyPr/>
                    <a:lstStyle/>
                    <a:p>
                      <a:r>
                        <a:rPr lang="en-US" sz="1800" dirty="0"/>
                        <a:t>Insert</a:t>
                      </a:r>
                      <a:endParaRPr lang="ru-RU" dirty="0"/>
                    </a:p>
                  </a:txBody>
                  <a:tcPr/>
                </a:tc>
                <a:tc>
                  <a:txBody>
                    <a:bodyPr/>
                    <a:lstStyle/>
                    <a:p>
                      <a:r>
                        <a:rPr lang="en-US" sz="1800" dirty="0"/>
                        <a:t>Null</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t>Новое значение</a:t>
                      </a:r>
                      <a:endParaRPr lang="ru-RU" dirty="0"/>
                    </a:p>
                  </a:txBody>
                  <a:tcPr/>
                </a:tc>
                <a:extLst>
                  <a:ext uri="{0D108BD9-81ED-4DB2-BD59-A6C34878D82A}">
                    <a16:rowId xmlns:a16="http://schemas.microsoft.com/office/drawing/2014/main" val="10001"/>
                  </a:ext>
                </a:extLst>
              </a:tr>
              <a:tr h="370840">
                <a:tc>
                  <a:txBody>
                    <a:bodyPr/>
                    <a:lstStyle/>
                    <a:p>
                      <a:r>
                        <a:rPr lang="ru-RU" sz="1800" dirty="0"/>
                        <a:t>Update</a:t>
                      </a:r>
                      <a:endParaRPr lang="ru-RU" dirty="0"/>
                    </a:p>
                  </a:txBody>
                  <a:tcPr/>
                </a:tc>
                <a:tc>
                  <a:txBody>
                    <a:bodyPr/>
                    <a:lstStyle/>
                    <a:p>
                      <a:r>
                        <a:rPr lang="ru-RU" sz="1800" dirty="0"/>
                        <a:t>Старое значение </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dirty="0"/>
                        <a:t>Новое значение</a:t>
                      </a:r>
                      <a:endParaRPr lang="ru-RU" dirty="0"/>
                    </a:p>
                  </a:txBody>
                  <a:tcPr/>
                </a:tc>
                <a:extLst>
                  <a:ext uri="{0D108BD9-81ED-4DB2-BD59-A6C34878D82A}">
                    <a16:rowId xmlns:a16="http://schemas.microsoft.com/office/drawing/2014/main" val="10002"/>
                  </a:ext>
                </a:extLst>
              </a:tr>
              <a:tr h="370840">
                <a:tc>
                  <a:txBody>
                    <a:bodyPr/>
                    <a:lstStyle/>
                    <a:p>
                      <a:r>
                        <a:rPr lang="en-US" sz="1800" dirty="0"/>
                        <a:t>Delete</a:t>
                      </a:r>
                      <a:endParaRPr lang="ru-RU" dirty="0"/>
                    </a:p>
                  </a:txBody>
                  <a:tcPr/>
                </a:tc>
                <a:tc>
                  <a:txBody>
                    <a:bodyPr/>
                    <a:lstStyle/>
                    <a:p>
                      <a:r>
                        <a:rPr lang="ru-RU" sz="1800" dirty="0"/>
                        <a:t>Старое значение </a:t>
                      </a:r>
                      <a:endParaRPr lang="ru-RU"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Null</a:t>
                      </a:r>
                      <a:endParaRPr lang="ru-RU" dirty="0"/>
                    </a:p>
                  </a:txBody>
                  <a:tcPr/>
                </a:tc>
                <a:extLst>
                  <a:ext uri="{0D108BD9-81ED-4DB2-BD59-A6C34878D82A}">
                    <a16:rowId xmlns:a16="http://schemas.microsoft.com/office/drawing/2014/main" val="10003"/>
                  </a:ext>
                </a:extLst>
              </a:tr>
            </a:tbl>
          </a:graphicData>
        </a:graphic>
      </p:graphicFrame>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39</a:t>
            </a:fld>
            <a:endParaRPr lang="ru-RU">
              <a:solidFill>
                <a:prstClr val="black">
                  <a:tint val="75000"/>
                </a:prstClr>
              </a:solidFill>
            </a:endParaRPr>
          </a:p>
        </p:txBody>
      </p:sp>
    </p:spTree>
    <p:extLst>
      <p:ext uri="{BB962C8B-B14F-4D97-AF65-F5344CB8AC3E}">
        <p14:creationId xmlns:p14="http://schemas.microsoft.com/office/powerpoint/2010/main" val="3251637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066188" y="0"/>
            <a:ext cx="5641832" cy="524107"/>
          </a:xfrm>
        </p:spPr>
        <p:txBody>
          <a:bodyPr>
            <a:normAutofit fontScale="90000"/>
          </a:bodyPr>
          <a:lstStyle/>
          <a:p>
            <a:r>
              <a:rPr lang="ru-RU" sz="3200" dirty="0">
                <a:solidFill>
                  <a:srgbClr val="FF0000"/>
                </a:solidFill>
              </a:rPr>
              <a:t>Примеры триггеров 1/2</a:t>
            </a:r>
          </a:p>
        </p:txBody>
      </p:sp>
      <p:sp>
        <p:nvSpPr>
          <p:cNvPr id="3" name="Объект 2"/>
          <p:cNvSpPr>
            <a:spLocks noGrp="1"/>
          </p:cNvSpPr>
          <p:nvPr>
            <p:ph idx="1"/>
          </p:nvPr>
        </p:nvSpPr>
        <p:spPr>
          <a:xfrm>
            <a:off x="223024" y="524107"/>
            <a:ext cx="8831766" cy="6333893"/>
          </a:xfrm>
          <a:ln>
            <a:solidFill>
              <a:schemeClr val="accent1"/>
            </a:solidFill>
          </a:ln>
        </p:spPr>
        <p:txBody>
          <a:bodyPr>
            <a:noAutofit/>
          </a:bodyPr>
          <a:lstStyle/>
          <a:p>
            <a:pPr marL="0" indent="0">
              <a:lnSpc>
                <a:spcPct val="60000"/>
              </a:lnSpc>
              <a:buNone/>
            </a:pPr>
            <a:r>
              <a:rPr lang="ru-RU" sz="2000" u="sng" dirty="0"/>
              <a:t>Создаём таблицу:</a:t>
            </a:r>
          </a:p>
          <a:p>
            <a:pPr marL="0" indent="0">
              <a:lnSpc>
                <a:spcPct val="60000"/>
              </a:lnSpc>
              <a:buNone/>
            </a:pPr>
            <a:r>
              <a:rPr lang="en-US" sz="2000" dirty="0"/>
              <a:t>CREATE TABLE orders (</a:t>
            </a:r>
            <a:r>
              <a:rPr lang="en-US" sz="2000" dirty="0" err="1"/>
              <a:t>order_id</a:t>
            </a:r>
            <a:r>
              <a:rPr lang="en-US" sz="2000" dirty="0"/>
              <a:t> number(5),</a:t>
            </a:r>
          </a:p>
          <a:p>
            <a:pPr marL="0" indent="0">
              <a:lnSpc>
                <a:spcPct val="60000"/>
              </a:lnSpc>
              <a:buNone/>
            </a:pPr>
            <a:r>
              <a:rPr lang="en-US" sz="2000" dirty="0"/>
              <a:t>  quantity number(4),</a:t>
            </a:r>
          </a:p>
          <a:p>
            <a:pPr marL="0" indent="0">
              <a:lnSpc>
                <a:spcPct val="60000"/>
              </a:lnSpc>
              <a:buNone/>
            </a:pPr>
            <a:r>
              <a:rPr lang="en-US" sz="2000" dirty="0"/>
              <a:t>  </a:t>
            </a:r>
            <a:r>
              <a:rPr lang="en-US" sz="2000" dirty="0" err="1"/>
              <a:t>cost_per_item</a:t>
            </a:r>
            <a:r>
              <a:rPr lang="en-US" sz="2000" dirty="0"/>
              <a:t> number(6,2),</a:t>
            </a:r>
          </a:p>
          <a:p>
            <a:pPr marL="0" indent="0">
              <a:lnSpc>
                <a:spcPct val="60000"/>
              </a:lnSpc>
              <a:buNone/>
            </a:pPr>
            <a:r>
              <a:rPr lang="en-US" sz="2000" dirty="0"/>
              <a:t>  </a:t>
            </a:r>
            <a:r>
              <a:rPr lang="en-US" sz="2000" dirty="0" err="1"/>
              <a:t>total_cost</a:t>
            </a:r>
            <a:r>
              <a:rPr lang="en-US" sz="2000" dirty="0"/>
              <a:t> number(8,2),</a:t>
            </a:r>
          </a:p>
          <a:p>
            <a:pPr marL="0" indent="0">
              <a:lnSpc>
                <a:spcPct val="60000"/>
              </a:lnSpc>
              <a:buNone/>
            </a:pPr>
            <a:r>
              <a:rPr lang="en-US" sz="2000" dirty="0"/>
              <a:t>  </a:t>
            </a:r>
            <a:r>
              <a:rPr lang="en-US" sz="2000" dirty="0" err="1"/>
              <a:t>create_date</a:t>
            </a:r>
            <a:r>
              <a:rPr lang="en-US" sz="2000" dirty="0"/>
              <a:t> date,</a:t>
            </a:r>
          </a:p>
          <a:p>
            <a:pPr marL="0" indent="0">
              <a:lnSpc>
                <a:spcPct val="60000"/>
              </a:lnSpc>
              <a:buNone/>
            </a:pPr>
            <a:r>
              <a:rPr lang="en-US" sz="2000" dirty="0"/>
              <a:t>  </a:t>
            </a:r>
            <a:r>
              <a:rPr lang="en-US" sz="2000" dirty="0" err="1"/>
              <a:t>created_by</a:t>
            </a:r>
            <a:r>
              <a:rPr lang="en-US" sz="2000" dirty="0"/>
              <a:t> varchar2(10)</a:t>
            </a:r>
          </a:p>
          <a:p>
            <a:pPr marL="0" indent="0">
              <a:lnSpc>
                <a:spcPct val="60000"/>
              </a:lnSpc>
              <a:buNone/>
            </a:pPr>
            <a:r>
              <a:rPr lang="en-US" sz="2000" dirty="0"/>
              <a:t>);</a:t>
            </a:r>
          </a:p>
          <a:p>
            <a:pPr marL="0" indent="0">
              <a:lnSpc>
                <a:spcPct val="60000"/>
              </a:lnSpc>
              <a:buNone/>
            </a:pPr>
            <a:endParaRPr lang="en-US" sz="2000" dirty="0"/>
          </a:p>
          <a:p>
            <a:pPr marL="0" indent="0">
              <a:lnSpc>
                <a:spcPct val="60000"/>
              </a:lnSpc>
              <a:buNone/>
            </a:pPr>
            <a:r>
              <a:rPr lang="ru-RU" sz="2000" u="sng" dirty="0"/>
              <a:t>Создаём триггер:</a:t>
            </a:r>
          </a:p>
          <a:p>
            <a:pPr marL="0" indent="0">
              <a:lnSpc>
                <a:spcPct val="60000"/>
              </a:lnSpc>
              <a:buNone/>
            </a:pPr>
            <a:r>
              <a:rPr lang="en-US" sz="2000" dirty="0"/>
              <a:t>CREATE OR REPLACE TRIGGER </a:t>
            </a:r>
            <a:r>
              <a:rPr lang="en-US" sz="2000" dirty="0" err="1"/>
              <a:t>orders_before_insert</a:t>
            </a:r>
            <a:endParaRPr lang="en-US" sz="2000" dirty="0"/>
          </a:p>
          <a:p>
            <a:pPr marL="0" indent="0">
              <a:lnSpc>
                <a:spcPct val="60000"/>
              </a:lnSpc>
              <a:buNone/>
            </a:pPr>
            <a:r>
              <a:rPr lang="en-US" sz="2000" dirty="0"/>
              <a:t>BEFORE INSERT</a:t>
            </a:r>
          </a:p>
          <a:p>
            <a:pPr marL="0" indent="0">
              <a:lnSpc>
                <a:spcPct val="60000"/>
              </a:lnSpc>
              <a:buNone/>
            </a:pPr>
            <a:r>
              <a:rPr lang="en-US" sz="2000" dirty="0"/>
              <a:t>   ON orders</a:t>
            </a:r>
          </a:p>
          <a:p>
            <a:pPr marL="0" indent="0">
              <a:lnSpc>
                <a:spcPct val="60000"/>
              </a:lnSpc>
              <a:buNone/>
            </a:pPr>
            <a:r>
              <a:rPr lang="en-US" sz="2000" dirty="0"/>
              <a:t>   FOR EACH ROW   </a:t>
            </a:r>
          </a:p>
          <a:p>
            <a:pPr marL="0" indent="0">
              <a:lnSpc>
                <a:spcPct val="60000"/>
              </a:lnSpc>
              <a:buNone/>
            </a:pPr>
            <a:r>
              <a:rPr lang="en-US" sz="2000" dirty="0"/>
              <a:t>DECLARE</a:t>
            </a:r>
          </a:p>
          <a:p>
            <a:pPr marL="0" indent="0">
              <a:lnSpc>
                <a:spcPct val="60000"/>
              </a:lnSpc>
              <a:buNone/>
            </a:pPr>
            <a:r>
              <a:rPr lang="en-US" sz="2000" dirty="0"/>
              <a:t>   </a:t>
            </a:r>
            <a:r>
              <a:rPr lang="en-US" sz="2000" dirty="0" err="1"/>
              <a:t>v_username</a:t>
            </a:r>
            <a:r>
              <a:rPr lang="en-US" sz="2000" dirty="0"/>
              <a:t> varchar2(10);   </a:t>
            </a:r>
          </a:p>
          <a:p>
            <a:pPr marL="0" indent="0">
              <a:lnSpc>
                <a:spcPct val="60000"/>
              </a:lnSpc>
              <a:buNone/>
            </a:pPr>
            <a:r>
              <a:rPr lang="en-US" sz="2000" dirty="0"/>
              <a:t>BEGIN</a:t>
            </a:r>
          </a:p>
          <a:p>
            <a:pPr marL="0" indent="0">
              <a:lnSpc>
                <a:spcPct val="60000"/>
              </a:lnSpc>
              <a:buNone/>
            </a:pPr>
            <a:r>
              <a:rPr lang="en-US" sz="2000" dirty="0"/>
              <a:t>   -- </a:t>
            </a:r>
            <a:r>
              <a:rPr lang="ru-RU" sz="2000" dirty="0"/>
              <a:t>Найти персону </a:t>
            </a:r>
            <a:r>
              <a:rPr lang="en-US" sz="2000" dirty="0"/>
              <a:t>username, </a:t>
            </a:r>
            <a:r>
              <a:rPr lang="ru-RU" sz="2000" dirty="0"/>
              <a:t>осуществляющую </a:t>
            </a:r>
            <a:r>
              <a:rPr lang="en-US" sz="2000" dirty="0"/>
              <a:t>INSERT </a:t>
            </a:r>
            <a:r>
              <a:rPr lang="ru-RU" sz="2000" dirty="0"/>
              <a:t>в таблицу</a:t>
            </a:r>
          </a:p>
          <a:p>
            <a:pPr marL="0" indent="0">
              <a:lnSpc>
                <a:spcPct val="60000"/>
              </a:lnSpc>
              <a:buNone/>
            </a:pPr>
            <a:r>
              <a:rPr lang="ru-RU" sz="2000" dirty="0"/>
              <a:t>   </a:t>
            </a:r>
            <a:r>
              <a:rPr lang="en-US" sz="2000" dirty="0"/>
              <a:t>SELECT user INTO </a:t>
            </a:r>
            <a:r>
              <a:rPr lang="en-US" sz="2000" dirty="0" err="1"/>
              <a:t>v_username</a:t>
            </a:r>
            <a:endParaRPr lang="en-US" sz="2000" dirty="0"/>
          </a:p>
          <a:p>
            <a:pPr marL="0" indent="0">
              <a:lnSpc>
                <a:spcPct val="60000"/>
              </a:lnSpc>
              <a:buNone/>
            </a:pPr>
            <a:r>
              <a:rPr lang="en-US" sz="2000" dirty="0"/>
              <a:t>   FROM dual;   </a:t>
            </a:r>
          </a:p>
          <a:p>
            <a:pPr marL="0" indent="0">
              <a:lnSpc>
                <a:spcPct val="60000"/>
              </a:lnSpc>
              <a:buNone/>
            </a:pPr>
            <a:r>
              <a:rPr lang="en-US" sz="2000" dirty="0"/>
              <a:t>   -- </a:t>
            </a:r>
            <a:r>
              <a:rPr lang="ru-RU" sz="2000" dirty="0"/>
              <a:t>обновить поле </a:t>
            </a:r>
            <a:r>
              <a:rPr lang="en-US" sz="2000" dirty="0" err="1"/>
              <a:t>create_date</a:t>
            </a:r>
            <a:r>
              <a:rPr lang="en-US" sz="2000" dirty="0"/>
              <a:t> </a:t>
            </a:r>
            <a:r>
              <a:rPr lang="ru-RU" sz="2000" dirty="0"/>
              <a:t>на текущую системную дату</a:t>
            </a:r>
          </a:p>
          <a:p>
            <a:pPr marL="0" indent="0">
              <a:lnSpc>
                <a:spcPct val="60000"/>
              </a:lnSpc>
              <a:buNone/>
            </a:pPr>
            <a:r>
              <a:rPr lang="ru-RU" sz="2000" dirty="0"/>
              <a:t>   :</a:t>
            </a:r>
            <a:r>
              <a:rPr lang="en-US" sz="2000" dirty="0" err="1"/>
              <a:t>new.create_date</a:t>
            </a:r>
            <a:r>
              <a:rPr lang="en-US" sz="2000" dirty="0"/>
              <a:t> := </a:t>
            </a:r>
            <a:r>
              <a:rPr lang="en-US" sz="2000" dirty="0" err="1"/>
              <a:t>sysdate</a:t>
            </a:r>
            <a:r>
              <a:rPr lang="en-US" sz="2000" dirty="0"/>
              <a:t>;   </a:t>
            </a:r>
          </a:p>
          <a:p>
            <a:pPr marL="0" indent="0">
              <a:lnSpc>
                <a:spcPct val="60000"/>
              </a:lnSpc>
              <a:buNone/>
            </a:pPr>
            <a:r>
              <a:rPr lang="en-US" sz="2000" dirty="0"/>
              <a:t>   -- </a:t>
            </a:r>
            <a:r>
              <a:rPr lang="ru-RU" sz="2000" dirty="0"/>
              <a:t>обновить поле </a:t>
            </a:r>
            <a:r>
              <a:rPr lang="en-US" sz="2000" dirty="0" err="1"/>
              <a:t>created_by</a:t>
            </a:r>
            <a:r>
              <a:rPr lang="en-US" sz="2000" dirty="0"/>
              <a:t> </a:t>
            </a:r>
            <a:r>
              <a:rPr lang="ru-RU" sz="2000" dirty="0"/>
              <a:t>на персону </a:t>
            </a:r>
            <a:r>
              <a:rPr lang="en-US" sz="2000" dirty="0"/>
              <a:t>username </a:t>
            </a:r>
            <a:r>
              <a:rPr lang="ru-RU" sz="2000" dirty="0"/>
              <a:t>осуществившую </a:t>
            </a:r>
            <a:r>
              <a:rPr lang="en-US" sz="2000" dirty="0"/>
              <a:t>INSERT</a:t>
            </a:r>
          </a:p>
          <a:p>
            <a:pPr marL="0" indent="0">
              <a:lnSpc>
                <a:spcPct val="60000"/>
              </a:lnSpc>
              <a:buNone/>
            </a:pPr>
            <a:r>
              <a:rPr lang="en-US" sz="2000" dirty="0"/>
              <a:t>   :</a:t>
            </a:r>
            <a:r>
              <a:rPr lang="en-US" sz="2000" dirty="0" err="1"/>
              <a:t>new.created_by</a:t>
            </a:r>
            <a:r>
              <a:rPr lang="en-US" sz="2000" dirty="0"/>
              <a:t> := </a:t>
            </a:r>
            <a:r>
              <a:rPr lang="en-US" sz="2000" dirty="0" err="1"/>
              <a:t>v_username</a:t>
            </a:r>
            <a:r>
              <a:rPr lang="en-US" sz="2000" dirty="0"/>
              <a:t>;   </a:t>
            </a:r>
          </a:p>
          <a:p>
            <a:pPr marL="0" indent="0">
              <a:lnSpc>
                <a:spcPct val="60000"/>
              </a:lnSpc>
              <a:buNone/>
            </a:pPr>
            <a:r>
              <a:rPr lang="en-US" sz="2000" dirty="0"/>
              <a:t>END;</a:t>
            </a:r>
            <a:endParaRPr lang="ru-RU" sz="2000" dirty="0"/>
          </a:p>
        </p:txBody>
      </p:sp>
      <p:pic>
        <p:nvPicPr>
          <p:cNvPr id="4" name="Рисунок 3"/>
          <p:cNvPicPr>
            <a:picLocks noChangeAspect="1"/>
          </p:cNvPicPr>
          <p:nvPr/>
        </p:nvPicPr>
        <p:blipFill>
          <a:blip r:embed="rId2"/>
          <a:stretch>
            <a:fillRect/>
          </a:stretch>
        </p:blipFill>
        <p:spPr>
          <a:xfrm>
            <a:off x="5788989" y="1639891"/>
            <a:ext cx="6531601" cy="2851271"/>
          </a:xfrm>
          <a:prstGeom prst="rect">
            <a:avLst/>
          </a:prstGeom>
        </p:spPr>
      </p:pic>
      <p:sp>
        <p:nvSpPr>
          <p:cNvPr id="5" name="Прямоугольник 4"/>
          <p:cNvSpPr/>
          <p:nvPr/>
        </p:nvSpPr>
        <p:spPr>
          <a:xfrm>
            <a:off x="5675144" y="1167011"/>
            <a:ext cx="6065752" cy="421654"/>
          </a:xfrm>
          <a:prstGeom prst="rect">
            <a:avLst/>
          </a:prstGeom>
          <a:solidFill>
            <a:schemeClr val="bg1"/>
          </a:solidFill>
        </p:spPr>
        <p:txBody>
          <a:bodyPr wrap="square">
            <a:spAutoFit/>
          </a:bodyPr>
          <a:lstStyle/>
          <a:p>
            <a:pPr>
              <a:lnSpc>
                <a:spcPct val="107000"/>
              </a:lnSpc>
              <a:spcAft>
                <a:spcPts val="800"/>
              </a:spcAft>
            </a:pPr>
            <a:r>
              <a:rPr lang="ru-RU" sz="2000" u="sng" dirty="0">
                <a:latin typeface="Calibri" panose="020F0502020204030204" pitchFamily="34" charset="0"/>
                <a:ea typeface="Calibri" panose="020F0502020204030204" pitchFamily="34" charset="0"/>
                <a:cs typeface="Times New Roman" panose="02020603050405020304" pitchFamily="18" charset="0"/>
              </a:rPr>
              <a:t>Теперь вставляем строку</a:t>
            </a:r>
            <a:r>
              <a:rPr lang="en-US" sz="2000" u="sng" dirty="0">
                <a:latin typeface="Calibri" panose="020F0502020204030204" pitchFamily="34" charset="0"/>
                <a:ea typeface="Calibri" panose="020F0502020204030204" pitchFamily="34" charset="0"/>
                <a:cs typeface="Times New Roman" panose="02020603050405020304" pitchFamily="18" charset="0"/>
              </a:rPr>
              <a:t> </a:t>
            </a:r>
            <a:r>
              <a:rPr lang="ru-RU" sz="2000" u="sng" dirty="0">
                <a:latin typeface="Calibri" panose="020F0502020204030204" pitchFamily="34" charset="0"/>
                <a:ea typeface="Calibri" panose="020F0502020204030204" pitchFamily="34" charset="0"/>
                <a:cs typeface="Times New Roman" panose="02020603050405020304" pitchFamily="18" charset="0"/>
              </a:rPr>
              <a:t>и смотрим, что получилось</a:t>
            </a:r>
            <a:r>
              <a:rPr lang="ru-RU" dirty="0">
                <a:latin typeface="Calibri" panose="020F0502020204030204" pitchFamily="34" charset="0"/>
                <a:ea typeface="Calibri" panose="020F0502020204030204" pitchFamily="34" charset="0"/>
                <a:cs typeface="Times New Roman" panose="02020603050405020304" pitchFamily="18" charset="0"/>
              </a:rPr>
              <a:t>:</a:t>
            </a:r>
            <a:endParaRPr lang="ru-RU"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Номер слайда 5"/>
          <p:cNvSpPr>
            <a:spLocks noGrp="1"/>
          </p:cNvSpPr>
          <p:nvPr>
            <p:ph type="sldNum" sz="quarter" idx="12"/>
          </p:nvPr>
        </p:nvSpPr>
        <p:spPr/>
        <p:txBody>
          <a:bodyPr/>
          <a:lstStyle/>
          <a:p>
            <a:fld id="{F6897B34-D6E2-4952-A4EE-BEF9CE40CFF9}" type="slidenum">
              <a:rPr lang="ru-RU" smtClean="0">
                <a:solidFill>
                  <a:prstClr val="black">
                    <a:tint val="75000"/>
                  </a:prstClr>
                </a:solidFill>
              </a:rPr>
              <a:pPr/>
              <a:t>40</a:t>
            </a:fld>
            <a:endParaRPr lang="ru-RU">
              <a:solidFill>
                <a:prstClr val="black">
                  <a:tint val="75000"/>
                </a:prstClr>
              </a:solidFill>
            </a:endParaRPr>
          </a:p>
        </p:txBody>
      </p:sp>
    </p:spTree>
    <p:extLst>
      <p:ext uri="{BB962C8B-B14F-4D97-AF65-F5344CB8AC3E}">
        <p14:creationId xmlns:p14="http://schemas.microsoft.com/office/powerpoint/2010/main" val="12831814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14456" y="359131"/>
            <a:ext cx="4249237" cy="685800"/>
          </a:xfrm>
        </p:spPr>
        <p:txBody>
          <a:bodyPr>
            <a:normAutofit/>
          </a:bodyPr>
          <a:lstStyle/>
          <a:p>
            <a:r>
              <a:rPr lang="ru-RU" sz="3200" dirty="0">
                <a:solidFill>
                  <a:srgbClr val="FF0000"/>
                </a:solidFill>
              </a:rPr>
              <a:t>Примеры триггеров2/2</a:t>
            </a:r>
          </a:p>
        </p:txBody>
      </p:sp>
      <p:sp>
        <p:nvSpPr>
          <p:cNvPr id="3" name="Объект 2"/>
          <p:cNvSpPr>
            <a:spLocks noGrp="1"/>
          </p:cNvSpPr>
          <p:nvPr>
            <p:ph idx="1"/>
          </p:nvPr>
        </p:nvSpPr>
        <p:spPr>
          <a:xfrm>
            <a:off x="643054" y="1170878"/>
            <a:ext cx="10898459" cy="5687122"/>
          </a:xfrm>
        </p:spPr>
        <p:txBody>
          <a:bodyPr>
            <a:normAutofit/>
          </a:bodyPr>
          <a:lstStyle/>
          <a:p>
            <a:pPr marL="0" indent="0">
              <a:lnSpc>
                <a:spcPct val="60000"/>
              </a:lnSpc>
              <a:buNone/>
            </a:pPr>
            <a:r>
              <a:rPr lang="ru-RU" sz="2000" u="sng" dirty="0"/>
              <a:t>Пример 1</a:t>
            </a:r>
            <a:r>
              <a:rPr lang="ru-RU" sz="2000" dirty="0"/>
              <a:t>: Простой триггер использующий </a:t>
            </a:r>
            <a:endParaRPr lang="en-US" sz="2000" dirty="0"/>
          </a:p>
          <a:p>
            <a:pPr marL="0" indent="0">
              <a:lnSpc>
                <a:spcPct val="60000"/>
              </a:lnSpc>
              <a:buNone/>
            </a:pPr>
            <a:r>
              <a:rPr lang="ru-RU" sz="2000" dirty="0"/>
              <a:t>исключительную ситуацию пользователя</a:t>
            </a:r>
          </a:p>
          <a:p>
            <a:pPr marL="0" indent="0">
              <a:lnSpc>
                <a:spcPct val="60000"/>
              </a:lnSpc>
              <a:buNone/>
            </a:pPr>
            <a:endParaRPr lang="ru-RU" sz="2000" dirty="0"/>
          </a:p>
          <a:p>
            <a:pPr marL="0" indent="0">
              <a:lnSpc>
                <a:spcPct val="60000"/>
              </a:lnSpc>
              <a:buNone/>
            </a:pPr>
            <a:r>
              <a:rPr lang="en-US" sz="2000" dirty="0"/>
              <a:t>CREATE OR REPLACE TRIGGER </a:t>
            </a:r>
            <a:r>
              <a:rPr lang="en-US" sz="2000" dirty="0" err="1"/>
              <a:t>check_emp</a:t>
            </a:r>
            <a:endParaRPr lang="en-US" sz="2000" dirty="0"/>
          </a:p>
          <a:p>
            <a:pPr marL="0" indent="0">
              <a:lnSpc>
                <a:spcPct val="60000"/>
              </a:lnSpc>
              <a:buNone/>
            </a:pPr>
            <a:r>
              <a:rPr lang="en-US" sz="2000" dirty="0"/>
              <a:t>BEFORE UPDATE ON </a:t>
            </a:r>
            <a:r>
              <a:rPr lang="en-US" sz="2000" dirty="0" err="1"/>
              <a:t>emp</a:t>
            </a:r>
            <a:endParaRPr lang="en-US" sz="2000" dirty="0"/>
          </a:p>
          <a:p>
            <a:pPr marL="0" indent="0">
              <a:lnSpc>
                <a:spcPct val="60000"/>
              </a:lnSpc>
              <a:buNone/>
            </a:pPr>
            <a:r>
              <a:rPr lang="en-US" sz="2000" dirty="0"/>
              <a:t>FOR EACH ROW</a:t>
            </a:r>
          </a:p>
          <a:p>
            <a:pPr marL="0" indent="0">
              <a:lnSpc>
                <a:spcPct val="60000"/>
              </a:lnSpc>
              <a:buNone/>
            </a:pPr>
            <a:r>
              <a:rPr lang="en-US" sz="2000" dirty="0"/>
              <a:t>DECLARE</a:t>
            </a:r>
          </a:p>
          <a:p>
            <a:pPr marL="0" indent="0">
              <a:lnSpc>
                <a:spcPct val="60000"/>
              </a:lnSpc>
              <a:buNone/>
            </a:pPr>
            <a:r>
              <a:rPr lang="en-US" sz="2000" dirty="0"/>
              <a:t>BEGIN</a:t>
            </a:r>
          </a:p>
          <a:p>
            <a:pPr marL="0" indent="0">
              <a:lnSpc>
                <a:spcPct val="60000"/>
              </a:lnSpc>
              <a:buNone/>
            </a:pPr>
            <a:r>
              <a:rPr lang="en-US" sz="2000" dirty="0"/>
              <a:t>IF :</a:t>
            </a:r>
            <a:r>
              <a:rPr lang="en-US" sz="2000" dirty="0" err="1"/>
              <a:t>new.sal</a:t>
            </a:r>
            <a:r>
              <a:rPr lang="en-US" sz="2000" dirty="0"/>
              <a:t> &lt; :</a:t>
            </a:r>
            <a:r>
              <a:rPr lang="en-US" sz="2000" dirty="0" err="1"/>
              <a:t>old.sal</a:t>
            </a:r>
            <a:r>
              <a:rPr lang="en-US" sz="2000" dirty="0"/>
              <a:t> THEN</a:t>
            </a:r>
          </a:p>
          <a:p>
            <a:pPr marL="0" indent="0">
              <a:lnSpc>
                <a:spcPct val="60000"/>
              </a:lnSpc>
              <a:buNone/>
            </a:pPr>
            <a:r>
              <a:rPr lang="en-US" sz="2000" dirty="0"/>
              <a:t>RAISE_APPLICATION_ERROR(-20125,'New salary must be more then old salary');</a:t>
            </a:r>
          </a:p>
          <a:p>
            <a:pPr marL="0" indent="0">
              <a:lnSpc>
                <a:spcPct val="60000"/>
              </a:lnSpc>
              <a:buNone/>
            </a:pPr>
            <a:r>
              <a:rPr lang="en-US" sz="2000" dirty="0"/>
              <a:t>END IF;</a:t>
            </a:r>
          </a:p>
          <a:p>
            <a:pPr marL="0" indent="0">
              <a:lnSpc>
                <a:spcPct val="60000"/>
              </a:lnSpc>
              <a:buNone/>
            </a:pPr>
            <a:r>
              <a:rPr lang="en-US" sz="2000" dirty="0"/>
              <a:t>END </a:t>
            </a:r>
            <a:r>
              <a:rPr lang="en-US" sz="2000" dirty="0" err="1"/>
              <a:t>check_emp</a:t>
            </a:r>
            <a:r>
              <a:rPr lang="en-US" sz="2000" dirty="0"/>
              <a:t>;</a:t>
            </a:r>
          </a:p>
          <a:p>
            <a:pPr marL="0" indent="0">
              <a:lnSpc>
                <a:spcPct val="60000"/>
              </a:lnSpc>
              <a:buNone/>
            </a:pPr>
            <a:endParaRPr lang="ru-RU" sz="2000" dirty="0"/>
          </a:p>
          <a:p>
            <a:pPr marL="0" indent="0">
              <a:lnSpc>
                <a:spcPct val="60000"/>
              </a:lnSpc>
              <a:buNone/>
            </a:pPr>
            <a:r>
              <a:rPr lang="ru-RU" sz="2000" u="sng" dirty="0"/>
              <a:t>Пример 2</a:t>
            </a:r>
            <a:r>
              <a:rPr lang="ru-RU" sz="2000" dirty="0"/>
              <a:t>: Триггер реагирующий на три события по-разному</a:t>
            </a:r>
          </a:p>
          <a:p>
            <a:pPr marL="0" indent="0">
              <a:lnSpc>
                <a:spcPct val="60000"/>
              </a:lnSpc>
              <a:buNone/>
            </a:pPr>
            <a:r>
              <a:rPr lang="en-US" sz="2000" dirty="0"/>
              <a:t>CREATE OR REPLACE TRIGGER t   </a:t>
            </a:r>
            <a:endParaRPr lang="ru-RU" sz="2000" dirty="0"/>
          </a:p>
          <a:p>
            <a:pPr marL="0" indent="0">
              <a:lnSpc>
                <a:spcPct val="60000"/>
              </a:lnSpc>
              <a:buNone/>
            </a:pPr>
            <a:r>
              <a:rPr lang="en-US" sz="2000" dirty="0"/>
              <a:t>BEFORE INSERT OR UPDATE OF salary, </a:t>
            </a:r>
            <a:r>
              <a:rPr lang="en-US" sz="2000" dirty="0" err="1"/>
              <a:t>department_id</a:t>
            </a:r>
            <a:r>
              <a:rPr lang="en-US" sz="2000" dirty="0"/>
              <a:t> OR</a:t>
            </a:r>
            <a:r>
              <a:rPr lang="ru-RU" sz="2000" dirty="0"/>
              <a:t> </a:t>
            </a:r>
            <a:r>
              <a:rPr lang="en-US" sz="2000" dirty="0"/>
              <a:t>DELETE ON employees</a:t>
            </a:r>
            <a:endParaRPr lang="ru-RU" sz="2000" dirty="0"/>
          </a:p>
          <a:p>
            <a:pPr marL="0" indent="0">
              <a:lnSpc>
                <a:spcPct val="60000"/>
              </a:lnSpc>
              <a:buNone/>
            </a:pPr>
            <a:r>
              <a:rPr lang="en-US" sz="2000" dirty="0"/>
              <a:t>BEGIN</a:t>
            </a:r>
            <a:endParaRPr lang="ru-RU" sz="2000" dirty="0"/>
          </a:p>
          <a:p>
            <a:pPr marL="0" indent="0">
              <a:lnSpc>
                <a:spcPct val="60000"/>
              </a:lnSpc>
              <a:buNone/>
            </a:pPr>
            <a:r>
              <a:rPr lang="en-US" sz="2000" dirty="0"/>
              <a:t>   CASE WHEN INSERTING THEN DBMS_OUTPUT.PUT_LINE('Inserting'); </a:t>
            </a:r>
            <a:endParaRPr lang="ru-RU" sz="2000" dirty="0"/>
          </a:p>
          <a:p>
            <a:pPr marL="0" indent="0">
              <a:lnSpc>
                <a:spcPct val="60000"/>
              </a:lnSpc>
              <a:buNone/>
            </a:pPr>
            <a:r>
              <a:rPr lang="ru-RU" sz="2000" dirty="0"/>
              <a:t>         </a:t>
            </a:r>
            <a:r>
              <a:rPr lang="en-US" sz="2000" dirty="0"/>
              <a:t>    WHEN UPDATING('salary') THEN DBMS_OUTPUT.PUT_LINE('Updating salary');</a:t>
            </a:r>
            <a:endParaRPr lang="ru-RU" sz="2000" dirty="0"/>
          </a:p>
          <a:p>
            <a:pPr marL="0" indent="0">
              <a:lnSpc>
                <a:spcPct val="60000"/>
              </a:lnSpc>
              <a:buNone/>
            </a:pPr>
            <a:r>
              <a:rPr lang="ru-RU" sz="2000" dirty="0"/>
              <a:t>        </a:t>
            </a:r>
            <a:r>
              <a:rPr lang="en-US" sz="2000" dirty="0"/>
              <a:t>     WHEN UPDATING('</a:t>
            </a:r>
            <a:r>
              <a:rPr lang="en-US" sz="2000" dirty="0" err="1"/>
              <a:t>department_id</a:t>
            </a:r>
            <a:r>
              <a:rPr lang="en-US" sz="2000" dirty="0"/>
              <a:t>') THEN DBMS_OUTPUT.PUT_LINE('Updating department ID');     </a:t>
            </a:r>
            <a:r>
              <a:rPr lang="ru-RU" sz="2000" dirty="0"/>
              <a:t>   </a:t>
            </a:r>
          </a:p>
          <a:p>
            <a:pPr marL="0" indent="0">
              <a:lnSpc>
                <a:spcPct val="60000"/>
              </a:lnSpc>
              <a:buNone/>
            </a:pPr>
            <a:r>
              <a:rPr lang="ru-RU" sz="2000" dirty="0"/>
              <a:t>             </a:t>
            </a:r>
            <a:r>
              <a:rPr lang="en-US" sz="2000" dirty="0"/>
              <a:t>WHEN DELETING THEN DBMS_OUTPUT.PUT_LINE('Deleting');</a:t>
            </a:r>
            <a:endParaRPr lang="ru-RU" sz="2000" dirty="0"/>
          </a:p>
          <a:p>
            <a:pPr marL="0" indent="0">
              <a:lnSpc>
                <a:spcPct val="60000"/>
              </a:lnSpc>
              <a:buNone/>
            </a:pPr>
            <a:r>
              <a:rPr lang="en-US" sz="2000" dirty="0"/>
              <a:t>END CASE; </a:t>
            </a:r>
            <a:endParaRPr lang="ru-RU" sz="2000" dirty="0"/>
          </a:p>
          <a:p>
            <a:pPr marL="0" indent="0">
              <a:lnSpc>
                <a:spcPct val="60000"/>
              </a:lnSpc>
              <a:buNone/>
            </a:pPr>
            <a:r>
              <a:rPr lang="en-US" sz="2000" dirty="0"/>
              <a:t>END; </a:t>
            </a:r>
            <a:endParaRPr lang="ru-RU" sz="2000" dirty="0"/>
          </a:p>
        </p:txBody>
      </p:sp>
      <p:pic>
        <p:nvPicPr>
          <p:cNvPr id="7" name="Рисунок 6"/>
          <p:cNvPicPr>
            <a:picLocks noChangeAspect="1"/>
          </p:cNvPicPr>
          <p:nvPr/>
        </p:nvPicPr>
        <p:blipFill>
          <a:blip r:embed="rId2"/>
          <a:stretch>
            <a:fillRect/>
          </a:stretch>
        </p:blipFill>
        <p:spPr>
          <a:xfrm>
            <a:off x="5383251" y="691376"/>
            <a:ext cx="6767952" cy="2453268"/>
          </a:xfrm>
          <a:prstGeom prst="rect">
            <a:avLst/>
          </a:prstGeom>
        </p:spPr>
      </p:pic>
      <p:sp>
        <p:nvSpPr>
          <p:cNvPr id="6" name="Прямоугольник 5"/>
          <p:cNvSpPr/>
          <p:nvPr/>
        </p:nvSpPr>
        <p:spPr>
          <a:xfrm>
            <a:off x="6491155" y="359131"/>
            <a:ext cx="2276072" cy="421654"/>
          </a:xfrm>
          <a:prstGeom prst="rect">
            <a:avLst/>
          </a:prstGeom>
        </p:spPr>
        <p:txBody>
          <a:bodyPr wrap="none">
            <a:spAutoFit/>
          </a:bodyPr>
          <a:lstStyle/>
          <a:p>
            <a:pPr>
              <a:lnSpc>
                <a:spcPct val="107000"/>
              </a:lnSpc>
              <a:spcAft>
                <a:spcPts val="800"/>
              </a:spcAft>
            </a:pPr>
            <a:r>
              <a:rPr lang="ru-RU" sz="2000" dirty="0">
                <a:latin typeface="Calibri" panose="020F0502020204030204" pitchFamily="34" charset="0"/>
                <a:ea typeface="Calibri" panose="020F0502020204030204" pitchFamily="34" charset="0"/>
                <a:cs typeface="Times New Roman" panose="02020603050405020304" pitchFamily="18" charset="0"/>
              </a:rPr>
              <a:t>Обновляем строку:</a:t>
            </a:r>
            <a:endParaRPr lang="ru-RU"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41</a:t>
            </a:fld>
            <a:endParaRPr lang="ru-RU">
              <a:solidFill>
                <a:prstClr val="black">
                  <a:tint val="75000"/>
                </a:prstClr>
              </a:solidFill>
            </a:endParaRPr>
          </a:p>
        </p:txBody>
      </p:sp>
    </p:spTree>
    <p:extLst>
      <p:ext uri="{BB962C8B-B14F-4D97-AF65-F5344CB8AC3E}">
        <p14:creationId xmlns:p14="http://schemas.microsoft.com/office/powerpoint/2010/main" val="20570764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836341"/>
          </a:xfrm>
        </p:spPr>
        <p:txBody>
          <a:bodyPr>
            <a:normAutofit/>
          </a:bodyPr>
          <a:lstStyle/>
          <a:p>
            <a:r>
              <a:rPr lang="ru-RU" sz="3200" dirty="0">
                <a:solidFill>
                  <a:srgbClr val="FF0000"/>
                </a:solidFill>
              </a:rPr>
              <a:t>Пример триггера на системное событие</a:t>
            </a:r>
          </a:p>
        </p:txBody>
      </p:sp>
      <p:sp>
        <p:nvSpPr>
          <p:cNvPr id="3" name="Объект 2"/>
          <p:cNvSpPr>
            <a:spLocks noGrp="1"/>
          </p:cNvSpPr>
          <p:nvPr>
            <p:ph idx="1"/>
          </p:nvPr>
        </p:nvSpPr>
        <p:spPr>
          <a:xfrm>
            <a:off x="932985" y="836341"/>
            <a:ext cx="4408449" cy="6021659"/>
          </a:xfrm>
        </p:spPr>
        <p:txBody>
          <a:bodyPr>
            <a:noAutofit/>
          </a:bodyPr>
          <a:lstStyle/>
          <a:p>
            <a:pPr marL="0" indent="0">
              <a:lnSpc>
                <a:spcPct val="80000"/>
              </a:lnSpc>
              <a:buNone/>
            </a:pPr>
            <a:r>
              <a:rPr lang="en-US" sz="2000" dirty="0"/>
              <a:t>CONNECT sys/</a:t>
            </a:r>
            <a:r>
              <a:rPr lang="en-US" sz="2000" dirty="0" err="1"/>
              <a:t>manag</a:t>
            </a:r>
            <a:r>
              <a:rPr lang="en-US" sz="2000" dirty="0"/>
              <a:t> AS </a:t>
            </a:r>
            <a:r>
              <a:rPr lang="en-US" sz="2000" dirty="0" err="1"/>
              <a:t>sysdba</a:t>
            </a:r>
            <a:endParaRPr lang="en-US" sz="2000" dirty="0"/>
          </a:p>
          <a:p>
            <a:pPr marL="0" indent="0">
              <a:lnSpc>
                <a:spcPct val="80000"/>
              </a:lnSpc>
              <a:buNone/>
            </a:pPr>
            <a:endParaRPr lang="en-US" sz="2000" dirty="0"/>
          </a:p>
          <a:p>
            <a:pPr marL="0" indent="0">
              <a:lnSpc>
                <a:spcPct val="80000"/>
              </a:lnSpc>
              <a:buNone/>
            </a:pPr>
            <a:r>
              <a:rPr lang="en-US" sz="2000" dirty="0"/>
              <a:t>CREATE TABLE </a:t>
            </a:r>
            <a:r>
              <a:rPr lang="en-US" sz="2000" dirty="0" err="1"/>
              <a:t>log_tab</a:t>
            </a:r>
            <a:r>
              <a:rPr lang="en-US" sz="2000" dirty="0"/>
              <a:t> (</a:t>
            </a:r>
          </a:p>
          <a:p>
            <a:pPr marL="0" indent="0">
              <a:lnSpc>
                <a:spcPct val="80000"/>
              </a:lnSpc>
              <a:buNone/>
            </a:pPr>
            <a:r>
              <a:rPr lang="en-US" sz="2000" dirty="0"/>
              <a:t>col1 DATE,</a:t>
            </a:r>
          </a:p>
          <a:p>
            <a:pPr marL="0" indent="0">
              <a:lnSpc>
                <a:spcPct val="80000"/>
              </a:lnSpc>
              <a:buNone/>
            </a:pPr>
            <a:r>
              <a:rPr lang="en-US" sz="2000" dirty="0"/>
              <a:t>col2 VARCHAR2(20));</a:t>
            </a:r>
          </a:p>
          <a:p>
            <a:pPr marL="0" indent="0">
              <a:lnSpc>
                <a:spcPct val="80000"/>
              </a:lnSpc>
              <a:buNone/>
            </a:pPr>
            <a:endParaRPr lang="en-US" sz="2000" dirty="0"/>
          </a:p>
          <a:p>
            <a:pPr marL="0" indent="0">
              <a:lnSpc>
                <a:spcPct val="80000"/>
              </a:lnSpc>
              <a:buNone/>
            </a:pPr>
            <a:r>
              <a:rPr lang="en-US" sz="2000" dirty="0"/>
              <a:t>CREATE OR REPLACE PROCEDURE proc1 IS</a:t>
            </a:r>
          </a:p>
          <a:p>
            <a:pPr marL="0" indent="0">
              <a:lnSpc>
                <a:spcPct val="80000"/>
              </a:lnSpc>
              <a:buNone/>
            </a:pPr>
            <a:r>
              <a:rPr lang="en-US" sz="2000" dirty="0"/>
              <a:t>BEGIN</a:t>
            </a:r>
          </a:p>
          <a:p>
            <a:pPr marL="0" indent="0">
              <a:lnSpc>
                <a:spcPct val="80000"/>
              </a:lnSpc>
              <a:buNone/>
            </a:pPr>
            <a:r>
              <a:rPr lang="en-US" sz="2000" dirty="0"/>
              <a:t>  INSERT INTO </a:t>
            </a:r>
            <a:r>
              <a:rPr lang="en-US" sz="2000" dirty="0" err="1"/>
              <a:t>log_tab</a:t>
            </a:r>
            <a:endParaRPr lang="en-US" sz="2000" dirty="0"/>
          </a:p>
          <a:p>
            <a:pPr marL="0" indent="0">
              <a:lnSpc>
                <a:spcPct val="80000"/>
              </a:lnSpc>
              <a:buNone/>
            </a:pPr>
            <a:r>
              <a:rPr lang="en-US" sz="2000" dirty="0"/>
              <a:t>  (col1, col2)</a:t>
            </a:r>
          </a:p>
          <a:p>
            <a:pPr marL="0" indent="0">
              <a:lnSpc>
                <a:spcPct val="80000"/>
              </a:lnSpc>
              <a:buNone/>
            </a:pPr>
            <a:r>
              <a:rPr lang="en-US" sz="2000" dirty="0"/>
              <a:t>  VALUES</a:t>
            </a:r>
          </a:p>
          <a:p>
            <a:pPr marL="0" indent="0">
              <a:lnSpc>
                <a:spcPct val="80000"/>
              </a:lnSpc>
              <a:buNone/>
            </a:pPr>
            <a:r>
              <a:rPr lang="en-US" sz="2000" dirty="0"/>
              <a:t>  (SYSDATE, USER);</a:t>
            </a:r>
          </a:p>
          <a:p>
            <a:pPr marL="0" indent="0">
              <a:lnSpc>
                <a:spcPct val="80000"/>
              </a:lnSpc>
              <a:buNone/>
            </a:pPr>
            <a:r>
              <a:rPr lang="en-US" sz="2000" dirty="0"/>
              <a:t>END proc1;</a:t>
            </a:r>
          </a:p>
          <a:p>
            <a:pPr marL="0" indent="0">
              <a:lnSpc>
                <a:spcPct val="80000"/>
              </a:lnSpc>
              <a:buNone/>
            </a:pPr>
            <a:r>
              <a:rPr lang="en-US" sz="2000" dirty="0"/>
              <a:t>/</a:t>
            </a:r>
          </a:p>
          <a:p>
            <a:pPr marL="0" indent="0">
              <a:lnSpc>
                <a:spcPct val="80000"/>
              </a:lnSpc>
              <a:buNone/>
            </a:pPr>
            <a:r>
              <a:rPr lang="en-US" sz="2000" dirty="0"/>
              <a:t>CREATE OR REPLACE TRIGGER </a:t>
            </a:r>
            <a:r>
              <a:rPr lang="en-US" sz="2000" dirty="0" err="1"/>
              <a:t>logintrig</a:t>
            </a:r>
            <a:endParaRPr lang="en-US" sz="2000" dirty="0"/>
          </a:p>
          <a:p>
            <a:pPr marL="0" indent="0">
              <a:lnSpc>
                <a:spcPct val="80000"/>
              </a:lnSpc>
              <a:buNone/>
            </a:pPr>
            <a:r>
              <a:rPr lang="en-US" sz="2000" dirty="0"/>
              <a:t>AFTER LOGON ON DATABASE</a:t>
            </a:r>
          </a:p>
          <a:p>
            <a:pPr marL="0" indent="0">
              <a:lnSpc>
                <a:spcPct val="80000"/>
              </a:lnSpc>
              <a:buNone/>
            </a:pPr>
            <a:r>
              <a:rPr lang="en-US" sz="2000" dirty="0"/>
              <a:t>CALL proc1</a:t>
            </a:r>
          </a:p>
          <a:p>
            <a:pPr marL="0" indent="0">
              <a:lnSpc>
                <a:spcPct val="80000"/>
              </a:lnSpc>
              <a:buNone/>
            </a:pPr>
            <a:r>
              <a:rPr lang="en-US" sz="2000" dirty="0"/>
              <a:t>/</a:t>
            </a:r>
            <a:endParaRPr lang="ru-RU" sz="2000" dirty="0"/>
          </a:p>
        </p:txBody>
      </p:sp>
      <p:pic>
        <p:nvPicPr>
          <p:cNvPr id="4" name="Рисунок 3"/>
          <p:cNvPicPr>
            <a:picLocks noChangeAspect="1"/>
          </p:cNvPicPr>
          <p:nvPr/>
        </p:nvPicPr>
        <p:blipFill>
          <a:blip r:embed="rId2"/>
          <a:stretch>
            <a:fillRect/>
          </a:stretch>
        </p:blipFill>
        <p:spPr>
          <a:xfrm>
            <a:off x="6050951" y="702526"/>
            <a:ext cx="5278687" cy="6077415"/>
          </a:xfrm>
          <a:prstGeom prst="rect">
            <a:avLst/>
          </a:prstGeom>
        </p:spPr>
      </p:pic>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42</a:t>
            </a:fld>
            <a:endParaRPr lang="ru-RU">
              <a:solidFill>
                <a:prstClr val="black">
                  <a:tint val="75000"/>
                </a:prstClr>
              </a:solidFill>
            </a:endParaRPr>
          </a:p>
        </p:txBody>
      </p:sp>
    </p:spTree>
    <p:extLst>
      <p:ext uri="{BB962C8B-B14F-4D97-AF65-F5344CB8AC3E}">
        <p14:creationId xmlns:p14="http://schemas.microsoft.com/office/powerpoint/2010/main" val="3196090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z="3200" dirty="0">
                <a:solidFill>
                  <a:srgbClr val="FF0000"/>
                </a:solidFill>
              </a:rPr>
              <a:t>Триггеры </a:t>
            </a:r>
            <a:r>
              <a:rPr lang="en-US" sz="3200" dirty="0">
                <a:solidFill>
                  <a:srgbClr val="FF0000"/>
                </a:solidFill>
              </a:rPr>
              <a:t>INSTEAD OF</a:t>
            </a:r>
            <a:endParaRPr lang="ru-RU" dirty="0"/>
          </a:p>
        </p:txBody>
      </p:sp>
      <p:sp>
        <p:nvSpPr>
          <p:cNvPr id="3" name="Объект 2"/>
          <p:cNvSpPr>
            <a:spLocks noGrp="1"/>
          </p:cNvSpPr>
          <p:nvPr>
            <p:ph idx="1"/>
          </p:nvPr>
        </p:nvSpPr>
        <p:spPr/>
        <p:txBody>
          <a:bodyPr>
            <a:normAutofit/>
          </a:bodyPr>
          <a:lstStyle/>
          <a:p>
            <a:pPr marL="0" indent="0">
              <a:buNone/>
            </a:pPr>
            <a:r>
              <a:rPr lang="ru-RU" sz="2000" dirty="0"/>
              <a:t>     Триггеры INSTEAD OF предоставляют прозрачный способ изменения данных через представления, которые не могут быть обеспечены непосредственно   через инструкции DML (INSERT, UPDATE и DELETE). Эти триггеры называются триггерами INSTEAD OF, поскольку, в отличие от других типов триггеров, </a:t>
            </a:r>
            <a:r>
              <a:rPr lang="ru-RU" sz="2000" dirty="0" err="1"/>
              <a:t>Oracle</a:t>
            </a:r>
            <a:r>
              <a:rPr lang="ru-RU" sz="2000" dirty="0"/>
              <a:t> запускает инструкции DML прописанные в теле триггера вместо непосредственного исполнения инструкции, по которой срабатывает триггер. </a:t>
            </a:r>
          </a:p>
          <a:p>
            <a:pPr marL="0" indent="0">
              <a:buNone/>
            </a:pPr>
            <a:r>
              <a:rPr lang="ru-RU" sz="2000" dirty="0"/>
              <a:t>     Триггеры INSTEAD OF активируются для каждой строки представления, через которое выполняют изменения.</a:t>
            </a:r>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43</a:t>
            </a:fld>
            <a:endParaRPr lang="ru-RU">
              <a:solidFill>
                <a:prstClr val="black">
                  <a:tint val="75000"/>
                </a:prstClr>
              </a:solidFill>
            </a:endParaRPr>
          </a:p>
        </p:txBody>
      </p:sp>
    </p:spTree>
    <p:extLst>
      <p:ext uri="{BB962C8B-B14F-4D97-AF65-F5344CB8AC3E}">
        <p14:creationId xmlns:p14="http://schemas.microsoft.com/office/powerpoint/2010/main" val="4072963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p:cNvPicPr>
            <a:picLocks noChangeAspect="1"/>
          </p:cNvPicPr>
          <p:nvPr/>
        </p:nvPicPr>
        <p:blipFill>
          <a:blip r:embed="rId2"/>
          <a:stretch>
            <a:fillRect/>
          </a:stretch>
        </p:blipFill>
        <p:spPr>
          <a:xfrm>
            <a:off x="827668" y="539995"/>
            <a:ext cx="10323552" cy="6072677"/>
          </a:xfrm>
          <a:prstGeom prst="rect">
            <a:avLst/>
          </a:prstGeom>
        </p:spPr>
      </p:pic>
      <p:sp>
        <p:nvSpPr>
          <p:cNvPr id="2" name="Заголовок 1"/>
          <p:cNvSpPr>
            <a:spLocks noGrp="1"/>
          </p:cNvSpPr>
          <p:nvPr>
            <p:ph type="title"/>
          </p:nvPr>
        </p:nvSpPr>
        <p:spPr>
          <a:xfrm>
            <a:off x="535259" y="41922"/>
            <a:ext cx="10772078" cy="498073"/>
          </a:xfrm>
        </p:spPr>
        <p:txBody>
          <a:bodyPr>
            <a:noAutofit/>
          </a:bodyPr>
          <a:lstStyle/>
          <a:p>
            <a:r>
              <a:rPr lang="ru-RU" sz="3200" dirty="0">
                <a:solidFill>
                  <a:srgbClr val="FF0000"/>
                </a:solidFill>
              </a:rPr>
              <a:t>Триггеры </a:t>
            </a:r>
            <a:r>
              <a:rPr lang="en-US" sz="3200" dirty="0">
                <a:solidFill>
                  <a:srgbClr val="FF0000"/>
                </a:solidFill>
              </a:rPr>
              <a:t>INSTEAD OF. </a:t>
            </a:r>
            <a:r>
              <a:rPr lang="ru-RU" sz="3200" dirty="0">
                <a:solidFill>
                  <a:srgbClr val="FF0000"/>
                </a:solidFill>
              </a:rPr>
              <a:t>Фраза </a:t>
            </a:r>
            <a:r>
              <a:rPr lang="en-US" sz="3200" dirty="0">
                <a:solidFill>
                  <a:srgbClr val="FF0000"/>
                </a:solidFill>
              </a:rPr>
              <a:t>instead</a:t>
            </a:r>
            <a:r>
              <a:rPr lang="ru-RU" sz="3200" dirty="0">
                <a:solidFill>
                  <a:srgbClr val="FF0000"/>
                </a:solidFill>
              </a:rPr>
              <a:t>_</a:t>
            </a:r>
            <a:r>
              <a:rPr lang="en-US" sz="3200" dirty="0">
                <a:solidFill>
                  <a:srgbClr val="FF0000"/>
                </a:solidFill>
              </a:rPr>
              <a:t>of</a:t>
            </a:r>
            <a:r>
              <a:rPr lang="ru-RU" sz="3200" dirty="0">
                <a:solidFill>
                  <a:srgbClr val="FF0000"/>
                </a:solidFill>
              </a:rPr>
              <a:t>_</a:t>
            </a:r>
            <a:r>
              <a:rPr lang="en-US" sz="3200" dirty="0" err="1">
                <a:solidFill>
                  <a:srgbClr val="FF0000"/>
                </a:solidFill>
              </a:rPr>
              <a:t>dml_trigger</a:t>
            </a:r>
            <a:r>
              <a:rPr lang="ru-RU" sz="3200" dirty="0">
                <a:solidFill>
                  <a:srgbClr val="FF0000"/>
                </a:solidFill>
              </a:rPr>
              <a:t> </a:t>
            </a:r>
          </a:p>
        </p:txBody>
      </p:sp>
      <p:sp>
        <p:nvSpPr>
          <p:cNvPr id="6" name="Прямоугольник 5"/>
          <p:cNvSpPr/>
          <p:nvPr/>
        </p:nvSpPr>
        <p:spPr>
          <a:xfrm>
            <a:off x="5441795" y="1184922"/>
            <a:ext cx="6445405" cy="1323439"/>
          </a:xfrm>
          <a:prstGeom prst="rect">
            <a:avLst/>
          </a:prstGeom>
        </p:spPr>
        <p:txBody>
          <a:bodyPr wrap="square">
            <a:spAutoFit/>
          </a:bodyPr>
          <a:lstStyle/>
          <a:p>
            <a:pPr fontAlgn="base">
              <a:buFont typeface="Arial" panose="020B0604020202020204" pitchFamily="34" charset="0"/>
              <a:buChar char="•"/>
            </a:pPr>
            <a:r>
              <a:rPr lang="ru-RU" sz="2000" dirty="0">
                <a:solidFill>
                  <a:srgbClr val="373737"/>
                </a:solidFill>
                <a:latin typeface="inherit"/>
              </a:rPr>
              <a:t> Всегда триггер row </a:t>
            </a:r>
            <a:r>
              <a:rPr lang="ru-RU" sz="2000" dirty="0" err="1">
                <a:solidFill>
                  <a:srgbClr val="373737"/>
                </a:solidFill>
                <a:latin typeface="inherit"/>
              </a:rPr>
              <a:t>level</a:t>
            </a:r>
            <a:endParaRPr lang="ru-RU" sz="2000" dirty="0">
              <a:solidFill>
                <a:srgbClr val="373737"/>
              </a:solidFill>
              <a:latin typeface="inherit"/>
            </a:endParaRPr>
          </a:p>
          <a:p>
            <a:pPr fontAlgn="base">
              <a:buFont typeface="Arial" panose="020B0604020202020204" pitchFamily="34" charset="0"/>
              <a:buChar char="•"/>
            </a:pPr>
            <a:r>
              <a:rPr lang="ru-RU" sz="2000" dirty="0">
                <a:solidFill>
                  <a:srgbClr val="373737"/>
                </a:solidFill>
                <a:latin typeface="inherit"/>
              </a:rPr>
              <a:t> Читает псевдозаписи old и </a:t>
            </a:r>
            <a:r>
              <a:rPr lang="ru-RU" sz="2000" dirty="0" err="1">
                <a:solidFill>
                  <a:srgbClr val="373737"/>
                </a:solidFill>
                <a:latin typeface="inherit"/>
              </a:rPr>
              <a:t>new</a:t>
            </a:r>
            <a:r>
              <a:rPr lang="ru-RU" sz="2000" dirty="0">
                <a:solidFill>
                  <a:srgbClr val="373737"/>
                </a:solidFill>
                <a:latin typeface="inherit"/>
              </a:rPr>
              <a:t>, но не изменяет их</a:t>
            </a:r>
          </a:p>
          <a:p>
            <a:pPr fontAlgn="base">
              <a:buFont typeface="Arial" panose="020B0604020202020204" pitchFamily="34" charset="0"/>
              <a:buChar char="•"/>
            </a:pPr>
            <a:r>
              <a:rPr lang="ru-RU" sz="2000" dirty="0">
                <a:solidFill>
                  <a:srgbClr val="373737"/>
                </a:solidFill>
                <a:latin typeface="inherit"/>
              </a:rPr>
              <a:t> Организует замену </a:t>
            </a:r>
            <a:r>
              <a:rPr lang="ru-RU" sz="2000" dirty="0" err="1">
                <a:solidFill>
                  <a:srgbClr val="373737"/>
                </a:solidFill>
                <a:latin typeface="inherit"/>
              </a:rPr>
              <a:t>dml</a:t>
            </a:r>
            <a:r>
              <a:rPr lang="ru-RU" sz="2000" dirty="0">
                <a:solidFill>
                  <a:srgbClr val="373737"/>
                </a:solidFill>
                <a:latin typeface="inherit"/>
              </a:rPr>
              <a:t>-операции с </a:t>
            </a:r>
            <a:r>
              <a:rPr lang="ru-RU" sz="2000" dirty="0" err="1">
                <a:solidFill>
                  <a:srgbClr val="373737"/>
                </a:solidFill>
                <a:latin typeface="inherit"/>
              </a:rPr>
              <a:t>view</a:t>
            </a:r>
            <a:r>
              <a:rPr lang="ru-RU" sz="2000" dirty="0">
                <a:solidFill>
                  <a:srgbClr val="373737"/>
                </a:solidFill>
                <a:latin typeface="inherit"/>
              </a:rPr>
              <a:t> на </a:t>
            </a:r>
          </a:p>
          <a:p>
            <a:pPr fontAlgn="base"/>
            <a:r>
              <a:rPr lang="ru-RU" sz="2000" dirty="0">
                <a:solidFill>
                  <a:srgbClr val="373737"/>
                </a:solidFill>
                <a:latin typeface="inherit"/>
              </a:rPr>
              <a:t>   операции с таблицами</a:t>
            </a:r>
            <a:endParaRPr lang="ru-RU" sz="2000" b="0" i="0" dirty="0">
              <a:solidFill>
                <a:srgbClr val="373737"/>
              </a:solidFill>
              <a:effectLst/>
              <a:latin typeface="inherit"/>
            </a:endParaRPr>
          </a:p>
        </p:txBody>
      </p:sp>
      <p:sp>
        <p:nvSpPr>
          <p:cNvPr id="3" name="Номер слайда 2"/>
          <p:cNvSpPr>
            <a:spLocks noGrp="1"/>
          </p:cNvSpPr>
          <p:nvPr>
            <p:ph type="sldNum" sz="quarter" idx="12"/>
          </p:nvPr>
        </p:nvSpPr>
        <p:spPr/>
        <p:txBody>
          <a:bodyPr/>
          <a:lstStyle/>
          <a:p>
            <a:fld id="{F6897B34-D6E2-4952-A4EE-BEF9CE40CFF9}" type="slidenum">
              <a:rPr lang="ru-RU" smtClean="0">
                <a:solidFill>
                  <a:prstClr val="black">
                    <a:tint val="75000"/>
                  </a:prstClr>
                </a:solidFill>
              </a:rPr>
              <a:pPr/>
              <a:t>44</a:t>
            </a:fld>
            <a:endParaRPr lang="ru-RU">
              <a:solidFill>
                <a:prstClr val="black">
                  <a:tint val="75000"/>
                </a:prstClr>
              </a:solidFill>
            </a:endParaRPr>
          </a:p>
        </p:txBody>
      </p:sp>
    </p:spTree>
    <p:extLst>
      <p:ext uri="{BB962C8B-B14F-4D97-AF65-F5344CB8AC3E}">
        <p14:creationId xmlns:p14="http://schemas.microsoft.com/office/powerpoint/2010/main" val="34729197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02166"/>
          </a:xfrm>
        </p:spPr>
        <p:txBody>
          <a:bodyPr/>
          <a:lstStyle/>
          <a:p>
            <a:r>
              <a:rPr lang="ru-RU" sz="3200" dirty="0">
                <a:solidFill>
                  <a:srgbClr val="FF0000"/>
                </a:solidFill>
              </a:rPr>
              <a:t>Триггеры </a:t>
            </a:r>
            <a:r>
              <a:rPr lang="en-US" sz="3200" dirty="0">
                <a:solidFill>
                  <a:srgbClr val="FF0000"/>
                </a:solidFill>
              </a:rPr>
              <a:t>INSTEAD OF. </a:t>
            </a:r>
            <a:r>
              <a:rPr lang="ru-RU" sz="3200" dirty="0">
                <a:solidFill>
                  <a:srgbClr val="FF0000"/>
                </a:solidFill>
              </a:rPr>
              <a:t>Простейший пример 1/4</a:t>
            </a:r>
            <a:endParaRPr lang="ru-RU" dirty="0"/>
          </a:p>
        </p:txBody>
      </p:sp>
      <p:sp>
        <p:nvSpPr>
          <p:cNvPr id="3" name="Объект 2"/>
          <p:cNvSpPr>
            <a:spLocks noGrp="1"/>
          </p:cNvSpPr>
          <p:nvPr>
            <p:ph idx="1"/>
          </p:nvPr>
        </p:nvSpPr>
        <p:spPr>
          <a:xfrm>
            <a:off x="609600" y="602166"/>
            <a:ext cx="10972800" cy="6255833"/>
          </a:xfrm>
        </p:spPr>
        <p:txBody>
          <a:bodyPr>
            <a:noAutofit/>
          </a:bodyPr>
          <a:lstStyle/>
          <a:p>
            <a:pPr marL="0" indent="0">
              <a:lnSpc>
                <a:spcPct val="80000"/>
              </a:lnSpc>
              <a:buNone/>
            </a:pPr>
            <a:r>
              <a:rPr lang="ru-RU" sz="2000" dirty="0"/>
              <a:t>Создаём две таблицы:</a:t>
            </a:r>
            <a:endParaRPr lang="en-US" sz="2000" dirty="0"/>
          </a:p>
          <a:p>
            <a:pPr marL="0" indent="0">
              <a:lnSpc>
                <a:spcPct val="80000"/>
              </a:lnSpc>
              <a:buNone/>
            </a:pPr>
            <a:r>
              <a:rPr lang="en-US" sz="2000" dirty="0"/>
              <a:t>CREATE TABLE </a:t>
            </a:r>
            <a:r>
              <a:rPr lang="en-US" sz="2000" dirty="0" err="1"/>
              <a:t>customer_details</a:t>
            </a:r>
            <a:endParaRPr lang="en-US" sz="2000" dirty="0"/>
          </a:p>
          <a:p>
            <a:pPr marL="0" indent="0">
              <a:lnSpc>
                <a:spcPct val="80000"/>
              </a:lnSpc>
              <a:buNone/>
            </a:pPr>
            <a:r>
              <a:rPr lang="en-US" sz="2000" dirty="0"/>
              <a:t>( 	</a:t>
            </a:r>
            <a:r>
              <a:rPr lang="en-US" sz="2000" dirty="0" err="1"/>
              <a:t>customer_id</a:t>
            </a:r>
            <a:r>
              <a:rPr lang="en-US" sz="2000" dirty="0"/>
              <a:t> number(10) primary key,</a:t>
            </a:r>
          </a:p>
          <a:p>
            <a:pPr marL="0" indent="0">
              <a:lnSpc>
                <a:spcPct val="80000"/>
              </a:lnSpc>
              <a:buNone/>
            </a:pPr>
            <a:r>
              <a:rPr lang="en-US" sz="2000" dirty="0"/>
              <a:t>	</a:t>
            </a:r>
            <a:r>
              <a:rPr lang="en-US" sz="2000" dirty="0" err="1"/>
              <a:t>customer_name</a:t>
            </a:r>
            <a:r>
              <a:rPr lang="en-US" sz="2000" dirty="0"/>
              <a:t> varchar2(20),</a:t>
            </a:r>
          </a:p>
          <a:p>
            <a:pPr marL="0" indent="0">
              <a:lnSpc>
                <a:spcPct val="80000"/>
              </a:lnSpc>
              <a:buNone/>
            </a:pPr>
            <a:r>
              <a:rPr lang="en-US" sz="2000" dirty="0"/>
              <a:t>	country varchar2(20)</a:t>
            </a:r>
          </a:p>
          <a:p>
            <a:pPr marL="0" indent="0">
              <a:lnSpc>
                <a:spcPct val="80000"/>
              </a:lnSpc>
              <a:buNone/>
            </a:pPr>
            <a:r>
              <a:rPr lang="en-US" sz="2000" dirty="0"/>
              <a:t>);</a:t>
            </a:r>
          </a:p>
          <a:p>
            <a:pPr marL="0" indent="0">
              <a:lnSpc>
                <a:spcPct val="80000"/>
              </a:lnSpc>
              <a:buNone/>
            </a:pPr>
            <a:r>
              <a:rPr lang="en-US" sz="2000" dirty="0"/>
              <a:t>CREATE TABLE </a:t>
            </a:r>
            <a:r>
              <a:rPr lang="en-US" sz="2000" dirty="0" err="1"/>
              <a:t>projects_details</a:t>
            </a:r>
            <a:endParaRPr lang="en-US" sz="2000" dirty="0"/>
          </a:p>
          <a:p>
            <a:pPr marL="0" indent="0">
              <a:lnSpc>
                <a:spcPct val="80000"/>
              </a:lnSpc>
              <a:buNone/>
            </a:pPr>
            <a:r>
              <a:rPr lang="en-US" sz="2000" dirty="0"/>
              <a:t>(	</a:t>
            </a:r>
            <a:r>
              <a:rPr lang="en-US" sz="2000" dirty="0" err="1"/>
              <a:t>project_id</a:t>
            </a:r>
            <a:r>
              <a:rPr lang="en-US" sz="2000" dirty="0"/>
              <a:t> number(10) primary key,</a:t>
            </a:r>
          </a:p>
          <a:p>
            <a:pPr marL="0" indent="0">
              <a:lnSpc>
                <a:spcPct val="80000"/>
              </a:lnSpc>
              <a:buNone/>
            </a:pPr>
            <a:r>
              <a:rPr lang="en-US" sz="2000" dirty="0"/>
              <a:t>	</a:t>
            </a:r>
            <a:r>
              <a:rPr lang="en-US" sz="2000" dirty="0" err="1"/>
              <a:t>project_name</a:t>
            </a:r>
            <a:r>
              <a:rPr lang="en-US" sz="2000" dirty="0"/>
              <a:t> varchar2(30),</a:t>
            </a:r>
          </a:p>
          <a:p>
            <a:pPr marL="0" indent="0">
              <a:lnSpc>
                <a:spcPct val="80000"/>
              </a:lnSpc>
              <a:buNone/>
            </a:pPr>
            <a:r>
              <a:rPr lang="en-US" sz="2000" dirty="0"/>
              <a:t>	</a:t>
            </a:r>
            <a:r>
              <a:rPr lang="en-US" sz="2000" dirty="0" err="1"/>
              <a:t>project_start_Date</a:t>
            </a:r>
            <a:r>
              <a:rPr lang="en-US" sz="2000" dirty="0"/>
              <a:t> date,</a:t>
            </a:r>
          </a:p>
          <a:p>
            <a:pPr marL="0" indent="0">
              <a:lnSpc>
                <a:spcPct val="80000"/>
              </a:lnSpc>
              <a:buNone/>
            </a:pPr>
            <a:r>
              <a:rPr lang="en-US" sz="2000" dirty="0"/>
              <a:t>	</a:t>
            </a:r>
            <a:r>
              <a:rPr lang="en-US" sz="2000" dirty="0" err="1"/>
              <a:t>customer_id</a:t>
            </a:r>
            <a:r>
              <a:rPr lang="en-US" sz="2000" dirty="0"/>
              <a:t> number(10) references </a:t>
            </a:r>
            <a:r>
              <a:rPr lang="en-US" sz="2000" dirty="0" err="1"/>
              <a:t>customer_details</a:t>
            </a:r>
            <a:r>
              <a:rPr lang="en-US" sz="2000" dirty="0"/>
              <a:t>(</a:t>
            </a:r>
            <a:r>
              <a:rPr lang="en-US" sz="2000" dirty="0" err="1"/>
              <a:t>customer_id</a:t>
            </a:r>
            <a:r>
              <a:rPr lang="en-US" sz="2000" dirty="0"/>
              <a:t>)</a:t>
            </a:r>
          </a:p>
          <a:p>
            <a:pPr marL="0" indent="0">
              <a:lnSpc>
                <a:spcPct val="80000"/>
              </a:lnSpc>
              <a:buNone/>
            </a:pPr>
            <a:r>
              <a:rPr lang="en-US" sz="2000" dirty="0"/>
              <a:t>);</a:t>
            </a:r>
            <a:endParaRPr lang="ru-RU" sz="2000" dirty="0"/>
          </a:p>
          <a:p>
            <a:pPr marL="0" indent="0">
              <a:lnSpc>
                <a:spcPct val="80000"/>
              </a:lnSpc>
              <a:buNone/>
            </a:pPr>
            <a:endParaRPr lang="ru-RU" sz="2000" dirty="0"/>
          </a:p>
          <a:p>
            <a:pPr marL="0" indent="0">
              <a:lnSpc>
                <a:spcPct val="80000"/>
              </a:lnSpc>
              <a:buNone/>
            </a:pPr>
            <a:r>
              <a:rPr lang="ru-RU" sz="2000" dirty="0"/>
              <a:t>Создаём представление над ними:</a:t>
            </a:r>
          </a:p>
          <a:p>
            <a:pPr marL="0" indent="0">
              <a:lnSpc>
                <a:spcPct val="80000"/>
              </a:lnSpc>
              <a:buNone/>
            </a:pPr>
            <a:r>
              <a:rPr lang="en-US" sz="2000" dirty="0"/>
              <a:t>CREATE OR REPLACE VIEW </a:t>
            </a:r>
            <a:r>
              <a:rPr lang="en-US" sz="2000" dirty="0" err="1"/>
              <a:t>customer_projects_view</a:t>
            </a:r>
            <a:r>
              <a:rPr lang="en-US" sz="2000" dirty="0"/>
              <a:t> AS</a:t>
            </a:r>
          </a:p>
          <a:p>
            <a:pPr marL="0" indent="0">
              <a:lnSpc>
                <a:spcPct val="80000"/>
              </a:lnSpc>
              <a:buNone/>
            </a:pPr>
            <a:r>
              <a:rPr lang="en-US" sz="2000" dirty="0"/>
              <a:t>   SELECT </a:t>
            </a:r>
            <a:r>
              <a:rPr lang="en-US" sz="2000" dirty="0" err="1"/>
              <a:t>cust.customer_id</a:t>
            </a:r>
            <a:r>
              <a:rPr lang="en-US" sz="2000" dirty="0"/>
              <a:t>, </a:t>
            </a:r>
            <a:r>
              <a:rPr lang="en-US" sz="2000" dirty="0" err="1"/>
              <a:t>cust.customer_name</a:t>
            </a:r>
            <a:r>
              <a:rPr lang="en-US" sz="2000" dirty="0"/>
              <a:t>, </a:t>
            </a:r>
            <a:r>
              <a:rPr lang="en-US" sz="2000" dirty="0" err="1"/>
              <a:t>cust.country</a:t>
            </a:r>
            <a:r>
              <a:rPr lang="en-US" sz="2000" dirty="0"/>
              <a:t>,</a:t>
            </a:r>
          </a:p>
          <a:p>
            <a:pPr marL="0" indent="0">
              <a:lnSpc>
                <a:spcPct val="80000"/>
              </a:lnSpc>
              <a:buNone/>
            </a:pPr>
            <a:r>
              <a:rPr lang="en-US" sz="2000" dirty="0"/>
              <a:t>          </a:t>
            </a:r>
            <a:r>
              <a:rPr lang="en-US" sz="2000" dirty="0" err="1"/>
              <a:t>projectdtls.project_id</a:t>
            </a:r>
            <a:r>
              <a:rPr lang="en-US" sz="2000" dirty="0"/>
              <a:t>, </a:t>
            </a:r>
            <a:r>
              <a:rPr lang="en-US" sz="2000" dirty="0" err="1"/>
              <a:t>projectdtls.project_name</a:t>
            </a:r>
            <a:r>
              <a:rPr lang="en-US" sz="2000" dirty="0"/>
              <a:t>, </a:t>
            </a:r>
            <a:r>
              <a:rPr lang="en-US" sz="2000" dirty="0" err="1"/>
              <a:t>projectdtls.project_start_Date</a:t>
            </a:r>
            <a:endParaRPr lang="en-US" sz="2000" dirty="0"/>
          </a:p>
          <a:p>
            <a:pPr marL="0" indent="0">
              <a:lnSpc>
                <a:spcPct val="80000"/>
              </a:lnSpc>
              <a:buNone/>
            </a:pPr>
            <a:r>
              <a:rPr lang="en-US" sz="2000" dirty="0"/>
              <a:t>   FROM </a:t>
            </a:r>
            <a:r>
              <a:rPr lang="en-US" sz="2000" dirty="0" err="1"/>
              <a:t>customer_details</a:t>
            </a:r>
            <a:r>
              <a:rPr lang="en-US" sz="2000" dirty="0"/>
              <a:t> </a:t>
            </a:r>
            <a:r>
              <a:rPr lang="en-US" sz="2000" dirty="0" err="1"/>
              <a:t>cust</a:t>
            </a:r>
            <a:r>
              <a:rPr lang="en-US" sz="2000" dirty="0"/>
              <a:t>, </a:t>
            </a:r>
            <a:r>
              <a:rPr lang="en-US" sz="2000" dirty="0" err="1"/>
              <a:t>projects_details</a:t>
            </a:r>
            <a:r>
              <a:rPr lang="en-US" sz="2000" dirty="0"/>
              <a:t> </a:t>
            </a:r>
            <a:r>
              <a:rPr lang="en-US" sz="2000" dirty="0" err="1"/>
              <a:t>projectdtls</a:t>
            </a:r>
            <a:endParaRPr lang="en-US" sz="2000" dirty="0"/>
          </a:p>
          <a:p>
            <a:pPr marL="0" indent="0">
              <a:lnSpc>
                <a:spcPct val="80000"/>
              </a:lnSpc>
              <a:buNone/>
            </a:pPr>
            <a:r>
              <a:rPr lang="en-US" sz="2000" dirty="0"/>
              <a:t>   WHERE </a:t>
            </a:r>
            <a:r>
              <a:rPr lang="en-US" sz="2000" dirty="0" err="1"/>
              <a:t>cust.customer_id</a:t>
            </a:r>
            <a:r>
              <a:rPr lang="en-US" sz="2000" dirty="0"/>
              <a:t> = </a:t>
            </a:r>
            <a:r>
              <a:rPr lang="en-US" sz="2000" dirty="0" err="1"/>
              <a:t>projectdtls.customer_id</a:t>
            </a:r>
            <a:r>
              <a:rPr lang="en-US" sz="2000" dirty="0"/>
              <a:t>;</a:t>
            </a:r>
          </a:p>
          <a:p>
            <a:pPr marL="0" indent="0">
              <a:lnSpc>
                <a:spcPct val="80000"/>
              </a:lnSpc>
              <a:buNone/>
            </a:pPr>
            <a:r>
              <a:rPr lang="en-US" sz="2000" dirty="0"/>
              <a:t>/</a:t>
            </a:r>
            <a:endParaRPr lang="ru-RU" sz="2000" dirty="0"/>
          </a:p>
        </p:txBody>
      </p:sp>
      <p:sp>
        <p:nvSpPr>
          <p:cNvPr id="4" name="Прямоугольник 3"/>
          <p:cNvSpPr/>
          <p:nvPr/>
        </p:nvSpPr>
        <p:spPr>
          <a:xfrm>
            <a:off x="4156472" y="6488667"/>
            <a:ext cx="6064289" cy="369332"/>
          </a:xfrm>
          <a:prstGeom prst="rect">
            <a:avLst/>
          </a:prstGeom>
          <a:ln>
            <a:solidFill>
              <a:schemeClr val="accent1"/>
            </a:solidFill>
          </a:ln>
        </p:spPr>
        <p:txBody>
          <a:bodyPr wrap="none">
            <a:spAutoFit/>
          </a:bodyPr>
          <a:lstStyle/>
          <a:p>
            <a:r>
              <a:rPr lang="en-US" dirty="0"/>
              <a:t>http://www.codenuclear.com/instead-of-dml-trigger-example/</a:t>
            </a:r>
            <a:endParaRPr lang="ru-RU" dirty="0"/>
          </a:p>
        </p:txBody>
      </p:sp>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45</a:t>
            </a:fld>
            <a:endParaRPr lang="ru-RU">
              <a:solidFill>
                <a:prstClr val="black">
                  <a:tint val="75000"/>
                </a:prstClr>
              </a:solidFill>
            </a:endParaRPr>
          </a:p>
        </p:txBody>
      </p:sp>
    </p:spTree>
    <p:extLst>
      <p:ext uri="{BB962C8B-B14F-4D97-AF65-F5344CB8AC3E}">
        <p14:creationId xmlns:p14="http://schemas.microsoft.com/office/powerpoint/2010/main" val="21027339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1"/>
            <a:ext cx="10972800" cy="492138"/>
          </a:xfrm>
        </p:spPr>
        <p:txBody>
          <a:bodyPr>
            <a:normAutofit fontScale="90000"/>
          </a:bodyPr>
          <a:lstStyle/>
          <a:p>
            <a:r>
              <a:rPr lang="ru-RU" sz="3200" dirty="0">
                <a:solidFill>
                  <a:srgbClr val="FF0000"/>
                </a:solidFill>
              </a:rPr>
              <a:t>Триггеры </a:t>
            </a:r>
            <a:r>
              <a:rPr lang="en-US" sz="3200" dirty="0">
                <a:solidFill>
                  <a:srgbClr val="FF0000"/>
                </a:solidFill>
              </a:rPr>
              <a:t>INSTEAD OF. </a:t>
            </a:r>
            <a:r>
              <a:rPr lang="ru-RU" sz="3200" dirty="0">
                <a:solidFill>
                  <a:srgbClr val="FF0000"/>
                </a:solidFill>
              </a:rPr>
              <a:t>Простейший пример 2/4</a:t>
            </a:r>
            <a:endParaRPr lang="ru-RU" dirty="0"/>
          </a:p>
        </p:txBody>
      </p:sp>
      <p:pic>
        <p:nvPicPr>
          <p:cNvPr id="4" name="Рисунок 3"/>
          <p:cNvPicPr>
            <a:picLocks noChangeAspect="1"/>
          </p:cNvPicPr>
          <p:nvPr/>
        </p:nvPicPr>
        <p:blipFill>
          <a:blip r:embed="rId2"/>
          <a:stretch>
            <a:fillRect/>
          </a:stretch>
        </p:blipFill>
        <p:spPr>
          <a:xfrm>
            <a:off x="474829" y="387593"/>
            <a:ext cx="10132212" cy="5340313"/>
          </a:xfrm>
          <a:prstGeom prst="rect">
            <a:avLst/>
          </a:prstGeom>
        </p:spPr>
      </p:pic>
      <p:sp>
        <p:nvSpPr>
          <p:cNvPr id="3" name="Объект 2"/>
          <p:cNvSpPr>
            <a:spLocks noGrp="1"/>
          </p:cNvSpPr>
          <p:nvPr>
            <p:ph idx="1"/>
          </p:nvPr>
        </p:nvSpPr>
        <p:spPr>
          <a:xfrm>
            <a:off x="2188546" y="5006484"/>
            <a:ext cx="9918638" cy="514663"/>
          </a:xfrm>
          <a:solidFill>
            <a:schemeClr val="bg1">
              <a:lumMod val="95000"/>
            </a:schemeClr>
          </a:solidFill>
          <a:ln w="12700">
            <a:solidFill>
              <a:schemeClr val="accent1"/>
            </a:solidFill>
          </a:ln>
        </p:spPr>
        <p:txBody>
          <a:bodyPr>
            <a:noAutofit/>
          </a:bodyPr>
          <a:lstStyle/>
          <a:p>
            <a:pPr marL="0" indent="0">
              <a:lnSpc>
                <a:spcPct val="70000"/>
              </a:lnSpc>
              <a:buNone/>
            </a:pPr>
            <a:r>
              <a:rPr lang="ru-RU" sz="1700" dirty="0"/>
              <a:t>Пробуем вставить запись через представление, ожидая появление ошибочной ситуации:</a:t>
            </a:r>
          </a:p>
          <a:p>
            <a:pPr marL="0" indent="0">
              <a:lnSpc>
                <a:spcPct val="70000"/>
              </a:lnSpc>
              <a:buNone/>
            </a:pPr>
            <a:r>
              <a:rPr lang="en-US" sz="1700" dirty="0"/>
              <a:t>INSERT INTO </a:t>
            </a:r>
            <a:r>
              <a:rPr lang="en-US" sz="1700" dirty="0" err="1"/>
              <a:t>customer_projects_view</a:t>
            </a:r>
            <a:r>
              <a:rPr lang="en-US" sz="1700" dirty="0"/>
              <a:t> VALUES (1,'XYZ Enterprise','Japan',101,'Library management',</a:t>
            </a:r>
            <a:r>
              <a:rPr lang="en-US" sz="1700" dirty="0" err="1"/>
              <a:t>sysdate</a:t>
            </a:r>
            <a:r>
              <a:rPr lang="en-US" sz="1700" dirty="0"/>
              <a:t>);</a:t>
            </a:r>
            <a:endParaRPr lang="ru-RU" sz="1700" dirty="0"/>
          </a:p>
        </p:txBody>
      </p:sp>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46</a:t>
            </a:fld>
            <a:endParaRPr lang="ru-RU">
              <a:solidFill>
                <a:prstClr val="black">
                  <a:tint val="75000"/>
                </a:prstClr>
              </a:solidFill>
            </a:endParaRPr>
          </a:p>
        </p:txBody>
      </p:sp>
      <p:sp>
        <p:nvSpPr>
          <p:cNvPr id="6" name="Прямоугольник 5"/>
          <p:cNvSpPr/>
          <p:nvPr/>
        </p:nvSpPr>
        <p:spPr>
          <a:xfrm>
            <a:off x="474830" y="5657671"/>
            <a:ext cx="11632354" cy="1200329"/>
          </a:xfrm>
          <a:prstGeom prst="rect">
            <a:avLst/>
          </a:prstGeom>
        </p:spPr>
        <p:txBody>
          <a:bodyPr wrap="square">
            <a:spAutoFit/>
          </a:bodyPr>
          <a:lstStyle/>
          <a:p>
            <a:pPr indent="360000"/>
            <a:r>
              <a:rPr lang="ru-RU" dirty="0"/>
              <a:t>Менять можно только столбцы в key </a:t>
            </a:r>
            <a:r>
              <a:rPr lang="ru-RU" dirty="0" err="1"/>
              <a:t>preserved</a:t>
            </a:r>
            <a:r>
              <a:rPr lang="ru-RU" dirty="0"/>
              <a:t> таблицах. Чтобы таблица с которой работает представление  считалась key </a:t>
            </a:r>
            <a:r>
              <a:rPr lang="ru-RU" dirty="0" err="1"/>
              <a:t>preserved</a:t>
            </a:r>
            <a:r>
              <a:rPr lang="ru-RU" dirty="0"/>
              <a:t>, её </a:t>
            </a:r>
            <a:r>
              <a:rPr lang="en-US" dirty="0"/>
              <a:t>PK </a:t>
            </a:r>
            <a:r>
              <a:rPr lang="ru-RU" dirty="0"/>
              <a:t>должен оставаться  уникальным в итоговой выборке, выполняемой представлением. Это возможно только если любые поля таблицы, участвующие в соединении (участвующие в </a:t>
            </a:r>
            <a:r>
              <a:rPr lang="ru-RU" dirty="0" err="1"/>
              <a:t>on</a:t>
            </a:r>
            <a:r>
              <a:rPr lang="ru-RU" dirty="0"/>
              <a:t> или </a:t>
            </a:r>
            <a:r>
              <a:rPr lang="ru-RU" dirty="0" err="1"/>
              <a:t>where</a:t>
            </a:r>
            <a:r>
              <a:rPr lang="ru-RU" dirty="0"/>
              <a:t>) ссылаются на первичные ключи других таблиц.</a:t>
            </a:r>
          </a:p>
        </p:txBody>
      </p:sp>
    </p:spTree>
    <p:extLst>
      <p:ext uri="{BB962C8B-B14F-4D97-AF65-F5344CB8AC3E}">
        <p14:creationId xmlns:p14="http://schemas.microsoft.com/office/powerpoint/2010/main" val="37858408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02166"/>
          </a:xfrm>
        </p:spPr>
        <p:txBody>
          <a:bodyPr/>
          <a:lstStyle/>
          <a:p>
            <a:r>
              <a:rPr lang="ru-RU" sz="3200" dirty="0">
                <a:solidFill>
                  <a:srgbClr val="FF0000"/>
                </a:solidFill>
              </a:rPr>
              <a:t>Триггеры </a:t>
            </a:r>
            <a:r>
              <a:rPr lang="en-US" sz="3200" dirty="0">
                <a:solidFill>
                  <a:srgbClr val="FF0000"/>
                </a:solidFill>
              </a:rPr>
              <a:t>INSTEAD OF. </a:t>
            </a:r>
            <a:r>
              <a:rPr lang="ru-RU" sz="3200" dirty="0">
                <a:solidFill>
                  <a:srgbClr val="FF0000"/>
                </a:solidFill>
              </a:rPr>
              <a:t>Простейший пример 3/4</a:t>
            </a:r>
            <a:endParaRPr lang="ru-RU" dirty="0"/>
          </a:p>
        </p:txBody>
      </p:sp>
      <p:sp>
        <p:nvSpPr>
          <p:cNvPr id="3" name="Объект 2"/>
          <p:cNvSpPr>
            <a:spLocks noGrp="1"/>
          </p:cNvSpPr>
          <p:nvPr>
            <p:ph idx="1"/>
          </p:nvPr>
        </p:nvSpPr>
        <p:spPr>
          <a:xfrm>
            <a:off x="609600" y="602166"/>
            <a:ext cx="10972800" cy="6255833"/>
          </a:xfrm>
        </p:spPr>
        <p:txBody>
          <a:bodyPr>
            <a:normAutofit fontScale="92500" lnSpcReduction="10000"/>
          </a:bodyPr>
          <a:lstStyle/>
          <a:p>
            <a:pPr marL="0" lvl="0" indent="0">
              <a:buNone/>
            </a:pPr>
            <a:r>
              <a:rPr lang="ru-RU" sz="2200" dirty="0">
                <a:solidFill>
                  <a:prstClr val="black"/>
                </a:solidFill>
              </a:rPr>
              <a:t>Создаём триггер </a:t>
            </a:r>
            <a:r>
              <a:rPr lang="en-US" sz="2200" dirty="0">
                <a:solidFill>
                  <a:prstClr val="black"/>
                </a:solidFill>
              </a:rPr>
              <a:t>INSTEAD OF</a:t>
            </a:r>
            <a:r>
              <a:rPr lang="ru-RU" sz="2200" dirty="0">
                <a:solidFill>
                  <a:prstClr val="black"/>
                </a:solidFill>
              </a:rPr>
              <a:t>:</a:t>
            </a:r>
          </a:p>
          <a:p>
            <a:pPr marL="0" lvl="0" indent="0">
              <a:buNone/>
            </a:pPr>
            <a:r>
              <a:rPr lang="en-US" sz="2200" dirty="0">
                <a:solidFill>
                  <a:prstClr val="black"/>
                </a:solidFill>
              </a:rPr>
              <a:t>CREATE OR REPLACE TRIGGER </a:t>
            </a:r>
            <a:r>
              <a:rPr lang="en-US" sz="2200" dirty="0" err="1">
                <a:solidFill>
                  <a:prstClr val="black"/>
                </a:solidFill>
              </a:rPr>
              <a:t>trg_cust_proj_view_insert</a:t>
            </a:r>
            <a:endParaRPr lang="en-US" sz="2200" dirty="0">
              <a:solidFill>
                <a:prstClr val="black"/>
              </a:solidFill>
            </a:endParaRPr>
          </a:p>
          <a:p>
            <a:pPr marL="0" lvl="0" indent="0">
              <a:buNone/>
            </a:pPr>
            <a:r>
              <a:rPr lang="en-US" sz="2200" dirty="0">
                <a:solidFill>
                  <a:prstClr val="black"/>
                </a:solidFill>
              </a:rPr>
              <a:t>   INSTEAD OF INSERT ON </a:t>
            </a:r>
            <a:r>
              <a:rPr lang="en-US" sz="2200" dirty="0" err="1">
                <a:solidFill>
                  <a:prstClr val="black"/>
                </a:solidFill>
              </a:rPr>
              <a:t>customer_projects_view</a:t>
            </a:r>
            <a:endParaRPr lang="en-US" sz="2200" dirty="0">
              <a:solidFill>
                <a:prstClr val="black"/>
              </a:solidFill>
            </a:endParaRPr>
          </a:p>
          <a:p>
            <a:pPr marL="0" lvl="0" indent="0">
              <a:buNone/>
            </a:pPr>
            <a:r>
              <a:rPr lang="en-US" sz="2200" dirty="0">
                <a:solidFill>
                  <a:prstClr val="black"/>
                </a:solidFill>
              </a:rPr>
              <a:t>   DECLARE</a:t>
            </a:r>
          </a:p>
          <a:p>
            <a:pPr marL="0" lvl="0" indent="0">
              <a:buNone/>
            </a:pPr>
            <a:r>
              <a:rPr lang="en-US" sz="2200" dirty="0">
                <a:solidFill>
                  <a:prstClr val="black"/>
                </a:solidFill>
              </a:rPr>
              <a:t>     </a:t>
            </a:r>
            <a:r>
              <a:rPr lang="en-US" sz="2200" dirty="0" err="1">
                <a:solidFill>
                  <a:prstClr val="black"/>
                </a:solidFill>
              </a:rPr>
              <a:t>duplicate_info</a:t>
            </a:r>
            <a:r>
              <a:rPr lang="en-US" sz="2200" dirty="0">
                <a:solidFill>
                  <a:prstClr val="black"/>
                </a:solidFill>
              </a:rPr>
              <a:t> EXCEPTION;</a:t>
            </a:r>
          </a:p>
          <a:p>
            <a:pPr marL="0" lvl="0" indent="0">
              <a:buNone/>
            </a:pPr>
            <a:r>
              <a:rPr lang="en-US" sz="2200" dirty="0">
                <a:solidFill>
                  <a:prstClr val="black"/>
                </a:solidFill>
              </a:rPr>
              <a:t>     PRAGMA EXCEPTION_INIT (</a:t>
            </a:r>
            <a:r>
              <a:rPr lang="en-US" sz="2200" dirty="0" err="1">
                <a:solidFill>
                  <a:prstClr val="black"/>
                </a:solidFill>
              </a:rPr>
              <a:t>duplicate_info</a:t>
            </a:r>
            <a:r>
              <a:rPr lang="en-US" sz="2200" dirty="0">
                <a:solidFill>
                  <a:prstClr val="black"/>
                </a:solidFill>
              </a:rPr>
              <a:t>, -00001);</a:t>
            </a:r>
          </a:p>
          <a:p>
            <a:pPr marL="0" lvl="0" indent="0">
              <a:buNone/>
            </a:pPr>
            <a:r>
              <a:rPr lang="en-US" sz="2200" dirty="0">
                <a:solidFill>
                  <a:prstClr val="black"/>
                </a:solidFill>
              </a:rPr>
              <a:t>   BEGIN</a:t>
            </a:r>
          </a:p>
          <a:p>
            <a:pPr marL="0" lvl="0" indent="0">
              <a:buNone/>
            </a:pPr>
            <a:r>
              <a:rPr lang="en-US" sz="2200" dirty="0">
                <a:solidFill>
                  <a:prstClr val="black"/>
                </a:solidFill>
              </a:rPr>
              <a:t>   INSERT INTO </a:t>
            </a:r>
            <a:r>
              <a:rPr lang="en-US" sz="2200" dirty="0" err="1">
                <a:solidFill>
                  <a:prstClr val="black"/>
                </a:solidFill>
              </a:rPr>
              <a:t>customer_details</a:t>
            </a:r>
            <a:endParaRPr lang="en-US" sz="2200" dirty="0">
              <a:solidFill>
                <a:prstClr val="black"/>
              </a:solidFill>
            </a:endParaRPr>
          </a:p>
          <a:p>
            <a:pPr marL="0" lvl="0" indent="0">
              <a:buNone/>
            </a:pPr>
            <a:r>
              <a:rPr lang="en-US" sz="2200" dirty="0">
                <a:solidFill>
                  <a:prstClr val="black"/>
                </a:solidFill>
              </a:rPr>
              <a:t>       (</a:t>
            </a:r>
            <a:r>
              <a:rPr lang="en-US" sz="2200" dirty="0" err="1">
                <a:solidFill>
                  <a:prstClr val="black"/>
                </a:solidFill>
              </a:rPr>
              <a:t>customer_id,customer_name,country</a:t>
            </a:r>
            <a:r>
              <a:rPr lang="en-US" sz="2200" dirty="0">
                <a:solidFill>
                  <a:prstClr val="black"/>
                </a:solidFill>
              </a:rPr>
              <a:t>)</a:t>
            </a:r>
          </a:p>
          <a:p>
            <a:pPr marL="0" lvl="0" indent="0">
              <a:buNone/>
            </a:pPr>
            <a:r>
              <a:rPr lang="en-US" sz="2200" dirty="0">
                <a:solidFill>
                  <a:prstClr val="black"/>
                </a:solidFill>
              </a:rPr>
              <a:t>     </a:t>
            </a:r>
            <a:r>
              <a:rPr lang="ru-RU" sz="2200" dirty="0">
                <a:solidFill>
                  <a:prstClr val="black"/>
                </a:solidFill>
              </a:rPr>
              <a:t>   </a:t>
            </a:r>
            <a:r>
              <a:rPr lang="en-US" sz="2200" dirty="0">
                <a:solidFill>
                  <a:prstClr val="black"/>
                </a:solidFill>
              </a:rPr>
              <a:t>VALUES (:</a:t>
            </a:r>
            <a:r>
              <a:rPr lang="en-US" sz="2200" dirty="0" err="1">
                <a:solidFill>
                  <a:prstClr val="black"/>
                </a:solidFill>
              </a:rPr>
              <a:t>new.customer_id</a:t>
            </a:r>
            <a:r>
              <a:rPr lang="en-US" sz="2200" dirty="0">
                <a:solidFill>
                  <a:prstClr val="black"/>
                </a:solidFill>
              </a:rPr>
              <a:t>, :</a:t>
            </a:r>
            <a:r>
              <a:rPr lang="en-US" sz="2200" dirty="0" err="1">
                <a:solidFill>
                  <a:prstClr val="black"/>
                </a:solidFill>
              </a:rPr>
              <a:t>new.customer_name</a:t>
            </a:r>
            <a:r>
              <a:rPr lang="en-US" sz="2200" dirty="0">
                <a:solidFill>
                  <a:prstClr val="black"/>
                </a:solidFill>
              </a:rPr>
              <a:t>, :</a:t>
            </a:r>
            <a:r>
              <a:rPr lang="en-US" sz="2200" dirty="0" err="1">
                <a:solidFill>
                  <a:prstClr val="black"/>
                </a:solidFill>
              </a:rPr>
              <a:t>new.country</a:t>
            </a:r>
            <a:r>
              <a:rPr lang="en-US" sz="2200" dirty="0">
                <a:solidFill>
                  <a:prstClr val="black"/>
                </a:solidFill>
              </a:rPr>
              <a:t>); </a:t>
            </a:r>
          </a:p>
          <a:p>
            <a:pPr marL="0" lvl="0" indent="0">
              <a:buNone/>
            </a:pPr>
            <a:r>
              <a:rPr lang="en-US" sz="2200" dirty="0">
                <a:solidFill>
                  <a:prstClr val="black"/>
                </a:solidFill>
              </a:rPr>
              <a:t>   INSERT INTO </a:t>
            </a:r>
            <a:r>
              <a:rPr lang="en-US" sz="2200" dirty="0" err="1">
                <a:solidFill>
                  <a:prstClr val="black"/>
                </a:solidFill>
              </a:rPr>
              <a:t>projects_details</a:t>
            </a:r>
            <a:r>
              <a:rPr lang="en-US" sz="2200" dirty="0">
                <a:solidFill>
                  <a:prstClr val="black"/>
                </a:solidFill>
              </a:rPr>
              <a:t> (</a:t>
            </a:r>
            <a:r>
              <a:rPr lang="en-US" sz="2200" dirty="0" err="1">
                <a:solidFill>
                  <a:prstClr val="black"/>
                </a:solidFill>
              </a:rPr>
              <a:t>project_id</a:t>
            </a:r>
            <a:r>
              <a:rPr lang="en-US" sz="2200" dirty="0">
                <a:solidFill>
                  <a:prstClr val="black"/>
                </a:solidFill>
              </a:rPr>
              <a:t>, </a:t>
            </a:r>
            <a:r>
              <a:rPr lang="en-US" sz="2200" dirty="0" err="1">
                <a:solidFill>
                  <a:prstClr val="black"/>
                </a:solidFill>
              </a:rPr>
              <a:t>project_name</a:t>
            </a:r>
            <a:r>
              <a:rPr lang="en-US" sz="2200" dirty="0">
                <a:solidFill>
                  <a:prstClr val="black"/>
                </a:solidFill>
              </a:rPr>
              <a:t>, </a:t>
            </a:r>
            <a:r>
              <a:rPr lang="en-US" sz="2200" dirty="0" err="1">
                <a:solidFill>
                  <a:prstClr val="black"/>
                </a:solidFill>
              </a:rPr>
              <a:t>project_start_Date</a:t>
            </a:r>
            <a:r>
              <a:rPr lang="en-US" sz="2200" dirty="0">
                <a:solidFill>
                  <a:prstClr val="black"/>
                </a:solidFill>
              </a:rPr>
              <a:t>, </a:t>
            </a:r>
            <a:r>
              <a:rPr lang="en-US" sz="2200" dirty="0" err="1">
                <a:solidFill>
                  <a:prstClr val="black"/>
                </a:solidFill>
              </a:rPr>
              <a:t>customer_id</a:t>
            </a:r>
            <a:r>
              <a:rPr lang="en-US" sz="2200" dirty="0">
                <a:solidFill>
                  <a:prstClr val="black"/>
                </a:solidFill>
              </a:rPr>
              <a:t>)</a:t>
            </a:r>
          </a:p>
          <a:p>
            <a:pPr marL="0" lvl="0" indent="0">
              <a:buNone/>
            </a:pPr>
            <a:r>
              <a:rPr lang="en-US" sz="2200" dirty="0">
                <a:solidFill>
                  <a:prstClr val="black"/>
                </a:solidFill>
              </a:rPr>
              <a:t>   VALUES (</a:t>
            </a:r>
          </a:p>
          <a:p>
            <a:pPr marL="0" lvl="0" indent="0">
              <a:buNone/>
            </a:pPr>
            <a:r>
              <a:rPr lang="en-US" sz="2200" dirty="0">
                <a:solidFill>
                  <a:prstClr val="black"/>
                </a:solidFill>
              </a:rPr>
              <a:t>     :</a:t>
            </a:r>
            <a:r>
              <a:rPr lang="en-US" sz="2200" dirty="0" err="1">
                <a:solidFill>
                  <a:prstClr val="black"/>
                </a:solidFill>
              </a:rPr>
              <a:t>new.project_id</a:t>
            </a:r>
            <a:r>
              <a:rPr lang="en-US" sz="2200" dirty="0">
                <a:solidFill>
                  <a:prstClr val="black"/>
                </a:solidFill>
              </a:rPr>
              <a:t>,</a:t>
            </a:r>
            <a:r>
              <a:rPr lang="ru-RU" sz="2200" dirty="0">
                <a:solidFill>
                  <a:prstClr val="black"/>
                </a:solidFill>
              </a:rPr>
              <a:t> </a:t>
            </a:r>
            <a:r>
              <a:rPr lang="en-US" sz="2200" dirty="0">
                <a:solidFill>
                  <a:prstClr val="black"/>
                </a:solidFill>
              </a:rPr>
              <a:t>:</a:t>
            </a:r>
            <a:r>
              <a:rPr lang="en-US" sz="2200" dirty="0" err="1">
                <a:solidFill>
                  <a:prstClr val="black"/>
                </a:solidFill>
              </a:rPr>
              <a:t>new.project_name</a:t>
            </a:r>
            <a:r>
              <a:rPr lang="en-US" sz="2200" dirty="0">
                <a:solidFill>
                  <a:prstClr val="black"/>
                </a:solidFill>
              </a:rPr>
              <a:t>,</a:t>
            </a:r>
            <a:r>
              <a:rPr lang="ru-RU" sz="2200" dirty="0">
                <a:solidFill>
                  <a:prstClr val="black"/>
                </a:solidFill>
              </a:rPr>
              <a:t> </a:t>
            </a:r>
            <a:r>
              <a:rPr lang="en-US" sz="2200" dirty="0">
                <a:solidFill>
                  <a:prstClr val="black"/>
                </a:solidFill>
              </a:rPr>
              <a:t>:</a:t>
            </a:r>
            <a:r>
              <a:rPr lang="en-US" sz="2200" dirty="0" err="1">
                <a:solidFill>
                  <a:prstClr val="black"/>
                </a:solidFill>
              </a:rPr>
              <a:t>new.project_start_Date</a:t>
            </a:r>
            <a:r>
              <a:rPr lang="en-US" sz="2200" dirty="0">
                <a:solidFill>
                  <a:prstClr val="black"/>
                </a:solidFill>
              </a:rPr>
              <a:t>,</a:t>
            </a:r>
            <a:r>
              <a:rPr lang="ru-RU" sz="2200" dirty="0">
                <a:solidFill>
                  <a:prstClr val="black"/>
                </a:solidFill>
              </a:rPr>
              <a:t> </a:t>
            </a:r>
            <a:r>
              <a:rPr lang="en-US" sz="2200" dirty="0">
                <a:solidFill>
                  <a:prstClr val="black"/>
                </a:solidFill>
              </a:rPr>
              <a:t>:</a:t>
            </a:r>
            <a:r>
              <a:rPr lang="en-US" sz="2200" dirty="0" err="1">
                <a:solidFill>
                  <a:prstClr val="black"/>
                </a:solidFill>
              </a:rPr>
              <a:t>new.customer_id</a:t>
            </a:r>
            <a:r>
              <a:rPr lang="en-US" sz="2200" dirty="0">
                <a:solidFill>
                  <a:prstClr val="black"/>
                </a:solidFill>
              </a:rPr>
              <a:t>);</a:t>
            </a:r>
          </a:p>
          <a:p>
            <a:pPr marL="0" lvl="0" indent="0">
              <a:buNone/>
            </a:pPr>
            <a:r>
              <a:rPr lang="en-US" sz="2200" dirty="0">
                <a:solidFill>
                  <a:prstClr val="black"/>
                </a:solidFill>
              </a:rPr>
              <a:t>   EXCEPTION</a:t>
            </a:r>
          </a:p>
          <a:p>
            <a:pPr marL="0" lvl="0" indent="0">
              <a:buNone/>
            </a:pPr>
            <a:r>
              <a:rPr lang="en-US" sz="2200" dirty="0">
                <a:solidFill>
                  <a:prstClr val="black"/>
                </a:solidFill>
              </a:rPr>
              <a:t>     WHEN </a:t>
            </a:r>
            <a:r>
              <a:rPr lang="en-US" sz="2200" dirty="0" err="1">
                <a:solidFill>
                  <a:prstClr val="black"/>
                </a:solidFill>
              </a:rPr>
              <a:t>duplicate_info</a:t>
            </a:r>
            <a:r>
              <a:rPr lang="en-US" sz="2200" dirty="0">
                <a:solidFill>
                  <a:prstClr val="black"/>
                </a:solidFill>
              </a:rPr>
              <a:t> THEN</a:t>
            </a:r>
          </a:p>
          <a:p>
            <a:pPr marL="0" lvl="0" indent="0">
              <a:buNone/>
            </a:pPr>
            <a:r>
              <a:rPr lang="en-US" sz="2200" dirty="0">
                <a:solidFill>
                  <a:prstClr val="black"/>
                </a:solidFill>
              </a:rPr>
              <a:t>       RAISE_APPLICATION_ERROR (</a:t>
            </a:r>
            <a:r>
              <a:rPr lang="en-US" sz="2200" dirty="0" err="1">
                <a:solidFill>
                  <a:prstClr val="black"/>
                </a:solidFill>
              </a:rPr>
              <a:t>num</a:t>
            </a:r>
            <a:r>
              <a:rPr lang="en-US" sz="2200" dirty="0">
                <a:solidFill>
                  <a:prstClr val="black"/>
                </a:solidFill>
              </a:rPr>
              <a:t>=&gt; -20107,</a:t>
            </a:r>
          </a:p>
          <a:p>
            <a:pPr marL="0" lvl="0" indent="0">
              <a:buNone/>
            </a:pPr>
            <a:r>
              <a:rPr lang="en-US" sz="2200" dirty="0">
                <a:solidFill>
                  <a:prstClr val="black"/>
                </a:solidFill>
              </a:rPr>
              <a:t>         </a:t>
            </a:r>
            <a:r>
              <a:rPr lang="en-US" sz="2200" dirty="0" err="1">
                <a:solidFill>
                  <a:prstClr val="black"/>
                </a:solidFill>
              </a:rPr>
              <a:t>msg</a:t>
            </a:r>
            <a:r>
              <a:rPr lang="en-US" sz="2200" dirty="0">
                <a:solidFill>
                  <a:prstClr val="black"/>
                </a:solidFill>
              </a:rPr>
              <a:t>=&gt; 'Duplicate customer or project id');</a:t>
            </a:r>
          </a:p>
          <a:p>
            <a:pPr marL="0" lvl="0" indent="0">
              <a:buNone/>
            </a:pPr>
            <a:r>
              <a:rPr lang="en-US" sz="2200" dirty="0">
                <a:solidFill>
                  <a:prstClr val="black"/>
                </a:solidFill>
              </a:rPr>
              <a:t>   END </a:t>
            </a:r>
            <a:r>
              <a:rPr lang="en-US" sz="2200" dirty="0" err="1">
                <a:solidFill>
                  <a:prstClr val="black"/>
                </a:solidFill>
              </a:rPr>
              <a:t>trg_cust_proj_view_insert</a:t>
            </a:r>
            <a:r>
              <a:rPr lang="en-US" sz="2200" dirty="0">
                <a:solidFill>
                  <a:prstClr val="black"/>
                </a:solidFill>
              </a:rPr>
              <a:t>;</a:t>
            </a:r>
          </a:p>
          <a:p>
            <a:pPr marL="0" lvl="0" indent="0">
              <a:buNone/>
            </a:pPr>
            <a:endParaRPr lang="ru-RU" sz="2200" dirty="0">
              <a:solidFill>
                <a:prstClr val="black"/>
              </a:solidFill>
            </a:endParaRPr>
          </a:p>
          <a:p>
            <a:pPr marL="0" indent="0">
              <a:buNone/>
            </a:pPr>
            <a:endParaRPr lang="ru-RU" sz="2000" dirty="0"/>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47</a:t>
            </a:fld>
            <a:endParaRPr lang="ru-RU">
              <a:solidFill>
                <a:prstClr val="black">
                  <a:tint val="75000"/>
                </a:prstClr>
              </a:solidFill>
            </a:endParaRPr>
          </a:p>
        </p:txBody>
      </p:sp>
    </p:spTree>
    <p:extLst>
      <p:ext uri="{BB962C8B-B14F-4D97-AF65-F5344CB8AC3E}">
        <p14:creationId xmlns:p14="http://schemas.microsoft.com/office/powerpoint/2010/main" val="23104015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0"/>
            <a:ext cx="10972800" cy="669073"/>
          </a:xfrm>
        </p:spPr>
        <p:txBody>
          <a:bodyPr>
            <a:normAutofit/>
          </a:bodyPr>
          <a:lstStyle/>
          <a:p>
            <a:r>
              <a:rPr lang="ru-RU" sz="3200" dirty="0">
                <a:solidFill>
                  <a:srgbClr val="FF0000"/>
                </a:solidFill>
              </a:rPr>
              <a:t> Триггеры </a:t>
            </a:r>
            <a:r>
              <a:rPr lang="en-US" sz="3200" dirty="0">
                <a:solidFill>
                  <a:srgbClr val="FF0000"/>
                </a:solidFill>
              </a:rPr>
              <a:t>INSTEAD OF. </a:t>
            </a:r>
            <a:r>
              <a:rPr lang="ru-RU" sz="3200" dirty="0">
                <a:solidFill>
                  <a:srgbClr val="FF0000"/>
                </a:solidFill>
              </a:rPr>
              <a:t>Простейший пример 4/4</a:t>
            </a:r>
          </a:p>
        </p:txBody>
      </p:sp>
      <p:sp>
        <p:nvSpPr>
          <p:cNvPr id="3" name="Объект 2"/>
          <p:cNvSpPr>
            <a:spLocks noGrp="1"/>
          </p:cNvSpPr>
          <p:nvPr>
            <p:ph idx="1"/>
          </p:nvPr>
        </p:nvSpPr>
        <p:spPr>
          <a:xfrm>
            <a:off x="334537" y="669073"/>
            <a:ext cx="11552663" cy="1025912"/>
          </a:xfrm>
        </p:spPr>
        <p:txBody>
          <a:bodyPr>
            <a:normAutofit fontScale="92500" lnSpcReduction="10000"/>
          </a:bodyPr>
          <a:lstStyle/>
          <a:p>
            <a:pPr marL="0" indent="0">
              <a:buNone/>
            </a:pPr>
            <a:r>
              <a:rPr lang="ru-RU" sz="2000" dirty="0"/>
              <a:t>Повторяем вставку:</a:t>
            </a:r>
          </a:p>
          <a:p>
            <a:pPr marL="0" indent="0">
              <a:buNone/>
            </a:pPr>
            <a:r>
              <a:rPr lang="en-US" sz="2000" dirty="0"/>
              <a:t>INSERT INTO </a:t>
            </a:r>
            <a:r>
              <a:rPr lang="en-US" sz="2000" dirty="0" err="1"/>
              <a:t>customer_projects_view</a:t>
            </a:r>
            <a:r>
              <a:rPr lang="en-US" sz="2000" dirty="0"/>
              <a:t> VALUES (1,'XYZ Enterprise','Japan',101,'Library</a:t>
            </a:r>
            <a:r>
              <a:rPr lang="ru-RU" sz="2000" dirty="0"/>
              <a:t> </a:t>
            </a:r>
            <a:r>
              <a:rPr lang="en-US" sz="2000" dirty="0"/>
              <a:t>management',</a:t>
            </a:r>
            <a:r>
              <a:rPr lang="en-US" sz="2000" dirty="0" err="1"/>
              <a:t>sysdate</a:t>
            </a:r>
            <a:r>
              <a:rPr lang="en-US" sz="2000" dirty="0"/>
              <a:t>)</a:t>
            </a:r>
            <a:r>
              <a:rPr lang="ru-RU" sz="2000" dirty="0"/>
              <a:t>;</a:t>
            </a:r>
          </a:p>
          <a:p>
            <a:pPr marL="0" indent="0">
              <a:buNone/>
            </a:pPr>
            <a:r>
              <a:rPr lang="ru-RU" sz="2000" dirty="0"/>
              <a:t>Всё работает!</a:t>
            </a:r>
          </a:p>
        </p:txBody>
      </p:sp>
      <p:pic>
        <p:nvPicPr>
          <p:cNvPr id="6" name="Рисунок 5"/>
          <p:cNvPicPr>
            <a:picLocks noChangeAspect="1"/>
          </p:cNvPicPr>
          <p:nvPr/>
        </p:nvPicPr>
        <p:blipFill>
          <a:blip r:embed="rId2"/>
          <a:stretch>
            <a:fillRect/>
          </a:stretch>
        </p:blipFill>
        <p:spPr>
          <a:xfrm>
            <a:off x="219308" y="2029520"/>
            <a:ext cx="11792158" cy="4505094"/>
          </a:xfrm>
          <a:prstGeom prst="rect">
            <a:avLst/>
          </a:prstGeom>
        </p:spPr>
      </p:pic>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48</a:t>
            </a:fld>
            <a:endParaRPr lang="ru-RU">
              <a:solidFill>
                <a:prstClr val="black">
                  <a:tint val="75000"/>
                </a:prstClr>
              </a:solidFill>
            </a:endParaRPr>
          </a:p>
        </p:txBody>
      </p:sp>
    </p:spTree>
    <p:extLst>
      <p:ext uri="{BB962C8B-B14F-4D97-AF65-F5344CB8AC3E}">
        <p14:creationId xmlns:p14="http://schemas.microsoft.com/office/powerpoint/2010/main" val="34841349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18160"/>
            <a:ext cx="10972800" cy="517099"/>
          </a:xfrm>
        </p:spPr>
        <p:txBody>
          <a:bodyPr>
            <a:noAutofit/>
          </a:bodyPr>
          <a:lstStyle/>
          <a:p>
            <a:r>
              <a:rPr lang="ru-RU" sz="3200" dirty="0">
                <a:solidFill>
                  <a:srgbClr val="FF0000"/>
                </a:solidFill>
              </a:rPr>
              <a:t>Мутирующие таблицы</a:t>
            </a:r>
          </a:p>
        </p:txBody>
      </p:sp>
      <p:sp>
        <p:nvSpPr>
          <p:cNvPr id="3" name="Объект 2"/>
          <p:cNvSpPr>
            <a:spLocks noGrp="1"/>
          </p:cNvSpPr>
          <p:nvPr>
            <p:ph idx="1"/>
          </p:nvPr>
        </p:nvSpPr>
        <p:spPr>
          <a:xfrm>
            <a:off x="334537" y="535259"/>
            <a:ext cx="11247863" cy="6322741"/>
          </a:xfrm>
        </p:spPr>
        <p:txBody>
          <a:bodyPr>
            <a:noAutofit/>
          </a:bodyPr>
          <a:lstStyle/>
          <a:p>
            <a:pPr marL="0" indent="0">
              <a:lnSpc>
                <a:spcPct val="80000"/>
              </a:lnSpc>
              <a:buNone/>
            </a:pPr>
            <a:r>
              <a:rPr lang="ru-RU" sz="2000" dirty="0"/>
              <a:t>      Таблица называется мутирующей (</a:t>
            </a:r>
            <a:r>
              <a:rPr lang="ru-RU" sz="2000" dirty="0" err="1"/>
              <a:t>mutating</a:t>
            </a:r>
            <a:r>
              <a:rPr lang="ru-RU" sz="2000" dirty="0"/>
              <a:t> </a:t>
            </a:r>
            <a:r>
              <a:rPr lang="ru-RU" sz="2000" dirty="0" err="1"/>
              <a:t>table</a:t>
            </a:r>
            <a:r>
              <a:rPr lang="ru-RU" sz="2000" dirty="0"/>
              <a:t>) если её строки в данный момент изменяются предложением SQL. Таблицы, строки в которых изменяются из-за ссылок (ON DELETE CASCADE, ON DELETE SET NULL), также являются мутирующими. </a:t>
            </a:r>
          </a:p>
          <a:p>
            <a:pPr marL="0" indent="0">
              <a:lnSpc>
                <a:spcPct val="80000"/>
              </a:lnSpc>
              <a:buNone/>
            </a:pPr>
            <a:r>
              <a:rPr lang="ru-RU" sz="2000" dirty="0"/>
              <a:t>      Из тела триггера уровня строки нельзя </a:t>
            </a:r>
            <a:endParaRPr lang="en-US" sz="2000" dirty="0"/>
          </a:p>
          <a:p>
            <a:pPr marL="0" indent="0">
              <a:lnSpc>
                <a:spcPct val="80000"/>
              </a:lnSpc>
              <a:buNone/>
            </a:pPr>
            <a:r>
              <a:rPr lang="ru-RU" sz="2000" dirty="0"/>
              <a:t>обращаться к строкам любой таблицы, </a:t>
            </a:r>
            <a:endParaRPr lang="en-US" sz="2000" dirty="0"/>
          </a:p>
          <a:p>
            <a:pPr marL="0" indent="0">
              <a:lnSpc>
                <a:spcPct val="80000"/>
              </a:lnSpc>
              <a:buNone/>
            </a:pPr>
            <a:r>
              <a:rPr lang="ru-RU" sz="2000" dirty="0"/>
              <a:t>изменяющейся предложением SQL, </a:t>
            </a:r>
            <a:endParaRPr lang="en-US" sz="2000" dirty="0"/>
          </a:p>
          <a:p>
            <a:pPr marL="0" indent="0">
              <a:lnSpc>
                <a:spcPct val="80000"/>
              </a:lnSpc>
              <a:buNone/>
            </a:pPr>
            <a:r>
              <a:rPr lang="ru-RU" sz="2000" dirty="0"/>
              <a:t>на которое сработал триггер. </a:t>
            </a:r>
          </a:p>
          <a:p>
            <a:pPr marL="0" indent="0">
              <a:lnSpc>
                <a:spcPct val="80000"/>
              </a:lnSpc>
              <a:buNone/>
            </a:pPr>
            <a:endParaRPr lang="ru-RU" sz="2000" u="sng" dirty="0"/>
          </a:p>
          <a:p>
            <a:pPr marL="0" indent="0">
              <a:lnSpc>
                <a:spcPct val="80000"/>
              </a:lnSpc>
              <a:buNone/>
            </a:pPr>
            <a:r>
              <a:rPr lang="ru-RU" sz="2000" u="sng" dirty="0"/>
              <a:t>Пример мутирующей таблицы</a:t>
            </a:r>
            <a:r>
              <a:rPr lang="ru-RU" sz="2000" dirty="0"/>
              <a:t>:</a:t>
            </a:r>
          </a:p>
          <a:p>
            <a:pPr marL="0" indent="0">
              <a:lnSpc>
                <a:spcPct val="80000"/>
              </a:lnSpc>
              <a:buNone/>
            </a:pPr>
            <a:r>
              <a:rPr lang="en-US" sz="2000" dirty="0"/>
              <a:t>CREATE TABLE </a:t>
            </a:r>
            <a:r>
              <a:rPr lang="en-US" sz="2000" dirty="0" err="1"/>
              <a:t>tb</a:t>
            </a:r>
            <a:r>
              <a:rPr lang="en-US" sz="2000" dirty="0"/>
              <a:t> (c1 INTEGER, c2 INTEGER);</a:t>
            </a:r>
          </a:p>
          <a:p>
            <a:pPr marL="0" indent="0">
              <a:lnSpc>
                <a:spcPct val="80000"/>
              </a:lnSpc>
              <a:buNone/>
            </a:pPr>
            <a:r>
              <a:rPr lang="en-US" sz="2000" dirty="0"/>
              <a:t>INSERT INTO </a:t>
            </a:r>
            <a:r>
              <a:rPr lang="en-US" sz="2000" dirty="0" err="1"/>
              <a:t>tb</a:t>
            </a:r>
            <a:r>
              <a:rPr lang="en-US" sz="2000" dirty="0"/>
              <a:t> VALUES(1,1);</a:t>
            </a:r>
          </a:p>
          <a:p>
            <a:pPr marL="0" indent="0">
              <a:lnSpc>
                <a:spcPct val="80000"/>
              </a:lnSpc>
              <a:buNone/>
            </a:pPr>
            <a:r>
              <a:rPr lang="en-US" sz="2000" dirty="0"/>
              <a:t>INSERT INTO </a:t>
            </a:r>
            <a:r>
              <a:rPr lang="en-US" sz="2000" dirty="0" err="1"/>
              <a:t>tb</a:t>
            </a:r>
            <a:r>
              <a:rPr lang="en-US" sz="2000" dirty="0"/>
              <a:t> VALUES(2,1);</a:t>
            </a:r>
          </a:p>
          <a:p>
            <a:pPr marL="0" indent="0">
              <a:lnSpc>
                <a:spcPct val="80000"/>
              </a:lnSpc>
              <a:buNone/>
            </a:pPr>
            <a:r>
              <a:rPr lang="en-US" sz="2000" dirty="0"/>
              <a:t>CREATE OR REPLACE TRIGGER tr1</a:t>
            </a:r>
          </a:p>
          <a:p>
            <a:pPr marL="0" indent="0">
              <a:lnSpc>
                <a:spcPct val="80000"/>
              </a:lnSpc>
              <a:buNone/>
            </a:pPr>
            <a:r>
              <a:rPr lang="ru-RU" sz="2000" dirty="0"/>
              <a:t>     </a:t>
            </a:r>
            <a:r>
              <a:rPr lang="en-US" sz="2000" dirty="0"/>
              <a:t>BEFORE DELETE ON </a:t>
            </a:r>
            <a:r>
              <a:rPr lang="en-US" sz="2000" dirty="0" err="1"/>
              <a:t>tb</a:t>
            </a:r>
            <a:r>
              <a:rPr lang="en-US" sz="2000" dirty="0"/>
              <a:t> FOR EACH ROW</a:t>
            </a:r>
          </a:p>
          <a:p>
            <a:pPr marL="0" indent="0">
              <a:lnSpc>
                <a:spcPct val="80000"/>
              </a:lnSpc>
              <a:buNone/>
            </a:pPr>
            <a:r>
              <a:rPr lang="en-US" sz="2000" dirty="0"/>
              <a:t> </a:t>
            </a:r>
            <a:r>
              <a:rPr lang="ru-RU" sz="2000" dirty="0"/>
              <a:t>   </a:t>
            </a:r>
            <a:r>
              <a:rPr lang="en-US" sz="2000" dirty="0"/>
              <a:t> BEGIN</a:t>
            </a:r>
            <a:endParaRPr lang="ru-RU" sz="2000" dirty="0"/>
          </a:p>
          <a:p>
            <a:pPr marL="0" indent="0">
              <a:lnSpc>
                <a:spcPct val="80000"/>
              </a:lnSpc>
              <a:buNone/>
            </a:pPr>
            <a:r>
              <a:rPr lang="en-US" sz="2000" dirty="0"/>
              <a:t> </a:t>
            </a:r>
            <a:r>
              <a:rPr lang="ru-RU" sz="2000" dirty="0"/>
              <a:t>      </a:t>
            </a:r>
            <a:r>
              <a:rPr lang="en-US" sz="2000" dirty="0"/>
              <a:t> IF :OLD.c1=:OLD.c2 THEN</a:t>
            </a:r>
          </a:p>
          <a:p>
            <a:pPr marL="0" indent="0">
              <a:lnSpc>
                <a:spcPct val="80000"/>
              </a:lnSpc>
              <a:buNone/>
            </a:pPr>
            <a:r>
              <a:rPr lang="en-US" sz="2000" dirty="0"/>
              <a:t> </a:t>
            </a:r>
            <a:r>
              <a:rPr lang="ru-RU" sz="2000" dirty="0"/>
              <a:t>      </a:t>
            </a:r>
            <a:r>
              <a:rPr lang="en-US" sz="2000" dirty="0"/>
              <a:t> UPDATE </a:t>
            </a:r>
            <a:r>
              <a:rPr lang="en-US" sz="2000" dirty="0" err="1"/>
              <a:t>tb</a:t>
            </a:r>
            <a:r>
              <a:rPr lang="en-US" sz="2000" dirty="0"/>
              <a:t> SET c2=NULL</a:t>
            </a:r>
          </a:p>
          <a:p>
            <a:pPr marL="0" indent="0">
              <a:lnSpc>
                <a:spcPct val="80000"/>
              </a:lnSpc>
              <a:buNone/>
            </a:pPr>
            <a:r>
              <a:rPr lang="ru-RU" sz="2000" dirty="0"/>
              <a:t>       </a:t>
            </a:r>
            <a:r>
              <a:rPr lang="en-US" sz="2000" dirty="0"/>
              <a:t> WHERE c2=:OLD.c1;</a:t>
            </a:r>
          </a:p>
          <a:p>
            <a:pPr marL="0" indent="0">
              <a:lnSpc>
                <a:spcPct val="80000"/>
              </a:lnSpc>
              <a:buNone/>
            </a:pPr>
            <a:r>
              <a:rPr lang="en-US" sz="2000" dirty="0"/>
              <a:t> </a:t>
            </a:r>
            <a:r>
              <a:rPr lang="ru-RU" sz="2000" dirty="0"/>
              <a:t>   </a:t>
            </a:r>
            <a:r>
              <a:rPr lang="en-US" sz="2000" dirty="0"/>
              <a:t> END IF;</a:t>
            </a:r>
          </a:p>
          <a:p>
            <a:pPr marL="0" indent="0">
              <a:lnSpc>
                <a:spcPct val="80000"/>
              </a:lnSpc>
              <a:buNone/>
            </a:pPr>
            <a:r>
              <a:rPr lang="en-US" sz="2000" dirty="0"/>
              <a:t> END;</a:t>
            </a:r>
          </a:p>
          <a:p>
            <a:pPr marL="0" indent="0">
              <a:lnSpc>
                <a:spcPct val="80000"/>
              </a:lnSpc>
              <a:buNone/>
            </a:pPr>
            <a:r>
              <a:rPr lang="en-US" sz="2000" dirty="0"/>
              <a:t> /</a:t>
            </a:r>
          </a:p>
        </p:txBody>
      </p:sp>
      <p:pic>
        <p:nvPicPr>
          <p:cNvPr id="4" name="Рисунок 3"/>
          <p:cNvPicPr>
            <a:picLocks noChangeAspect="1"/>
          </p:cNvPicPr>
          <p:nvPr/>
        </p:nvPicPr>
        <p:blipFill>
          <a:blip r:embed="rId2"/>
          <a:stretch>
            <a:fillRect/>
          </a:stretch>
        </p:blipFill>
        <p:spPr>
          <a:xfrm>
            <a:off x="4941864" y="1573623"/>
            <a:ext cx="7221326" cy="5027899"/>
          </a:xfrm>
          <a:prstGeom prst="rect">
            <a:avLst/>
          </a:prstGeom>
        </p:spPr>
      </p:pic>
      <p:sp>
        <p:nvSpPr>
          <p:cNvPr id="5" name="Номер слайда 4"/>
          <p:cNvSpPr>
            <a:spLocks noGrp="1"/>
          </p:cNvSpPr>
          <p:nvPr>
            <p:ph type="sldNum" sz="quarter" idx="12"/>
          </p:nvPr>
        </p:nvSpPr>
        <p:spPr/>
        <p:txBody>
          <a:bodyPr/>
          <a:lstStyle/>
          <a:p>
            <a:fld id="{F6897B34-D6E2-4952-A4EE-BEF9CE40CFF9}" type="slidenum">
              <a:rPr lang="ru-RU" smtClean="0">
                <a:solidFill>
                  <a:prstClr val="black">
                    <a:tint val="75000"/>
                  </a:prstClr>
                </a:solidFill>
              </a:rPr>
              <a:pPr/>
              <a:t>49</a:t>
            </a:fld>
            <a:endParaRPr lang="ru-RU">
              <a:solidFill>
                <a:prstClr val="black">
                  <a:tint val="75000"/>
                </a:prstClr>
              </a:solidFill>
            </a:endParaRPr>
          </a:p>
        </p:txBody>
      </p:sp>
    </p:spTree>
    <p:extLst>
      <p:ext uri="{BB962C8B-B14F-4D97-AF65-F5344CB8AC3E}">
        <p14:creationId xmlns:p14="http://schemas.microsoft.com/office/powerpoint/2010/main" val="3807848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2576002" y="1339580"/>
            <a:ext cx="7471245" cy="4810884"/>
          </a:xfrm>
          <a:prstGeom prst="rect">
            <a:avLst/>
          </a:prstGeom>
        </p:spPr>
      </p:pic>
      <p:sp>
        <p:nvSpPr>
          <p:cNvPr id="2" name="Заголовок 1"/>
          <p:cNvSpPr>
            <a:spLocks noGrp="1"/>
          </p:cNvSpPr>
          <p:nvPr>
            <p:ph type="title"/>
          </p:nvPr>
        </p:nvSpPr>
        <p:spPr>
          <a:xfrm>
            <a:off x="1761893" y="0"/>
            <a:ext cx="9630937" cy="1143000"/>
          </a:xfrm>
        </p:spPr>
        <p:txBody>
          <a:bodyPr/>
          <a:lstStyle/>
          <a:p>
            <a:r>
              <a:rPr lang="ru-RU" sz="3200" dirty="0">
                <a:solidFill>
                  <a:srgbClr val="FF0000"/>
                </a:solidFill>
              </a:rPr>
              <a:t>Мутирующие таблицы. Совсем дурной пример</a:t>
            </a:r>
            <a:endParaRPr lang="ru-RU" dirty="0"/>
          </a:p>
        </p:txBody>
      </p:sp>
      <p:sp>
        <p:nvSpPr>
          <p:cNvPr id="4" name="Номер слайда 3"/>
          <p:cNvSpPr>
            <a:spLocks noGrp="1"/>
          </p:cNvSpPr>
          <p:nvPr>
            <p:ph type="sldNum" sz="quarter" idx="12"/>
          </p:nvPr>
        </p:nvSpPr>
        <p:spPr/>
        <p:txBody>
          <a:bodyPr/>
          <a:lstStyle/>
          <a:p>
            <a:fld id="{F6897B34-D6E2-4952-A4EE-BEF9CE40CFF9}" type="slidenum">
              <a:rPr lang="ru-RU" smtClean="0">
                <a:solidFill>
                  <a:prstClr val="black">
                    <a:tint val="75000"/>
                  </a:prstClr>
                </a:solidFill>
              </a:rPr>
              <a:pPr/>
              <a:t>50</a:t>
            </a:fld>
            <a:endParaRPr lang="ru-RU">
              <a:solidFill>
                <a:prstClr val="black">
                  <a:tint val="75000"/>
                </a:prstClr>
              </a:solidFill>
            </a:endParaRPr>
          </a:p>
        </p:txBody>
      </p:sp>
    </p:spTree>
    <p:extLst>
      <p:ext uri="{BB962C8B-B14F-4D97-AF65-F5344CB8AC3E}">
        <p14:creationId xmlns:p14="http://schemas.microsoft.com/office/powerpoint/2010/main" val="19341917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5640</TotalTime>
  <Words>5997</Words>
  <Application>Microsoft Office PowerPoint</Application>
  <PresentationFormat>Широкоэкранный</PresentationFormat>
  <Paragraphs>819</Paragraphs>
  <Slides>50</Slides>
  <Notes>1</Notes>
  <HiddenSlides>0</HiddenSlides>
  <MMClips>0</MMClips>
  <ScaleCrop>false</ScaleCrop>
  <HeadingPairs>
    <vt:vector size="8" baseType="variant">
      <vt:variant>
        <vt:lpstr>Использованные шрифты</vt:lpstr>
      </vt:variant>
      <vt:variant>
        <vt:i4>10</vt:i4>
      </vt:variant>
      <vt:variant>
        <vt:lpstr>Тема</vt:lpstr>
      </vt:variant>
      <vt:variant>
        <vt:i4>3</vt:i4>
      </vt:variant>
      <vt:variant>
        <vt:lpstr>Внедренные серверы OLE</vt:lpstr>
      </vt:variant>
      <vt:variant>
        <vt:i4>1</vt:i4>
      </vt:variant>
      <vt:variant>
        <vt:lpstr>Заголовки слайдов</vt:lpstr>
      </vt:variant>
      <vt:variant>
        <vt:i4>50</vt:i4>
      </vt:variant>
    </vt:vector>
  </HeadingPairs>
  <TitlesOfParts>
    <vt:vector size="64" baseType="lpstr">
      <vt:lpstr>-apple-system</vt:lpstr>
      <vt:lpstr>Arial</vt:lpstr>
      <vt:lpstr>Calibri</vt:lpstr>
      <vt:lpstr>Calibri Light</vt:lpstr>
      <vt:lpstr>Helvetica Neue</vt:lpstr>
      <vt:lpstr>inherit</vt:lpstr>
      <vt:lpstr>Lucida Grande</vt:lpstr>
      <vt:lpstr>Monaco</vt:lpstr>
      <vt:lpstr>Times New Roman</vt:lpstr>
      <vt:lpstr>verdana</vt:lpstr>
      <vt:lpstr>Тема Office</vt:lpstr>
      <vt:lpstr>1_Тема Office</vt:lpstr>
      <vt:lpstr>2_Тема Office</vt:lpstr>
      <vt:lpstr>Документ</vt:lpstr>
      <vt:lpstr>PL/SQL Введение</vt:lpstr>
      <vt:lpstr> Блок в языке PL/SQL </vt:lpstr>
      <vt:lpstr>Предопределённые типы данных в PL/SQL    1/4</vt:lpstr>
      <vt:lpstr>Типы данных в PL/SQL    2/4</vt:lpstr>
      <vt:lpstr> Типы данных в PL/SQL    3/4 </vt:lpstr>
      <vt:lpstr> Типы данных в PL/SQL    4/4 </vt:lpstr>
      <vt:lpstr>Пример блока</vt:lpstr>
      <vt:lpstr> SQL внутри PL/SQL </vt:lpstr>
      <vt:lpstr> Разветвления и циклы </vt:lpstr>
      <vt:lpstr>Примеры циклов </vt:lpstr>
      <vt:lpstr>Процедуры и функции (1/3)</vt:lpstr>
      <vt:lpstr>Процедуры и функции (2/3)</vt:lpstr>
      <vt:lpstr>Процедуры и функции (3/3)</vt:lpstr>
      <vt:lpstr>Сведения о процедурах и функциях</vt:lpstr>
      <vt:lpstr> Пакеты </vt:lpstr>
      <vt:lpstr>Пакеты. Команды</vt:lpstr>
      <vt:lpstr>CREATE PACKAGE/PACKAGE BODY</vt:lpstr>
      <vt:lpstr>Пакеты. Упрощённый синтаксис </vt:lpstr>
      <vt:lpstr>Пакеты. Команда ALTER PACKAGE</vt:lpstr>
      <vt:lpstr>Пример. Спецификация, тело пакета  и его вызов</vt:lpstr>
      <vt:lpstr>Одноразовые  процедуры</vt:lpstr>
      <vt:lpstr>Примеры использования пакетов Oracle</vt:lpstr>
      <vt:lpstr>Курсоры</vt:lpstr>
      <vt:lpstr>Разновидности курсоров</vt:lpstr>
      <vt:lpstr>Синтаксис курсора 1/2</vt:lpstr>
      <vt:lpstr>Синтаксис курсора 2/2</vt:lpstr>
      <vt:lpstr>Атрибуты курсора</vt:lpstr>
      <vt:lpstr>Пример курсора</vt:lpstr>
      <vt:lpstr>Неявные курсоры быстрее</vt:lpstr>
      <vt:lpstr>Курсорный цикл FOR</vt:lpstr>
      <vt:lpstr>Ещё пример курсорного FOR</vt:lpstr>
      <vt:lpstr>Триггеры</vt:lpstr>
      <vt:lpstr>Необходимые привилегии</vt:lpstr>
      <vt:lpstr>Управление триггерами</vt:lpstr>
      <vt:lpstr>Триггеры DML</vt:lpstr>
      <vt:lpstr>Синтаксис триггеров DML 1/3</vt:lpstr>
      <vt:lpstr>Синтаксис триггеров DML 2/3</vt:lpstr>
      <vt:lpstr>Синтаксис триггеров DML 3/3</vt:lpstr>
      <vt:lpstr>Зачем нужны триггеры. Псевдозаписи</vt:lpstr>
      <vt:lpstr>Примеры триггеров 1/2</vt:lpstr>
      <vt:lpstr>Примеры триггеров2/2</vt:lpstr>
      <vt:lpstr>Пример триггера на системное событие</vt:lpstr>
      <vt:lpstr>Триггеры INSTEAD OF</vt:lpstr>
      <vt:lpstr>Триггеры INSTEAD OF. Фраза instead_of_dml_trigger </vt:lpstr>
      <vt:lpstr>Триггеры INSTEAD OF. Простейший пример 1/4</vt:lpstr>
      <vt:lpstr>Триггеры INSTEAD OF. Простейший пример 2/4</vt:lpstr>
      <vt:lpstr>Триггеры INSTEAD OF. Простейший пример 3/4</vt:lpstr>
      <vt:lpstr> Триггеры INSTEAD OF. Простейший пример 4/4</vt:lpstr>
      <vt:lpstr>Мутирующие таблицы</vt:lpstr>
      <vt:lpstr>Мутирующие таблицы. Совсем дурной пример</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PL/SQL Введение</dc:title>
  <dc:creator>Bessarabov</dc:creator>
  <cp:lastModifiedBy>Nikolay Bessarabov</cp:lastModifiedBy>
  <cp:revision>145</cp:revision>
  <dcterms:created xsi:type="dcterms:W3CDTF">2018-07-05T17:57:30Z</dcterms:created>
  <dcterms:modified xsi:type="dcterms:W3CDTF">2021-11-10T15:21:56Z</dcterms:modified>
</cp:coreProperties>
</file>