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77" r:id="rId4"/>
    <p:sldId id="258" r:id="rId5"/>
    <p:sldId id="261" r:id="rId6"/>
    <p:sldId id="263" r:id="rId7"/>
    <p:sldId id="280" r:id="rId8"/>
    <p:sldId id="286" r:id="rId9"/>
    <p:sldId id="281" r:id="rId10"/>
    <p:sldId id="264" r:id="rId11"/>
    <p:sldId id="265" r:id="rId12"/>
    <p:sldId id="274" r:id="rId13"/>
    <p:sldId id="284" r:id="rId14"/>
    <p:sldId id="285" r:id="rId15"/>
    <p:sldId id="282" r:id="rId16"/>
    <p:sldId id="283" r:id="rId17"/>
    <p:sldId id="287" r:id="rId18"/>
    <p:sldId id="288" r:id="rId19"/>
    <p:sldId id="278" r:id="rId20"/>
    <p:sldId id="275" r:id="rId21"/>
    <p:sldId id="279" r:id="rId22"/>
    <p:sldId id="268" r:id="rId23"/>
    <p:sldId id="272" r:id="rId24"/>
    <p:sldId id="270"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7" autoAdjust="0"/>
    <p:restoredTop sz="94660"/>
  </p:normalViewPr>
  <p:slideViewPr>
    <p:cSldViewPr snapToGrid="0">
      <p:cViewPr varScale="1">
        <p:scale>
          <a:sx n="110" d="100"/>
          <a:sy n="110" d="100"/>
        </p:scale>
        <p:origin x="9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303943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1666919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1101945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0B1BE488-483C-4564-B126-F4DE6AAC52EE}" type="datetimeFigureOut">
              <a:rPr lang="ru-RU" smtClean="0"/>
              <a:t>12.09.2022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6724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0B1BE488-483C-4564-B126-F4DE6AAC52EE}" type="datetimeFigureOut">
              <a:rPr lang="ru-RU" smtClean="0"/>
              <a:t>12.09.2022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163404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0B1BE488-483C-4564-B126-F4DE6AAC52EE}" type="datetimeFigureOut">
              <a:rPr lang="ru-RU" smtClean="0"/>
              <a:t>12.09.2022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2196784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B1BE488-483C-4564-B126-F4DE6AAC52EE}" type="datetimeFigureOut">
              <a:rPr lang="ru-RU" smtClean="0"/>
              <a:t>12.09.2022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96637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B1BE488-483C-4564-B126-F4DE6AAC52EE}" type="datetimeFigureOut">
              <a:rPr lang="ru-RU" smtClean="0"/>
              <a:t>12.09.2022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31708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B1BE488-483C-4564-B126-F4DE6AAC52EE}" type="datetimeFigureOut">
              <a:rPr lang="ru-RU" smtClean="0"/>
              <a:t>12.09.2022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186214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1472658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369A1349-0766-4C3C-91C5-53102CF912AB}" type="slidenum">
              <a:rPr lang="ru-RU" smtClean="0"/>
              <a:t>‹#›</a:t>
            </a:fld>
            <a:endParaRPr lang="ru-RU"/>
          </a:p>
        </p:txBody>
      </p:sp>
    </p:spTree>
    <p:extLst>
      <p:ext uri="{BB962C8B-B14F-4D97-AF65-F5344CB8AC3E}">
        <p14:creationId xmlns:p14="http://schemas.microsoft.com/office/powerpoint/2010/main" val="3443589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1BE488-483C-4564-B126-F4DE6AAC52EE}" type="datetimeFigureOut">
              <a:rPr lang="ru-RU" smtClean="0"/>
              <a:t>12.09.2022</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A1349-0766-4C3C-91C5-53102CF912AB}" type="slidenum">
              <a:rPr lang="ru-RU" smtClean="0"/>
              <a:t>‹#›</a:t>
            </a:fld>
            <a:endParaRPr lang="ru-RU"/>
          </a:p>
        </p:txBody>
      </p:sp>
    </p:spTree>
    <p:extLst>
      <p:ext uri="{BB962C8B-B14F-4D97-AF65-F5344CB8AC3E}">
        <p14:creationId xmlns:p14="http://schemas.microsoft.com/office/powerpoint/2010/main" val="187620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sz="4000" dirty="0"/>
              <a:t>Что такое </a:t>
            </a:r>
            <a:r>
              <a:rPr lang="en-US" sz="4000" dirty="0"/>
              <a:t>NoSQL</a:t>
            </a:r>
            <a:endParaRPr lang="ru-RU" sz="4000" dirty="0"/>
          </a:p>
        </p:txBody>
      </p:sp>
      <p:sp>
        <p:nvSpPr>
          <p:cNvPr id="3" name="Подзаголовок 2"/>
          <p:cNvSpPr>
            <a:spLocks noGrp="1"/>
          </p:cNvSpPr>
          <p:nvPr>
            <p:ph type="subTitle" idx="1"/>
          </p:nvPr>
        </p:nvSpPr>
        <p:spPr>
          <a:xfrm>
            <a:off x="1524000" y="3602038"/>
            <a:ext cx="9144000" cy="2005896"/>
          </a:xfrm>
        </p:spPr>
        <p:txBody>
          <a:bodyPr>
            <a:normAutofit/>
          </a:bodyPr>
          <a:lstStyle/>
          <a:p>
            <a:r>
              <a:rPr lang="ru-RU" dirty="0"/>
              <a:t>БД NoSQL – отличный выбор для приложений с высокой пропускной способностью и низкой задержкой, в которых требуется горизонтальное масштабирование</a:t>
            </a:r>
            <a:r>
              <a:rPr lang="ru-RU" dirty="0" smtClean="0"/>
              <a:t>.</a:t>
            </a:r>
          </a:p>
          <a:p>
            <a:endParaRPr lang="ru-RU" dirty="0"/>
          </a:p>
          <a:p>
            <a:r>
              <a:rPr lang="en-US" dirty="0"/>
              <a:t>E-mail: </a:t>
            </a:r>
            <a:r>
              <a:rPr lang="en-US" dirty="0" smtClean="0"/>
              <a:t>evdokimovmail27@gmail.com</a:t>
            </a:r>
            <a:endParaRPr lang="en-US" dirty="0"/>
          </a:p>
          <a:p>
            <a:endParaRPr lang="ru-RU" dirty="0"/>
          </a:p>
        </p:txBody>
      </p:sp>
    </p:spTree>
    <p:extLst>
      <p:ext uri="{BB962C8B-B14F-4D97-AF65-F5344CB8AC3E}">
        <p14:creationId xmlns:p14="http://schemas.microsoft.com/office/powerpoint/2010/main" val="4289736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531628"/>
          </a:xfrm>
        </p:spPr>
        <p:txBody>
          <a:bodyPr>
            <a:normAutofit/>
          </a:bodyPr>
          <a:lstStyle/>
          <a:p>
            <a:pPr algn="ctr"/>
            <a:r>
              <a:rPr lang="ru-RU" sz="3200" dirty="0">
                <a:solidFill>
                  <a:srgbClr val="FF0000"/>
                </a:solidFill>
              </a:rPr>
              <a:t>Контекст моделей </a:t>
            </a:r>
            <a:r>
              <a:rPr lang="en-US" sz="3200" dirty="0">
                <a:solidFill>
                  <a:srgbClr val="FF0000"/>
                </a:solidFill>
              </a:rPr>
              <a:t>NoSQL</a:t>
            </a:r>
            <a:endParaRPr lang="ru-RU" sz="3200" dirty="0">
              <a:solidFill>
                <a:srgbClr val="FF0000"/>
              </a:solidFill>
            </a:endParaRPr>
          </a:p>
        </p:txBody>
      </p:sp>
      <p:sp>
        <p:nvSpPr>
          <p:cNvPr id="3" name="Объект 2"/>
          <p:cNvSpPr>
            <a:spLocks noGrp="1"/>
          </p:cNvSpPr>
          <p:nvPr>
            <p:ph idx="1"/>
          </p:nvPr>
        </p:nvSpPr>
        <p:spPr>
          <a:xfrm>
            <a:off x="838200" y="531629"/>
            <a:ext cx="10515600" cy="6326370"/>
          </a:xfrm>
        </p:spPr>
        <p:txBody>
          <a:bodyPr>
            <a:normAutofit fontScale="92500" lnSpcReduction="20000"/>
          </a:bodyPr>
          <a:lstStyle/>
          <a:p>
            <a:pPr marL="0" indent="360000">
              <a:buNone/>
            </a:pPr>
            <a:r>
              <a:rPr lang="ru-RU" sz="2000" dirty="0"/>
              <a:t>Прежде чем начать изучение модели данных </a:t>
            </a:r>
            <a:r>
              <a:rPr lang="ru-RU" sz="2000" dirty="0" err="1"/>
              <a:t>NoSQL</a:t>
            </a:r>
            <a:r>
              <a:rPr lang="ru-RU" sz="2000" dirty="0"/>
              <a:t>, уточним некоторые детали контекста, в котором проявляются особенности этих моделей.</a:t>
            </a:r>
            <a:r>
              <a:rPr lang="en-US" sz="2000" dirty="0"/>
              <a:t> </a:t>
            </a:r>
            <a:r>
              <a:rPr lang="ru-RU" sz="2000" dirty="0"/>
              <a:t>Имеет смысл рассмотреть:</a:t>
            </a:r>
            <a:endParaRPr lang="en-US" sz="2000" dirty="0"/>
          </a:p>
          <a:p>
            <a:pPr marL="457200" indent="-457200">
              <a:buAutoNum type="arabicPeriod"/>
            </a:pPr>
            <a:r>
              <a:rPr lang="en-US" sz="2000" dirty="0"/>
              <a:t>Object-Relational Impedance Mismatch</a:t>
            </a:r>
            <a:r>
              <a:rPr lang="ru-RU" sz="2000" dirty="0"/>
              <a:t>,</a:t>
            </a:r>
          </a:p>
          <a:p>
            <a:pPr marL="457200" indent="-457200">
              <a:buAutoNum type="arabicPeriod"/>
            </a:pPr>
            <a:r>
              <a:rPr lang="ru-RU" sz="2000" dirty="0"/>
              <a:t>архитектуру клиент-сервер,</a:t>
            </a:r>
          </a:p>
          <a:p>
            <a:pPr marL="457200" indent="-457200">
              <a:buAutoNum type="arabicPeriod"/>
            </a:pPr>
            <a:r>
              <a:rPr lang="ru-RU" sz="2000" dirty="0"/>
              <a:t>структурированные, неструктурированные и </a:t>
            </a:r>
            <a:r>
              <a:rPr lang="ru-RU" sz="2000" dirty="0" err="1"/>
              <a:t>полуструктурированные</a:t>
            </a:r>
            <a:r>
              <a:rPr lang="ru-RU" sz="2000" dirty="0"/>
              <a:t> данные,</a:t>
            </a:r>
          </a:p>
          <a:p>
            <a:pPr marL="457200" indent="-457200">
              <a:buAutoNum type="arabicPeriod"/>
            </a:pPr>
            <a:r>
              <a:rPr lang="ru-RU" sz="2000" dirty="0"/>
              <a:t>репликацию, партицирование и шардинг,</a:t>
            </a:r>
          </a:p>
          <a:p>
            <a:pPr marL="457200" indent="-457200">
              <a:buAutoNum type="arabicPeriod"/>
            </a:pPr>
            <a:r>
              <a:rPr lang="en-US" sz="2000" dirty="0"/>
              <a:t>CAP-</a:t>
            </a:r>
            <a:r>
              <a:rPr lang="ru-RU" sz="2000" dirty="0"/>
              <a:t>теорему,</a:t>
            </a:r>
          </a:p>
          <a:p>
            <a:pPr marL="457200" indent="-457200">
              <a:buAutoNum type="arabicPeriod"/>
            </a:pPr>
            <a:r>
              <a:rPr lang="ru-RU" sz="2000" dirty="0"/>
              <a:t>большие данные.</a:t>
            </a:r>
          </a:p>
          <a:p>
            <a:pPr marL="0" lvl="0" indent="0" algn="ctr">
              <a:buNone/>
            </a:pPr>
            <a:r>
              <a:rPr lang="en-US" sz="2100" dirty="0">
                <a:solidFill>
                  <a:srgbClr val="FF0000"/>
                </a:solidFill>
              </a:rPr>
              <a:t>Object-Relational Impedance Mismatch</a:t>
            </a:r>
            <a:endParaRPr lang="ru-RU" sz="2100" dirty="0">
              <a:solidFill>
                <a:prstClr val="black"/>
              </a:solidFill>
            </a:endParaRPr>
          </a:p>
          <a:p>
            <a:pPr marL="0" indent="360000">
              <a:buNone/>
            </a:pPr>
            <a:r>
              <a:rPr lang="ru-RU" sz="2000" dirty="0"/>
              <a:t>Применительно к реляционным/табличным  моделям данных проблема несоответствия моделей известна давно и даже получила специальное название </a:t>
            </a:r>
            <a:r>
              <a:rPr lang="en-US" sz="2000" dirty="0"/>
              <a:t>Object-Relational Impedance Mismatch</a:t>
            </a:r>
            <a:r>
              <a:rPr lang="ru-RU" sz="2000" dirty="0"/>
              <a:t>. </a:t>
            </a:r>
          </a:p>
          <a:p>
            <a:pPr marL="0" indent="360000">
              <a:buNone/>
            </a:pPr>
            <a:r>
              <a:rPr lang="ru-RU" sz="2000" dirty="0"/>
              <a:t> Дело в том, что реляционная модель описывает структуру, а объектная ещё и поведение. Реляционная модель не учитывают явно такие особенности, как наследование и полиморфизм. Конечно, всю цепочку наследования можно хранить в одной таблице, помещая где нужно пустые поля. </a:t>
            </a:r>
          </a:p>
          <a:p>
            <a:pPr marL="0" indent="360000">
              <a:buNone/>
            </a:pPr>
            <a:r>
              <a:rPr lang="ru-RU" sz="2000" dirty="0"/>
              <a:t>В объектной модели могут существовать два с реляционной точки зрения совершенно одинаковых экземпляра класса, но они не могут быть разными строками в таблице.</a:t>
            </a:r>
          </a:p>
          <a:p>
            <a:pPr marL="0" indent="360000">
              <a:buNone/>
            </a:pPr>
            <a:r>
              <a:rPr lang="ru-RU" sz="2000" dirty="0"/>
              <a:t> Проблема реляционной модели ещё и в том , что при изменение формата данных, например, при наследовании, на реляционной стороне необходимо внести изменения в существующие данные. В некоторой СУБД в этом случае просто переписывают всю таблицу.</a:t>
            </a:r>
          </a:p>
          <a:p>
            <a:pPr marL="0" indent="360000">
              <a:buNone/>
            </a:pPr>
            <a:r>
              <a:rPr lang="ru-RU" sz="2000" dirty="0"/>
              <a:t>Существует так называемые ORM </a:t>
            </a:r>
            <a:r>
              <a:rPr lang="ru-RU" sz="2000" dirty="0" err="1"/>
              <a:t>фреймворки</a:t>
            </a:r>
            <a:r>
              <a:rPr lang="ru-RU" sz="2000" dirty="0"/>
              <a:t>, например, </a:t>
            </a:r>
            <a:r>
              <a:rPr lang="ru-RU" sz="2000" dirty="0" err="1"/>
              <a:t>Hibernate</a:t>
            </a:r>
            <a:r>
              <a:rPr lang="ru-RU" sz="2000" dirty="0"/>
              <a:t>, решающие проблемы несоответствия.</a:t>
            </a:r>
          </a:p>
          <a:p>
            <a:pPr marL="457200" indent="-457200">
              <a:buAutoNum type="arabicPeriod"/>
            </a:pPr>
            <a:endParaRPr lang="ru-RU" sz="2000" dirty="0"/>
          </a:p>
          <a:p>
            <a:pPr marL="457200" indent="-457200">
              <a:buAutoNum type="arabicPeriod"/>
            </a:pPr>
            <a:endParaRPr lang="ru-RU" sz="2000" dirty="0"/>
          </a:p>
        </p:txBody>
      </p:sp>
    </p:spTree>
    <p:extLst>
      <p:ext uri="{BB962C8B-B14F-4D97-AF65-F5344CB8AC3E}">
        <p14:creationId xmlns:p14="http://schemas.microsoft.com/office/powerpoint/2010/main" val="3148308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5021454" y="1398773"/>
            <a:ext cx="6717828" cy="4392426"/>
          </a:xfrm>
          <a:prstGeom prst="rect">
            <a:avLst/>
          </a:prstGeom>
        </p:spPr>
      </p:pic>
      <p:sp>
        <p:nvSpPr>
          <p:cNvPr id="2" name="Заголовок 1"/>
          <p:cNvSpPr>
            <a:spLocks noGrp="1"/>
          </p:cNvSpPr>
          <p:nvPr>
            <p:ph type="title"/>
          </p:nvPr>
        </p:nvSpPr>
        <p:spPr>
          <a:xfrm>
            <a:off x="838200" y="0"/>
            <a:ext cx="10515600" cy="551329"/>
          </a:xfrm>
        </p:spPr>
        <p:txBody>
          <a:bodyPr>
            <a:normAutofit/>
          </a:bodyPr>
          <a:lstStyle/>
          <a:p>
            <a:pPr algn="ctr"/>
            <a:r>
              <a:rPr lang="ru-RU" sz="3200" dirty="0">
                <a:solidFill>
                  <a:srgbClr val="FF0000"/>
                </a:solidFill>
              </a:rPr>
              <a:t>Что такое архитектура клиент-сервер</a:t>
            </a:r>
          </a:p>
        </p:txBody>
      </p:sp>
      <p:sp>
        <p:nvSpPr>
          <p:cNvPr id="3" name="Объект 2"/>
          <p:cNvSpPr>
            <a:spLocks noGrp="1"/>
          </p:cNvSpPr>
          <p:nvPr>
            <p:ph idx="1"/>
          </p:nvPr>
        </p:nvSpPr>
        <p:spPr>
          <a:xfrm>
            <a:off x="838200" y="551329"/>
            <a:ext cx="10188388" cy="6306671"/>
          </a:xfrm>
        </p:spPr>
        <p:txBody>
          <a:bodyPr>
            <a:normAutofit fontScale="62500" lnSpcReduction="20000"/>
          </a:bodyPr>
          <a:lstStyle/>
          <a:p>
            <a:pPr marL="0" indent="360000">
              <a:buNone/>
            </a:pPr>
            <a:r>
              <a:rPr lang="ru-RU" sz="3200" b="1" dirty="0"/>
              <a:t>Клиент-сервер</a:t>
            </a:r>
            <a:r>
              <a:rPr lang="ru-RU" sz="3200" dirty="0"/>
              <a:t> – это сетевая архитектура, в которой имеются поставщики услуг (или сервисов), называемые серверами, и заказчики услуг, называемые клиентами. Для работы с СУБД, часто используют многоуровневую модель. </a:t>
            </a:r>
          </a:p>
          <a:p>
            <a:pPr marL="0" indent="0">
              <a:lnSpc>
                <a:spcPct val="120000"/>
              </a:lnSpc>
              <a:buNone/>
            </a:pPr>
            <a:r>
              <a:rPr lang="ru-RU" sz="3200" dirty="0"/>
              <a:t>В ней обычно имеется один или несколько </a:t>
            </a:r>
          </a:p>
          <a:p>
            <a:pPr marL="0" indent="0">
              <a:lnSpc>
                <a:spcPct val="120000"/>
              </a:lnSpc>
              <a:buNone/>
            </a:pPr>
            <a:r>
              <a:rPr lang="ru-RU" sz="3200" dirty="0"/>
              <a:t>серверов баз данных и один или </a:t>
            </a:r>
          </a:p>
          <a:p>
            <a:pPr marL="0" indent="0">
              <a:lnSpc>
                <a:spcPct val="120000"/>
              </a:lnSpc>
              <a:buNone/>
            </a:pPr>
            <a:r>
              <a:rPr lang="ru-RU" sz="3200" dirty="0"/>
              <a:t>несколько серверов приложений, </a:t>
            </a:r>
          </a:p>
          <a:p>
            <a:pPr marL="0" indent="0">
              <a:lnSpc>
                <a:spcPct val="120000"/>
              </a:lnSpc>
              <a:buNone/>
            </a:pPr>
            <a:r>
              <a:rPr lang="ru-RU" sz="3200" dirty="0"/>
              <a:t>разделяющих функции обработки </a:t>
            </a:r>
          </a:p>
          <a:p>
            <a:pPr marL="0" indent="0">
              <a:lnSpc>
                <a:spcPct val="120000"/>
              </a:lnSpc>
              <a:buNone/>
            </a:pPr>
            <a:r>
              <a:rPr lang="ru-RU" sz="3200" dirty="0"/>
              <a:t>и представления данных.</a:t>
            </a:r>
          </a:p>
          <a:p>
            <a:pPr marL="0" indent="0">
              <a:lnSpc>
                <a:spcPct val="100000"/>
              </a:lnSpc>
              <a:buNone/>
            </a:pPr>
            <a:r>
              <a:rPr lang="ru-RU" sz="3200" dirty="0"/>
              <a:t>Частный случай -- сервер </a:t>
            </a:r>
            <a:r>
              <a:rPr lang="en-US" sz="3200" dirty="0"/>
              <a:t>http</a:t>
            </a:r>
            <a:r>
              <a:rPr lang="ru-RU" sz="3200" dirty="0"/>
              <a:t>.</a:t>
            </a:r>
          </a:p>
          <a:p>
            <a:pPr marL="0" indent="0">
              <a:lnSpc>
                <a:spcPct val="100000"/>
              </a:lnSpc>
              <a:buNone/>
            </a:pPr>
            <a:r>
              <a:rPr lang="ru-RU" sz="3200" dirty="0"/>
              <a:t>Архитектура клиент-сервер допускает </a:t>
            </a:r>
          </a:p>
          <a:p>
            <a:pPr marL="0" indent="0">
              <a:lnSpc>
                <a:spcPct val="100000"/>
              </a:lnSpc>
              <a:buNone/>
            </a:pPr>
            <a:r>
              <a:rPr lang="ru-RU" sz="3200" dirty="0"/>
              <a:t>использование кластеров серверов, </a:t>
            </a:r>
          </a:p>
          <a:p>
            <a:pPr marL="0" indent="0">
              <a:lnSpc>
                <a:spcPct val="100000"/>
              </a:lnSpc>
              <a:buNone/>
            </a:pPr>
            <a:r>
              <a:rPr lang="ru-RU" sz="3200" dirty="0"/>
              <a:t>в которых могут использоваться </a:t>
            </a:r>
          </a:p>
          <a:p>
            <a:pPr marL="0" indent="0">
              <a:lnSpc>
                <a:spcPct val="100000"/>
              </a:lnSpc>
              <a:buNone/>
            </a:pPr>
            <a:r>
              <a:rPr lang="ru-RU" sz="3200" dirty="0" err="1"/>
              <a:t>балансировщики</a:t>
            </a:r>
            <a:r>
              <a:rPr lang="ru-RU" sz="3200" dirty="0"/>
              <a:t> нагрузки отдельных </a:t>
            </a:r>
          </a:p>
          <a:p>
            <a:pPr marL="0" indent="0">
              <a:lnSpc>
                <a:spcPct val="100000"/>
              </a:lnSpc>
              <a:buNone/>
            </a:pPr>
            <a:r>
              <a:rPr lang="ru-RU" sz="3200" dirty="0"/>
              <a:t>серверов. Это, по сути дела, </a:t>
            </a:r>
          </a:p>
          <a:p>
            <a:pPr marL="0" indent="0">
              <a:lnSpc>
                <a:spcPct val="100000"/>
              </a:lnSpc>
              <a:buNone/>
            </a:pPr>
            <a:r>
              <a:rPr lang="ru-RU" sz="3200" dirty="0"/>
              <a:t>системы горячего резервирования.</a:t>
            </a:r>
          </a:p>
          <a:p>
            <a:pPr marL="0" indent="360000">
              <a:lnSpc>
                <a:spcPct val="120000"/>
              </a:lnSpc>
              <a:buNone/>
            </a:pPr>
            <a:r>
              <a:rPr lang="ru-RU" sz="3200" dirty="0"/>
              <a:t>На клиент-серверной архитектуре построены все сайты и интернет-сервисы.  В ней же работают десктопные приложения, выходящие в Интернет.</a:t>
            </a:r>
          </a:p>
          <a:p>
            <a:pPr marL="0" indent="360000">
              <a:buNone/>
            </a:pPr>
            <a:endParaRPr lang="ru-RU" sz="2000" dirty="0"/>
          </a:p>
        </p:txBody>
      </p:sp>
    </p:spTree>
    <p:extLst>
      <p:ext uri="{BB962C8B-B14F-4D97-AF65-F5344CB8AC3E}">
        <p14:creationId xmlns:p14="http://schemas.microsoft.com/office/powerpoint/2010/main" val="3246766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39345" y="0"/>
            <a:ext cx="10515600" cy="1080616"/>
          </a:xfrm>
        </p:spPr>
        <p:txBody>
          <a:bodyPr>
            <a:normAutofit/>
          </a:bodyPr>
          <a:lstStyle/>
          <a:p>
            <a:pPr algn="ctr"/>
            <a:r>
              <a:rPr lang="ru-RU" sz="3200" dirty="0">
                <a:solidFill>
                  <a:srgbClr val="FF0000"/>
                </a:solidFill>
              </a:rPr>
              <a:t>Структурированные, неструктурированные и полуструктурированные данные</a:t>
            </a:r>
          </a:p>
        </p:txBody>
      </p:sp>
      <p:sp>
        <p:nvSpPr>
          <p:cNvPr id="3" name="Объект 2"/>
          <p:cNvSpPr>
            <a:spLocks noGrp="1"/>
          </p:cNvSpPr>
          <p:nvPr>
            <p:ph idx="1"/>
          </p:nvPr>
        </p:nvSpPr>
        <p:spPr>
          <a:xfrm>
            <a:off x="838200" y="1260390"/>
            <a:ext cx="10515600" cy="5213135"/>
          </a:xfrm>
        </p:spPr>
        <p:txBody>
          <a:bodyPr>
            <a:normAutofit lnSpcReduction="10000"/>
          </a:bodyPr>
          <a:lstStyle/>
          <a:p>
            <a:pPr marL="0" indent="360000">
              <a:lnSpc>
                <a:spcPct val="100000"/>
              </a:lnSpc>
              <a:buNone/>
            </a:pPr>
            <a:r>
              <a:rPr lang="ru-RU" sz="2000" dirty="0" err="1"/>
              <a:t>Полуструктурированные</a:t>
            </a:r>
            <a:r>
              <a:rPr lang="ru-RU" sz="2000" dirty="0"/>
              <a:t> данные допускают необязательные атрибуты и могут использоваться для объединения данных, полученных </a:t>
            </a:r>
            <a:r>
              <a:rPr lang="ru-RU" sz="2000" dirty="0" smtClean="0"/>
              <a:t>из </a:t>
            </a:r>
            <a:r>
              <a:rPr lang="ru-RU" sz="2000" dirty="0"/>
              <a:t>разных источников, и для представления данных с нечетко определенной или меняющейся структурой.</a:t>
            </a:r>
          </a:p>
          <a:p>
            <a:pPr marL="0" indent="360000">
              <a:lnSpc>
                <a:spcPct val="100000"/>
              </a:lnSpc>
              <a:buNone/>
            </a:pPr>
            <a:r>
              <a:rPr lang="ru-RU" sz="2000" dirty="0"/>
              <a:t>Одна из таких моделей -- OEM (</a:t>
            </a:r>
            <a:r>
              <a:rPr lang="ru-RU" sz="2000" dirty="0" err="1"/>
              <a:t>Object</a:t>
            </a:r>
            <a:r>
              <a:rPr lang="ru-RU" sz="2000" dirty="0"/>
              <a:t> </a:t>
            </a:r>
            <a:r>
              <a:rPr lang="ru-RU" sz="2000" dirty="0" err="1"/>
              <a:t>Exchange</a:t>
            </a:r>
            <a:r>
              <a:rPr lang="ru-RU" sz="2000" dirty="0"/>
              <a:t> </a:t>
            </a:r>
            <a:r>
              <a:rPr lang="ru-RU" sz="2000" dirty="0" err="1"/>
              <a:t>Model</a:t>
            </a:r>
            <a:r>
              <a:rPr lang="ru-RU" sz="2000" dirty="0"/>
              <a:t>) была в давние времена создана в </a:t>
            </a:r>
            <a:r>
              <a:rPr lang="ru-RU" sz="2000" dirty="0" err="1"/>
              <a:t>Стэнфордском</a:t>
            </a:r>
            <a:r>
              <a:rPr lang="ru-RU" sz="2000" dirty="0"/>
              <a:t> университете для СУБД </a:t>
            </a:r>
            <a:r>
              <a:rPr lang="ru-RU" sz="2000" dirty="0" err="1"/>
              <a:t>Lore</a:t>
            </a:r>
            <a:r>
              <a:rPr lang="ru-RU" sz="2000" dirty="0"/>
              <a:t>. Модель представляется ориентированным графом с именованными ребрами. Хранимые объекты, которые могут быть простыми (атомарными) или сложными, представляются вершинами графа, имеющими уникальные идентификаторы. Простые объекты принимают значения одного из базисных типов, но не имеют исходящих ребер. Сложные объекты, наоборот, имеют исходящие ребра, но не имеют значений. Некоторым вершинам приписываются имена, используемые как точки входа в граф. Такую вершину называют еще корнем.</a:t>
            </a:r>
          </a:p>
          <a:p>
            <a:pPr marL="0" indent="360000">
              <a:lnSpc>
                <a:spcPct val="100000"/>
              </a:lnSpc>
              <a:buNone/>
            </a:pPr>
            <a:r>
              <a:rPr lang="ru-RU" sz="2000" dirty="0"/>
              <a:t>Путеводителем по данным называют граф, который для каждого вида объектов содержит единственный узел, с которым связаны все атрибуты, существующие хотя бы у одного объекта. Будем называть его максимальным путеводителем. Можно считать, что он образован объединением без повторений всех объектов базы.</a:t>
            </a:r>
          </a:p>
          <a:p>
            <a:pPr marL="0" indent="360000">
              <a:lnSpc>
                <a:spcPct val="100000"/>
              </a:lnSpc>
              <a:buNone/>
            </a:pPr>
            <a:r>
              <a:rPr lang="ru-RU" sz="2000" dirty="0"/>
              <a:t>На следующем слайде пример. </a:t>
            </a:r>
          </a:p>
        </p:txBody>
      </p:sp>
    </p:spTree>
    <p:extLst>
      <p:ext uri="{BB962C8B-B14F-4D97-AF65-F5344CB8AC3E}">
        <p14:creationId xmlns:p14="http://schemas.microsoft.com/office/powerpoint/2010/main" val="415877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57957" y="1"/>
            <a:ext cx="10430932" cy="549670"/>
          </a:xfrm>
        </p:spPr>
        <p:txBody>
          <a:bodyPr/>
          <a:lstStyle/>
          <a:p>
            <a:pPr algn="ctr" eaLnBrk="1" hangingPunct="1"/>
            <a:r>
              <a:rPr lang="ru-RU" altLang="ru-RU" sz="3200" dirty="0">
                <a:solidFill>
                  <a:srgbClr val="FF0000"/>
                </a:solidFill>
              </a:rPr>
              <a:t>Пример полуструктурированной базы в модели OEM</a:t>
            </a:r>
          </a:p>
        </p:txBody>
      </p:sp>
      <p:sp>
        <p:nvSpPr>
          <p:cNvPr id="25603" name="Rectangle 3"/>
          <p:cNvSpPr>
            <a:spLocks noGrp="1" noChangeArrowheads="1"/>
          </p:cNvSpPr>
          <p:nvPr>
            <p:ph type="body" idx="1"/>
          </p:nvPr>
        </p:nvSpPr>
        <p:spPr>
          <a:xfrm>
            <a:off x="654909" y="716692"/>
            <a:ext cx="10540314" cy="1828800"/>
          </a:xfrm>
        </p:spPr>
        <p:txBody>
          <a:bodyPr>
            <a:normAutofit/>
          </a:bodyPr>
          <a:lstStyle/>
          <a:p>
            <a:pPr marL="0" indent="360000" eaLnBrk="1" hangingPunct="1">
              <a:buFontTx/>
              <a:buNone/>
            </a:pPr>
            <a:r>
              <a:rPr lang="ru-RU" altLang="ru-RU" sz="2000" dirty="0"/>
              <a:t>На схеме базы (слева) отображаются два объекта. Это лица, связанные отношениями ”быть сыном” и ”быть матерью. У объекта ”мать” имеется атрибут ”цвет волос”, отсутствующий у объекта ”сын”.</a:t>
            </a:r>
          </a:p>
          <a:p>
            <a:pPr marL="0" indent="360000">
              <a:lnSpc>
                <a:spcPct val="110000"/>
              </a:lnSpc>
              <a:buNone/>
            </a:pPr>
            <a:r>
              <a:rPr lang="ru-RU" altLang="ru-RU" sz="2000" dirty="0"/>
              <a:t>В центре изображён максимальный путеводитель, справа -- минимальный путеводитель (на рис. справа), образованный пересечением всех объектов базы.</a:t>
            </a:r>
          </a:p>
          <a:p>
            <a:pPr eaLnBrk="1" hangingPunct="1">
              <a:buFontTx/>
              <a:buNone/>
            </a:pPr>
            <a:endParaRPr lang="ru-RU" altLang="ru-RU" sz="2000" dirty="0"/>
          </a:p>
          <a:p>
            <a:pPr eaLnBrk="1" hangingPunct="1"/>
            <a:endParaRPr lang="ru-RU" altLang="ru-RU" sz="2000" dirty="0"/>
          </a:p>
          <a:p>
            <a:pPr eaLnBrk="1" hangingPunct="1"/>
            <a:endParaRPr lang="ru-RU" altLang="ru-RU" sz="2400" dirty="0"/>
          </a:p>
          <a:p>
            <a:pPr eaLnBrk="1" hangingPunct="1"/>
            <a:endParaRPr lang="ru-RU" altLang="ru-RU" sz="2400" dirty="0"/>
          </a:p>
          <a:p>
            <a:pPr eaLnBrk="1" hangingPunct="1"/>
            <a:endParaRPr lang="ru-RU" altLang="ru-RU" sz="2400" dirty="0"/>
          </a:p>
          <a:p>
            <a:pPr eaLnBrk="1" hangingPunct="1">
              <a:buFontTx/>
              <a:buNone/>
            </a:pPr>
            <a:endParaRPr lang="ru-RU" altLang="ru-RU" sz="2400" dirty="0"/>
          </a:p>
          <a:p>
            <a:pPr eaLnBrk="1" hangingPunct="1">
              <a:buFontTx/>
              <a:buNone/>
            </a:pPr>
            <a:endParaRPr lang="ru-RU" altLang="ru-RU" sz="2400" dirty="0"/>
          </a:p>
          <a:p>
            <a:pPr eaLnBrk="1" hangingPunct="1">
              <a:buFontTx/>
              <a:buNone/>
            </a:pPr>
            <a:endParaRPr lang="ru-RU" altLang="ru-RU" sz="2400" dirty="0"/>
          </a:p>
          <a:p>
            <a:pPr eaLnBrk="1" hangingPunct="1">
              <a:buFontTx/>
              <a:buNone/>
            </a:pPr>
            <a:endParaRPr lang="ru-RU" altLang="ru-RU" sz="2400" dirty="0"/>
          </a:p>
          <a:p>
            <a:pPr eaLnBrk="1" hangingPunct="1">
              <a:buFontTx/>
              <a:buNone/>
            </a:pPr>
            <a:endParaRPr lang="ru-RU" altLang="ru-RU" sz="2400" dirty="0"/>
          </a:p>
          <a:p>
            <a:pPr eaLnBrk="1" hangingPunct="1">
              <a:buFontTx/>
              <a:buNone/>
            </a:pPr>
            <a:endParaRPr lang="ru-RU" altLang="ru-RU" sz="2400" dirty="0"/>
          </a:p>
          <a:p>
            <a:pPr eaLnBrk="1" hangingPunct="1">
              <a:buFontTx/>
              <a:buNone/>
            </a:pPr>
            <a:endParaRPr lang="ru-RU" altLang="ru-RU" sz="2400" dirty="0"/>
          </a:p>
        </p:txBody>
      </p:sp>
      <p:pic>
        <p:nvPicPr>
          <p:cNvPr id="25604" name="Picture 4" descr="1_O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70" y="2341812"/>
            <a:ext cx="5184775"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Рисунок 1"/>
          <p:cNvPicPr>
            <a:picLocks noChangeAspect="1"/>
          </p:cNvPicPr>
          <p:nvPr/>
        </p:nvPicPr>
        <p:blipFill>
          <a:blip r:embed="rId3"/>
          <a:stretch>
            <a:fillRect/>
          </a:stretch>
        </p:blipFill>
        <p:spPr>
          <a:xfrm>
            <a:off x="5345045" y="2726856"/>
            <a:ext cx="6553768" cy="3401863"/>
          </a:xfrm>
          <a:prstGeom prst="rect">
            <a:avLst/>
          </a:prstGeom>
        </p:spPr>
      </p:pic>
    </p:spTree>
    <p:extLst>
      <p:ext uri="{BB962C8B-B14F-4D97-AF65-F5344CB8AC3E}">
        <p14:creationId xmlns:p14="http://schemas.microsoft.com/office/powerpoint/2010/main" val="88768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405245"/>
          </a:xfrm>
        </p:spPr>
        <p:txBody>
          <a:bodyPr>
            <a:noAutofit/>
          </a:bodyPr>
          <a:lstStyle/>
          <a:p>
            <a:pPr algn="ctr"/>
            <a:r>
              <a:rPr lang="ru-RU" sz="3200" dirty="0">
                <a:solidFill>
                  <a:srgbClr val="FF0000"/>
                </a:solidFill>
              </a:rPr>
              <a:t>Неструктурированные данные</a:t>
            </a:r>
          </a:p>
        </p:txBody>
      </p:sp>
      <p:sp>
        <p:nvSpPr>
          <p:cNvPr id="3" name="Объект 2"/>
          <p:cNvSpPr>
            <a:spLocks noGrp="1"/>
          </p:cNvSpPr>
          <p:nvPr>
            <p:ph idx="1"/>
          </p:nvPr>
        </p:nvSpPr>
        <p:spPr>
          <a:xfrm>
            <a:off x="609600" y="482010"/>
            <a:ext cx="10972800" cy="6375990"/>
          </a:xfrm>
        </p:spPr>
        <p:txBody>
          <a:bodyPr>
            <a:normAutofit lnSpcReduction="10000"/>
          </a:bodyPr>
          <a:lstStyle/>
          <a:p>
            <a:pPr>
              <a:lnSpc>
                <a:spcPct val="110000"/>
              </a:lnSpc>
            </a:pPr>
            <a:r>
              <a:rPr lang="ru-RU" sz="2000" b="1" dirty="0">
                <a:solidFill>
                  <a:srgbClr val="000000"/>
                </a:solidFill>
              </a:rPr>
              <a:t>Неструктурированные данные</a:t>
            </a:r>
            <a:r>
              <a:rPr lang="ru-RU" sz="2000" dirty="0">
                <a:solidFill>
                  <a:srgbClr val="000000"/>
                </a:solidFill>
              </a:rPr>
              <a:t> это неформализованные или слабо формализованные документы, книги, статьи, изображения, видео, и многие тексты на языках разметки. Структура  данных в них не определена, или имеет ограниченное применение, или просто </a:t>
            </a:r>
            <a:r>
              <a:rPr lang="en-US" sz="2000" dirty="0">
                <a:solidFill>
                  <a:srgbClr val="000000"/>
                </a:solidFill>
              </a:rPr>
              <a:t>“</a:t>
            </a:r>
            <a:r>
              <a:rPr lang="ru-RU" sz="2000" dirty="0">
                <a:solidFill>
                  <a:srgbClr val="000000"/>
                </a:solidFill>
              </a:rPr>
              <a:t>всякая</a:t>
            </a:r>
            <a:r>
              <a:rPr lang="en-US" sz="2000" dirty="0">
                <a:solidFill>
                  <a:srgbClr val="000000"/>
                </a:solidFill>
              </a:rPr>
              <a:t>”</a:t>
            </a:r>
            <a:r>
              <a:rPr lang="ru-RU" sz="2000" dirty="0">
                <a:solidFill>
                  <a:srgbClr val="000000"/>
                </a:solidFill>
              </a:rPr>
              <a:t>. </a:t>
            </a:r>
          </a:p>
          <a:p>
            <a:pPr lvl="0">
              <a:lnSpc>
                <a:spcPct val="110000"/>
              </a:lnSpc>
            </a:pPr>
            <a:r>
              <a:rPr lang="ru-RU" sz="2000" dirty="0">
                <a:solidFill>
                  <a:srgbClr val="333333"/>
                </a:solidFill>
              </a:rPr>
              <a:t>Чаще всего используют: тексты </a:t>
            </a:r>
            <a:r>
              <a:rPr lang="en-US" sz="2000" dirty="0">
                <a:solidFill>
                  <a:srgbClr val="333333"/>
                </a:solidFill>
              </a:rPr>
              <a:t>XML</a:t>
            </a:r>
            <a:r>
              <a:rPr lang="ru-RU" sz="2000" dirty="0">
                <a:solidFill>
                  <a:srgbClr val="333333"/>
                </a:solidFill>
              </a:rPr>
              <a:t> и тексты на естественных языках (ЕЯ), в том числе  документные данные.</a:t>
            </a:r>
            <a:endParaRPr lang="ru-RU" sz="2000" dirty="0">
              <a:solidFill>
                <a:srgbClr val="000000"/>
              </a:solidFill>
            </a:endParaRPr>
          </a:p>
          <a:p>
            <a:pPr>
              <a:lnSpc>
                <a:spcPct val="110000"/>
              </a:lnSpc>
            </a:pPr>
            <a:r>
              <a:rPr lang="ru-RU" sz="2000" dirty="0">
                <a:solidFill>
                  <a:srgbClr val="000000"/>
                </a:solidFill>
              </a:rPr>
              <a:t>Неструктурированные данные не могут использоваться без предварительной обработки. Это может быть построение онтологии, индексация, построение таблицы частот встречаемости слов и др. Анализ и предобработка данных могут выполняться с целью их интерпретации (как при поиске семантики!) и последующего изменения структуры данных.</a:t>
            </a:r>
          </a:p>
          <a:p>
            <a:pPr>
              <a:lnSpc>
                <a:spcPct val="110000"/>
              </a:lnSpc>
            </a:pPr>
            <a:r>
              <a:rPr lang="ru-RU" sz="2000" dirty="0">
                <a:solidFill>
                  <a:srgbClr val="000000"/>
                </a:solidFill>
              </a:rPr>
              <a:t>При работе с текстами на ЕЯ появляются существенные проблемы, связанные с неопределённозначностью языков (а не только многозначностью), метафорами, явлениями референции (анафора, катафора), синонимией, </a:t>
            </a:r>
            <a:r>
              <a:rPr lang="ru-RU" sz="2000" dirty="0">
                <a:ea typeface="Times New Roman" panose="02020603050405020304" pitchFamily="18" charset="0"/>
              </a:rPr>
              <a:t>полисемией,</a:t>
            </a:r>
            <a:r>
              <a:rPr lang="ru-RU" sz="2000" dirty="0">
                <a:solidFill>
                  <a:srgbClr val="000000"/>
                </a:solidFill>
              </a:rPr>
              <a:t> омонимией, с неологизмами, влиянием контекстов и </a:t>
            </a:r>
            <a:r>
              <a:rPr lang="ru-RU" sz="2000" dirty="0"/>
              <a:t>нестандартными написаниями (</a:t>
            </a:r>
            <a:r>
              <a:rPr lang="en-US" sz="2000" dirty="0"/>
              <a:t>“</a:t>
            </a:r>
            <a:r>
              <a:rPr lang="ru-RU" sz="2000" dirty="0" err="1"/>
              <a:t>каг</a:t>
            </a:r>
            <a:r>
              <a:rPr lang="ru-RU" sz="2000" dirty="0"/>
              <a:t> </a:t>
            </a:r>
            <a:r>
              <a:rPr lang="ru-RU" sz="2000" dirty="0" err="1"/>
              <a:t>дила</a:t>
            </a:r>
            <a:r>
              <a:rPr lang="ru-RU" sz="2000" dirty="0"/>
              <a:t>?</a:t>
            </a:r>
            <a:r>
              <a:rPr lang="en-US" sz="2000" dirty="0"/>
              <a:t>”</a:t>
            </a:r>
            <a:r>
              <a:rPr lang="ru-RU" sz="2000" dirty="0"/>
              <a:t>)</a:t>
            </a:r>
            <a:r>
              <a:rPr lang="ru-RU" sz="2000" dirty="0">
                <a:solidFill>
                  <a:srgbClr val="000000"/>
                </a:solidFill>
              </a:rPr>
              <a:t>.</a:t>
            </a:r>
          </a:p>
          <a:p>
            <a:pPr>
              <a:lnSpc>
                <a:spcPct val="110000"/>
              </a:lnSpc>
            </a:pPr>
            <a:r>
              <a:rPr lang="ru-RU" sz="2000" dirty="0">
                <a:solidFill>
                  <a:srgbClr val="000000"/>
                </a:solidFill>
              </a:rPr>
              <a:t>Семантика естественных языков хорошо изучена лингвистами</a:t>
            </a:r>
            <a:r>
              <a:rPr lang="en-US" sz="2000" dirty="0">
                <a:solidFill>
                  <a:srgbClr val="000000"/>
                </a:solidFill>
              </a:rPr>
              <a:t> (</a:t>
            </a:r>
            <a:r>
              <a:rPr lang="ru-RU" sz="2000" dirty="0">
                <a:solidFill>
                  <a:srgbClr val="000000"/>
                </a:solidFill>
              </a:rPr>
              <a:t>см. </a:t>
            </a:r>
            <a:r>
              <a:rPr lang="ru-RU" sz="2000" dirty="0" err="1">
                <a:solidFill>
                  <a:srgbClr val="000000"/>
                </a:solidFill>
              </a:rPr>
              <a:t>Кронгауз</a:t>
            </a:r>
            <a:r>
              <a:rPr lang="ru-RU" sz="2000" dirty="0">
                <a:solidFill>
                  <a:srgbClr val="000000"/>
                </a:solidFill>
              </a:rPr>
              <a:t> М.А. </a:t>
            </a:r>
            <a:r>
              <a:rPr lang="en-US" sz="2000" dirty="0">
                <a:solidFill>
                  <a:srgbClr val="000000"/>
                </a:solidFill>
              </a:rPr>
              <a:t>“</a:t>
            </a:r>
            <a:r>
              <a:rPr lang="ru-RU" sz="2000" dirty="0">
                <a:solidFill>
                  <a:srgbClr val="000000"/>
                </a:solidFill>
              </a:rPr>
              <a:t>Семантика</a:t>
            </a:r>
            <a:r>
              <a:rPr lang="en-US" sz="2000" dirty="0">
                <a:solidFill>
                  <a:srgbClr val="000000"/>
                </a:solidFill>
              </a:rPr>
              <a:t>”)</a:t>
            </a:r>
            <a:r>
              <a:rPr lang="ru-RU" sz="2000" dirty="0">
                <a:solidFill>
                  <a:srgbClr val="000000"/>
                </a:solidFill>
              </a:rPr>
              <a:t>. Однако, как правило, они не ориентированы на автоматизацию анализа текстов.</a:t>
            </a:r>
          </a:p>
          <a:p>
            <a:pPr>
              <a:lnSpc>
                <a:spcPct val="110000"/>
              </a:lnSpc>
            </a:pPr>
            <a:r>
              <a:rPr lang="ru-RU" sz="2000" dirty="0">
                <a:solidFill>
                  <a:srgbClr val="000000"/>
                </a:solidFill>
              </a:rPr>
              <a:t>Есть информация о том, что около 70% информации многие предприятия получают в неструктурированной и </a:t>
            </a:r>
            <a:r>
              <a:rPr lang="ru-RU" sz="2000" dirty="0" err="1">
                <a:solidFill>
                  <a:srgbClr val="000000"/>
                </a:solidFill>
              </a:rPr>
              <a:t>полуструктурированной</a:t>
            </a:r>
            <a:r>
              <a:rPr lang="ru-RU" sz="2000" dirty="0">
                <a:solidFill>
                  <a:srgbClr val="000000"/>
                </a:solidFill>
              </a:rPr>
              <a:t> форме.</a:t>
            </a:r>
          </a:p>
          <a:p>
            <a:pPr marL="0" indent="0">
              <a:buNone/>
            </a:pPr>
            <a:endParaRPr lang="ru-RU" sz="2000" u="sng" dirty="0">
              <a:solidFill>
                <a:srgbClr val="333333"/>
              </a:solidFill>
            </a:endParaRPr>
          </a:p>
        </p:txBody>
      </p:sp>
    </p:spTree>
    <p:extLst>
      <p:ext uri="{BB962C8B-B14F-4D97-AF65-F5344CB8AC3E}">
        <p14:creationId xmlns:p14="http://schemas.microsoft.com/office/powerpoint/2010/main" val="2951843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569864"/>
          </a:xfrm>
        </p:spPr>
        <p:txBody>
          <a:bodyPr>
            <a:normAutofit/>
          </a:bodyPr>
          <a:lstStyle/>
          <a:p>
            <a:pPr algn="ctr"/>
            <a:r>
              <a:rPr lang="ru-RU" sz="3200" dirty="0">
                <a:solidFill>
                  <a:srgbClr val="FF0000"/>
                </a:solidFill>
              </a:rPr>
              <a:t>Репликация</a:t>
            </a:r>
          </a:p>
        </p:txBody>
      </p:sp>
      <p:sp>
        <p:nvSpPr>
          <p:cNvPr id="3" name="Объект 2"/>
          <p:cNvSpPr>
            <a:spLocks noGrp="1"/>
          </p:cNvSpPr>
          <p:nvPr>
            <p:ph idx="1"/>
          </p:nvPr>
        </p:nvSpPr>
        <p:spPr>
          <a:xfrm>
            <a:off x="838199" y="470647"/>
            <a:ext cx="10914529" cy="6225988"/>
          </a:xfrm>
        </p:spPr>
        <p:txBody>
          <a:bodyPr>
            <a:normAutofit lnSpcReduction="10000"/>
          </a:bodyPr>
          <a:lstStyle/>
          <a:p>
            <a:pPr marL="0" indent="360000">
              <a:lnSpc>
                <a:spcPct val="100000"/>
              </a:lnSpc>
              <a:buNone/>
            </a:pPr>
            <a:r>
              <a:rPr lang="ru-RU" sz="2000" dirty="0"/>
              <a:t>Репликация чтения и шардинг позволяют использовать несколько компьютеров в качестве сервера тем самым увеличивая его производительность. </a:t>
            </a:r>
          </a:p>
          <a:p>
            <a:pPr marL="0" indent="360000">
              <a:lnSpc>
                <a:spcPct val="100000"/>
              </a:lnSpc>
              <a:buNone/>
            </a:pPr>
            <a:r>
              <a:rPr lang="ru-RU" sz="2000" dirty="0"/>
              <a:t>Различают два варианта репликации мастер-деталь:</a:t>
            </a:r>
          </a:p>
          <a:p>
            <a:r>
              <a:rPr lang="ru-RU" sz="2000" dirty="0"/>
              <a:t>Репликация </a:t>
            </a:r>
            <a:r>
              <a:rPr lang="en-US" sz="2000" dirty="0"/>
              <a:t>Master-Slave</a:t>
            </a:r>
            <a:r>
              <a:rPr lang="ru-RU" sz="2000" dirty="0"/>
              <a:t>.</a:t>
            </a:r>
            <a:endParaRPr lang="en-US" sz="2000" dirty="0"/>
          </a:p>
          <a:p>
            <a:pPr marL="0" indent="360000">
              <a:lnSpc>
                <a:spcPct val="100000"/>
              </a:lnSpc>
              <a:buNone/>
            </a:pPr>
            <a:r>
              <a:rPr lang="ru-RU" sz="2000" dirty="0"/>
              <a:t>В системе с репликацией </a:t>
            </a:r>
            <a:r>
              <a:rPr lang="en-US" sz="2000" dirty="0"/>
              <a:t>Master-Slave </a:t>
            </a:r>
            <a:r>
              <a:rPr lang="ru-RU" sz="2000" dirty="0"/>
              <a:t>ведущий узел работает на запись и, может быть, на чтение.  Он выполняет все изменения данных. Остальные узлы (</a:t>
            </a:r>
            <a:r>
              <a:rPr lang="en-US" sz="2000" dirty="0"/>
              <a:t>Slave</a:t>
            </a:r>
            <a:r>
              <a:rPr lang="ru-RU" sz="2000" dirty="0"/>
              <a:t>) работают в режиме </a:t>
            </a:r>
            <a:r>
              <a:rPr lang="ru-RU" sz="2000" dirty="0" err="1"/>
              <a:t>read-only</a:t>
            </a:r>
            <a:r>
              <a:rPr lang="ru-RU" sz="2000" dirty="0"/>
              <a:t>. При этом они</a:t>
            </a:r>
            <a:r>
              <a:rPr lang="en-US" sz="2000" dirty="0"/>
              <a:t> </a:t>
            </a:r>
            <a:r>
              <a:rPr lang="ru-RU" sz="2000" dirty="0"/>
              <a:t>постоянно создают реплики всех изменений с мастера. Пользователи могут считывать данные с любой машины кластера или только со</a:t>
            </a:r>
            <a:r>
              <a:rPr lang="en-US" sz="2000" dirty="0"/>
              <a:t> Slave</a:t>
            </a:r>
            <a:r>
              <a:rPr lang="ru-RU" sz="2000" dirty="0"/>
              <a:t> узлов.</a:t>
            </a:r>
          </a:p>
          <a:p>
            <a:pPr marL="0" indent="360000">
              <a:lnSpc>
                <a:spcPct val="100000"/>
              </a:lnSpc>
              <a:buNone/>
            </a:pPr>
            <a:r>
              <a:rPr lang="ru-RU" sz="2000" dirty="0"/>
              <a:t>Поскольку данные на </a:t>
            </a:r>
            <a:r>
              <a:rPr lang="en-US" sz="2000" dirty="0"/>
              <a:t>Slave</a:t>
            </a:r>
            <a:r>
              <a:rPr lang="ru-RU" sz="2000" dirty="0"/>
              <a:t> узле могут появится с задержкой, для длительных  последовательных чтений следует пользоваться Мастером.</a:t>
            </a:r>
          </a:p>
          <a:p>
            <a:pPr marL="0" indent="360000">
              <a:lnSpc>
                <a:spcPct val="100000"/>
              </a:lnSpc>
              <a:buNone/>
            </a:pPr>
            <a:r>
              <a:rPr lang="ru-RU" sz="2000" dirty="0"/>
              <a:t>При выходе из строя мастера необходимо переключить его обязанности на один из </a:t>
            </a:r>
            <a:r>
              <a:rPr lang="en-US" sz="2000" dirty="0"/>
              <a:t>Slave</a:t>
            </a:r>
            <a:r>
              <a:rPr lang="ru-RU" sz="2000" dirty="0"/>
              <a:t> узлов.</a:t>
            </a:r>
          </a:p>
          <a:p>
            <a:pPr>
              <a:lnSpc>
                <a:spcPct val="100000"/>
              </a:lnSpc>
            </a:pPr>
            <a:r>
              <a:rPr lang="ru-RU" sz="2000" dirty="0"/>
              <a:t>Репликация </a:t>
            </a:r>
            <a:r>
              <a:rPr lang="en-US" sz="2000" dirty="0"/>
              <a:t>Master-Master.</a:t>
            </a:r>
          </a:p>
          <a:p>
            <a:pPr marL="0" indent="360000">
              <a:lnSpc>
                <a:spcPct val="100000"/>
              </a:lnSpc>
              <a:buNone/>
            </a:pPr>
            <a:r>
              <a:rPr lang="ru-RU" sz="2000" dirty="0"/>
              <a:t>Любой из компьютеров может использоваться и для чтения и для записи своей части данных.</a:t>
            </a:r>
          </a:p>
          <a:p>
            <a:pPr marL="0" indent="360000">
              <a:lnSpc>
                <a:spcPct val="100000"/>
              </a:lnSpc>
              <a:buNone/>
            </a:pPr>
            <a:r>
              <a:rPr lang="ru-RU" sz="2000" dirty="0"/>
              <a:t>Поскольку выход из строя одного из Мастер-узлов может привести к потере данных, этот вариант использования не рекомендуется.</a:t>
            </a:r>
          </a:p>
          <a:p>
            <a:pPr marL="0" indent="360000">
              <a:buNone/>
            </a:pPr>
            <a:r>
              <a:rPr lang="ru-RU" sz="2000" dirty="0"/>
              <a:t> Понятно, что в системе с репликацией увеличивается только скорость чтения данных.</a:t>
            </a:r>
            <a:endParaRPr lang="en-US" sz="2000" dirty="0"/>
          </a:p>
        </p:txBody>
      </p:sp>
    </p:spTree>
    <p:extLst>
      <p:ext uri="{BB962C8B-B14F-4D97-AF65-F5344CB8AC3E}">
        <p14:creationId xmlns:p14="http://schemas.microsoft.com/office/powerpoint/2010/main" val="3449819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62550"/>
            <a:ext cx="10515600" cy="560717"/>
          </a:xfrm>
        </p:spPr>
        <p:txBody>
          <a:bodyPr>
            <a:normAutofit/>
          </a:bodyPr>
          <a:lstStyle/>
          <a:p>
            <a:pPr algn="ctr"/>
            <a:r>
              <a:rPr lang="ru-RU" sz="3200" dirty="0">
                <a:solidFill>
                  <a:srgbClr val="FF0000"/>
                </a:solidFill>
              </a:rPr>
              <a:t>Модели согласованности</a:t>
            </a:r>
          </a:p>
        </p:txBody>
      </p:sp>
      <p:sp>
        <p:nvSpPr>
          <p:cNvPr id="3" name="Объект 2"/>
          <p:cNvSpPr>
            <a:spLocks noGrp="1"/>
          </p:cNvSpPr>
          <p:nvPr>
            <p:ph idx="1"/>
          </p:nvPr>
        </p:nvSpPr>
        <p:spPr>
          <a:xfrm>
            <a:off x="838200" y="1004935"/>
            <a:ext cx="10515600" cy="5395864"/>
          </a:xfrm>
        </p:spPr>
        <p:txBody>
          <a:bodyPr>
            <a:normAutofit/>
          </a:bodyPr>
          <a:lstStyle/>
          <a:p>
            <a:pPr marL="0" indent="360000">
              <a:buNone/>
            </a:pPr>
            <a:r>
              <a:rPr lang="ru-RU" sz="2000" dirty="0"/>
              <a:t>Неизбежное применение репликации в распределенной СУБД  требует обеспечения свойства согласованности данных в рамках некоторой модели согласованности (</a:t>
            </a:r>
            <a:r>
              <a:rPr lang="ru-RU" sz="2000" dirty="0" err="1"/>
              <a:t>consistency</a:t>
            </a:r>
            <a:r>
              <a:rPr lang="ru-RU" sz="2000" dirty="0"/>
              <a:t> </a:t>
            </a:r>
            <a:r>
              <a:rPr lang="ru-RU" sz="2000" dirty="0" err="1"/>
              <a:t>model</a:t>
            </a:r>
            <a:r>
              <a:rPr lang="ru-RU" sz="2000" dirty="0"/>
              <a:t>).  Само понятие согласованности здесь отличается от одноименного понятия в определении ACID-транзакции, предполагающем именно логическую согласованность.</a:t>
            </a:r>
          </a:p>
          <a:p>
            <a:pPr marL="0" indent="360000">
              <a:buNone/>
            </a:pPr>
            <a:r>
              <a:rPr lang="ru-RU" sz="2000" dirty="0"/>
              <a:t>Некоторые модели согласованности, применяемые в </a:t>
            </a:r>
            <a:r>
              <a:rPr lang="ru-RU" sz="2000" dirty="0" err="1"/>
              <a:t>NoSQL</a:t>
            </a:r>
            <a:r>
              <a:rPr lang="ru-RU" sz="2000" dirty="0"/>
              <a:t> базах данных:</a:t>
            </a:r>
          </a:p>
          <a:p>
            <a:r>
              <a:rPr lang="ru-RU" sz="2000" dirty="0"/>
              <a:t>Согласованность в «конечном счете» (eventual </a:t>
            </a:r>
            <a:r>
              <a:rPr lang="ru-RU" sz="2000" dirty="0" err="1"/>
              <a:t>consistency</a:t>
            </a:r>
            <a:r>
              <a:rPr lang="ru-RU" sz="2000" dirty="0"/>
              <a:t>) гарантирует, что при отсутствии новых обновлений через некоторое время все реплики станут согласованными.</a:t>
            </a:r>
          </a:p>
          <a:p>
            <a:r>
              <a:rPr lang="ru-RU" sz="2000" dirty="0"/>
              <a:t>Монотонные чтения (</a:t>
            </a:r>
            <a:r>
              <a:rPr lang="ru-RU" sz="2000" dirty="0" err="1"/>
              <a:t>monotonic</a:t>
            </a:r>
            <a:r>
              <a:rPr lang="ru-RU" sz="2000" dirty="0"/>
              <a:t> </a:t>
            </a:r>
            <a:r>
              <a:rPr lang="ru-RU" sz="2000" dirty="0" err="1"/>
              <a:t>reads</a:t>
            </a:r>
            <a:r>
              <a:rPr lang="ru-RU" sz="2000" dirty="0"/>
              <a:t>) -- усиление согласованности «в конечном счёте». Гарантирует, что если значение было прочитано, то последующие чтения никогда не вернут предыдущие значения.</a:t>
            </a:r>
          </a:p>
          <a:p>
            <a:r>
              <a:rPr lang="ru-RU" sz="2000" dirty="0"/>
              <a:t>Чтение своих записей (</a:t>
            </a:r>
            <a:r>
              <a:rPr lang="ru-RU" sz="2000" dirty="0" err="1"/>
              <a:t>read</a:t>
            </a:r>
            <a:r>
              <a:rPr lang="ru-RU" sz="2000" dirty="0"/>
              <a:t> </a:t>
            </a:r>
            <a:r>
              <a:rPr lang="ru-RU" sz="2000" dirty="0" err="1"/>
              <a:t>your</a:t>
            </a:r>
            <a:r>
              <a:rPr lang="ru-RU" sz="2000" dirty="0"/>
              <a:t> </a:t>
            </a:r>
            <a:r>
              <a:rPr lang="ru-RU" sz="2000" dirty="0" err="1"/>
              <a:t>writes</a:t>
            </a:r>
            <a:r>
              <a:rPr lang="ru-RU" sz="2000" dirty="0"/>
              <a:t>) -- усиление согласованности «в конечном счёте». Гарантирует, что клиент всегда увидит данные, которые он до этого записал. Эта модель может сочетаться с монотонными чтениями.</a:t>
            </a:r>
          </a:p>
          <a:p>
            <a:r>
              <a:rPr lang="ru-RU" sz="2000" dirty="0"/>
              <a:t>Мгновенная согласованность (</a:t>
            </a:r>
            <a:r>
              <a:rPr lang="ru-RU" sz="2000" dirty="0" err="1"/>
              <a:t>immediate</a:t>
            </a:r>
            <a:r>
              <a:rPr lang="ru-RU" sz="2000" dirty="0"/>
              <a:t> </a:t>
            </a:r>
            <a:r>
              <a:rPr lang="ru-RU" sz="2000" dirty="0" err="1"/>
              <a:t>consistency</a:t>
            </a:r>
            <a:r>
              <a:rPr lang="ru-RU" sz="2000" dirty="0"/>
              <a:t>) --  как только модификации данных успешно завершена, все клиенты сразу увидят это изменение.</a:t>
            </a:r>
          </a:p>
          <a:p>
            <a:pPr marL="0" indent="360000">
              <a:buNone/>
            </a:pPr>
            <a:r>
              <a:rPr lang="ru-RU" sz="2000" dirty="0"/>
              <a:t>Наиболее часто </a:t>
            </a:r>
            <a:r>
              <a:rPr lang="ru-RU" sz="2000" dirty="0" err="1"/>
              <a:t>NoSQL</a:t>
            </a:r>
            <a:r>
              <a:rPr lang="ru-RU" sz="2000" dirty="0"/>
              <a:t> СУБД поддерживают варианты модели «в конечном счёте»</a:t>
            </a:r>
          </a:p>
        </p:txBody>
      </p:sp>
    </p:spTree>
    <p:extLst>
      <p:ext uri="{BB962C8B-B14F-4D97-AF65-F5344CB8AC3E}">
        <p14:creationId xmlns:p14="http://schemas.microsoft.com/office/powerpoint/2010/main" val="1440687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38023"/>
            <a:ext cx="10515600" cy="379561"/>
          </a:xfrm>
        </p:spPr>
        <p:txBody>
          <a:bodyPr>
            <a:normAutofit fontScale="90000"/>
          </a:bodyPr>
          <a:lstStyle/>
          <a:p>
            <a:pPr algn="ctr"/>
            <a:r>
              <a:rPr lang="ru-RU" sz="3600" dirty="0">
                <a:solidFill>
                  <a:srgbClr val="FF0000"/>
                </a:solidFill>
              </a:rPr>
              <a:t>Партицирование и шардинг</a:t>
            </a:r>
            <a:endParaRPr lang="ru-RU" sz="3600" dirty="0"/>
          </a:p>
        </p:txBody>
      </p:sp>
      <p:sp>
        <p:nvSpPr>
          <p:cNvPr id="3" name="Объект 2"/>
          <p:cNvSpPr>
            <a:spLocks noGrp="1"/>
          </p:cNvSpPr>
          <p:nvPr>
            <p:ph idx="1"/>
          </p:nvPr>
        </p:nvSpPr>
        <p:spPr>
          <a:xfrm>
            <a:off x="838200" y="760491"/>
            <a:ext cx="10515600" cy="5959486"/>
          </a:xfrm>
        </p:spPr>
        <p:txBody>
          <a:bodyPr>
            <a:normAutofit lnSpcReduction="10000"/>
          </a:bodyPr>
          <a:lstStyle/>
          <a:p>
            <a:pPr marL="0" indent="360000">
              <a:lnSpc>
                <a:spcPct val="100000"/>
              </a:lnSpc>
              <a:buNone/>
            </a:pPr>
            <a:r>
              <a:rPr lang="ru-RU" sz="2000" dirty="0"/>
              <a:t>Партицирование таблицы, то есть разбиение её на части, может быть вертикальным (выделение отдельных колонок) и горизонтальным (выделение наборов строк).</a:t>
            </a:r>
          </a:p>
          <a:p>
            <a:pPr marL="0" indent="360000">
              <a:lnSpc>
                <a:spcPct val="130000"/>
              </a:lnSpc>
              <a:buNone/>
            </a:pPr>
            <a:r>
              <a:rPr lang="ru-RU" sz="2000" dirty="0"/>
              <a:t>Шардирование применяется для любых данных,  том числе полуструктурированных, и похоже на горизонтальное партицирование тем, что хранилище данных разрезается по объектам независимо от структуры этих объектов и сохраняет их структуру. Отличие в том, что в системе с горизонтальным шардингом данные базы распределяются по компьютерам кластера сервера без повторений. Если, например, данные таблицы разбиты по вертикали, тогда на каждом узле кластера хранятся свои наборы строк. Существует еще горизонтальный шардинг когда разные наборы строк одной таблицы хранятся в разных узлах сети.</a:t>
            </a:r>
          </a:p>
          <a:p>
            <a:pPr marL="0" indent="360000">
              <a:lnSpc>
                <a:spcPct val="100000"/>
              </a:lnSpc>
              <a:buNone/>
            </a:pPr>
            <a:r>
              <a:rPr lang="ru-RU" sz="2000" dirty="0"/>
              <a:t>Самая тяжелая проблема связанная с шардингом -- балансировка данных по компьютерам и масштабирование кластера при изменениях объемов данных.</a:t>
            </a:r>
          </a:p>
          <a:p>
            <a:pPr marL="0" indent="360000">
              <a:lnSpc>
                <a:spcPct val="100000"/>
              </a:lnSpc>
              <a:buNone/>
            </a:pPr>
            <a:r>
              <a:rPr lang="ru-RU" sz="2000" dirty="0"/>
              <a:t>Почему нельзя, не выдумывая всяких NoSQL, усовершенствовать табличные базы данных для случая больших данных. Причин две:</a:t>
            </a:r>
          </a:p>
          <a:p>
            <a:pPr marL="522900" indent="-342900">
              <a:lnSpc>
                <a:spcPct val="100000"/>
              </a:lnSpc>
            </a:pPr>
            <a:r>
              <a:rPr lang="ru-RU" sz="2000" dirty="0"/>
              <a:t>Необходимость работы с полуструктурированными и неструктурированными данными;</a:t>
            </a:r>
          </a:p>
          <a:p>
            <a:pPr marL="522900" indent="-342900">
              <a:lnSpc>
                <a:spcPct val="100000"/>
              </a:lnSpc>
            </a:pPr>
            <a:r>
              <a:rPr lang="ru-RU" sz="2000" dirty="0"/>
              <a:t>Особенности работы сетевых кластеров, описываемые так называемой CAP теоремой (она же теорема Брюера).</a:t>
            </a:r>
          </a:p>
          <a:p>
            <a:pPr marL="0" indent="0">
              <a:buNone/>
            </a:pPr>
            <a:endParaRPr lang="ru-RU" sz="2000" dirty="0"/>
          </a:p>
        </p:txBody>
      </p:sp>
    </p:spTree>
    <p:extLst>
      <p:ext uri="{BB962C8B-B14F-4D97-AF65-F5344CB8AC3E}">
        <p14:creationId xmlns:p14="http://schemas.microsoft.com/office/powerpoint/2010/main" val="4035525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6935996" y="832077"/>
            <a:ext cx="4635394" cy="3938514"/>
          </a:xfrm>
          <a:prstGeom prst="rect">
            <a:avLst/>
          </a:prstGeom>
        </p:spPr>
      </p:pic>
      <p:sp>
        <p:nvSpPr>
          <p:cNvPr id="2" name="Заголовок 1"/>
          <p:cNvSpPr>
            <a:spLocks noGrp="1"/>
          </p:cNvSpPr>
          <p:nvPr>
            <p:ph type="title"/>
          </p:nvPr>
        </p:nvSpPr>
        <p:spPr>
          <a:xfrm>
            <a:off x="838200" y="1"/>
            <a:ext cx="10515600" cy="494269"/>
          </a:xfrm>
        </p:spPr>
        <p:txBody>
          <a:bodyPr>
            <a:normAutofit fontScale="90000"/>
          </a:bodyPr>
          <a:lstStyle/>
          <a:p>
            <a:pPr algn="ctr"/>
            <a:r>
              <a:rPr lang="en-US" sz="3600" dirty="0">
                <a:solidFill>
                  <a:srgbClr val="FF0000"/>
                </a:solidFill>
              </a:rPr>
              <a:t>CAP-</a:t>
            </a:r>
            <a:r>
              <a:rPr lang="ru-RU" sz="3600" dirty="0">
                <a:solidFill>
                  <a:srgbClr val="FF0000"/>
                </a:solidFill>
              </a:rPr>
              <a:t>теорема 1/3</a:t>
            </a:r>
          </a:p>
        </p:txBody>
      </p:sp>
      <p:sp>
        <p:nvSpPr>
          <p:cNvPr id="3" name="Объект 2"/>
          <p:cNvSpPr>
            <a:spLocks noGrp="1"/>
          </p:cNvSpPr>
          <p:nvPr>
            <p:ph idx="1"/>
          </p:nvPr>
        </p:nvSpPr>
        <p:spPr>
          <a:xfrm>
            <a:off x="603849" y="494270"/>
            <a:ext cx="10749951" cy="6276181"/>
          </a:xfrm>
        </p:spPr>
        <p:txBody>
          <a:bodyPr>
            <a:noAutofit/>
          </a:bodyPr>
          <a:lstStyle/>
          <a:p>
            <a:pPr marL="0" indent="360000">
              <a:lnSpc>
                <a:spcPct val="75000"/>
              </a:lnSpc>
              <a:buNone/>
            </a:pPr>
            <a:r>
              <a:rPr lang="ru-RU" sz="2000" dirty="0"/>
              <a:t>Работающая на нескольких компьютерах распределенная база данных может обладать следующими тремя свойствами:</a:t>
            </a:r>
          </a:p>
          <a:p>
            <a:pPr>
              <a:lnSpc>
                <a:spcPct val="75000"/>
              </a:lnSpc>
            </a:pPr>
            <a:r>
              <a:rPr lang="ru-RU" sz="2000" b="1" dirty="0"/>
              <a:t>Согласованность</a:t>
            </a:r>
            <a:r>
              <a:rPr lang="ru-RU" sz="2000" dirty="0"/>
              <a:t> (</a:t>
            </a:r>
            <a:r>
              <a:rPr lang="ru-RU" sz="2000" dirty="0" err="1"/>
              <a:t>Consistency</a:t>
            </a:r>
            <a:r>
              <a:rPr lang="ru-RU" sz="2000" dirty="0"/>
              <a:t>). Чтение всегда возвращает </a:t>
            </a:r>
            <a:endParaRPr lang="en-US" sz="2000" dirty="0"/>
          </a:p>
          <a:p>
            <a:pPr marL="0" indent="0">
              <a:lnSpc>
                <a:spcPct val="75000"/>
              </a:lnSpc>
              <a:buNone/>
            </a:pPr>
            <a:r>
              <a:rPr lang="ru-RU" sz="2000" dirty="0"/>
              <a:t>результат последней записи данных. Прочитать старые </a:t>
            </a:r>
            <a:endParaRPr lang="en-US" sz="2000" dirty="0"/>
          </a:p>
          <a:p>
            <a:pPr marL="0" indent="0">
              <a:lnSpc>
                <a:spcPct val="75000"/>
              </a:lnSpc>
              <a:buNone/>
            </a:pPr>
            <a:r>
              <a:rPr lang="ru-RU" sz="2000" dirty="0"/>
              <a:t>уже изменённые данные невозможно.</a:t>
            </a:r>
            <a:endParaRPr lang="en-US" sz="2000" dirty="0"/>
          </a:p>
          <a:p>
            <a:pPr>
              <a:lnSpc>
                <a:spcPct val="75000"/>
              </a:lnSpc>
            </a:pPr>
            <a:r>
              <a:rPr lang="ru-RU" sz="2000" b="1" dirty="0"/>
              <a:t>Доступность</a:t>
            </a:r>
            <a:r>
              <a:rPr lang="ru-RU" sz="2000" dirty="0"/>
              <a:t> (</a:t>
            </a:r>
            <a:r>
              <a:rPr lang="ru-RU" sz="2000" dirty="0" err="1"/>
              <a:t>Availability</a:t>
            </a:r>
            <a:r>
              <a:rPr lang="ru-RU" sz="2000" dirty="0"/>
              <a:t>). Распределенная система в любой </a:t>
            </a:r>
          </a:p>
          <a:p>
            <a:pPr marL="0" indent="0">
              <a:lnSpc>
                <a:spcPct val="75000"/>
              </a:lnSpc>
              <a:buNone/>
            </a:pPr>
            <a:r>
              <a:rPr lang="ru-RU" sz="2000" dirty="0"/>
              <a:t>момент реагирует на запрос, давая правильный ответ.</a:t>
            </a:r>
          </a:p>
          <a:p>
            <a:pPr>
              <a:lnSpc>
                <a:spcPct val="75000"/>
              </a:lnSpc>
            </a:pPr>
            <a:r>
              <a:rPr lang="ru-RU" sz="2000" b="1" dirty="0"/>
              <a:t>Устойчивость к разделению (к нарушению связности)</a:t>
            </a:r>
          </a:p>
          <a:p>
            <a:pPr marL="0" indent="0">
              <a:lnSpc>
                <a:spcPct val="75000"/>
              </a:lnSpc>
              <a:buNone/>
            </a:pPr>
            <a:r>
              <a:rPr lang="ru-RU" sz="2000" dirty="0"/>
              <a:t>(</a:t>
            </a:r>
            <a:r>
              <a:rPr lang="ru-RU" sz="2000" dirty="0" err="1"/>
              <a:t>Partition</a:t>
            </a:r>
            <a:r>
              <a:rPr lang="ru-RU" sz="2000" dirty="0"/>
              <a:t> </a:t>
            </a:r>
            <a:r>
              <a:rPr lang="ru-RU" sz="2000" dirty="0" err="1"/>
              <a:t>tolerance</a:t>
            </a:r>
            <a:r>
              <a:rPr lang="ru-RU" sz="2000" dirty="0"/>
              <a:t>). База данных выполняет </a:t>
            </a:r>
          </a:p>
          <a:p>
            <a:pPr marL="0" indent="0">
              <a:lnSpc>
                <a:spcPct val="75000"/>
              </a:lnSpc>
              <a:buNone/>
            </a:pPr>
            <a:r>
              <a:rPr lang="ru-RU" sz="2000" dirty="0"/>
              <a:t>чтение и запись, даже когда часть серверов кластера</a:t>
            </a:r>
          </a:p>
          <a:p>
            <a:pPr marL="0" indent="0">
              <a:lnSpc>
                <a:spcPct val="75000"/>
              </a:lnSpc>
              <a:buNone/>
            </a:pPr>
            <a:r>
              <a:rPr lang="ru-RU" sz="2000" dirty="0"/>
              <a:t>временно не могут взаимодействовать друг с другом.</a:t>
            </a:r>
          </a:p>
          <a:p>
            <a:pPr marL="0" indent="0">
              <a:lnSpc>
                <a:spcPct val="75000"/>
              </a:lnSpc>
              <a:buNone/>
            </a:pPr>
            <a:r>
              <a:rPr lang="ru-RU" sz="2000" dirty="0"/>
              <a:t>В этом случае система распадается на группы узлов,</a:t>
            </a:r>
          </a:p>
          <a:p>
            <a:pPr marL="0" indent="0">
              <a:lnSpc>
                <a:spcPct val="75000"/>
              </a:lnSpc>
              <a:buNone/>
            </a:pPr>
            <a:r>
              <a:rPr lang="ru-RU" sz="2000" dirty="0"/>
              <a:t>которые продолжают функционировать. </a:t>
            </a:r>
          </a:p>
          <a:p>
            <a:pPr marL="0" indent="360000">
              <a:lnSpc>
                <a:spcPct val="80000"/>
              </a:lnSpc>
              <a:spcBef>
                <a:spcPts val="0"/>
              </a:spcBef>
              <a:buNone/>
            </a:pPr>
            <a:r>
              <a:rPr lang="ru-RU" sz="2000" dirty="0"/>
              <a:t>У</a:t>
            </a:r>
            <a:r>
              <a:rPr lang="ru-RU" sz="2000" b="0" i="0" dirty="0">
                <a:effectLst/>
              </a:rPr>
              <a:t>тверждение, называемое  </a:t>
            </a:r>
            <a:r>
              <a:rPr lang="ru-RU" sz="2000" b="1" dirty="0"/>
              <a:t>Теорема Брюера </a:t>
            </a:r>
            <a:r>
              <a:rPr lang="ru-RU" sz="2000" dirty="0"/>
              <a:t>(2000 г.): распределенная система не может обладать одновременно более чем двумя из следующих трех характеристик:</a:t>
            </a:r>
            <a:r>
              <a:rPr lang="en-US" sz="2000" dirty="0"/>
              <a:t> </a:t>
            </a:r>
            <a:r>
              <a:rPr lang="ru-RU" sz="2000" dirty="0"/>
              <a:t>доступность (</a:t>
            </a:r>
            <a:r>
              <a:rPr lang="ru-RU" sz="2000" dirty="0" err="1"/>
              <a:t>Availability</a:t>
            </a:r>
            <a:r>
              <a:rPr lang="ru-RU" sz="2000" dirty="0"/>
              <a:t>), согласованность (</a:t>
            </a:r>
            <a:r>
              <a:rPr lang="ru-RU" sz="2000" dirty="0" err="1"/>
              <a:t>Consistency</a:t>
            </a:r>
            <a:r>
              <a:rPr lang="ru-RU" sz="2000" dirty="0"/>
              <a:t>),</a:t>
            </a:r>
            <a:r>
              <a:rPr lang="en-US" sz="2000" dirty="0"/>
              <a:t> </a:t>
            </a:r>
            <a:r>
              <a:rPr lang="ru-RU" sz="2000" dirty="0"/>
              <a:t>устойчивость к разрывам сети (</a:t>
            </a:r>
            <a:r>
              <a:rPr lang="ru-RU" sz="2000" dirty="0" err="1"/>
              <a:t>Partition</a:t>
            </a:r>
            <a:r>
              <a:rPr lang="ru-RU" sz="2000" dirty="0"/>
              <a:t> </a:t>
            </a:r>
            <a:r>
              <a:rPr lang="ru-RU" sz="2000" dirty="0" err="1"/>
              <a:t>tolerance</a:t>
            </a:r>
            <a:r>
              <a:rPr lang="ru-RU" sz="2000" dirty="0"/>
              <a:t>).</a:t>
            </a:r>
          </a:p>
          <a:p>
            <a:pPr marL="0" indent="0">
              <a:lnSpc>
                <a:spcPct val="80000"/>
              </a:lnSpc>
              <a:buNone/>
            </a:pPr>
            <a:r>
              <a:rPr lang="ru-RU" sz="2000" u="sng" dirty="0"/>
              <a:t>Замечание 1</a:t>
            </a:r>
            <a:r>
              <a:rPr lang="ru-RU" sz="2000" dirty="0"/>
              <a:t>: На самом деле теорема Брюера -- это никакая не теорема, а всего лишь эмпирическое утверждение!</a:t>
            </a:r>
          </a:p>
          <a:p>
            <a:pPr marL="0" indent="0">
              <a:lnSpc>
                <a:spcPct val="80000"/>
              </a:lnSpc>
              <a:buNone/>
            </a:pPr>
            <a:r>
              <a:rPr lang="ru-RU" sz="2000" u="sng" dirty="0"/>
              <a:t>Замечание 2</a:t>
            </a:r>
            <a:r>
              <a:rPr lang="ru-RU" sz="2000" dirty="0"/>
              <a:t>:  "согласованность в конечном счете"  это уточнение "согласованности" Брюера. </a:t>
            </a:r>
          </a:p>
        </p:txBody>
      </p:sp>
    </p:spTree>
    <p:extLst>
      <p:ext uri="{BB962C8B-B14F-4D97-AF65-F5344CB8AC3E}">
        <p14:creationId xmlns:p14="http://schemas.microsoft.com/office/powerpoint/2010/main" val="128303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35391"/>
            <a:ext cx="10515600" cy="484094"/>
          </a:xfrm>
        </p:spPr>
        <p:txBody>
          <a:bodyPr>
            <a:normAutofit fontScale="90000"/>
          </a:bodyPr>
          <a:lstStyle/>
          <a:p>
            <a:pPr algn="ctr"/>
            <a:r>
              <a:rPr lang="en-US" sz="3600" dirty="0">
                <a:solidFill>
                  <a:srgbClr val="FF0000"/>
                </a:solidFill>
              </a:rPr>
              <a:t>CAP-</a:t>
            </a:r>
            <a:r>
              <a:rPr lang="ru-RU" sz="3600" dirty="0">
                <a:solidFill>
                  <a:srgbClr val="FF0000"/>
                </a:solidFill>
              </a:rPr>
              <a:t>теорема 2/3</a:t>
            </a:r>
          </a:p>
        </p:txBody>
      </p:sp>
      <p:sp>
        <p:nvSpPr>
          <p:cNvPr id="3" name="Объект 2"/>
          <p:cNvSpPr>
            <a:spLocks noGrp="1"/>
          </p:cNvSpPr>
          <p:nvPr>
            <p:ph idx="1"/>
          </p:nvPr>
        </p:nvSpPr>
        <p:spPr>
          <a:xfrm>
            <a:off x="838200" y="896292"/>
            <a:ext cx="10515600" cy="5961707"/>
          </a:xfrm>
        </p:spPr>
        <p:txBody>
          <a:bodyPr>
            <a:normAutofit lnSpcReduction="10000"/>
          </a:bodyPr>
          <a:lstStyle/>
          <a:p>
            <a:pPr marL="0" indent="360000">
              <a:buNone/>
            </a:pPr>
            <a:r>
              <a:rPr lang="ru-RU" sz="2000" dirty="0"/>
              <a:t>На самом деле, устойчивость к разрывам сети (</a:t>
            </a:r>
            <a:r>
              <a:rPr lang="en-US" sz="2000" dirty="0"/>
              <a:t>P</a:t>
            </a:r>
            <a:r>
              <a:rPr lang="ru-RU" sz="2000" dirty="0"/>
              <a:t>) есть всегда. Нет систем, которые перестают работать при любом разрыве сети.</a:t>
            </a:r>
            <a:r>
              <a:rPr lang="en-US" sz="2000" dirty="0"/>
              <a:t> </a:t>
            </a:r>
            <a:r>
              <a:rPr lang="ru-RU" sz="2000" dirty="0"/>
              <a:t>Так что остаётся выбор из двух параметров:</a:t>
            </a:r>
          </a:p>
          <a:p>
            <a:pPr marL="0" indent="0">
              <a:buNone/>
            </a:pPr>
            <a:r>
              <a:rPr lang="ru-RU" sz="2000" dirty="0"/>
              <a:t>-- доступность</a:t>
            </a:r>
            <a:r>
              <a:rPr lang="en-US" sz="2000" dirty="0"/>
              <a:t> (A)</a:t>
            </a:r>
            <a:r>
              <a:rPr lang="ru-RU" sz="2000" dirty="0"/>
              <a:t>, </a:t>
            </a:r>
          </a:p>
          <a:p>
            <a:pPr marL="0" indent="0">
              <a:buNone/>
            </a:pPr>
            <a:r>
              <a:rPr lang="ru-RU" sz="2000" dirty="0"/>
              <a:t>-- согласованность</a:t>
            </a:r>
            <a:r>
              <a:rPr lang="en-US" sz="2000" dirty="0"/>
              <a:t> (C)</a:t>
            </a:r>
            <a:r>
              <a:rPr lang="ru-RU" sz="2000" dirty="0"/>
              <a:t>.</a:t>
            </a:r>
          </a:p>
          <a:p>
            <a:pPr marL="0" indent="360000">
              <a:buNone/>
            </a:pPr>
            <a:r>
              <a:rPr lang="ru-RU" sz="2000" dirty="0"/>
              <a:t> Доступность обеспечивается когда при обращении к узлу распределенной системы  обязательно получаем ответ, может быть с устаревшими данными.</a:t>
            </a:r>
          </a:p>
          <a:p>
            <a:pPr marL="0" indent="360000">
              <a:buNone/>
            </a:pPr>
            <a:r>
              <a:rPr lang="ru-RU" sz="2000" dirty="0"/>
              <a:t>Согласованность обеспечивается, когда с разных узлов получаем одни и те же данные.</a:t>
            </a:r>
          </a:p>
          <a:p>
            <a:pPr marL="0" indent="360000">
              <a:buNone/>
            </a:pPr>
            <a:r>
              <a:rPr lang="ru-RU" sz="2000" dirty="0"/>
              <a:t>Любая распределённая система относится либо к кассу AP, либо к CP.</a:t>
            </a:r>
          </a:p>
          <a:p>
            <a:pPr marL="0" indent="360000">
              <a:buNone/>
            </a:pPr>
            <a:r>
              <a:rPr lang="ru-RU" sz="2000" dirty="0"/>
              <a:t>Почему нельзя получить одновременно согласованность и доступность?</a:t>
            </a:r>
          </a:p>
          <a:p>
            <a:pPr marL="0" indent="360000">
              <a:buNone/>
            </a:pPr>
            <a:r>
              <a:rPr lang="ru-RU" sz="2000" dirty="0"/>
              <a:t>Пусть база данных работает на двух компьютерах. Пользователь может писать данные на любую из этих машин. Затем запись копируется на другую машину. </a:t>
            </a:r>
          </a:p>
          <a:p>
            <a:pPr marL="0" indent="360000">
              <a:buNone/>
            </a:pPr>
            <a:r>
              <a:rPr lang="ru-RU" sz="2000" dirty="0"/>
              <a:t>Предположим что компьютеры временно не могут обмениваться информацией, а в это время один из серверов получает запрос на чтение. Имеется две возможности:</a:t>
            </a:r>
          </a:p>
          <a:p>
            <a:pPr marL="0" indent="0">
              <a:buNone/>
            </a:pPr>
            <a:r>
              <a:rPr lang="ru-RU" sz="2000" dirty="0"/>
              <a:t>1.Предпочитаем доступность и возвращаем локальные данные, может быть устаревшие.</a:t>
            </a:r>
          </a:p>
          <a:p>
            <a:pPr marL="0" indent="0">
              <a:buNone/>
            </a:pPr>
            <a:r>
              <a:rPr lang="ru-RU" sz="2000" dirty="0"/>
              <a:t>2. Отдаем предпочтение согласованности. Возвращаем сообщение об ошибке. </a:t>
            </a:r>
          </a:p>
          <a:p>
            <a:pPr marL="0" indent="360000">
              <a:lnSpc>
                <a:spcPct val="100000"/>
              </a:lnSpc>
              <a:buNone/>
            </a:pPr>
            <a:r>
              <a:rPr lang="ru-RU" sz="2000" dirty="0"/>
              <a:t>Реляционные базы данных стремятся воплотить свойства "согласованности" и "доступности" одновременно, и, следовательно, плохо работают в распределенной среде.</a:t>
            </a:r>
          </a:p>
        </p:txBody>
      </p:sp>
    </p:spTree>
    <p:extLst>
      <p:ext uri="{BB962C8B-B14F-4D97-AF65-F5344CB8AC3E}">
        <p14:creationId xmlns:p14="http://schemas.microsoft.com/office/powerpoint/2010/main" val="3499917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605118"/>
          </a:xfrm>
        </p:spPr>
        <p:txBody>
          <a:bodyPr>
            <a:normAutofit/>
          </a:bodyPr>
          <a:lstStyle/>
          <a:p>
            <a:pPr algn="ctr"/>
            <a:r>
              <a:rPr lang="en-US" sz="3200" dirty="0">
                <a:solidFill>
                  <a:srgbClr val="FF0000"/>
                </a:solidFill>
              </a:rPr>
              <a:t>CAP-</a:t>
            </a:r>
            <a:r>
              <a:rPr lang="ru-RU" sz="3200" dirty="0">
                <a:solidFill>
                  <a:srgbClr val="FF0000"/>
                </a:solidFill>
              </a:rPr>
              <a:t>теорема 3/3</a:t>
            </a:r>
          </a:p>
        </p:txBody>
      </p:sp>
      <p:sp>
        <p:nvSpPr>
          <p:cNvPr id="3" name="Объект 2"/>
          <p:cNvSpPr>
            <a:spLocks noGrp="1"/>
          </p:cNvSpPr>
          <p:nvPr>
            <p:ph idx="1"/>
          </p:nvPr>
        </p:nvSpPr>
        <p:spPr>
          <a:xfrm>
            <a:off x="838199" y="605119"/>
            <a:ext cx="10780059" cy="6091516"/>
          </a:xfrm>
        </p:spPr>
        <p:txBody>
          <a:bodyPr>
            <a:normAutofit lnSpcReduction="10000"/>
          </a:bodyPr>
          <a:lstStyle/>
          <a:p>
            <a:pPr marL="0" indent="360000">
              <a:lnSpc>
                <a:spcPct val="100000"/>
              </a:lnSpc>
              <a:buNone/>
            </a:pPr>
            <a:r>
              <a:rPr lang="ru-RU" sz="2000" dirty="0"/>
              <a:t>Как в NoSQL удается сочетать согласованность и доступность? Никак! Просто используются другие подходы. В NoSQL базе данных задаются два параметра выполнения записи и чтения:</a:t>
            </a:r>
          </a:p>
          <a:p>
            <a:r>
              <a:rPr lang="ru-RU" sz="2000" b="1" i="1" dirty="0"/>
              <a:t>W</a:t>
            </a:r>
            <a:r>
              <a:rPr lang="ru-RU" sz="2000" dirty="0"/>
              <a:t> – количество компьютеров, подтверждающих сохранение данных при записи. Чем оно больше, тем легче будет прочитать свежие данные, но и тем больше времени это займет. </a:t>
            </a:r>
          </a:p>
          <a:p>
            <a:r>
              <a:rPr lang="ru-RU" sz="2000" b="1" i="1" dirty="0"/>
              <a:t>R</a:t>
            </a:r>
            <a:r>
              <a:rPr lang="ru-RU" sz="2000" dirty="0"/>
              <a:t> – с какого количества компьютеров читаются данные. Чем оно больше, тем выше вероятность прочитать актуальные данные. Распространение данных по узлам кластера требует времени, так что на некоторых узлах данные будут уже актуальными, а на других нет. </a:t>
            </a:r>
          </a:p>
          <a:p>
            <a:pPr marL="0" indent="0">
              <a:buNone/>
            </a:pPr>
            <a:r>
              <a:rPr lang="ru-RU" sz="2000" dirty="0"/>
              <a:t>Примеры ситуаций:</a:t>
            </a:r>
          </a:p>
          <a:p>
            <a:pPr marL="457200" indent="-457200">
              <a:buAutoNum type="arabicPeriod"/>
            </a:pPr>
            <a:r>
              <a:rPr lang="en-US" sz="2000" dirty="0" smtClean="0"/>
              <a:t>W=1, </a:t>
            </a:r>
            <a:r>
              <a:rPr lang="en-US" sz="2000" dirty="0"/>
              <a:t>R=1. </a:t>
            </a:r>
            <a:r>
              <a:rPr lang="ru-RU" sz="2000" dirty="0"/>
              <a:t>Компьютеров в кластере 5. Вероятность чтения устаревших данных 80%.</a:t>
            </a:r>
          </a:p>
          <a:p>
            <a:pPr marL="457200" indent="-457200">
              <a:buFont typeface="Arial" panose="020B0604020202020204" pitchFamily="34" charset="0"/>
              <a:buAutoNum type="arabicPeriod"/>
            </a:pPr>
            <a:r>
              <a:rPr lang="en-US" sz="2000" dirty="0"/>
              <a:t>W </a:t>
            </a:r>
            <a:r>
              <a:rPr lang="en-US" sz="2000" dirty="0" smtClean="0"/>
              <a:t>= </a:t>
            </a:r>
            <a:r>
              <a:rPr lang="en-US" sz="2000" dirty="0"/>
              <a:t>R = 5.</a:t>
            </a:r>
            <a:r>
              <a:rPr lang="ru-RU" sz="2000" dirty="0"/>
              <a:t> Компьютеров 5. Вероятность чтения актуальных данных 100%.</a:t>
            </a:r>
          </a:p>
          <a:p>
            <a:pPr marL="0" indent="360000">
              <a:buNone/>
            </a:pPr>
            <a:r>
              <a:rPr lang="ru-RU" sz="2000" dirty="0"/>
              <a:t>Минимальное количество операций чтения и записи, необходимое для обеспечения согласованности базы:</a:t>
            </a:r>
          </a:p>
          <a:p>
            <a:pPr marL="0" indent="0">
              <a:buNone/>
            </a:pPr>
            <a:r>
              <a:rPr lang="en-US" sz="2000" dirty="0"/>
              <a:t>R + W ≥ N + 1</a:t>
            </a:r>
            <a:r>
              <a:rPr lang="ru-RU" sz="2000" dirty="0"/>
              <a:t>,</a:t>
            </a:r>
            <a:endParaRPr lang="en-US" sz="2000" dirty="0"/>
          </a:p>
          <a:p>
            <a:pPr marL="0" indent="0">
              <a:buNone/>
            </a:pPr>
            <a:r>
              <a:rPr lang="ru-RU" sz="2000" dirty="0"/>
              <a:t>где </a:t>
            </a:r>
            <a:r>
              <a:rPr lang="en-US" sz="2000" dirty="0"/>
              <a:t>N </a:t>
            </a:r>
            <a:r>
              <a:rPr lang="ru-RU" sz="2000" dirty="0"/>
              <a:t>– число компьютеров</a:t>
            </a:r>
          </a:p>
          <a:p>
            <a:pPr marL="0" indent="360000">
              <a:buNone/>
            </a:pPr>
            <a:r>
              <a:rPr lang="ru-RU" sz="2000" dirty="0"/>
              <a:t>Это означает, что по крайней мере один компьютер, с которого читают, ещё и пишет. То есть всегда имеется по крайней мере одна машина с актуальными данными. Два варианта:</a:t>
            </a:r>
          </a:p>
          <a:p>
            <a:pPr marL="457200" indent="-457200">
              <a:buAutoNum type="arabicPeriod"/>
            </a:pPr>
            <a:r>
              <a:rPr lang="ru-RU" sz="2000" dirty="0"/>
              <a:t>Чтение с нескольких узлов и возврат последних записанных данных.</a:t>
            </a:r>
          </a:p>
          <a:p>
            <a:pPr marL="457200" indent="-457200">
              <a:buAutoNum type="arabicPeriod"/>
            </a:pPr>
            <a:r>
              <a:rPr lang="ru-RU" sz="2000" dirty="0"/>
              <a:t>Чтение со случайно выбранного узла. Могут временно вернуться устаревшие данные.</a:t>
            </a:r>
          </a:p>
        </p:txBody>
      </p:sp>
    </p:spTree>
    <p:extLst>
      <p:ext uri="{BB962C8B-B14F-4D97-AF65-F5344CB8AC3E}">
        <p14:creationId xmlns:p14="http://schemas.microsoft.com/office/powerpoint/2010/main" val="218066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571336" y="4267473"/>
            <a:ext cx="7315928" cy="2150581"/>
          </a:xfrm>
          <a:prstGeom prst="rect">
            <a:avLst/>
          </a:prstGeom>
        </p:spPr>
      </p:pic>
      <p:sp>
        <p:nvSpPr>
          <p:cNvPr id="2" name="Заголовок 1"/>
          <p:cNvSpPr>
            <a:spLocks noGrp="1"/>
          </p:cNvSpPr>
          <p:nvPr>
            <p:ph type="title"/>
          </p:nvPr>
        </p:nvSpPr>
        <p:spPr>
          <a:xfrm>
            <a:off x="838200" y="1"/>
            <a:ext cx="10515600" cy="577970"/>
          </a:xfrm>
        </p:spPr>
        <p:txBody>
          <a:bodyPr>
            <a:normAutofit fontScale="90000"/>
          </a:bodyPr>
          <a:lstStyle/>
          <a:p>
            <a:pPr algn="ctr"/>
            <a:r>
              <a:rPr lang="ru-RU" sz="3600" dirty="0">
                <a:solidFill>
                  <a:srgbClr val="FF0000"/>
                </a:solidFill>
              </a:rPr>
              <a:t>Какие данные считать большими</a:t>
            </a:r>
          </a:p>
        </p:txBody>
      </p:sp>
      <p:sp>
        <p:nvSpPr>
          <p:cNvPr id="3" name="Объект 2"/>
          <p:cNvSpPr>
            <a:spLocks noGrp="1"/>
          </p:cNvSpPr>
          <p:nvPr>
            <p:ph idx="1"/>
          </p:nvPr>
        </p:nvSpPr>
        <p:spPr>
          <a:xfrm>
            <a:off x="916172" y="577970"/>
            <a:ext cx="10515600" cy="5982628"/>
          </a:xfrm>
        </p:spPr>
        <p:txBody>
          <a:bodyPr>
            <a:noAutofit/>
          </a:bodyPr>
          <a:lstStyle/>
          <a:p>
            <a:pPr marL="0" indent="360000">
              <a:buNone/>
            </a:pPr>
            <a:r>
              <a:rPr lang="ru-RU" sz="2000" dirty="0"/>
              <a:t>Термин «большие данные» в 2008 году ввёл редактор журнала </a:t>
            </a:r>
            <a:r>
              <a:rPr lang="ru-RU" sz="2000" dirty="0" err="1"/>
              <a:t>Nature</a:t>
            </a:r>
            <a:r>
              <a:rPr lang="ru-RU" sz="2000" dirty="0"/>
              <a:t> Клиффорд. </a:t>
            </a:r>
          </a:p>
          <a:p>
            <a:pPr marL="0" indent="360000">
              <a:buNone/>
            </a:pPr>
            <a:r>
              <a:rPr lang="ru-RU" sz="2000" dirty="0"/>
              <a:t>Три основные характеристики (</a:t>
            </a:r>
            <a:r>
              <a:rPr lang="en-US" sz="2000" dirty="0"/>
              <a:t>“</a:t>
            </a:r>
            <a:r>
              <a:rPr lang="ru-RU" sz="2000" dirty="0"/>
              <a:t>Три </a:t>
            </a:r>
            <a:r>
              <a:rPr lang="en-US" sz="2000" dirty="0"/>
              <a:t>V”)</a:t>
            </a:r>
            <a:r>
              <a:rPr lang="ru-RU" sz="2000" dirty="0"/>
              <a:t>:</a:t>
            </a:r>
          </a:p>
          <a:p>
            <a:r>
              <a:rPr lang="ru-RU" sz="2000" b="1" dirty="0" err="1"/>
              <a:t>Volume</a:t>
            </a:r>
            <a:r>
              <a:rPr lang="ru-RU" sz="2000" b="1" dirty="0"/>
              <a:t> </a:t>
            </a:r>
            <a:r>
              <a:rPr lang="ru-RU" sz="2000" dirty="0"/>
              <a:t> — объём.</a:t>
            </a:r>
          </a:p>
          <a:p>
            <a:r>
              <a:rPr lang="ru-RU" sz="2000" b="1" dirty="0" err="1"/>
              <a:t>Velocity</a:t>
            </a:r>
            <a:r>
              <a:rPr lang="ru-RU" sz="2000" b="1" dirty="0"/>
              <a:t> </a:t>
            </a:r>
            <a:r>
              <a:rPr lang="ru-RU" sz="2000" dirty="0"/>
              <a:t> — скорость прироста  объёма и необходимости быстрой обработки данных.</a:t>
            </a:r>
          </a:p>
          <a:p>
            <a:r>
              <a:rPr lang="ru-RU" sz="2000" b="1" dirty="0" err="1"/>
              <a:t>Variety</a:t>
            </a:r>
            <a:r>
              <a:rPr lang="ru-RU" sz="2000" dirty="0"/>
              <a:t>    — возможность одновременно обрабатывать различные типы данных.</a:t>
            </a:r>
          </a:p>
          <a:p>
            <a:pPr marL="0" indent="0">
              <a:buNone/>
            </a:pPr>
            <a:endParaRPr lang="ru-RU" sz="1000" dirty="0"/>
          </a:p>
          <a:p>
            <a:pPr marL="0" indent="360000">
              <a:buNone/>
            </a:pPr>
            <a:r>
              <a:rPr lang="ru-RU" sz="2000" dirty="0"/>
              <a:t>Объем хранимой информации удваивается каждые два года</a:t>
            </a:r>
          </a:p>
          <a:p>
            <a:pPr marL="0" indent="360000">
              <a:buNone/>
            </a:pPr>
            <a:r>
              <a:rPr lang="ru-RU" sz="2000" dirty="0"/>
              <a:t>Из всего объема существующих данных потенциально полезны 22%, из которых</a:t>
            </a:r>
          </a:p>
          <a:p>
            <a:pPr marL="0" indent="0">
              <a:buNone/>
            </a:pPr>
            <a:r>
              <a:rPr lang="ru-RU" sz="2000" dirty="0"/>
              <a:t>менее 5% были подвергнуты анализу.</a:t>
            </a:r>
          </a:p>
          <a:p>
            <a:pPr marL="0" indent="360000">
              <a:lnSpc>
                <a:spcPct val="100000"/>
              </a:lnSpc>
              <a:buNone/>
            </a:pPr>
            <a:r>
              <a:rPr lang="ru-RU" sz="2000" dirty="0"/>
              <a:t>Можно считать, что к Big data относятся потоки данных </a:t>
            </a:r>
          </a:p>
          <a:p>
            <a:pPr marL="0" indent="0">
              <a:lnSpc>
                <a:spcPct val="100000"/>
              </a:lnSpc>
              <a:buNone/>
            </a:pPr>
            <a:r>
              <a:rPr lang="ru-RU" sz="2000" dirty="0"/>
              <a:t>объёмом свыше 100 Гб в день.</a:t>
            </a:r>
          </a:p>
          <a:p>
            <a:pPr marL="0" indent="360000">
              <a:lnSpc>
                <a:spcPct val="100000"/>
              </a:lnSpc>
              <a:buNone/>
            </a:pPr>
            <a:endParaRPr lang="ru-RU" sz="2000" dirty="0"/>
          </a:p>
          <a:p>
            <a:pPr marL="0" indent="0">
              <a:buNone/>
            </a:pPr>
            <a:endParaRPr lang="ru-RU" sz="2000" dirty="0"/>
          </a:p>
          <a:p>
            <a:pPr marL="0" indent="0">
              <a:buNone/>
            </a:pPr>
            <a:endParaRPr lang="ru-RU" sz="2000" u="sng" dirty="0"/>
          </a:p>
          <a:p>
            <a:pPr marL="0" indent="0">
              <a:buNone/>
            </a:pPr>
            <a:r>
              <a:rPr lang="ru-RU" sz="2000" u="sng" dirty="0"/>
              <a:t>Справка</a:t>
            </a:r>
            <a:r>
              <a:rPr lang="ru-RU" sz="2000" dirty="0"/>
              <a:t>: Зеттабайт это 10 </a:t>
            </a:r>
            <a:r>
              <a:rPr lang="ru-RU" sz="2000" baseline="30000" dirty="0"/>
              <a:t>21 </a:t>
            </a:r>
            <a:r>
              <a:rPr lang="ru-RU" sz="2000" dirty="0"/>
              <a:t>байт</a:t>
            </a:r>
          </a:p>
        </p:txBody>
      </p:sp>
    </p:spTree>
    <p:extLst>
      <p:ext uri="{BB962C8B-B14F-4D97-AF65-F5344CB8AC3E}">
        <p14:creationId xmlns:p14="http://schemas.microsoft.com/office/powerpoint/2010/main" val="251299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0379" y="1"/>
            <a:ext cx="10515600" cy="564204"/>
          </a:xfrm>
        </p:spPr>
        <p:txBody>
          <a:bodyPr>
            <a:normAutofit/>
          </a:bodyPr>
          <a:lstStyle/>
          <a:p>
            <a:pPr algn="ctr"/>
            <a:r>
              <a:rPr lang="ru-RU" sz="3200" dirty="0">
                <a:solidFill>
                  <a:srgbClr val="FF0000"/>
                </a:solidFill>
              </a:rPr>
              <a:t>Так что же такое</a:t>
            </a:r>
            <a:r>
              <a:rPr lang="en-US" sz="3200" dirty="0">
                <a:solidFill>
                  <a:srgbClr val="FF0000"/>
                </a:solidFill>
              </a:rPr>
              <a:t> NoSQL?</a:t>
            </a:r>
            <a:r>
              <a:rPr lang="ru-RU" sz="3200" dirty="0">
                <a:solidFill>
                  <a:srgbClr val="FF0000"/>
                </a:solidFill>
              </a:rPr>
              <a:t> </a:t>
            </a:r>
          </a:p>
        </p:txBody>
      </p:sp>
      <p:sp>
        <p:nvSpPr>
          <p:cNvPr id="3" name="Объект 2"/>
          <p:cNvSpPr>
            <a:spLocks noGrp="1"/>
          </p:cNvSpPr>
          <p:nvPr>
            <p:ph idx="1"/>
          </p:nvPr>
        </p:nvSpPr>
        <p:spPr>
          <a:xfrm>
            <a:off x="829322" y="564205"/>
            <a:ext cx="10807460" cy="6257026"/>
          </a:xfrm>
        </p:spPr>
        <p:txBody>
          <a:bodyPr>
            <a:normAutofit fontScale="92500" lnSpcReduction="10000"/>
          </a:bodyPr>
          <a:lstStyle/>
          <a:p>
            <a:pPr marL="0" indent="360000">
              <a:buNone/>
            </a:pPr>
            <a:r>
              <a:rPr lang="ru-RU" sz="2000" dirty="0"/>
              <a:t>Термин </a:t>
            </a:r>
            <a:r>
              <a:rPr lang="ru-RU" sz="2000" dirty="0" err="1"/>
              <a:t>NoSQL</a:t>
            </a:r>
            <a:r>
              <a:rPr lang="ru-RU" sz="2000" dirty="0"/>
              <a:t> иногда понимают как </a:t>
            </a:r>
            <a:r>
              <a:rPr lang="ru-RU" sz="2000" dirty="0" err="1"/>
              <a:t>Not</a:t>
            </a:r>
            <a:r>
              <a:rPr lang="ru-RU" sz="2000" dirty="0"/>
              <a:t> SQL, но более правильно</a:t>
            </a:r>
            <a:r>
              <a:rPr lang="en-US" sz="2000" dirty="0"/>
              <a:t> </a:t>
            </a:r>
            <a:r>
              <a:rPr lang="ru-RU" sz="2000" dirty="0"/>
              <a:t>считать -- </a:t>
            </a:r>
            <a:r>
              <a:rPr lang="ru-RU" sz="2000" dirty="0" err="1"/>
              <a:t>Not</a:t>
            </a:r>
            <a:r>
              <a:rPr lang="ru-RU" sz="2000" dirty="0"/>
              <a:t> </a:t>
            </a:r>
            <a:r>
              <a:rPr lang="ru-RU" sz="2000" dirty="0" err="1"/>
              <a:t>Only</a:t>
            </a:r>
            <a:r>
              <a:rPr lang="ru-RU" sz="2000" dirty="0"/>
              <a:t> SQL.</a:t>
            </a:r>
          </a:p>
          <a:p>
            <a:pPr marL="0" indent="360000">
              <a:buNone/>
            </a:pPr>
            <a:r>
              <a:rPr lang="ru-RU" sz="2000" dirty="0"/>
              <a:t>Из-за большого разнообразия моделей и </a:t>
            </a:r>
            <a:r>
              <a:rPr lang="ru-RU" sz="2000" dirty="0" err="1"/>
              <a:t>многомодельности</a:t>
            </a:r>
            <a:r>
              <a:rPr lang="ru-RU" sz="2000" dirty="0"/>
              <a:t> некоторых СУБД невозможно дать общую характеристику этого направления.</a:t>
            </a:r>
          </a:p>
          <a:p>
            <a:pPr marL="0" indent="360000">
              <a:buNone/>
            </a:pPr>
            <a:r>
              <a:rPr lang="ru-RU" sz="2000" dirty="0"/>
              <a:t>Отметим некоторые общие, но не обязательные черты:</a:t>
            </a:r>
          </a:p>
          <a:p>
            <a:pPr marL="0" indent="0">
              <a:buNone/>
            </a:pPr>
            <a:r>
              <a:rPr lang="ru-RU" sz="2000" dirty="0"/>
              <a:t>1. </a:t>
            </a:r>
            <a:r>
              <a:rPr lang="ru-RU" sz="2000" dirty="0" err="1"/>
              <a:t>нереляционные</a:t>
            </a:r>
            <a:r>
              <a:rPr lang="ru-RU" sz="2000" dirty="0"/>
              <a:t> модели данных,</a:t>
            </a:r>
          </a:p>
          <a:p>
            <a:pPr marL="0" indent="0">
              <a:buNone/>
            </a:pPr>
            <a:r>
              <a:rPr lang="ru-RU" sz="2000" dirty="0"/>
              <a:t>2. работа на кластерах серверов и возможности масштабирования по горизонтали,</a:t>
            </a:r>
          </a:p>
          <a:p>
            <a:pPr marL="0" indent="0">
              <a:buNone/>
            </a:pPr>
            <a:r>
              <a:rPr lang="ru-RU" sz="2000" dirty="0"/>
              <a:t>3. высокая степень доступности данных за счёт некоторого пренебрежения согласованностью данных,</a:t>
            </a:r>
          </a:p>
          <a:p>
            <a:pPr marL="0" indent="0">
              <a:buNone/>
            </a:pPr>
            <a:r>
              <a:rPr lang="ru-RU" sz="2000" dirty="0"/>
              <a:t>4. как правило, не поддерживают ACID транзакции, хотя есть исключения,</a:t>
            </a:r>
          </a:p>
          <a:p>
            <a:pPr marL="0" indent="0">
              <a:buNone/>
            </a:pPr>
            <a:r>
              <a:rPr lang="ru-RU" sz="2000" dirty="0"/>
              <a:t>5. использование </a:t>
            </a:r>
            <a:r>
              <a:rPr lang="ru-RU" sz="2000" dirty="0" err="1"/>
              <a:t>двухшаговой</a:t>
            </a:r>
            <a:r>
              <a:rPr lang="ru-RU" sz="2000" dirty="0"/>
              <a:t> технологии MapReduce</a:t>
            </a:r>
          </a:p>
          <a:p>
            <a:pPr marL="0" indent="252000">
              <a:buNone/>
            </a:pPr>
            <a:r>
              <a:rPr lang="ru-RU" sz="2000" dirty="0"/>
              <a:t>Что такое техника MapReduce (на примере документной модели)</a:t>
            </a:r>
            <a:r>
              <a:rPr lang="en-US" sz="2000" dirty="0"/>
              <a:t>?</a:t>
            </a:r>
            <a:endParaRPr lang="ru-RU" sz="2000" dirty="0"/>
          </a:p>
          <a:p>
            <a:pPr marL="0" indent="252000">
              <a:buNone/>
            </a:pPr>
            <a:r>
              <a:rPr lang="ru-RU" sz="2000" dirty="0"/>
              <a:t>Первый шаг </a:t>
            </a:r>
            <a:r>
              <a:rPr lang="en-US" sz="2000" dirty="0" smtClean="0"/>
              <a:t>node</a:t>
            </a:r>
            <a:r>
              <a:rPr lang="ru-RU" sz="2000" dirty="0" smtClean="0"/>
              <a:t> </a:t>
            </a:r>
            <a:r>
              <a:rPr lang="ru-RU" sz="2000" dirty="0"/>
              <a:t>используя фильтр, распределяет задачу по потокам или по узлам кластера. </a:t>
            </a:r>
            <a:r>
              <a:rPr lang="en-US" sz="2000" dirty="0"/>
              <a:t>Map </a:t>
            </a:r>
            <a:r>
              <a:rPr lang="ru-RU" sz="2000" dirty="0" err="1" smtClean="0"/>
              <a:t>применяетс</a:t>
            </a:r>
            <a:r>
              <a:rPr lang="ru-RU" sz="2000" dirty="0" err="1" smtClean="0"/>
              <a:t>я</a:t>
            </a:r>
            <a:r>
              <a:rPr lang="ru-RU" sz="2000" dirty="0" err="1" smtClean="0"/>
              <a:t>я</a:t>
            </a:r>
            <a:r>
              <a:rPr lang="ru-RU" sz="2000" dirty="0" smtClean="0"/>
              <a:t> </a:t>
            </a:r>
            <a:r>
              <a:rPr lang="ru-RU" sz="2000" dirty="0"/>
              <a:t>к каждому документу один раз, возвращая пару/пары ключ-значение.</a:t>
            </a:r>
          </a:p>
          <a:p>
            <a:pPr marL="0" indent="252000">
              <a:buNone/>
            </a:pPr>
            <a:r>
              <a:rPr lang="ru-RU" sz="2000" dirty="0"/>
              <a:t>Второй шаг </a:t>
            </a:r>
            <a:r>
              <a:rPr lang="en-US" sz="2000" dirty="0"/>
              <a:t>Reduce (</a:t>
            </a:r>
            <a:r>
              <a:rPr lang="ru-RU" sz="2000" dirty="0"/>
              <a:t>свёртка) -- </a:t>
            </a:r>
            <a:r>
              <a:rPr lang="en-US" sz="2000" dirty="0"/>
              <a:t>master node </a:t>
            </a:r>
            <a:r>
              <a:rPr lang="ru-RU" sz="2000" dirty="0"/>
              <a:t>получает ключ/ключи и все значения для него/них, полученные на шаге </a:t>
            </a:r>
            <a:r>
              <a:rPr lang="en-US" sz="2000" dirty="0"/>
              <a:t>Map </a:t>
            </a:r>
            <a:r>
              <a:rPr lang="ru-RU" sz="2000" dirty="0"/>
              <a:t>и формирует итог.</a:t>
            </a:r>
          </a:p>
          <a:p>
            <a:pPr marL="0" indent="360000">
              <a:buNone/>
            </a:pPr>
            <a:r>
              <a:rPr lang="ru-RU" sz="2000" dirty="0"/>
              <a:t>Действия </a:t>
            </a:r>
            <a:r>
              <a:rPr lang="en-US" sz="2000" dirty="0"/>
              <a:t>Map </a:t>
            </a:r>
            <a:r>
              <a:rPr lang="ru-RU" sz="2000" dirty="0"/>
              <a:t>для каждого документа не зависимы и выполняются либо параллельными потоками, либо отдельными серверами. Свёртка (</a:t>
            </a:r>
            <a:r>
              <a:rPr lang="en-US" sz="2000" dirty="0"/>
              <a:t>reduce) </a:t>
            </a:r>
            <a:r>
              <a:rPr lang="ru-RU" sz="2000" dirty="0"/>
              <a:t>выполняется на </a:t>
            </a:r>
            <a:r>
              <a:rPr lang="en-US" sz="2000" dirty="0"/>
              <a:t>Master node </a:t>
            </a:r>
            <a:r>
              <a:rPr lang="ru-RU" sz="2000" dirty="0"/>
              <a:t>собирающем результаты</a:t>
            </a:r>
            <a:r>
              <a:rPr lang="en-US" sz="2000" dirty="0"/>
              <a:t> Map </a:t>
            </a:r>
            <a:r>
              <a:rPr lang="ru-RU" sz="2000" dirty="0"/>
              <a:t>и обрабатывающем их.</a:t>
            </a:r>
          </a:p>
          <a:p>
            <a:pPr marL="0" indent="360000">
              <a:buNone/>
            </a:pPr>
            <a:r>
              <a:rPr lang="ru-RU" sz="2000" dirty="0"/>
              <a:t>Мы </a:t>
            </a:r>
            <a:r>
              <a:rPr lang="ru-RU" sz="2000" dirty="0" smtClean="0"/>
              <a:t>бегло </a:t>
            </a:r>
            <a:r>
              <a:rPr lang="ru-RU" sz="2000" dirty="0"/>
              <a:t>рассмотрим две реализации </a:t>
            </a:r>
            <a:r>
              <a:rPr lang="en-US" sz="2000" dirty="0"/>
              <a:t>NoSQL </a:t>
            </a:r>
            <a:r>
              <a:rPr lang="ru-RU" sz="2000" dirty="0"/>
              <a:t>баз данных: </a:t>
            </a:r>
            <a:r>
              <a:rPr lang="ru-RU" sz="2000" dirty="0" err="1"/>
              <a:t>графовую</a:t>
            </a:r>
            <a:r>
              <a:rPr lang="ru-RU" sz="2000" dirty="0"/>
              <a:t> СУБД </a:t>
            </a:r>
            <a:r>
              <a:rPr lang="en-US" sz="2000" dirty="0"/>
              <a:t>Neo4J</a:t>
            </a:r>
            <a:r>
              <a:rPr lang="ru-RU" sz="2000" dirty="0"/>
              <a:t> и документную СУБД </a:t>
            </a:r>
            <a:r>
              <a:rPr lang="en-US" sz="2000" dirty="0"/>
              <a:t>MongoDB.</a:t>
            </a:r>
            <a:endParaRPr lang="ru-RU" sz="2000" dirty="0"/>
          </a:p>
        </p:txBody>
      </p:sp>
    </p:spTree>
    <p:extLst>
      <p:ext uri="{BB962C8B-B14F-4D97-AF65-F5344CB8AC3E}">
        <p14:creationId xmlns:p14="http://schemas.microsoft.com/office/powerpoint/2010/main" val="523701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469556"/>
          </a:xfrm>
        </p:spPr>
        <p:txBody>
          <a:bodyPr>
            <a:noAutofit/>
          </a:bodyPr>
          <a:lstStyle/>
          <a:p>
            <a:pPr algn="ctr"/>
            <a:r>
              <a:rPr lang="ru-RU" sz="3200" dirty="0">
                <a:solidFill>
                  <a:srgbClr val="FF0000"/>
                </a:solidFill>
              </a:rPr>
              <a:t>Разновидности моделей </a:t>
            </a:r>
            <a:r>
              <a:rPr lang="en-US" sz="3200" dirty="0">
                <a:solidFill>
                  <a:srgbClr val="FF0000"/>
                </a:solidFill>
              </a:rPr>
              <a:t>NoSQL</a:t>
            </a:r>
            <a:r>
              <a:rPr lang="ru-RU" sz="3200" dirty="0">
                <a:solidFill>
                  <a:srgbClr val="FF0000"/>
                </a:solidFill>
              </a:rPr>
              <a:t> 1/</a:t>
            </a:r>
            <a:r>
              <a:rPr lang="en-US" sz="3200" dirty="0">
                <a:solidFill>
                  <a:srgbClr val="FF0000"/>
                </a:solidFill>
              </a:rPr>
              <a:t>3</a:t>
            </a:r>
            <a:endParaRPr lang="ru-RU" sz="3200" dirty="0">
              <a:solidFill>
                <a:srgbClr val="FF0000"/>
              </a:solidFill>
            </a:endParaRPr>
          </a:p>
        </p:txBody>
      </p:sp>
      <p:sp>
        <p:nvSpPr>
          <p:cNvPr id="3" name="Объект 2"/>
          <p:cNvSpPr>
            <a:spLocks noGrp="1"/>
          </p:cNvSpPr>
          <p:nvPr>
            <p:ph idx="1"/>
          </p:nvPr>
        </p:nvSpPr>
        <p:spPr>
          <a:xfrm>
            <a:off x="838200" y="469558"/>
            <a:ext cx="10515600" cy="6388442"/>
          </a:xfrm>
        </p:spPr>
        <p:txBody>
          <a:bodyPr>
            <a:noAutofit/>
          </a:bodyPr>
          <a:lstStyle/>
          <a:p>
            <a:pPr marL="0" indent="0">
              <a:lnSpc>
                <a:spcPct val="80000"/>
              </a:lnSpc>
              <a:buAutoNum type="arabicPeriod"/>
            </a:pPr>
            <a:r>
              <a:rPr lang="ru-RU" sz="2000" dirty="0"/>
              <a:t> </a:t>
            </a:r>
            <a:r>
              <a:rPr lang="ru-RU" sz="2000" b="1" dirty="0"/>
              <a:t>Ключ-значение</a:t>
            </a:r>
            <a:r>
              <a:rPr lang="ru-RU" sz="2000" dirty="0"/>
              <a:t> (</a:t>
            </a:r>
            <a:r>
              <a:rPr lang="ru-RU" sz="2000" dirty="0" err="1"/>
              <a:t>key</a:t>
            </a:r>
            <a:r>
              <a:rPr lang="ru-RU" sz="2000" dirty="0"/>
              <a:t>/</a:t>
            </a:r>
            <a:r>
              <a:rPr lang="ru-RU" sz="2000" dirty="0" err="1"/>
              <a:t>value</a:t>
            </a:r>
            <a:r>
              <a:rPr lang="ru-RU" sz="2000" dirty="0"/>
              <a:t>)</a:t>
            </a:r>
          </a:p>
          <a:p>
            <a:pPr marL="180000" indent="0">
              <a:lnSpc>
                <a:spcPct val="80000"/>
              </a:lnSpc>
              <a:buNone/>
            </a:pPr>
            <a:r>
              <a:rPr lang="ru-RU" sz="2000" dirty="0"/>
              <a:t>Модель данных: коллекция пар ключ-значение. Значение есть текстовый блок который можно записать, прочитать или удалить. Обеспечивают горизонтальное масштабирование, недостижимое для других моделей.</a:t>
            </a:r>
          </a:p>
          <a:p>
            <a:pPr marL="180000" indent="0">
              <a:lnSpc>
                <a:spcPct val="80000"/>
              </a:lnSpc>
              <a:buNone/>
            </a:pPr>
            <a:r>
              <a:rPr lang="ru-RU" sz="2000" dirty="0"/>
              <a:t>Хороша для обработки постоянного потока небольших операций чтения и записи. Быстрая.</a:t>
            </a:r>
          </a:p>
          <a:p>
            <a:pPr marL="180000" indent="0">
              <a:lnSpc>
                <a:spcPct val="80000"/>
              </a:lnSpc>
              <a:buNone/>
            </a:pPr>
            <a:r>
              <a:rPr lang="ru-RU" sz="2000" dirty="0"/>
              <a:t>Примеры применения: игровые, рекламные приложения и интернет вещей (</a:t>
            </a:r>
            <a:r>
              <a:rPr lang="ru-RU" sz="2000" dirty="0" err="1"/>
              <a:t>internet</a:t>
            </a:r>
            <a:r>
              <a:rPr lang="ru-RU" sz="2000" dirty="0"/>
              <a:t> </a:t>
            </a:r>
            <a:r>
              <a:rPr lang="ru-RU" sz="2000" dirty="0" err="1"/>
              <a:t>of</a:t>
            </a:r>
            <a:r>
              <a:rPr lang="ru-RU" sz="2000" dirty="0"/>
              <a:t> </a:t>
            </a:r>
            <a:r>
              <a:rPr lang="ru-RU" sz="2000" dirty="0" err="1"/>
              <a:t>things</a:t>
            </a:r>
            <a:r>
              <a:rPr lang="ru-RU" sz="2000" dirty="0"/>
              <a:t>, </a:t>
            </a:r>
            <a:r>
              <a:rPr lang="ru-RU" sz="2000" dirty="0" err="1"/>
              <a:t>IoT</a:t>
            </a:r>
            <a:r>
              <a:rPr lang="ru-RU" sz="2000" dirty="0"/>
              <a:t>). </a:t>
            </a:r>
            <a:r>
              <a:rPr lang="ru-RU" sz="2000" dirty="0" err="1"/>
              <a:t>Amazon</a:t>
            </a:r>
            <a:r>
              <a:rPr lang="ru-RU" sz="2000" dirty="0"/>
              <a:t> </a:t>
            </a:r>
            <a:r>
              <a:rPr lang="ru-RU" sz="2000" dirty="0" err="1"/>
              <a:t>DynamoDB</a:t>
            </a:r>
            <a:r>
              <a:rPr lang="ru-RU" sz="2000" dirty="0"/>
              <a:t> обеспечивает задержку не более нескольких миллисекунд при любом масштабе.</a:t>
            </a:r>
          </a:p>
          <a:p>
            <a:pPr marL="180000" indent="0">
              <a:lnSpc>
                <a:spcPct val="80000"/>
              </a:lnSpc>
              <a:buNone/>
            </a:pPr>
            <a:r>
              <a:rPr lang="ru-RU" sz="2000" dirty="0"/>
              <a:t>Типичные представители -- </a:t>
            </a:r>
            <a:r>
              <a:rPr lang="en-US" sz="2000" dirty="0" err="1"/>
              <a:t>Memcashed</a:t>
            </a:r>
            <a:r>
              <a:rPr lang="en-US" sz="2000" dirty="0"/>
              <a:t>, </a:t>
            </a:r>
            <a:r>
              <a:rPr lang="en-US" sz="2000" dirty="0" err="1"/>
              <a:t>Riak</a:t>
            </a:r>
            <a:r>
              <a:rPr lang="en-US" sz="2000" dirty="0"/>
              <a:t>.</a:t>
            </a:r>
            <a:endParaRPr lang="ru-RU" sz="2000" dirty="0"/>
          </a:p>
          <a:p>
            <a:pPr marL="0" indent="0">
              <a:lnSpc>
                <a:spcPct val="80000"/>
              </a:lnSpc>
              <a:buNone/>
            </a:pPr>
            <a:r>
              <a:rPr lang="ru-RU" sz="2000" b="1" dirty="0"/>
              <a:t>2</a:t>
            </a:r>
            <a:r>
              <a:rPr lang="ru-RU" sz="2000" dirty="0"/>
              <a:t>. </a:t>
            </a:r>
            <a:r>
              <a:rPr lang="ru-RU" sz="2000" b="1" dirty="0"/>
              <a:t>Колоночные базы данных</a:t>
            </a:r>
            <a:r>
              <a:rPr lang="ru-RU" sz="2000" dirty="0"/>
              <a:t>.</a:t>
            </a:r>
          </a:p>
          <a:p>
            <a:pPr marL="180000" indent="0">
              <a:lnSpc>
                <a:spcPct val="110000"/>
              </a:lnSpc>
              <a:buNone/>
            </a:pPr>
            <a:r>
              <a:rPr lang="ru-RU" sz="2000" dirty="0"/>
              <a:t>Улучшенная версия хранилища «ключ-значение». </a:t>
            </a:r>
          </a:p>
          <a:p>
            <a:pPr marL="180000" indent="0">
              <a:lnSpc>
                <a:spcPct val="110000"/>
              </a:lnSpc>
              <a:buNone/>
            </a:pPr>
            <a:r>
              <a:rPr lang="ru-RU" sz="2000" dirty="0"/>
              <a:t>Модель данных: двумерный массив, в котором запись (ключ) содержит одну или несколько привязанных пар «ключ-значение</a:t>
            </a:r>
            <a:r>
              <a:rPr lang="ru-RU" sz="2000" dirty="0" smtClean="0"/>
              <a:t>». Хранят большое количество сущностей с многими атрибутами. Данные каждой колонки хранятся в отдельном файле. </a:t>
            </a:r>
            <a:r>
              <a:rPr lang="ru-RU" sz="2000" dirty="0"/>
              <a:t>За счёт этого улучшается сжатие данных. </a:t>
            </a:r>
            <a:r>
              <a:rPr lang="ru-RU" sz="2000" dirty="0" smtClean="0"/>
              <a:t>Запросы </a:t>
            </a:r>
            <a:r>
              <a:rPr lang="ru-RU" sz="2000" dirty="0"/>
              <a:t>ускоряются, если в запросе используются только немногие колонки. Технология </a:t>
            </a:r>
            <a:r>
              <a:rPr lang="en-US" sz="2000" dirty="0"/>
              <a:t>MapReduce.</a:t>
            </a:r>
            <a:endParaRPr lang="ru-RU" sz="2000" dirty="0"/>
          </a:p>
          <a:p>
            <a:pPr marL="180000" indent="0">
              <a:lnSpc>
                <a:spcPct val="80000"/>
              </a:lnSpc>
              <a:buNone/>
            </a:pPr>
            <a:r>
              <a:rPr lang="ru-RU" sz="2000" dirty="0"/>
              <a:t>Типичные представители — это </a:t>
            </a:r>
            <a:r>
              <a:rPr lang="ru-RU" sz="2000" dirty="0" err="1"/>
              <a:t>HBase</a:t>
            </a:r>
            <a:r>
              <a:rPr lang="ru-RU" sz="2000" dirty="0"/>
              <a:t>, </a:t>
            </a:r>
            <a:r>
              <a:rPr lang="ru-RU" sz="2000" dirty="0" err="1"/>
              <a:t>Cassandra</a:t>
            </a:r>
            <a:r>
              <a:rPr lang="ru-RU" sz="2000" dirty="0"/>
              <a:t>, </a:t>
            </a:r>
            <a:r>
              <a:rPr lang="ru-RU" sz="2000" dirty="0" err="1"/>
              <a:t>Vertica</a:t>
            </a:r>
            <a:r>
              <a:rPr lang="ru-RU" sz="2000" dirty="0"/>
              <a:t>. У </a:t>
            </a:r>
            <a:r>
              <a:rPr lang="ru-RU" sz="2000" dirty="0" err="1"/>
              <a:t>Vertica</a:t>
            </a:r>
            <a:r>
              <a:rPr lang="ru-RU" sz="2000" dirty="0"/>
              <a:t> имеется SQL интерфейс,</a:t>
            </a:r>
          </a:p>
          <a:p>
            <a:pPr marL="180000" indent="0">
              <a:lnSpc>
                <a:spcPct val="80000"/>
              </a:lnSpc>
              <a:buNone/>
            </a:pPr>
            <a:endParaRPr lang="ru-RU" sz="2000" dirty="0"/>
          </a:p>
        </p:txBody>
      </p:sp>
    </p:spTree>
    <p:extLst>
      <p:ext uri="{BB962C8B-B14F-4D97-AF65-F5344CB8AC3E}">
        <p14:creationId xmlns:p14="http://schemas.microsoft.com/office/powerpoint/2010/main" val="145018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
            <a:ext cx="10515600" cy="353682"/>
          </a:xfrm>
        </p:spPr>
        <p:txBody>
          <a:bodyPr>
            <a:noAutofit/>
          </a:bodyPr>
          <a:lstStyle/>
          <a:p>
            <a:pPr algn="ctr"/>
            <a:r>
              <a:rPr lang="ru-RU" sz="3200" dirty="0">
                <a:solidFill>
                  <a:srgbClr val="FF0000"/>
                </a:solidFill>
              </a:rPr>
              <a:t>Разновидности моделей </a:t>
            </a:r>
            <a:r>
              <a:rPr lang="en-US" sz="3200" dirty="0">
                <a:solidFill>
                  <a:srgbClr val="FF0000"/>
                </a:solidFill>
              </a:rPr>
              <a:t>NoSQL</a:t>
            </a:r>
            <a:r>
              <a:rPr lang="ru-RU" sz="3200" dirty="0">
                <a:solidFill>
                  <a:srgbClr val="FF0000"/>
                </a:solidFill>
              </a:rPr>
              <a:t> 2/</a:t>
            </a:r>
            <a:r>
              <a:rPr lang="en-US" sz="3200" dirty="0">
                <a:solidFill>
                  <a:srgbClr val="FF0000"/>
                </a:solidFill>
              </a:rPr>
              <a:t>3</a:t>
            </a:r>
            <a:endParaRPr lang="ru-RU" sz="3200" dirty="0">
              <a:solidFill>
                <a:srgbClr val="FF0000"/>
              </a:solidFill>
            </a:endParaRPr>
          </a:p>
        </p:txBody>
      </p:sp>
      <p:sp>
        <p:nvSpPr>
          <p:cNvPr id="3" name="Объект 2"/>
          <p:cNvSpPr>
            <a:spLocks noGrp="1"/>
          </p:cNvSpPr>
          <p:nvPr>
            <p:ph idx="1"/>
          </p:nvPr>
        </p:nvSpPr>
        <p:spPr>
          <a:xfrm>
            <a:off x="838199" y="353684"/>
            <a:ext cx="10665941" cy="6504315"/>
          </a:xfrm>
        </p:spPr>
        <p:txBody>
          <a:bodyPr>
            <a:noAutofit/>
          </a:bodyPr>
          <a:lstStyle/>
          <a:p>
            <a:pPr marL="0" indent="0">
              <a:lnSpc>
                <a:spcPct val="70000"/>
              </a:lnSpc>
              <a:buNone/>
            </a:pPr>
            <a:r>
              <a:rPr lang="ru-RU" sz="2000" b="1" dirty="0"/>
              <a:t>3</a:t>
            </a:r>
            <a:r>
              <a:rPr lang="ru-RU" sz="2000" dirty="0"/>
              <a:t>. </a:t>
            </a:r>
            <a:r>
              <a:rPr lang="ru-RU" sz="2000" b="1" dirty="0"/>
              <a:t>Документ-ориентированная модель</a:t>
            </a:r>
            <a:r>
              <a:rPr lang="ru-RU" sz="2000" dirty="0"/>
              <a:t>.</a:t>
            </a:r>
          </a:p>
          <a:p>
            <a:pPr marL="180000" indent="457200">
              <a:lnSpc>
                <a:spcPct val="70000"/>
              </a:lnSpc>
              <a:buNone/>
            </a:pPr>
            <a:r>
              <a:rPr lang="ru-RU" sz="2000" dirty="0"/>
              <a:t>Модель данных: коллекции документов, которые содержат коллекции ключ-значение и являются полуструктурированными. Иерархии сложнее чем у первых двух типов моделей.</a:t>
            </a:r>
          </a:p>
          <a:p>
            <a:pPr marL="180000" indent="457200">
              <a:lnSpc>
                <a:spcPct val="100000"/>
              </a:lnSpc>
              <a:spcBef>
                <a:spcPts val="0"/>
              </a:spcBef>
              <a:buNone/>
            </a:pPr>
            <a:r>
              <a:rPr lang="ru-RU" sz="2000" dirty="0"/>
              <a:t>Предусматривается работа с компонентами документов. </a:t>
            </a:r>
          </a:p>
          <a:p>
            <a:pPr marL="180000" indent="457200">
              <a:lnSpc>
                <a:spcPct val="100000"/>
              </a:lnSpc>
              <a:spcBef>
                <a:spcPts val="0"/>
              </a:spcBef>
              <a:buNone/>
            </a:pPr>
            <a:r>
              <a:rPr lang="ru-RU" sz="2000" dirty="0"/>
              <a:t>Примеры применения: Каталоги и системы управления контентом, где каждый документ уникален и изменяется со временем. </a:t>
            </a:r>
          </a:p>
          <a:p>
            <a:pPr marL="180000" indent="457200">
              <a:lnSpc>
                <a:spcPct val="100000"/>
              </a:lnSpc>
              <a:spcBef>
                <a:spcPts val="0"/>
              </a:spcBef>
              <a:buNone/>
            </a:pPr>
            <a:r>
              <a:rPr lang="ru-RU" sz="2000" dirty="0"/>
              <a:t>Типичные представители — </a:t>
            </a:r>
            <a:r>
              <a:rPr lang="ru-RU" sz="2000" dirty="0" err="1"/>
              <a:t>MongoDB</a:t>
            </a:r>
            <a:r>
              <a:rPr lang="ru-RU" sz="2000" dirty="0"/>
              <a:t>, </a:t>
            </a:r>
            <a:r>
              <a:rPr lang="ru-RU" sz="2000" dirty="0" err="1"/>
              <a:t>CouchDB</a:t>
            </a:r>
            <a:r>
              <a:rPr lang="ru-RU" sz="2000" dirty="0"/>
              <a:t>.</a:t>
            </a:r>
          </a:p>
          <a:p>
            <a:pPr marL="180000" indent="457200">
              <a:lnSpc>
                <a:spcPct val="100000"/>
              </a:lnSpc>
              <a:spcBef>
                <a:spcPts val="0"/>
              </a:spcBef>
              <a:buNone/>
            </a:pPr>
            <a:r>
              <a:rPr lang="ru-RU" sz="2000" dirty="0"/>
              <a:t>Сравним. Слева документная модель, справа </a:t>
            </a:r>
            <a:r>
              <a:rPr lang="en-US" sz="2000" dirty="0"/>
              <a:t>SQL.</a:t>
            </a:r>
            <a:endParaRPr lang="ru-RU" sz="2000" dirty="0"/>
          </a:p>
        </p:txBody>
      </p:sp>
      <p:pic>
        <p:nvPicPr>
          <p:cNvPr id="4" name="Рисунок 3"/>
          <p:cNvPicPr>
            <a:picLocks noChangeAspect="1"/>
          </p:cNvPicPr>
          <p:nvPr/>
        </p:nvPicPr>
        <p:blipFill>
          <a:blip r:embed="rId2"/>
          <a:stretch>
            <a:fillRect/>
          </a:stretch>
        </p:blipFill>
        <p:spPr>
          <a:xfrm>
            <a:off x="2398144" y="2739667"/>
            <a:ext cx="7231823" cy="4215953"/>
          </a:xfrm>
          <a:prstGeom prst="rect">
            <a:avLst/>
          </a:prstGeom>
        </p:spPr>
      </p:pic>
    </p:spTree>
    <p:extLst>
      <p:ext uri="{BB962C8B-B14F-4D97-AF65-F5344CB8AC3E}">
        <p14:creationId xmlns:p14="http://schemas.microsoft.com/office/powerpoint/2010/main" val="967737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595423"/>
          </a:xfrm>
        </p:spPr>
        <p:txBody>
          <a:bodyPr>
            <a:normAutofit/>
          </a:bodyPr>
          <a:lstStyle/>
          <a:p>
            <a:pPr algn="ctr"/>
            <a:r>
              <a:rPr lang="ru-RU" sz="3200" dirty="0">
                <a:solidFill>
                  <a:srgbClr val="FF0000"/>
                </a:solidFill>
              </a:rPr>
              <a:t>Разновидности моделей </a:t>
            </a:r>
            <a:r>
              <a:rPr lang="en-US" sz="3200" dirty="0">
                <a:solidFill>
                  <a:srgbClr val="FF0000"/>
                </a:solidFill>
              </a:rPr>
              <a:t>NoSQL 3/3</a:t>
            </a:r>
            <a:endParaRPr lang="ru-RU" sz="3200" dirty="0">
              <a:solidFill>
                <a:srgbClr val="FF0000"/>
              </a:solidFill>
            </a:endParaRPr>
          </a:p>
        </p:txBody>
      </p:sp>
      <p:sp>
        <p:nvSpPr>
          <p:cNvPr id="3" name="Объект 2"/>
          <p:cNvSpPr>
            <a:spLocks noGrp="1"/>
          </p:cNvSpPr>
          <p:nvPr>
            <p:ph idx="1"/>
          </p:nvPr>
        </p:nvSpPr>
        <p:spPr>
          <a:xfrm>
            <a:off x="838200" y="595423"/>
            <a:ext cx="10515600" cy="5947144"/>
          </a:xfrm>
        </p:spPr>
        <p:txBody>
          <a:bodyPr>
            <a:normAutofit fontScale="92500" lnSpcReduction="10000"/>
          </a:bodyPr>
          <a:lstStyle/>
          <a:p>
            <a:pPr marL="0" indent="0">
              <a:buNone/>
            </a:pPr>
            <a:r>
              <a:rPr lang="ru-RU" sz="2000" dirty="0"/>
              <a:t>4. </a:t>
            </a:r>
            <a:r>
              <a:rPr lang="ru-RU" sz="2000" dirty="0" err="1"/>
              <a:t>Графовые</a:t>
            </a:r>
            <a:r>
              <a:rPr lang="ru-RU" sz="2000" dirty="0"/>
              <a:t> модели</a:t>
            </a:r>
          </a:p>
          <a:p>
            <a:pPr marL="0" indent="0">
              <a:buNone/>
            </a:pPr>
            <a:r>
              <a:rPr lang="ru-RU" sz="2000" dirty="0"/>
              <a:t>Модель данных: узлы и отношения, которые могут содержать пары ключ-значение. Хорошо справляется со сложными проблемами на графах. Быстро работает с сильно связанными системами.</a:t>
            </a:r>
          </a:p>
          <a:p>
            <a:pPr marL="0" indent="0">
              <a:buNone/>
            </a:pPr>
            <a:r>
              <a:rPr lang="ru-RU" sz="2000" dirty="0"/>
              <a:t>Примеры применения: социальные сети, сервисы рекомендаций, системы выявления       мошенничества, </a:t>
            </a:r>
            <a:r>
              <a:rPr lang="ru-RU" sz="2000" dirty="0" err="1"/>
              <a:t>геопространственная</a:t>
            </a:r>
            <a:r>
              <a:rPr lang="ru-RU" sz="2000" dirty="0"/>
              <a:t> информация  и графы знаний.</a:t>
            </a:r>
          </a:p>
          <a:p>
            <a:pPr marL="0" indent="0">
              <a:buNone/>
            </a:pPr>
            <a:r>
              <a:rPr lang="ru-RU" sz="2000" dirty="0"/>
              <a:t>Типичные представители — Neo4J, </a:t>
            </a:r>
            <a:r>
              <a:rPr lang="ru-RU" sz="2000" dirty="0" err="1"/>
              <a:t>InfoGrid</a:t>
            </a:r>
            <a:r>
              <a:rPr lang="ru-RU" sz="2000" dirty="0"/>
              <a:t>.</a:t>
            </a:r>
          </a:p>
          <a:p>
            <a:pPr marL="0" indent="0">
              <a:buNone/>
            </a:pPr>
            <a:r>
              <a:rPr lang="ru-RU" sz="2000" dirty="0"/>
              <a:t>5. </a:t>
            </a:r>
            <a:r>
              <a:rPr lang="ru-RU" sz="2000" dirty="0" err="1"/>
              <a:t>Нативные</a:t>
            </a:r>
            <a:r>
              <a:rPr lang="ru-RU" sz="2000" dirty="0"/>
              <a:t> XML модели</a:t>
            </a:r>
          </a:p>
          <a:p>
            <a:pPr marL="0" indent="0">
              <a:buNone/>
            </a:pPr>
            <a:r>
              <a:rPr lang="ru-RU" sz="2000" dirty="0"/>
              <a:t>    Модель данных: в отличие от табличных моделей с XML опциями  документы содержатся в  естественных иерархических структурах.  </a:t>
            </a:r>
          </a:p>
          <a:p>
            <a:pPr marL="0" indent="0">
              <a:buNone/>
            </a:pPr>
            <a:r>
              <a:rPr lang="ru-RU" sz="2000" dirty="0"/>
              <a:t>Примеры применения: медицина, сайты с контентом, генерируемым на основе получаемых данных.</a:t>
            </a:r>
          </a:p>
          <a:p>
            <a:pPr marL="0" indent="0">
              <a:buNone/>
            </a:pPr>
            <a:r>
              <a:rPr lang="ru-RU" sz="2000" dirty="0"/>
              <a:t>Типичные представители — </a:t>
            </a:r>
            <a:r>
              <a:rPr lang="ru-RU" sz="2000" dirty="0" err="1"/>
              <a:t>BaseX</a:t>
            </a:r>
            <a:r>
              <a:rPr lang="ru-RU" sz="2000" dirty="0"/>
              <a:t>, </a:t>
            </a:r>
            <a:r>
              <a:rPr lang="ru-RU" sz="2000" dirty="0" err="1"/>
              <a:t>Sedna</a:t>
            </a:r>
            <a:r>
              <a:rPr lang="ru-RU" sz="2000" dirty="0"/>
              <a:t>, </a:t>
            </a:r>
            <a:r>
              <a:rPr lang="ru-RU" sz="2000" dirty="0" err="1"/>
              <a:t>eXistdb</a:t>
            </a:r>
            <a:r>
              <a:rPr lang="ru-RU" sz="2000" dirty="0"/>
              <a:t>.</a:t>
            </a:r>
          </a:p>
          <a:p>
            <a:pPr marL="0" indent="0">
              <a:buNone/>
            </a:pPr>
            <a:r>
              <a:rPr lang="ru-RU" sz="2000" dirty="0"/>
              <a:t>6. </a:t>
            </a:r>
            <a:r>
              <a:rPr lang="ru-RU" sz="2000" dirty="0" err="1"/>
              <a:t>Мультимодельные</a:t>
            </a:r>
            <a:r>
              <a:rPr lang="ru-RU" sz="2000" dirty="0"/>
              <a:t> базы данных </a:t>
            </a:r>
          </a:p>
          <a:p>
            <a:pPr marL="0" indent="0">
              <a:buNone/>
            </a:pPr>
            <a:r>
              <a:rPr lang="ru-RU" sz="2000" dirty="0"/>
              <a:t>Может хранить и запрашивать данные в нескольких моделях для интегрированных данных.  Начало – табличные БД с эмуляцией древесной модели, с конструируемыми типами данных, включая объектные, текстовые (например, </a:t>
            </a:r>
            <a:r>
              <a:rPr lang="en-US" sz="2000" dirty="0"/>
              <a:t>XML) </a:t>
            </a:r>
            <a:r>
              <a:rPr lang="ru-RU" sz="2000" dirty="0"/>
              <a:t>и пространственные.</a:t>
            </a:r>
            <a:endParaRPr lang="en-US" sz="2000" dirty="0"/>
          </a:p>
          <a:p>
            <a:pPr marL="0" indent="0">
              <a:buNone/>
            </a:pPr>
            <a:r>
              <a:rPr lang="ru-RU" sz="2000" dirty="0"/>
              <a:t>К </a:t>
            </a:r>
            <a:r>
              <a:rPr lang="ru-RU" sz="2000" dirty="0" err="1"/>
              <a:t>многомодельным</a:t>
            </a:r>
            <a:r>
              <a:rPr lang="ru-RU" sz="2000" dirty="0"/>
              <a:t> безусловно относятся </a:t>
            </a:r>
            <a:r>
              <a:rPr lang="en-US" sz="2000" dirty="0"/>
              <a:t>Oracle </a:t>
            </a:r>
            <a:r>
              <a:rPr lang="ru-RU" sz="2000" dirty="0"/>
              <a:t>и </a:t>
            </a:r>
            <a:r>
              <a:rPr lang="en-US" sz="2000" dirty="0"/>
              <a:t>Cache</a:t>
            </a:r>
            <a:r>
              <a:rPr lang="ru-RU" sz="2000" dirty="0"/>
              <a:t>.</a:t>
            </a:r>
            <a:r>
              <a:rPr lang="en-US" sz="2000" dirty="0"/>
              <a:t> </a:t>
            </a:r>
            <a:endParaRPr lang="ru-RU" sz="2000" dirty="0"/>
          </a:p>
          <a:p>
            <a:pPr marL="0" indent="0">
              <a:buNone/>
            </a:pPr>
            <a:r>
              <a:rPr lang="ru-RU" sz="2000" dirty="0"/>
              <a:t>Типичные представители для направления </a:t>
            </a:r>
            <a:r>
              <a:rPr lang="en-US" sz="2000" dirty="0"/>
              <a:t>NoSQL </a:t>
            </a:r>
            <a:r>
              <a:rPr lang="ru-RU" sz="2000" dirty="0"/>
              <a:t>—</a:t>
            </a:r>
            <a:r>
              <a:rPr lang="en-US" sz="2000" dirty="0"/>
              <a:t> </a:t>
            </a:r>
            <a:r>
              <a:rPr lang="en-US" sz="2000" dirty="0" err="1"/>
              <a:t>OrientDB</a:t>
            </a:r>
            <a:r>
              <a:rPr lang="en-US" sz="2000" dirty="0"/>
              <a:t>.</a:t>
            </a:r>
            <a:endParaRPr lang="ru-RU" sz="2000" dirty="0"/>
          </a:p>
          <a:p>
            <a:pPr marL="0" indent="0">
              <a:buNone/>
            </a:pPr>
            <a:endParaRPr lang="ru-RU" sz="2000" dirty="0"/>
          </a:p>
        </p:txBody>
      </p:sp>
    </p:spTree>
    <p:extLst>
      <p:ext uri="{BB962C8B-B14F-4D97-AF65-F5344CB8AC3E}">
        <p14:creationId xmlns:p14="http://schemas.microsoft.com/office/powerpoint/2010/main" val="704709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00178" y="0"/>
            <a:ext cx="10515600" cy="612475"/>
          </a:xfrm>
        </p:spPr>
        <p:txBody>
          <a:bodyPr>
            <a:normAutofit/>
          </a:bodyPr>
          <a:lstStyle/>
          <a:p>
            <a:pPr algn="ctr"/>
            <a:r>
              <a:rPr lang="ru-RU" sz="3200" dirty="0">
                <a:solidFill>
                  <a:srgbClr val="FF0000"/>
                </a:solidFill>
              </a:rPr>
              <a:t>Особенности </a:t>
            </a:r>
            <a:r>
              <a:rPr lang="en-US" sz="3200" dirty="0">
                <a:solidFill>
                  <a:srgbClr val="FF0000"/>
                </a:solidFill>
              </a:rPr>
              <a:t>NoSQL </a:t>
            </a:r>
            <a:r>
              <a:rPr lang="ru-RU" sz="3200" dirty="0">
                <a:solidFill>
                  <a:srgbClr val="FF0000"/>
                </a:solidFill>
              </a:rPr>
              <a:t>баз данных</a:t>
            </a:r>
          </a:p>
        </p:txBody>
      </p:sp>
      <p:sp>
        <p:nvSpPr>
          <p:cNvPr id="3" name="Объект 2"/>
          <p:cNvSpPr>
            <a:spLocks noGrp="1"/>
          </p:cNvSpPr>
          <p:nvPr>
            <p:ph idx="1"/>
          </p:nvPr>
        </p:nvSpPr>
        <p:spPr>
          <a:xfrm>
            <a:off x="1066800" y="4876800"/>
            <a:ext cx="10521696" cy="1505712"/>
          </a:xfrm>
        </p:spPr>
        <p:txBody>
          <a:bodyPr>
            <a:noAutofit/>
          </a:bodyPr>
          <a:lstStyle/>
          <a:p>
            <a:pPr marL="0" indent="0">
              <a:buNone/>
            </a:pPr>
            <a:r>
              <a:rPr lang="en-US" sz="2000" dirty="0"/>
              <a:t>NoSQL </a:t>
            </a:r>
            <a:r>
              <a:rPr lang="ru-RU" sz="2000" dirty="0"/>
              <a:t>базы данных как правило имеют собственные языки запросов, в том числе SQL-подобные, </a:t>
            </a:r>
            <a:r>
              <a:rPr lang="ru-RU" sz="2000" dirty="0" err="1"/>
              <a:t>RESTful</a:t>
            </a:r>
            <a:r>
              <a:rPr lang="ru-RU" sz="2000" dirty="0"/>
              <a:t>-интерфейсы, API и сложные типы данных, например, </a:t>
            </a:r>
            <a:r>
              <a:rPr lang="ru-RU" sz="2000" dirty="0" err="1"/>
              <a:t>map</a:t>
            </a:r>
            <a:r>
              <a:rPr lang="ru-RU" sz="2000" dirty="0"/>
              <a:t>, </a:t>
            </a:r>
            <a:r>
              <a:rPr lang="ru-RU" sz="2000" dirty="0" err="1"/>
              <a:t>list</a:t>
            </a:r>
            <a:r>
              <a:rPr lang="ru-RU" sz="2000" dirty="0"/>
              <a:t> и </a:t>
            </a:r>
            <a:r>
              <a:rPr lang="ru-RU" sz="2000" dirty="0" err="1"/>
              <a:t>struct</a:t>
            </a:r>
            <a:r>
              <a:rPr lang="ru-RU" sz="2000" dirty="0"/>
              <a:t>, позволяющие обрабатывать сразу множество значений.</a:t>
            </a:r>
          </a:p>
          <a:p>
            <a:pPr marL="0" indent="0">
              <a:buNone/>
            </a:pPr>
            <a:r>
              <a:rPr lang="ru-RU" sz="2000" u="sng" dirty="0"/>
              <a:t>Замечание</a:t>
            </a:r>
            <a:r>
              <a:rPr lang="ru-RU" sz="2000" dirty="0"/>
              <a:t>: обратите внимание на не совсем корректное включение реляционной модели.</a:t>
            </a:r>
          </a:p>
        </p:txBody>
      </p:sp>
      <p:pic>
        <p:nvPicPr>
          <p:cNvPr id="4" name="Рисунок 3"/>
          <p:cNvPicPr>
            <a:picLocks noChangeAspect="1"/>
          </p:cNvPicPr>
          <p:nvPr/>
        </p:nvPicPr>
        <p:blipFill>
          <a:blip r:embed="rId2"/>
          <a:stretch>
            <a:fillRect/>
          </a:stretch>
        </p:blipFill>
        <p:spPr>
          <a:xfrm>
            <a:off x="1121655" y="417403"/>
            <a:ext cx="10094123" cy="4530129"/>
          </a:xfrm>
          <a:prstGeom prst="rect">
            <a:avLst/>
          </a:prstGeom>
        </p:spPr>
      </p:pic>
    </p:spTree>
    <p:extLst>
      <p:ext uri="{BB962C8B-B14F-4D97-AF65-F5344CB8AC3E}">
        <p14:creationId xmlns:p14="http://schemas.microsoft.com/office/powerpoint/2010/main" val="1372046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56206"/>
            <a:ext cx="10515600" cy="759339"/>
          </a:xfrm>
        </p:spPr>
        <p:txBody>
          <a:bodyPr>
            <a:normAutofit/>
          </a:bodyPr>
          <a:lstStyle/>
          <a:p>
            <a:pPr algn="ctr"/>
            <a:r>
              <a:rPr lang="ru-RU" sz="3200" dirty="0">
                <a:solidFill>
                  <a:srgbClr val="FF0000"/>
                </a:solidFill>
              </a:rPr>
              <a:t>Сравнение табличных и </a:t>
            </a:r>
            <a:r>
              <a:rPr lang="en-US" sz="3200" dirty="0">
                <a:solidFill>
                  <a:srgbClr val="FF0000"/>
                </a:solidFill>
              </a:rPr>
              <a:t>NoSQL</a:t>
            </a:r>
            <a:r>
              <a:rPr lang="ru-RU" sz="3200" dirty="0">
                <a:solidFill>
                  <a:srgbClr val="FF0000"/>
                </a:solidFill>
              </a:rPr>
              <a:t> баз данных</a:t>
            </a:r>
            <a:r>
              <a:rPr lang="en-US" sz="3200" dirty="0">
                <a:solidFill>
                  <a:srgbClr val="FF0000"/>
                </a:solidFill>
              </a:rPr>
              <a:t> </a:t>
            </a:r>
            <a:endParaRPr lang="ru-RU" sz="3200" dirty="0">
              <a:solidFill>
                <a:srgbClr val="FF0000"/>
              </a:solidFill>
            </a:endParaRPr>
          </a:p>
        </p:txBody>
      </p:sp>
      <p:sp>
        <p:nvSpPr>
          <p:cNvPr id="3" name="Объект 2"/>
          <p:cNvSpPr>
            <a:spLocks noGrp="1"/>
          </p:cNvSpPr>
          <p:nvPr>
            <p:ph idx="1"/>
          </p:nvPr>
        </p:nvSpPr>
        <p:spPr>
          <a:xfrm>
            <a:off x="689917" y="935938"/>
            <a:ext cx="10814223" cy="5563715"/>
          </a:xfrm>
        </p:spPr>
        <p:txBody>
          <a:bodyPr/>
          <a:lstStyle/>
          <a:p>
            <a:pPr marL="0" indent="0">
              <a:buNone/>
            </a:pPr>
            <a:endParaRPr lang="ru-RU" dirty="0"/>
          </a:p>
          <a:p>
            <a:endParaRPr lang="ru-RU" dirty="0"/>
          </a:p>
          <a:p>
            <a:endParaRPr lang="ru-RU" dirty="0"/>
          </a:p>
        </p:txBody>
      </p:sp>
      <p:graphicFrame>
        <p:nvGraphicFramePr>
          <p:cNvPr id="4" name="Таблица 3"/>
          <p:cNvGraphicFramePr>
            <a:graphicFrameLocks noGrp="1"/>
          </p:cNvGraphicFramePr>
          <p:nvPr/>
        </p:nvGraphicFramePr>
        <p:xfrm>
          <a:off x="894835" y="815545"/>
          <a:ext cx="10402329" cy="5547360"/>
        </p:xfrm>
        <a:graphic>
          <a:graphicData uri="http://schemas.openxmlformats.org/drawingml/2006/table">
            <a:tbl>
              <a:tblPr firstRow="1" bandRow="1">
                <a:tableStyleId>{5940675A-B579-460E-94D1-54222C63F5DA}</a:tableStyleId>
              </a:tblPr>
              <a:tblGrid>
                <a:gridCol w="2520778">
                  <a:extLst>
                    <a:ext uri="{9D8B030D-6E8A-4147-A177-3AD203B41FA5}">
                      <a16:colId xmlns:a16="http://schemas.microsoft.com/office/drawing/2014/main" val="20000"/>
                    </a:ext>
                  </a:extLst>
                </a:gridCol>
                <a:gridCol w="3447535">
                  <a:extLst>
                    <a:ext uri="{9D8B030D-6E8A-4147-A177-3AD203B41FA5}">
                      <a16:colId xmlns:a16="http://schemas.microsoft.com/office/drawing/2014/main" val="20001"/>
                    </a:ext>
                  </a:extLst>
                </a:gridCol>
                <a:gridCol w="4434016">
                  <a:extLst>
                    <a:ext uri="{9D8B030D-6E8A-4147-A177-3AD203B41FA5}">
                      <a16:colId xmlns:a16="http://schemas.microsoft.com/office/drawing/2014/main" val="20002"/>
                    </a:ext>
                  </a:extLst>
                </a:gridCol>
              </a:tblGrid>
              <a:tr h="370840">
                <a:tc>
                  <a:txBody>
                    <a:bodyPr/>
                    <a:lstStyle/>
                    <a:p>
                      <a:pPr algn="ctr"/>
                      <a:r>
                        <a:rPr lang="ru-RU" sz="2000" dirty="0"/>
                        <a:t>Свойства</a:t>
                      </a:r>
                    </a:p>
                  </a:txBody>
                  <a:tcPr/>
                </a:tc>
                <a:tc>
                  <a:txBody>
                    <a:bodyPr/>
                    <a:lstStyle/>
                    <a:p>
                      <a:pPr algn="ctr"/>
                      <a:r>
                        <a:rPr lang="ru-RU" sz="2000" dirty="0"/>
                        <a:t>Табличные</a:t>
                      </a:r>
                    </a:p>
                  </a:txBody>
                  <a:tcPr/>
                </a:tc>
                <a:tc>
                  <a:txBody>
                    <a:bodyPr/>
                    <a:lstStyle/>
                    <a:p>
                      <a:pPr algn="ctr"/>
                      <a:r>
                        <a:rPr lang="en-US" sz="2000" dirty="0"/>
                        <a:t>NoSQL</a:t>
                      </a:r>
                      <a:endParaRPr lang="ru-RU" sz="2000" dirty="0"/>
                    </a:p>
                  </a:txBody>
                  <a:tcPr/>
                </a:tc>
                <a:extLst>
                  <a:ext uri="{0D108BD9-81ED-4DB2-BD59-A6C34878D82A}">
                    <a16:rowId xmlns:a16="http://schemas.microsoft.com/office/drawing/2014/main" val="10000"/>
                  </a:ext>
                </a:extLst>
              </a:tr>
              <a:tr h="370840">
                <a:tc>
                  <a:txBody>
                    <a:bodyPr/>
                    <a:lstStyle/>
                    <a:p>
                      <a:r>
                        <a:rPr lang="ru-RU" sz="2000" dirty="0"/>
                        <a:t>Транзакции</a:t>
                      </a:r>
                    </a:p>
                  </a:txBody>
                  <a:tcPr/>
                </a:tc>
                <a:tc>
                  <a:txBody>
                    <a:bodyPr/>
                    <a:lstStyle/>
                    <a:p>
                      <a:r>
                        <a:rPr lang="en-US" sz="2000" dirty="0"/>
                        <a:t>ACID</a:t>
                      </a:r>
                      <a:endParaRPr lang="ru-RU" sz="2000" dirty="0"/>
                    </a:p>
                  </a:txBody>
                  <a:tcPr/>
                </a:tc>
                <a:tc>
                  <a:txBody>
                    <a:bodyPr/>
                    <a:lstStyle/>
                    <a:p>
                      <a:r>
                        <a:rPr lang="ru-RU" sz="2000" dirty="0"/>
                        <a:t>Модели BASE (базовая доступность, гибкое состояние и итоговая согласованность). В последние годы ситуация улучшается.</a:t>
                      </a:r>
                    </a:p>
                  </a:txBody>
                  <a:tcPr/>
                </a:tc>
                <a:extLst>
                  <a:ext uri="{0D108BD9-81ED-4DB2-BD59-A6C34878D82A}">
                    <a16:rowId xmlns:a16="http://schemas.microsoft.com/office/drawing/2014/main" val="10001"/>
                  </a:ext>
                </a:extLst>
              </a:tr>
              <a:tr h="370840">
                <a:tc>
                  <a:txBody>
                    <a:bodyPr/>
                    <a:lstStyle/>
                    <a:p>
                      <a:r>
                        <a:rPr lang="ru-RU" sz="2000" dirty="0"/>
                        <a:t>Производительность</a:t>
                      </a:r>
                    </a:p>
                  </a:txBody>
                  <a:tcPr/>
                </a:tc>
                <a:tc>
                  <a:txBody>
                    <a:bodyPr/>
                    <a:lstStyle/>
                    <a:p>
                      <a:r>
                        <a:rPr lang="ru-RU" sz="1800" b="0" i="0" u="none" strike="noStrike" kern="1200" baseline="0" dirty="0">
                          <a:solidFill>
                            <a:schemeClr val="tx1"/>
                          </a:solidFill>
                          <a:latin typeface="+mn-lt"/>
                          <a:ea typeface="+mn-ea"/>
                          <a:cs typeface="+mn-cs"/>
                        </a:rPr>
                        <a:t>Зависит от дисков. Требуется оптимизация запросов, индексов и </a:t>
                      </a:r>
                      <a:r>
                        <a:rPr lang="ru-RU" sz="1800" b="0" i="0" u="none" strike="noStrike" kern="1200" baseline="0" dirty="0" err="1">
                          <a:solidFill>
                            <a:schemeClr val="tx1"/>
                          </a:solidFill>
                          <a:latin typeface="+mn-lt"/>
                          <a:ea typeface="+mn-ea"/>
                          <a:cs typeface="+mn-cs"/>
                        </a:rPr>
                        <a:t>денормализация</a:t>
                      </a:r>
                      <a:r>
                        <a:rPr lang="ru-RU" sz="1800" b="0" i="0" u="none" strike="noStrike" kern="1200" baseline="0" dirty="0">
                          <a:solidFill>
                            <a:schemeClr val="tx1"/>
                          </a:solidFill>
                          <a:latin typeface="+mn-lt"/>
                          <a:ea typeface="+mn-ea"/>
                          <a:cs typeface="+mn-cs"/>
                        </a:rPr>
                        <a:t>.</a:t>
                      </a:r>
                      <a:endParaRPr lang="ru-RU" sz="2000" dirty="0"/>
                    </a:p>
                  </a:txBody>
                  <a:tcPr/>
                </a:tc>
                <a:tc>
                  <a:txBody>
                    <a:bodyPr/>
                    <a:lstStyle/>
                    <a:p>
                      <a:r>
                        <a:rPr lang="ru-RU" sz="1800" b="0" i="0" u="none" strike="noStrike" kern="1200" baseline="0" dirty="0">
                          <a:solidFill>
                            <a:schemeClr val="tx1"/>
                          </a:solidFill>
                          <a:latin typeface="+mn-lt"/>
                          <a:ea typeface="+mn-ea"/>
                          <a:cs typeface="+mn-cs"/>
                        </a:rPr>
                        <a:t>Зависит от размера кластера, задержки</a:t>
                      </a:r>
                    </a:p>
                    <a:p>
                      <a:r>
                        <a:rPr lang="ru-RU" sz="1800" b="0" i="0" u="none" strike="noStrike" kern="1200" baseline="0" dirty="0">
                          <a:solidFill>
                            <a:schemeClr val="tx1"/>
                          </a:solidFill>
                          <a:latin typeface="+mn-lt"/>
                          <a:ea typeface="+mn-ea"/>
                          <a:cs typeface="+mn-cs"/>
                        </a:rPr>
                        <a:t>сети и вызывающего приложения.</a:t>
                      </a:r>
                      <a:endParaRPr lang="ru-RU" sz="2000" dirty="0"/>
                    </a:p>
                  </a:txBody>
                  <a:tcPr/>
                </a:tc>
                <a:extLst>
                  <a:ext uri="{0D108BD9-81ED-4DB2-BD59-A6C34878D82A}">
                    <a16:rowId xmlns:a16="http://schemas.microsoft.com/office/drawing/2014/main" val="10002"/>
                  </a:ext>
                </a:extLst>
              </a:tr>
              <a:tr h="370840">
                <a:tc>
                  <a:txBody>
                    <a:bodyPr/>
                    <a:lstStyle/>
                    <a:p>
                      <a:r>
                        <a:rPr lang="ru-RU" sz="2000" dirty="0"/>
                        <a:t>Масштабирование</a:t>
                      </a:r>
                    </a:p>
                  </a:txBody>
                  <a:tcPr/>
                </a:tc>
                <a:tc>
                  <a:txBody>
                    <a:bodyPr/>
                    <a:lstStyle/>
                    <a:p>
                      <a:r>
                        <a:rPr lang="ru-RU" sz="2000" dirty="0"/>
                        <a:t>Масштабируются путем увеличения вычислительных возможностей сервера или добавления отдельных копий чтения.</a:t>
                      </a:r>
                    </a:p>
                  </a:txBody>
                  <a:tcPr/>
                </a:tc>
                <a:tc>
                  <a:txBody>
                    <a:bodyPr/>
                    <a:lstStyle/>
                    <a:p>
                      <a:r>
                        <a:rPr lang="ru-RU" sz="1800" b="0" i="0" kern="1200" dirty="0">
                          <a:solidFill>
                            <a:schemeClr val="tx1"/>
                          </a:solidFill>
                          <a:effectLst/>
                          <a:latin typeface="+mn-lt"/>
                          <a:ea typeface="+mn-ea"/>
                          <a:cs typeface="+mn-cs"/>
                        </a:rPr>
                        <a:t>Шаблоны доступа с возможностью масштабирования на основе распределенной архитектуры. Это обеспечивает устойчивую производительность почти в неограниченных масштабах.</a:t>
                      </a:r>
                      <a:endParaRPr lang="ru-RU" sz="2000" dirty="0"/>
                    </a:p>
                  </a:txBody>
                  <a:tcPr/>
                </a:tc>
                <a:extLst>
                  <a:ext uri="{0D108BD9-81ED-4DB2-BD59-A6C34878D82A}">
                    <a16:rowId xmlns:a16="http://schemas.microsoft.com/office/drawing/2014/main" val="10003"/>
                  </a:ext>
                </a:extLst>
              </a:tr>
              <a:tr h="370840">
                <a:tc>
                  <a:txBody>
                    <a:bodyPr/>
                    <a:lstStyle/>
                    <a:p>
                      <a:r>
                        <a:rPr lang="en-US" sz="2000" dirty="0"/>
                        <a:t>API</a:t>
                      </a:r>
                      <a:endParaRPr lang="ru-RU" sz="2000" dirty="0"/>
                    </a:p>
                  </a:txBody>
                  <a:tcPr/>
                </a:tc>
                <a:tc>
                  <a:txBody>
                    <a:bodyPr/>
                    <a:lstStyle/>
                    <a:p>
                      <a:r>
                        <a:rPr lang="ru-RU" sz="2000" dirty="0"/>
                        <a:t>Всем известный язык </a:t>
                      </a:r>
                      <a:r>
                        <a:rPr lang="en-US" sz="2000" dirty="0"/>
                        <a:t>SQL</a:t>
                      </a:r>
                      <a:endParaRPr lang="ru-RU" sz="2000" dirty="0"/>
                    </a:p>
                  </a:txBody>
                  <a:tcPr/>
                </a:tc>
                <a:tc>
                  <a:txBody>
                    <a:bodyPr/>
                    <a:lstStyle/>
                    <a:p>
                      <a:r>
                        <a:rPr lang="ru-RU" sz="1800" b="0" i="0" kern="1200" dirty="0">
                          <a:solidFill>
                            <a:schemeClr val="tx1"/>
                          </a:solidFill>
                          <a:effectLst/>
                          <a:latin typeface="+mn-lt"/>
                          <a:ea typeface="+mn-ea"/>
                          <a:cs typeface="+mn-cs"/>
                        </a:rPr>
                        <a:t>Специфические</a:t>
                      </a:r>
                      <a:r>
                        <a:rPr lang="ru-RU" sz="1800" b="0" i="0" kern="1200" baseline="0" dirty="0">
                          <a:solidFill>
                            <a:schemeClr val="tx1"/>
                          </a:solidFill>
                          <a:effectLst/>
                          <a:latin typeface="+mn-lt"/>
                          <a:ea typeface="+mn-ea"/>
                          <a:cs typeface="+mn-cs"/>
                        </a:rPr>
                        <a:t> языки, позволяющие</a:t>
                      </a:r>
                      <a:r>
                        <a:rPr lang="ru-RU" sz="1800" b="0" i="0" kern="1200" dirty="0">
                          <a:solidFill>
                            <a:schemeClr val="tx1"/>
                          </a:solidFill>
                          <a:effectLst/>
                          <a:latin typeface="+mn-lt"/>
                          <a:ea typeface="+mn-ea"/>
                          <a:cs typeface="+mn-cs"/>
                        </a:rPr>
                        <a:t> вести поиск по парам </a:t>
                      </a:r>
                      <a:r>
                        <a:rPr lang="en-US" sz="1800" b="0" i="0" kern="1200" dirty="0">
                          <a:solidFill>
                            <a:schemeClr val="tx1"/>
                          </a:solidFill>
                          <a:effectLst/>
                          <a:latin typeface="+mn-lt"/>
                          <a:ea typeface="+mn-ea"/>
                          <a:cs typeface="+mn-cs"/>
                        </a:rPr>
                        <a:t>“</a:t>
                      </a:r>
                      <a:r>
                        <a:rPr lang="ru-RU" sz="1800" b="0" i="0" kern="1200" dirty="0">
                          <a:solidFill>
                            <a:schemeClr val="tx1"/>
                          </a:solidFill>
                          <a:effectLst/>
                          <a:latin typeface="+mn-lt"/>
                          <a:ea typeface="+mn-ea"/>
                          <a:cs typeface="+mn-cs"/>
                        </a:rPr>
                        <a:t>ключ‑значение</a:t>
                      </a:r>
                      <a:r>
                        <a:rPr lang="en-US" sz="1800" b="0" i="0" kern="1200" dirty="0">
                          <a:solidFill>
                            <a:schemeClr val="tx1"/>
                          </a:solidFill>
                          <a:effectLst/>
                          <a:latin typeface="+mn-lt"/>
                          <a:ea typeface="+mn-ea"/>
                          <a:cs typeface="+mn-cs"/>
                        </a:rPr>
                        <a:t>”</a:t>
                      </a:r>
                      <a:r>
                        <a:rPr lang="ru-RU" sz="1800" b="0" i="0" kern="1200" dirty="0">
                          <a:solidFill>
                            <a:schemeClr val="tx1"/>
                          </a:solidFill>
                          <a:effectLst/>
                          <a:latin typeface="+mn-lt"/>
                          <a:ea typeface="+mn-ea"/>
                          <a:cs typeface="+mn-cs"/>
                        </a:rPr>
                        <a:t>, наборам столбцов или </a:t>
                      </a:r>
                      <a:r>
                        <a:rPr lang="ru-RU" sz="1800" b="0" i="0" kern="1200" dirty="0" err="1">
                          <a:solidFill>
                            <a:schemeClr val="tx1"/>
                          </a:solidFill>
                          <a:effectLst/>
                          <a:latin typeface="+mn-lt"/>
                          <a:ea typeface="+mn-ea"/>
                          <a:cs typeface="+mn-cs"/>
                        </a:rPr>
                        <a:t>полуструктурированным</a:t>
                      </a:r>
                      <a:r>
                        <a:rPr lang="ru-RU" sz="1800" b="0" i="0" kern="1200" dirty="0">
                          <a:solidFill>
                            <a:schemeClr val="tx1"/>
                          </a:solidFill>
                          <a:effectLst/>
                          <a:latin typeface="+mn-lt"/>
                          <a:ea typeface="+mn-ea"/>
                          <a:cs typeface="+mn-cs"/>
                        </a:rPr>
                        <a:t> документам.</a:t>
                      </a:r>
                      <a:endParaRPr lang="ru-RU" sz="20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14385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535020"/>
          </a:xfrm>
        </p:spPr>
        <p:txBody>
          <a:bodyPr>
            <a:normAutofit/>
          </a:bodyPr>
          <a:lstStyle/>
          <a:p>
            <a:pPr algn="ctr"/>
            <a:r>
              <a:rPr lang="ru-RU" sz="3200" dirty="0">
                <a:solidFill>
                  <a:srgbClr val="FF0000"/>
                </a:solidFill>
              </a:rPr>
              <a:t>Блок-</a:t>
            </a:r>
            <a:r>
              <a:rPr lang="ru-RU" sz="3200" dirty="0" err="1">
                <a:solidFill>
                  <a:srgbClr val="FF0000"/>
                </a:solidFill>
              </a:rPr>
              <a:t>чейн</a:t>
            </a:r>
            <a:endParaRPr lang="ru-RU" sz="3200" dirty="0">
              <a:solidFill>
                <a:srgbClr val="FF0000"/>
              </a:solidFill>
            </a:endParaRPr>
          </a:p>
        </p:txBody>
      </p:sp>
      <p:sp>
        <p:nvSpPr>
          <p:cNvPr id="3" name="Объект 2"/>
          <p:cNvSpPr>
            <a:spLocks noGrp="1"/>
          </p:cNvSpPr>
          <p:nvPr>
            <p:ph idx="1"/>
          </p:nvPr>
        </p:nvSpPr>
        <p:spPr>
          <a:xfrm>
            <a:off x="838200" y="535021"/>
            <a:ext cx="10515600" cy="5641942"/>
          </a:xfrm>
        </p:spPr>
        <p:txBody>
          <a:bodyPr>
            <a:normAutofit lnSpcReduction="10000"/>
          </a:bodyPr>
          <a:lstStyle/>
          <a:p>
            <a:pPr marL="0" indent="360000">
              <a:lnSpc>
                <a:spcPct val="100000"/>
              </a:lnSpc>
              <a:buNone/>
            </a:pPr>
            <a:r>
              <a:rPr lang="ru-RU" sz="2000" dirty="0"/>
              <a:t>Распределенный реестр (Distributed Ledger Technology, или DLT) определяет  базу данных распределенную между узлами </a:t>
            </a:r>
            <a:r>
              <a:rPr lang="ru-RU" sz="2000" dirty="0" err="1"/>
              <a:t>одноранговой</a:t>
            </a:r>
            <a:r>
              <a:rPr lang="ru-RU" sz="2000" dirty="0"/>
              <a:t> пиринговой сети, которая может быть как частной, так и публичной. </a:t>
            </a:r>
          </a:p>
          <a:p>
            <a:pPr marL="0" indent="360000">
              <a:lnSpc>
                <a:spcPct val="100000"/>
              </a:lnSpc>
              <a:buNone/>
            </a:pPr>
            <a:r>
              <a:rPr lang="ru-RU" sz="2000" dirty="0"/>
              <a:t>Для обновления данных в ней применяется какой-нибудь алгоритм консенсуса между узлами.</a:t>
            </a:r>
          </a:p>
          <a:p>
            <a:pPr marL="0" indent="360000">
              <a:lnSpc>
                <a:spcPct val="100000"/>
              </a:lnSpc>
              <a:buNone/>
            </a:pPr>
            <a:r>
              <a:rPr lang="ru-RU" sz="2000" dirty="0"/>
              <a:t>Каждый узел самостоятельно регулярно обновляется до получения полной копии реестра. После этого все узлы голосуют за обновление реестра. Оно будет признано по достижении консенсуса.</a:t>
            </a:r>
          </a:p>
          <a:p>
            <a:pPr marL="0" indent="360000">
              <a:lnSpc>
                <a:spcPct val="100000"/>
              </a:lnSpc>
              <a:buNone/>
            </a:pPr>
            <a:r>
              <a:rPr lang="ru-RU" sz="2000" dirty="0"/>
              <a:t>Заметим, что распределённый реестр – это последний шаг в направлении от баз данных на локальном сервере, далее к базам данных на кластерных серверах, к клиент-серверным архитектурам и, наконец, к распределённым базам на </a:t>
            </a:r>
            <a:r>
              <a:rPr lang="ru-RU" sz="2000" dirty="0" err="1"/>
              <a:t>одноранговых</a:t>
            </a:r>
            <a:r>
              <a:rPr lang="ru-RU" sz="2000" dirty="0"/>
              <a:t> сетях.</a:t>
            </a:r>
          </a:p>
          <a:p>
            <a:pPr marL="0" indent="360000">
              <a:lnSpc>
                <a:spcPct val="100000"/>
              </a:lnSpc>
              <a:buNone/>
            </a:pPr>
            <a:r>
              <a:rPr lang="ru-RU" sz="2000" dirty="0"/>
              <a:t>Блокчейн это один из видов распределённого реестра. Его ключевая особенность в том, что </a:t>
            </a:r>
            <a:r>
              <a:rPr lang="ru-RU" sz="2000" b="1" dirty="0"/>
              <a:t>все данные группируются и организуются в цепочку блоков с криптографической защит</a:t>
            </a:r>
            <a:r>
              <a:rPr lang="ru-RU" sz="2000" dirty="0"/>
              <a:t>ой. В эти цепочки можно добавлять новые блоки, но нельзя исправлять или удалять уже записанные данные.</a:t>
            </a:r>
          </a:p>
          <a:p>
            <a:pPr marL="0" indent="360000">
              <a:lnSpc>
                <a:spcPct val="100000"/>
              </a:lnSpc>
              <a:buNone/>
            </a:pPr>
            <a:r>
              <a:rPr lang="ru-RU" sz="2000" dirty="0"/>
              <a:t>Блокчейны, как правило, относятся к открытым публичным сетям и потому не требуют специального разрешения для доступа.</a:t>
            </a:r>
          </a:p>
        </p:txBody>
      </p:sp>
    </p:spTree>
    <p:extLst>
      <p:ext uri="{BB962C8B-B14F-4D97-AF65-F5344CB8AC3E}">
        <p14:creationId xmlns:p14="http://schemas.microsoft.com/office/powerpoint/2010/main" val="1677826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88779"/>
            <a:ext cx="10515600" cy="551328"/>
          </a:xfrm>
        </p:spPr>
        <p:txBody>
          <a:bodyPr>
            <a:normAutofit/>
          </a:bodyPr>
          <a:lstStyle/>
          <a:p>
            <a:pPr algn="ctr"/>
            <a:r>
              <a:rPr lang="ru-RU" sz="3200" dirty="0">
                <a:solidFill>
                  <a:srgbClr val="FF0000"/>
                </a:solidFill>
              </a:rPr>
              <a:t>Сравним табличные базы данных и базы данных блок-чейн</a:t>
            </a:r>
          </a:p>
        </p:txBody>
      </p:sp>
      <p:sp>
        <p:nvSpPr>
          <p:cNvPr id="3" name="Объект 2"/>
          <p:cNvSpPr>
            <a:spLocks noGrp="1"/>
          </p:cNvSpPr>
          <p:nvPr>
            <p:ph idx="1"/>
          </p:nvPr>
        </p:nvSpPr>
        <p:spPr>
          <a:xfrm>
            <a:off x="838200" y="774186"/>
            <a:ext cx="10847294" cy="5866311"/>
          </a:xfrm>
        </p:spPr>
        <p:txBody>
          <a:bodyPr>
            <a:normAutofit fontScale="62500" lnSpcReduction="20000"/>
          </a:bodyPr>
          <a:lstStyle/>
          <a:p>
            <a:pPr>
              <a:lnSpc>
                <a:spcPct val="110000"/>
              </a:lnSpc>
            </a:pPr>
            <a:r>
              <a:rPr lang="ru-RU" sz="3200" dirty="0"/>
              <a:t>Табличные базы обычно используют архитектуру клиент-сервер. Клиент может изменять данные размещаемые на сервере. Администрирование базы данных возложено на сервер.</a:t>
            </a:r>
          </a:p>
          <a:p>
            <a:pPr>
              <a:lnSpc>
                <a:spcPct val="110000"/>
              </a:lnSpc>
            </a:pPr>
            <a:r>
              <a:rPr lang="ru-RU" sz="3200" dirty="0"/>
              <a:t>Базу данных </a:t>
            </a:r>
            <a:r>
              <a:rPr lang="ru-RU" sz="3200" dirty="0" err="1"/>
              <a:t>блокчейн</a:t>
            </a:r>
            <a:r>
              <a:rPr lang="ru-RU" sz="3200" dirty="0"/>
              <a:t> образуют узлы </a:t>
            </a:r>
            <a:r>
              <a:rPr lang="ru-RU" sz="3200" dirty="0" err="1"/>
              <a:t>одноранговой</a:t>
            </a:r>
            <a:r>
              <a:rPr lang="ru-RU" sz="3200" dirty="0"/>
              <a:t> сети. В администрировании участвуют все узлы. Они проверяют изменения в блочной цепочке, способны вводить новые данные в базу. Для подтверждения добавления информации к цепочке большинство узлов должны достигнуть консенсуса. Протоколы его разнообразны и достаточно сложны.</a:t>
            </a:r>
          </a:p>
          <a:p>
            <a:pPr marL="0" indent="360000">
              <a:lnSpc>
                <a:spcPct val="110000"/>
              </a:lnSpc>
              <a:buNone/>
            </a:pPr>
            <a:r>
              <a:rPr lang="ru-RU" sz="3200" dirty="0"/>
              <a:t>Общедоступность проверки обеспечивается двумя свойствами:</a:t>
            </a:r>
          </a:p>
          <a:p>
            <a:pPr>
              <a:lnSpc>
                <a:spcPct val="110000"/>
              </a:lnSpc>
            </a:pPr>
            <a:r>
              <a:rPr lang="ru-RU" sz="3200" b="1" dirty="0"/>
              <a:t>Целостность</a:t>
            </a:r>
            <a:r>
              <a:rPr lang="ru-RU" sz="3200" dirty="0"/>
              <a:t>. Любой пользователь может быть уверен в том, что данные не повреждены и не изменялись с момента их регистрации.</a:t>
            </a:r>
          </a:p>
          <a:p>
            <a:pPr>
              <a:lnSpc>
                <a:spcPct val="110000"/>
              </a:lnSpc>
            </a:pPr>
            <a:r>
              <a:rPr lang="ru-RU" sz="3200" b="1" dirty="0"/>
              <a:t>Прозрачность</a:t>
            </a:r>
            <a:r>
              <a:rPr lang="ru-RU" sz="3200" dirty="0"/>
              <a:t>. Любой пользователь может проверить как цепочка изменялась со временем.</a:t>
            </a:r>
          </a:p>
          <a:p>
            <a:pPr marL="0" indent="360000">
              <a:lnSpc>
                <a:spcPct val="110000"/>
              </a:lnSpc>
              <a:buNone/>
            </a:pPr>
            <a:r>
              <a:rPr lang="ru-RU" sz="3200" dirty="0"/>
              <a:t>Существенны различия в наборе операций с данными:</a:t>
            </a:r>
          </a:p>
          <a:p>
            <a:pPr marL="0" indent="360000">
              <a:lnSpc>
                <a:spcPct val="110000"/>
              </a:lnSpc>
              <a:buNone/>
            </a:pPr>
            <a:r>
              <a:rPr lang="ru-RU" sz="3200" dirty="0"/>
              <a:t>В табличной базе четыре  действия с данными: создавать, читать, обновлять и удалять (CRUD).</a:t>
            </a:r>
          </a:p>
          <a:p>
            <a:pPr marL="0" indent="360000">
              <a:lnSpc>
                <a:spcPct val="110000"/>
              </a:lnSpc>
              <a:buNone/>
            </a:pPr>
            <a:r>
              <a:rPr lang="ru-RU" sz="3200" dirty="0"/>
              <a:t>В базе данных </a:t>
            </a:r>
            <a:r>
              <a:rPr lang="ru-RU" sz="3200" dirty="0" err="1"/>
              <a:t>блокчейн</a:t>
            </a:r>
            <a:r>
              <a:rPr lang="ru-RU" sz="3200" dirty="0"/>
              <a:t> можно с цепочками выполнять следующие действия:</a:t>
            </a:r>
          </a:p>
          <a:p>
            <a:pPr>
              <a:lnSpc>
                <a:spcPct val="110000"/>
              </a:lnSpc>
            </a:pPr>
            <a:r>
              <a:rPr lang="ru-RU" sz="3200" b="1" dirty="0"/>
              <a:t>Чтения данных</a:t>
            </a:r>
            <a:r>
              <a:rPr lang="ru-RU" sz="3200" dirty="0"/>
              <a:t>: запросы и извлечение данных из цепочек.</a:t>
            </a:r>
          </a:p>
          <a:p>
            <a:pPr>
              <a:lnSpc>
                <a:spcPct val="110000"/>
              </a:lnSpc>
            </a:pPr>
            <a:r>
              <a:rPr lang="ru-RU" sz="3200" b="1" dirty="0"/>
              <a:t>Записи данных</a:t>
            </a:r>
            <a:r>
              <a:rPr lang="ru-RU" sz="3200" dirty="0"/>
              <a:t>: данные добавляются в </a:t>
            </a:r>
            <a:r>
              <a:rPr lang="ru-RU" sz="3200" dirty="0" err="1"/>
              <a:t>хэш</a:t>
            </a:r>
            <a:r>
              <a:rPr lang="ru-RU" sz="3200" dirty="0"/>
              <a:t> цепочки.</a:t>
            </a:r>
          </a:p>
          <a:p>
            <a:pPr>
              <a:lnSpc>
                <a:spcPct val="110000"/>
              </a:lnSpc>
            </a:pPr>
            <a:r>
              <a:rPr lang="ru-RU" sz="3200" b="1" dirty="0"/>
              <a:t>Проверка и запись данных </a:t>
            </a:r>
            <a:r>
              <a:rPr lang="ru-RU" sz="3200" dirty="0"/>
              <a:t>(если можно).</a:t>
            </a:r>
            <a:endParaRPr lang="ru-RU" sz="2000" dirty="0"/>
          </a:p>
        </p:txBody>
      </p:sp>
      <p:sp>
        <p:nvSpPr>
          <p:cNvPr id="4" name="Скругленный прямоугольник 3"/>
          <p:cNvSpPr/>
          <p:nvPr/>
        </p:nvSpPr>
        <p:spPr>
          <a:xfrm>
            <a:off x="8193024" y="5571714"/>
            <a:ext cx="2368296" cy="80467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rPr>
              <a:t>Нет стирания данных!</a:t>
            </a:r>
          </a:p>
        </p:txBody>
      </p:sp>
    </p:spTree>
    <p:extLst>
      <p:ext uri="{BB962C8B-B14F-4D97-AF65-F5344CB8AC3E}">
        <p14:creationId xmlns:p14="http://schemas.microsoft.com/office/powerpoint/2010/main" val="252180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1"/>
            <a:ext cx="10515600" cy="413238"/>
          </a:xfrm>
        </p:spPr>
        <p:txBody>
          <a:bodyPr>
            <a:noAutofit/>
          </a:bodyPr>
          <a:lstStyle/>
          <a:p>
            <a:pPr algn="ctr"/>
            <a:r>
              <a:rPr lang="ru-RU" sz="3200" dirty="0">
                <a:solidFill>
                  <a:srgbClr val="FF0000"/>
                </a:solidFill>
              </a:rPr>
              <a:t>Преимущества и недостатки </a:t>
            </a:r>
            <a:r>
              <a:rPr lang="en-US" sz="3200" dirty="0">
                <a:solidFill>
                  <a:srgbClr val="FF0000"/>
                </a:solidFill>
              </a:rPr>
              <a:t>NoSQL </a:t>
            </a:r>
            <a:r>
              <a:rPr lang="ru-RU" sz="3200" dirty="0">
                <a:solidFill>
                  <a:srgbClr val="FF0000"/>
                </a:solidFill>
              </a:rPr>
              <a:t>баз данных</a:t>
            </a:r>
          </a:p>
        </p:txBody>
      </p:sp>
      <p:sp>
        <p:nvSpPr>
          <p:cNvPr id="3" name="Объект 2"/>
          <p:cNvSpPr>
            <a:spLocks noGrp="1"/>
          </p:cNvSpPr>
          <p:nvPr>
            <p:ph idx="1"/>
          </p:nvPr>
        </p:nvSpPr>
        <p:spPr>
          <a:xfrm>
            <a:off x="838199" y="483576"/>
            <a:ext cx="10952285" cy="6189785"/>
          </a:xfrm>
        </p:spPr>
        <p:txBody>
          <a:bodyPr>
            <a:normAutofit/>
          </a:bodyPr>
          <a:lstStyle/>
          <a:p>
            <a:pPr marL="0" indent="360000">
              <a:buNone/>
            </a:pPr>
            <a:r>
              <a:rPr lang="ru-RU" sz="2000" b="1" dirty="0"/>
              <a:t>Преимущества</a:t>
            </a:r>
            <a:r>
              <a:rPr lang="ru-RU" sz="2000" dirty="0"/>
              <a:t>:</a:t>
            </a:r>
          </a:p>
          <a:p>
            <a:r>
              <a:rPr lang="ru-RU" sz="2000" dirty="0"/>
              <a:t>линейная масштабируемость – добавление узлов в кластер увеличивает производительность;</a:t>
            </a:r>
          </a:p>
          <a:p>
            <a:r>
              <a:rPr lang="ru-RU" sz="2000" dirty="0"/>
              <a:t>возможность работы с </a:t>
            </a:r>
            <a:r>
              <a:rPr lang="ru-RU" sz="2000" dirty="0" err="1"/>
              <a:t>полуструктирированными</a:t>
            </a:r>
            <a:r>
              <a:rPr lang="ru-RU" sz="2000" dirty="0"/>
              <a:t> данными, в том числе выполнение полнотекстового поиска;</a:t>
            </a:r>
          </a:p>
          <a:p>
            <a:r>
              <a:rPr lang="ru-RU" sz="2000" dirty="0"/>
              <a:t>возможность работы без задания схемы данных (см. </a:t>
            </a:r>
            <a:r>
              <a:rPr lang="en-US" sz="2000" dirty="0"/>
              <a:t>Agile </a:t>
            </a:r>
            <a:r>
              <a:rPr lang="ru-RU" sz="2000" dirty="0"/>
              <a:t>технологии);</a:t>
            </a:r>
          </a:p>
          <a:p>
            <a:r>
              <a:rPr lang="ru-RU" sz="2000" dirty="0"/>
              <a:t>Возможность использования репликации данных и </a:t>
            </a:r>
            <a:r>
              <a:rPr lang="ru-RU" sz="2000" dirty="0" err="1"/>
              <a:t>шардинга</a:t>
            </a:r>
            <a:r>
              <a:rPr lang="ru-RU" sz="2000" dirty="0"/>
              <a:t> – автоматического распределения данных по узлам сети, когда каждый сервер кластера отвечает за определенную часть информации. Это увеличивает скорость обработки данных, но достигается за счёт смягчения требований </a:t>
            </a:r>
            <a:r>
              <a:rPr lang="en-US" sz="2000" dirty="0"/>
              <a:t>ACID</a:t>
            </a:r>
            <a:r>
              <a:rPr lang="ru-RU" sz="2000" dirty="0"/>
              <a:t>.</a:t>
            </a:r>
          </a:p>
          <a:p>
            <a:r>
              <a:rPr lang="ru-RU" sz="2000" dirty="0"/>
              <a:t>повышение производительности за счет выбора моделей данных и шаблонов доступа;</a:t>
            </a:r>
          </a:p>
          <a:p>
            <a:pPr marL="0" indent="360000">
              <a:buNone/>
            </a:pPr>
            <a:r>
              <a:rPr lang="ru-RU" sz="2000" b="1" dirty="0"/>
              <a:t>Недостатки:</a:t>
            </a:r>
          </a:p>
          <a:p>
            <a:r>
              <a:rPr lang="ru-RU" sz="2000" dirty="0"/>
              <a:t>ограниченные возможности встроенных языков запросов. Существуют средства трансляции  SQL-выражений в код некоторых СУБД. </a:t>
            </a:r>
          </a:p>
          <a:p>
            <a:r>
              <a:rPr lang="ru-RU" sz="2000" dirty="0"/>
              <a:t>сложности в поддержке ACID-требований к транзакциям из-за того, что модели NoSQL  соответствуют не CAP-модели (согласованность, доступность, устойчивость к разделению), а модели BASE (базовая доступность, гибкое состояние и итоговая согласованность). </a:t>
            </a:r>
          </a:p>
          <a:p>
            <a:r>
              <a:rPr lang="ru-RU" sz="2000" dirty="0"/>
              <a:t>сильная привязка приложения к конкретной СУБД из-за специфики внутреннего языка запросов и гибкой модели данных, ориентированной на конкретный случай.</a:t>
            </a:r>
          </a:p>
          <a:p>
            <a:pPr marL="0" indent="0">
              <a:buNone/>
            </a:pPr>
            <a:endParaRPr lang="ru-RU" sz="2000" dirty="0"/>
          </a:p>
        </p:txBody>
      </p:sp>
    </p:spTree>
    <p:extLst>
      <p:ext uri="{BB962C8B-B14F-4D97-AF65-F5344CB8AC3E}">
        <p14:creationId xmlns:p14="http://schemas.microsoft.com/office/powerpoint/2010/main" val="3012833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416169"/>
            <a:ext cx="10515600" cy="543698"/>
          </a:xfrm>
        </p:spPr>
        <p:txBody>
          <a:bodyPr>
            <a:normAutofit fontScale="90000"/>
          </a:bodyPr>
          <a:lstStyle/>
          <a:p>
            <a:pPr algn="ctr"/>
            <a:r>
              <a:rPr lang="ru-RU" sz="3600" dirty="0">
                <a:solidFill>
                  <a:srgbClr val="FF0000"/>
                </a:solidFill>
              </a:rPr>
              <a:t/>
            </a:r>
            <a:br>
              <a:rPr lang="ru-RU" sz="3600" dirty="0">
                <a:solidFill>
                  <a:srgbClr val="FF0000"/>
                </a:solidFill>
              </a:rPr>
            </a:br>
            <a:r>
              <a:rPr lang="ru-RU" sz="3600" dirty="0">
                <a:solidFill>
                  <a:srgbClr val="FF0000"/>
                </a:solidFill>
              </a:rPr>
              <a:t/>
            </a:r>
            <a:br>
              <a:rPr lang="ru-RU" sz="3600" dirty="0">
                <a:solidFill>
                  <a:srgbClr val="FF0000"/>
                </a:solidFill>
              </a:rPr>
            </a:br>
            <a:r>
              <a:rPr lang="ru-RU" sz="3600" dirty="0">
                <a:solidFill>
                  <a:srgbClr val="FF0000"/>
                </a:solidFill>
              </a:rPr>
              <a:t>Когда следует  использовать </a:t>
            </a:r>
            <a:r>
              <a:rPr lang="en-US" sz="3600" dirty="0">
                <a:solidFill>
                  <a:srgbClr val="FF0000"/>
                </a:solidFill>
              </a:rPr>
              <a:t>NoSQL</a:t>
            </a:r>
            <a:r>
              <a:rPr lang="ru-RU" sz="3600" dirty="0">
                <a:solidFill>
                  <a:srgbClr val="FF0000"/>
                </a:solidFill>
              </a:rPr>
              <a:t>?</a:t>
            </a:r>
            <a:r>
              <a:rPr lang="ru-RU" sz="3600" dirty="0"/>
              <a:t/>
            </a:r>
            <a:br>
              <a:rPr lang="ru-RU" sz="3600" dirty="0"/>
            </a:br>
            <a:r>
              <a:rPr lang="ru-RU" sz="3600" dirty="0"/>
              <a:t/>
            </a:r>
            <a:br>
              <a:rPr lang="ru-RU" sz="3600" dirty="0"/>
            </a:br>
            <a:endParaRPr lang="ru-RU" sz="3600" dirty="0">
              <a:solidFill>
                <a:srgbClr val="FF0000"/>
              </a:solidFill>
            </a:endParaRPr>
          </a:p>
        </p:txBody>
      </p:sp>
      <p:sp>
        <p:nvSpPr>
          <p:cNvPr id="3" name="Объект 2"/>
          <p:cNvSpPr>
            <a:spLocks noGrp="1"/>
          </p:cNvSpPr>
          <p:nvPr>
            <p:ph idx="1"/>
          </p:nvPr>
        </p:nvSpPr>
        <p:spPr>
          <a:xfrm>
            <a:off x="838200" y="1311234"/>
            <a:ext cx="10515600" cy="4858748"/>
          </a:xfrm>
        </p:spPr>
        <p:txBody>
          <a:bodyPr/>
          <a:lstStyle/>
          <a:p>
            <a:r>
              <a:rPr lang="ru-RU" sz="2400" dirty="0"/>
              <a:t>Главная причина -- требования высокой масштабируемости.</a:t>
            </a:r>
          </a:p>
          <a:p>
            <a:pPr marL="0" indent="0">
              <a:buNone/>
            </a:pPr>
            <a:r>
              <a:rPr lang="ru-RU" sz="2400" dirty="0"/>
              <a:t>В </a:t>
            </a:r>
            <a:r>
              <a:rPr lang="en-US" sz="2400" dirty="0"/>
              <a:t>NoSQL </a:t>
            </a:r>
            <a:r>
              <a:rPr lang="ru-RU" sz="2400" dirty="0"/>
              <a:t>может достигаться линейное масштабирование, </a:t>
            </a:r>
          </a:p>
          <a:p>
            <a:pPr marL="0" indent="0">
              <a:buNone/>
            </a:pPr>
            <a:r>
              <a:rPr lang="ru-RU" sz="2400" dirty="0"/>
              <a:t>когда увеличивая ресурсы кластера получаем пропорциональное </a:t>
            </a:r>
          </a:p>
          <a:p>
            <a:pPr marL="0" indent="0">
              <a:buNone/>
            </a:pPr>
            <a:r>
              <a:rPr lang="ru-RU" sz="2400" dirty="0"/>
              <a:t>увеличение быстродействия.</a:t>
            </a:r>
          </a:p>
          <a:p>
            <a:r>
              <a:rPr lang="ru-RU" sz="2400" dirty="0"/>
              <a:t>Вторая причина – лёгкое прототипирование.</a:t>
            </a:r>
            <a:endParaRPr lang="en-US" sz="2400" dirty="0"/>
          </a:p>
          <a:p>
            <a:r>
              <a:rPr lang="ru-RU" sz="2400" dirty="0"/>
              <a:t>Третья причина -- высокая доступность достигаемая из-за </a:t>
            </a:r>
            <a:r>
              <a:rPr lang="ru-RU" sz="2400" dirty="0" err="1"/>
              <a:t>распределенности</a:t>
            </a:r>
            <a:r>
              <a:rPr lang="ru-RU" sz="2400" dirty="0"/>
              <a:t> базы по сети.</a:t>
            </a:r>
            <a:endParaRPr lang="en-US" sz="2400" dirty="0"/>
          </a:p>
          <a:p>
            <a:r>
              <a:rPr lang="ru-RU" sz="2400" dirty="0"/>
              <a:t>Кеширование.</a:t>
            </a:r>
          </a:p>
          <a:p>
            <a:r>
              <a:rPr lang="ru-RU" sz="2400" dirty="0"/>
              <a:t>Буферизация. </a:t>
            </a:r>
            <a:r>
              <a:rPr lang="en-US" sz="2400" dirty="0"/>
              <a:t>NoSQL </a:t>
            </a:r>
            <a:r>
              <a:rPr lang="ru-RU" sz="2400" dirty="0"/>
              <a:t>собирает огромный поток данных, что-то считает и передаёт результат в основную базу.</a:t>
            </a:r>
          </a:p>
          <a:p>
            <a:endParaRPr lang="ru-RU" dirty="0"/>
          </a:p>
        </p:txBody>
      </p:sp>
    </p:spTree>
    <p:extLst>
      <p:ext uri="{BB962C8B-B14F-4D97-AF65-F5344CB8AC3E}">
        <p14:creationId xmlns:p14="http://schemas.microsoft.com/office/powerpoint/2010/main" val="362023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541538"/>
            <a:ext cx="10515600" cy="704335"/>
          </a:xfrm>
        </p:spPr>
        <p:txBody>
          <a:bodyPr>
            <a:normAutofit/>
          </a:bodyPr>
          <a:lstStyle/>
          <a:p>
            <a:pPr algn="ctr"/>
            <a:r>
              <a:rPr lang="ru-RU" sz="3200" dirty="0">
                <a:solidFill>
                  <a:srgbClr val="FF0000"/>
                </a:solidFill>
              </a:rPr>
              <a:t>Сравнение терминологии в </a:t>
            </a:r>
            <a:r>
              <a:rPr lang="en-US" sz="3200" dirty="0">
                <a:solidFill>
                  <a:srgbClr val="FF0000"/>
                </a:solidFill>
              </a:rPr>
              <a:t>NoSQL</a:t>
            </a:r>
            <a:r>
              <a:rPr lang="ru-RU" sz="3200" dirty="0">
                <a:solidFill>
                  <a:srgbClr val="FF0000"/>
                </a:solidFill>
              </a:rPr>
              <a:t> </a:t>
            </a:r>
          </a:p>
        </p:txBody>
      </p:sp>
      <p:pic>
        <p:nvPicPr>
          <p:cNvPr id="4" name="Объект 3"/>
          <p:cNvPicPr>
            <a:picLocks noGrp="1" noChangeAspect="1"/>
          </p:cNvPicPr>
          <p:nvPr>
            <p:ph idx="1"/>
          </p:nvPr>
        </p:nvPicPr>
        <p:blipFill>
          <a:blip r:embed="rId2"/>
          <a:stretch>
            <a:fillRect/>
          </a:stretch>
        </p:blipFill>
        <p:spPr>
          <a:xfrm>
            <a:off x="619617" y="1850470"/>
            <a:ext cx="11328714" cy="3309736"/>
          </a:xfrm>
          <a:prstGeom prst="rect">
            <a:avLst/>
          </a:prstGeom>
        </p:spPr>
      </p:pic>
    </p:spTree>
    <p:extLst>
      <p:ext uri="{BB962C8B-B14F-4D97-AF65-F5344CB8AC3E}">
        <p14:creationId xmlns:p14="http://schemas.microsoft.com/office/powerpoint/2010/main" val="236577214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6651</TotalTime>
  <Words>2883</Words>
  <Application>Microsoft Office PowerPoint</Application>
  <PresentationFormat>Широкоэкранный</PresentationFormat>
  <Paragraphs>248</Paragraphs>
  <Slides>24</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24</vt:i4>
      </vt:variant>
    </vt:vector>
  </HeadingPairs>
  <TitlesOfParts>
    <vt:vector size="29" baseType="lpstr">
      <vt:lpstr>Arial</vt:lpstr>
      <vt:lpstr>Calibri</vt:lpstr>
      <vt:lpstr>Calibri Light</vt:lpstr>
      <vt:lpstr>Times New Roman</vt:lpstr>
      <vt:lpstr>Тема Office</vt:lpstr>
      <vt:lpstr>Что такое NoSQL</vt:lpstr>
      <vt:lpstr>Контекст моделей NoSQL</vt:lpstr>
      <vt:lpstr>Что такое архитектура клиент-сервер</vt:lpstr>
      <vt:lpstr>Структурированные, неструктурированные и полуструктурированные данные</vt:lpstr>
      <vt:lpstr>Пример полуструктурированной базы в модели OEM</vt:lpstr>
      <vt:lpstr>Неструктурированные данные</vt:lpstr>
      <vt:lpstr>Репликация</vt:lpstr>
      <vt:lpstr>Модели согласованности</vt:lpstr>
      <vt:lpstr>Партицирование и шардинг</vt:lpstr>
      <vt:lpstr>CAP-теорема 1/3</vt:lpstr>
      <vt:lpstr>CAP-теорема 2/3</vt:lpstr>
      <vt:lpstr>CAP-теорема 3/3</vt:lpstr>
      <vt:lpstr>Какие данные считать большими</vt:lpstr>
      <vt:lpstr>Так что же такое NoSQL? </vt:lpstr>
      <vt:lpstr>Разновидности моделей NoSQL 1/3</vt:lpstr>
      <vt:lpstr>Разновидности моделей NoSQL 2/3</vt:lpstr>
      <vt:lpstr>Разновидности моделей NoSQL 3/3</vt:lpstr>
      <vt:lpstr>Особенности NoSQL баз данных</vt:lpstr>
      <vt:lpstr>Сравнение табличных и NoSQL баз данных </vt:lpstr>
      <vt:lpstr>Блок-чейн</vt:lpstr>
      <vt:lpstr>Сравним табличные базы данных и базы данных блок-чейн</vt:lpstr>
      <vt:lpstr>Преимущества и недостатки NoSQL баз данных</vt:lpstr>
      <vt:lpstr>  Когда следует  использовать NoSQL?  </vt:lpstr>
      <vt:lpstr>Сравнение терминологии в NoSQL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Что такое NoSQL</dc:title>
  <dc:creator>Microsoft</dc:creator>
  <cp:lastModifiedBy>EA</cp:lastModifiedBy>
  <cp:revision>181</cp:revision>
  <dcterms:created xsi:type="dcterms:W3CDTF">2020-07-12T06:22:46Z</dcterms:created>
  <dcterms:modified xsi:type="dcterms:W3CDTF">2022-09-12T06:43:43Z</dcterms:modified>
</cp:coreProperties>
</file>