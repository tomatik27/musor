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402D2-28FD-4373-A21A-7CB6F356CADC}" type="datetimeFigureOut">
              <a:rPr lang="ru-RU" smtClean="0"/>
              <a:t>15.09.2021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21018-3E2D-4381-A8A7-4F38E119FC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73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E21018-3E2D-4381-A8A7-4F38E119FC9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886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9A35F-2FBD-49D4-915A-37340E054B01}" type="datetime1">
              <a:rPr lang="ru-RU" smtClean="0"/>
              <a:t>15.09.2021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051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C50E-C7A0-4CBA-89AE-65AC04466305}" type="datetime1">
              <a:rPr lang="ru-RU" smtClean="0"/>
              <a:t>15.09.2021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21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B479E-248D-4092-8ADB-B09E95DE4C98}" type="datetime1">
              <a:rPr lang="ru-RU" smtClean="0"/>
              <a:t>15.09.2021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222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6293-F0B0-4B9E-BBEC-A62A425820B6}" type="datetime1">
              <a:rPr lang="ru-RU" smtClean="0"/>
              <a:t>15.09.2021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86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2CE48-6FD3-4AEF-925C-9547CE0DD32C}" type="datetime1">
              <a:rPr lang="ru-RU" smtClean="0"/>
              <a:t>15.09.2021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85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5503-61E2-4E13-80A2-0A1C325581B8}" type="datetime1">
              <a:rPr lang="ru-RU" smtClean="0"/>
              <a:t>15.09.2021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566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D30A-A365-48F8-ADF1-B5E41C58E7DA}" type="datetime1">
              <a:rPr lang="ru-RU" smtClean="0"/>
              <a:t>15.09.2021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57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1C2-24E0-492F-982F-4BF94AF15A44}" type="datetime1">
              <a:rPr lang="ru-RU" smtClean="0"/>
              <a:t>15.09.2021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84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0A1D-199F-44B7-96E4-7EAD2FEDFB54}" type="datetime1">
              <a:rPr lang="ru-RU" smtClean="0"/>
              <a:t>15.09.2021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10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367F-8335-40FD-9807-D5F64C6289D4}" type="datetime1">
              <a:rPr lang="ru-RU" smtClean="0"/>
              <a:t>15.09.2021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3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4F6F-28B1-4356-88DE-7881101F54EC}" type="datetime1">
              <a:rPr lang="ru-RU" smtClean="0"/>
              <a:t>15.09.2021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17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34E52-1574-41C5-B936-E3A1166C100C}" type="datetime1">
              <a:rPr lang="ru-RU" smtClean="0"/>
              <a:t>15.09.2021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A20B3-20F8-4C15-8DCD-860C77CEF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837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neo4j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hyperlink" Target="http://console.neo4j.org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Графовая база данных </a:t>
            </a:r>
            <a:br>
              <a:rPr lang="ru-RU" sz="4000" dirty="0"/>
            </a:br>
            <a:r>
              <a:rPr lang="en-US" sz="4000" dirty="0"/>
              <a:t>Neo4j</a:t>
            </a:r>
            <a:br>
              <a:rPr lang="en-US" sz="4000" dirty="0"/>
            </a:br>
            <a:r>
              <a:rPr lang="ru-RU" sz="4000" dirty="0"/>
              <a:t>часть 1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44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Оглавление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59457"/>
            <a:ext cx="10515600" cy="491750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 dirty="0"/>
              <a:t>Модель графов с метками и свойствами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Что такое </a:t>
            </a:r>
            <a:r>
              <a:rPr lang="en-US" sz="2000" dirty="0"/>
              <a:t>JSON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СУБД </a:t>
            </a:r>
            <a:r>
              <a:rPr lang="en-US" sz="2000" dirty="0"/>
              <a:t>Neo4j </a:t>
            </a:r>
            <a:r>
              <a:rPr lang="ru-RU" sz="2000" dirty="0"/>
              <a:t>релиз</a:t>
            </a:r>
            <a:r>
              <a:rPr lang="en-US" sz="2000" dirty="0"/>
              <a:t> 1.3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Язык </a:t>
            </a:r>
            <a:r>
              <a:rPr lang="en-US" sz="2000" dirty="0"/>
              <a:t>Cypher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Создание изолированных узлов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Создание рёбер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Работа со свойствами </a:t>
            </a:r>
            <a:r>
              <a:rPr lang="en-US" sz="2000" dirty="0"/>
              <a:t>(</a:t>
            </a:r>
            <a:r>
              <a:rPr lang="ru-RU" sz="2000" dirty="0"/>
              <a:t>фраза </a:t>
            </a:r>
            <a:r>
              <a:rPr lang="en-US" sz="2000" dirty="0"/>
              <a:t>SET)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Фраза удаления (</a:t>
            </a:r>
            <a:r>
              <a:rPr lang="en-US" sz="2000" dirty="0"/>
              <a:t>DELETE)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Удаление свойств и меток из узлов или связей (REMOVE)</a:t>
            </a:r>
            <a:r>
              <a:rPr lang="en-US" sz="2000" dirty="0"/>
              <a:t> 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Фраза </a:t>
            </a:r>
            <a:r>
              <a:rPr lang="en-US" sz="2000" dirty="0"/>
              <a:t>FOREACH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Фраза </a:t>
            </a:r>
            <a:r>
              <a:rPr lang="en-US" sz="2000" dirty="0"/>
              <a:t>OPTIONAL MATCH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Фраза </a:t>
            </a:r>
            <a:r>
              <a:rPr lang="en-US" sz="2000" dirty="0"/>
              <a:t>WHERE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Фраза </a:t>
            </a:r>
            <a:r>
              <a:rPr lang="en-US" sz="2000" dirty="0"/>
              <a:t>ORDER BY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471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6229" y="0"/>
            <a:ext cx="10515600" cy="638354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  <a:r>
              <a:rPr lang="ru-RU" sz="3200" dirty="0">
                <a:solidFill>
                  <a:srgbClr val="FF0000"/>
                </a:solidFill>
              </a:rPr>
              <a:t>. Модель графов с метками и свойствами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6280" y="534572"/>
            <a:ext cx="10875498" cy="6323427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/>
              <a:t>В реляционной модели сущность не только содержит свои атрибуты, но также данные о том, как она связана с другими сущностями (или с собой). </a:t>
            </a:r>
          </a:p>
          <a:p>
            <a:pPr marL="0" indent="360000">
              <a:buNone/>
            </a:pPr>
            <a:r>
              <a:rPr lang="ru-RU" sz="2000" b="0" i="0" dirty="0">
                <a:solidFill>
                  <a:srgbClr val="222222"/>
                </a:solidFill>
                <a:effectLst/>
              </a:rPr>
              <a:t>Табличная модель эффективна в схемах с большим количеством слабосвязанных сущностей. Однако, если связей много, запросы усложняются, быстродействие падает.</a:t>
            </a:r>
          </a:p>
          <a:p>
            <a:pPr marL="0" indent="360000">
              <a:buNone/>
            </a:pPr>
            <a:r>
              <a:rPr lang="ru-RU" sz="2000" dirty="0">
                <a:solidFill>
                  <a:srgbClr val="222222"/>
                </a:solidFill>
              </a:rPr>
              <a:t>В графовых моделях связи задаются явно и аналогично сущностям рассматриваются как первичные составляющие модели данных.</a:t>
            </a:r>
          </a:p>
          <a:p>
            <a:pPr marL="0" indent="360000">
              <a:buNone/>
            </a:pPr>
            <a:r>
              <a:rPr lang="ru-RU" sz="2000" dirty="0"/>
              <a:t>Самая популярная графовая модель имеет метки на узлах и рёбрах. Её особенности:</a:t>
            </a:r>
          </a:p>
          <a:p>
            <a:pPr marL="0" indent="0">
              <a:buNone/>
            </a:pPr>
            <a:r>
              <a:rPr lang="ru-RU" sz="2000" dirty="0"/>
              <a:t>• содержит узлы и рёбра/взаимосвязи;</a:t>
            </a:r>
          </a:p>
          <a:p>
            <a:pPr marL="0" indent="0">
              <a:buNone/>
            </a:pPr>
            <a:r>
              <a:rPr lang="ru-RU" sz="2000" dirty="0"/>
              <a:t>• у узлов и рёбер имеются наборы свойств, записываемых в виде пар ключ-значение;</a:t>
            </a:r>
          </a:p>
          <a:p>
            <a:pPr marL="0" indent="0">
              <a:buNone/>
            </a:pPr>
            <a:r>
              <a:rPr lang="ru-RU" sz="2000" dirty="0"/>
              <a:t>• узлы и рёбра могут быть помечены метками, одной или несколькими, </a:t>
            </a:r>
            <a:r>
              <a:rPr lang="ru-RU" sz="2000" b="0" i="0" dirty="0">
                <a:solidFill>
                  <a:srgbClr val="222222"/>
                </a:solidFill>
                <a:effectLst/>
              </a:rPr>
              <a:t>указывающими на их роль в модели данных</a:t>
            </a:r>
            <a:r>
              <a:rPr lang="ru-RU" sz="14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. 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• рёбра имеют имя и направление, типы и свойства; для них всегда определены начальный и конечный узлы;</a:t>
            </a:r>
          </a:p>
          <a:p>
            <a:pPr marL="0" indent="0">
              <a:buNone/>
            </a:pPr>
            <a:r>
              <a:rPr lang="ru-RU" sz="2000" dirty="0"/>
              <a:t>• </a:t>
            </a:r>
            <a:r>
              <a:rPr lang="ru-RU" sz="2000" dirty="0" err="1"/>
              <a:t>Графовая</a:t>
            </a:r>
            <a:r>
              <a:rPr lang="ru-RU" sz="2000" dirty="0"/>
              <a:t> СУБД должна поддерживать методы создания (</a:t>
            </a:r>
            <a:r>
              <a:rPr lang="ru-RU" sz="2000" dirty="0" err="1"/>
              <a:t>Create</a:t>
            </a:r>
            <a:r>
              <a:rPr lang="ru-RU" sz="2000" dirty="0"/>
              <a:t>), чтения (</a:t>
            </a:r>
            <a:r>
              <a:rPr lang="ru-RU" sz="2000" dirty="0" err="1"/>
              <a:t>Read</a:t>
            </a:r>
            <a:r>
              <a:rPr lang="ru-RU" sz="2000" dirty="0"/>
              <a:t>), изменения (Update) и удаления (</a:t>
            </a:r>
            <a:r>
              <a:rPr lang="ru-RU" sz="2000" dirty="0" err="1"/>
              <a:t>Delete</a:t>
            </a:r>
            <a:r>
              <a:rPr lang="ru-RU" sz="2000" dirty="0"/>
              <a:t>) (CRUD). </a:t>
            </a:r>
            <a:r>
              <a:rPr lang="ru-RU" sz="2000" dirty="0" err="1"/>
              <a:t>Графовые</a:t>
            </a:r>
            <a:r>
              <a:rPr lang="ru-RU" sz="2000" dirty="0"/>
              <a:t> базы данных обычно поддерживают систему транзакций реального времени (OLTP).</a:t>
            </a:r>
            <a:endParaRPr lang="en-US" sz="2000" dirty="0"/>
          </a:p>
          <a:p>
            <a:pPr marL="0" indent="0">
              <a:buNone/>
            </a:pPr>
            <a:r>
              <a:rPr lang="ru-RU" sz="2000" u="sng" dirty="0"/>
              <a:t>Для обдумывания</a:t>
            </a:r>
            <a:r>
              <a:rPr lang="ru-RU" sz="2000" dirty="0"/>
              <a:t>: Зачем нужны метки?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200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790" y="4658046"/>
            <a:ext cx="5998210" cy="173358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1626099"/>
            <a:ext cx="6423977" cy="296352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90879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+mn-lt"/>
              </a:rPr>
              <a:t>2.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Что такое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JSON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(JavaScript Object Notation)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89280"/>
            <a:ext cx="10515600" cy="6268720"/>
          </a:xfrm>
        </p:spPr>
        <p:txBody>
          <a:bodyPr>
            <a:normAutofit fontScale="85000" lnSpcReduction="10000"/>
          </a:bodyPr>
          <a:lstStyle/>
          <a:p>
            <a:pPr marL="0" indent="360000">
              <a:buNone/>
            </a:pPr>
            <a:r>
              <a:rPr lang="ru-RU" sz="2000" dirty="0"/>
              <a:t>Синтаксис JSON основан на синтаксисе объектов </a:t>
            </a:r>
            <a:r>
              <a:rPr lang="ru-RU" sz="2000" dirty="0" err="1"/>
              <a:t>JavaScript</a:t>
            </a:r>
            <a:r>
              <a:rPr lang="ru-RU" sz="2000" dirty="0"/>
              <a:t>:</a:t>
            </a:r>
          </a:p>
          <a:p>
            <a:r>
              <a:rPr lang="ru-RU" sz="2000" dirty="0"/>
              <a:t>Данные записываются в виде пар “ключ : значение</a:t>
            </a:r>
            <a:r>
              <a:rPr lang="en-US" sz="2000" dirty="0"/>
              <a:t>”. </a:t>
            </a:r>
            <a:r>
              <a:rPr lang="ru-RU" sz="2000" dirty="0"/>
              <a:t>Такая пара состоит из имени ключа/поля в виде строки в двойных кавычках, за которым после двоеточия идет значение в таких же кавычках:</a:t>
            </a:r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ru-RU" sz="2000" u="sng" dirty="0"/>
              <a:t>Пример</a:t>
            </a:r>
            <a:r>
              <a:rPr lang="ru-RU" sz="2000" dirty="0"/>
              <a:t>: </a:t>
            </a:r>
            <a:r>
              <a:rPr lang="en-US" sz="2000" dirty="0"/>
              <a:t>"name "</a:t>
            </a:r>
            <a:r>
              <a:rPr lang="ru-RU" sz="2000" dirty="0"/>
              <a:t> </a:t>
            </a:r>
            <a:r>
              <a:rPr lang="en-US" sz="2000" dirty="0"/>
              <a:t>:</a:t>
            </a:r>
            <a:r>
              <a:rPr lang="ru-RU" sz="2000" dirty="0"/>
              <a:t> </a:t>
            </a:r>
            <a:r>
              <a:rPr lang="en-US" sz="2000" dirty="0"/>
              <a:t>"John”.</a:t>
            </a:r>
            <a:endParaRPr lang="ru-RU" sz="2000" dirty="0"/>
          </a:p>
          <a:p>
            <a:r>
              <a:rPr lang="ru-RU" sz="2000" dirty="0"/>
              <a:t>Данные разделяются запятыми</a:t>
            </a:r>
          </a:p>
          <a:p>
            <a:r>
              <a:rPr lang="ru-RU" sz="2000" dirty="0"/>
              <a:t>В фигурных скобках записываются объекты</a:t>
            </a:r>
          </a:p>
          <a:p>
            <a:r>
              <a:rPr lang="ru-RU" sz="2000" dirty="0"/>
              <a:t>В квадратных скобках записываются массивы</a:t>
            </a:r>
          </a:p>
          <a:p>
            <a:pPr marL="0" indent="360000">
              <a:buNone/>
            </a:pPr>
            <a:r>
              <a:rPr lang="ru-RU" sz="2000" dirty="0"/>
              <a:t>В JSON значения могут иметь следующие типы:</a:t>
            </a:r>
          </a:p>
          <a:p>
            <a:r>
              <a:rPr lang="ru-RU" sz="2000" dirty="0"/>
              <a:t>строка</a:t>
            </a:r>
          </a:p>
          <a:p>
            <a:r>
              <a:rPr lang="ru-RU" sz="2000" dirty="0"/>
              <a:t>число</a:t>
            </a:r>
          </a:p>
          <a:p>
            <a:r>
              <a:rPr lang="ru-RU" sz="2000" dirty="0"/>
              <a:t>объект (объект JSON) – неупорядоченное </a:t>
            </a:r>
          </a:p>
          <a:p>
            <a:pPr marL="0" indent="0">
              <a:buNone/>
            </a:pPr>
            <a:r>
              <a:rPr lang="ru-RU" sz="2000" dirty="0"/>
              <a:t>     множество пар ключ/значение</a:t>
            </a:r>
          </a:p>
          <a:p>
            <a:r>
              <a:rPr lang="ru-RU" sz="2000" dirty="0"/>
              <a:t>Массив</a:t>
            </a:r>
            <a:r>
              <a:rPr lang="en-US" sz="2000" dirty="0"/>
              <a:t> </a:t>
            </a:r>
            <a:r>
              <a:rPr lang="ru-RU" sz="2000" dirty="0"/>
              <a:t>- упорядоченная коллекция значений.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ru-RU" sz="2000" dirty="0"/>
              <a:t>Начинается с [ открывающей квадратной скобки </a:t>
            </a:r>
          </a:p>
          <a:p>
            <a:pPr marL="0" indent="0">
              <a:buNone/>
            </a:pPr>
            <a:r>
              <a:rPr lang="ru-RU" sz="2000" dirty="0"/>
              <a:t>     и заканчивается ] закрывающей квадратной скобкой. </a:t>
            </a:r>
          </a:p>
          <a:p>
            <a:pPr marL="0" indent="0">
              <a:buNone/>
            </a:pPr>
            <a:r>
              <a:rPr lang="ru-RU" sz="2000" dirty="0"/>
              <a:t>     Значения разделены , запятой.</a:t>
            </a:r>
          </a:p>
          <a:p>
            <a:r>
              <a:rPr lang="ru-RU" sz="2000" dirty="0" err="1"/>
              <a:t>boolean</a:t>
            </a:r>
            <a:endParaRPr lang="ru-RU" sz="2000" dirty="0"/>
          </a:p>
          <a:p>
            <a:r>
              <a:rPr lang="ru-RU" sz="2000" dirty="0" err="1"/>
              <a:t>null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                                                             </a:t>
            </a:r>
            <a:r>
              <a:rPr lang="en-US" sz="2000" dirty="0"/>
              <a:t>https://www.json.org/json-ru.html</a:t>
            </a:r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47395" y="565926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60000"/>
            <a:r>
              <a:rPr lang="ru-RU" dirty="0"/>
              <a:t>Строка - коллекция нуля или больше символов </a:t>
            </a:r>
            <a:r>
              <a:rPr lang="ru-RU" dirty="0" err="1"/>
              <a:t>Unicode</a:t>
            </a:r>
            <a:r>
              <a:rPr lang="ru-RU" dirty="0"/>
              <a:t>, заключенная в двойные кавычки, используя \ обратную косую черту в качестве символа экранирования. Символ представляется как </a:t>
            </a:r>
            <a:r>
              <a:rPr lang="ru-RU" dirty="0" err="1"/>
              <a:t>односимвольная</a:t>
            </a:r>
            <a:r>
              <a:rPr lang="ru-RU" dirty="0"/>
              <a:t> строка.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657975" cy="4657725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395" y="4657726"/>
            <a:ext cx="6131560" cy="926783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/>
              <a:t>Значение может быть строкой в двойных кавычках, числом, </a:t>
            </a:r>
            <a:r>
              <a:rPr lang="ru-RU" sz="2000" dirty="0" err="1"/>
              <a:t>true</a:t>
            </a:r>
            <a:r>
              <a:rPr lang="ru-RU" sz="2000" dirty="0"/>
              <a:t>, </a:t>
            </a:r>
            <a:r>
              <a:rPr lang="ru-RU" sz="2000" dirty="0" err="1"/>
              <a:t>false</a:t>
            </a:r>
            <a:r>
              <a:rPr lang="ru-RU" sz="2000" dirty="0"/>
              <a:t>, </a:t>
            </a:r>
            <a:r>
              <a:rPr lang="ru-RU" sz="2000" dirty="0" err="1"/>
              <a:t>null</a:t>
            </a:r>
            <a:r>
              <a:rPr lang="ru-RU" sz="2000" dirty="0"/>
              <a:t>, объектом или массивом. Эти структуры могут быть вложенными.</a:t>
            </a:r>
          </a:p>
          <a:p>
            <a:pPr marL="0" indent="360000">
              <a:buNone/>
            </a:pP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75" y="93663"/>
            <a:ext cx="545386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7952" y="1673543"/>
            <a:ext cx="2164080" cy="70104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Значение в  </a:t>
            </a:r>
            <a:br>
              <a:rPr lang="ru-RU" sz="3200" dirty="0">
                <a:solidFill>
                  <a:srgbClr val="FF0000"/>
                </a:solidFill>
                <a:latin typeface="+mn-lt"/>
              </a:rPr>
            </a:br>
            <a:r>
              <a:rPr lang="en-US" sz="3200" dirty="0">
                <a:solidFill>
                  <a:srgbClr val="FF0000"/>
                </a:solidFill>
                <a:latin typeface="+mn-lt"/>
              </a:rPr>
              <a:t>JSON</a:t>
            </a:r>
            <a:endParaRPr lang="ru-RU" sz="3200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70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1359"/>
          </a:xfrm>
        </p:spPr>
        <p:txBody>
          <a:bodyPr>
            <a:normAutofit/>
          </a:bodyPr>
          <a:lstStyle/>
          <a:p>
            <a:pPr algn="ctr"/>
            <a:r>
              <a:rPr lang="ru-RU" sz="3200">
                <a:solidFill>
                  <a:srgbClr val="FF0000"/>
                </a:solidFill>
              </a:rPr>
              <a:t>Числа в </a:t>
            </a:r>
            <a:r>
              <a:rPr lang="en-US" sz="3200">
                <a:solidFill>
                  <a:srgbClr val="FF0000"/>
                </a:solidFill>
              </a:rPr>
              <a:t>JSON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21359"/>
            <a:ext cx="10515600" cy="5455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i="1" dirty="0"/>
              <a:t>Числа</a:t>
            </a:r>
            <a:r>
              <a:rPr lang="ru-RU" sz="2000" dirty="0"/>
              <a:t> только в десятичной системе счисления.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Пробелы могут помещаться между </a:t>
            </a:r>
          </a:p>
          <a:p>
            <a:pPr marL="0" indent="0">
              <a:buNone/>
            </a:pPr>
            <a:r>
              <a:rPr lang="ru-RU" sz="2000" dirty="0"/>
              <a:t>любыми лексемами.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649" y="721359"/>
            <a:ext cx="5353501" cy="584146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82" y="2787002"/>
            <a:ext cx="5821438" cy="3034677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61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77073"/>
            <a:ext cx="10515600" cy="46582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+mn-lt"/>
              </a:rPr>
              <a:t>3. СУБД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Neo4j </a:t>
            </a:r>
            <a:r>
              <a:rPr lang="ru-RU" sz="3600" dirty="0">
                <a:solidFill>
                  <a:srgbClr val="FF0000"/>
                </a:solidFill>
                <a:latin typeface="+mn-lt"/>
              </a:rPr>
              <a:t>релиз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600" b="0" i="0" dirty="0">
                <a:solidFill>
                  <a:srgbClr val="FF0000"/>
                </a:solidFill>
                <a:effectLst/>
                <a:latin typeface="+mn-lt"/>
              </a:rPr>
              <a:t>4.3</a:t>
            </a:r>
            <a:endParaRPr lang="ru-RU" sz="3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39689"/>
            <a:ext cx="10720526" cy="5020574"/>
          </a:xfrm>
        </p:spPr>
        <p:txBody>
          <a:bodyPr>
            <a:normAutofit/>
          </a:bodyPr>
          <a:lstStyle/>
          <a:p>
            <a:pPr marL="0" indent="360000">
              <a:lnSpc>
                <a:spcPct val="95000"/>
              </a:lnSpc>
              <a:buNone/>
            </a:pPr>
            <a:r>
              <a:rPr lang="ru-RU" sz="2000" dirty="0"/>
              <a:t>Графовая СУБД открытым кодом. Написана на языке </a:t>
            </a:r>
            <a:r>
              <a:rPr lang="ru-RU" sz="2000" dirty="0" err="1"/>
              <a:t>Java</a:t>
            </a:r>
            <a:r>
              <a:rPr lang="en-US" sz="2000" dirty="0"/>
              <a:t> </a:t>
            </a:r>
            <a:r>
              <a:rPr lang="ru-RU" sz="2000" dirty="0"/>
              <a:t>компанией </a:t>
            </a:r>
            <a:r>
              <a:rPr lang="en-US" sz="2000" dirty="0"/>
              <a:t>Neo Technology </a:t>
            </a:r>
            <a:r>
              <a:rPr lang="ru-RU" sz="2000" dirty="0"/>
              <a:t>в 2003 году. Последний релиз 4.3.3.</a:t>
            </a:r>
          </a:p>
          <a:p>
            <a:pPr marL="0" indent="360000">
              <a:lnSpc>
                <a:spcPct val="95000"/>
              </a:lnSpc>
              <a:buNone/>
            </a:pPr>
            <a:r>
              <a:rPr lang="ru-RU" sz="2000" dirty="0"/>
              <a:t>Сайт </a:t>
            </a:r>
            <a:r>
              <a:rPr lang="en-US" sz="2000" dirty="0">
                <a:hlinkClick r:id="rId2"/>
              </a:rPr>
              <a:t>https://neo4j.com/</a:t>
            </a:r>
            <a:r>
              <a:rPr lang="ru-RU" sz="2000" dirty="0"/>
              <a:t>.</a:t>
            </a:r>
          </a:p>
          <a:p>
            <a:pPr marL="0" indent="360000">
              <a:lnSpc>
                <a:spcPct val="95000"/>
              </a:lnSpc>
              <a:buNone/>
            </a:pPr>
            <a:r>
              <a:rPr lang="ru-RU" sz="2000" dirty="0"/>
              <a:t>Максимальный размер графа до 32 миллиардов узлов и 64 миллиардов свойств.</a:t>
            </a:r>
          </a:p>
          <a:p>
            <a:pPr marL="0" indent="360000">
              <a:lnSpc>
                <a:spcPct val="95000"/>
              </a:lnSpc>
              <a:buNone/>
            </a:pPr>
            <a:r>
              <a:rPr lang="ru-RU" sz="2000" dirty="0"/>
              <a:t>Поддерживает транзакции </a:t>
            </a:r>
            <a:r>
              <a:rPr lang="en-US" sz="2000" dirty="0"/>
              <a:t>ACID</a:t>
            </a:r>
            <a:r>
              <a:rPr lang="ru-RU" sz="2000" dirty="0"/>
              <a:t>, индексацию данных,</a:t>
            </a:r>
            <a:r>
              <a:rPr lang="en-US" sz="2000" dirty="0"/>
              <a:t> </a:t>
            </a:r>
            <a:r>
              <a:rPr lang="ru-RU" sz="2000" dirty="0"/>
              <a:t>хорошо масштабируется. Может работать на кластере серверов. Улучшена работа </a:t>
            </a:r>
            <a:r>
              <a:rPr lang="ru-RU" sz="2000" dirty="0" err="1"/>
              <a:t>фреймворка</a:t>
            </a:r>
            <a:r>
              <a:rPr lang="ru-RU" sz="2000" dirty="0"/>
              <a:t> для обеспечения быстрого обхода узлов. </a:t>
            </a:r>
          </a:p>
          <a:p>
            <a:pPr marL="0" indent="360000">
              <a:lnSpc>
                <a:spcPct val="95000"/>
              </a:lnSpc>
              <a:buNone/>
            </a:pPr>
            <a:r>
              <a:rPr lang="ru-RU" sz="2000" dirty="0"/>
              <a:t>Может работать как обособленный сервер  доступом через REST API, так и в качестве встраиваемой системы реализующей функции работы с графом в пользовательских программах. </a:t>
            </a:r>
          </a:p>
          <a:p>
            <a:pPr marL="0" indent="360000">
              <a:lnSpc>
                <a:spcPct val="95000"/>
              </a:lnSpc>
              <a:buNone/>
            </a:pPr>
            <a:r>
              <a:rPr lang="ru-RU" sz="2000" dirty="0"/>
              <a:t>Работает с языками </a:t>
            </a:r>
            <a:r>
              <a:rPr lang="ru-RU" sz="2000" dirty="0" err="1"/>
              <a:t>Clojure</a:t>
            </a:r>
            <a:r>
              <a:rPr lang="ru-RU" sz="2000" dirty="0"/>
              <a:t>, </a:t>
            </a:r>
            <a:r>
              <a:rPr lang="ru-RU" sz="2000" dirty="0" err="1"/>
              <a:t>Erlang</a:t>
            </a:r>
            <a:r>
              <a:rPr lang="ru-RU" sz="2000" dirty="0"/>
              <a:t>, </a:t>
            </a:r>
            <a:r>
              <a:rPr lang="ru-RU" sz="2000" dirty="0" err="1"/>
              <a:t>Gremlin</a:t>
            </a:r>
            <a:r>
              <a:rPr lang="ru-RU" sz="2000" dirty="0"/>
              <a:t>, </a:t>
            </a:r>
            <a:r>
              <a:rPr lang="ru-RU" sz="2000" dirty="0" err="1"/>
              <a:t>Groovy</a:t>
            </a:r>
            <a:r>
              <a:rPr lang="ru-RU" sz="2000" dirty="0"/>
              <a:t>, Java, PHP, </a:t>
            </a:r>
            <a:r>
              <a:rPr lang="ru-RU" sz="2000" dirty="0" err="1"/>
              <a:t>Python</a:t>
            </a:r>
            <a:r>
              <a:rPr lang="ru-RU" sz="2000" dirty="0"/>
              <a:t>, </a:t>
            </a:r>
            <a:r>
              <a:rPr lang="ru-RU" sz="2000" dirty="0" err="1"/>
              <a:t>Ruby</a:t>
            </a:r>
            <a:r>
              <a:rPr lang="ru-RU" sz="2000" dirty="0"/>
              <a:t> и </a:t>
            </a:r>
            <a:r>
              <a:rPr lang="ru-RU" sz="2000" dirty="0" err="1"/>
              <a:t>Scala</a:t>
            </a:r>
            <a:r>
              <a:rPr lang="ru-RU" sz="2000" dirty="0"/>
              <a:t>. </a:t>
            </a:r>
          </a:p>
          <a:p>
            <a:pPr marL="0" indent="360000">
              <a:lnSpc>
                <a:spcPct val="95000"/>
              </a:lnSpc>
              <a:buNone/>
            </a:pPr>
            <a:r>
              <a:rPr lang="ru-RU" sz="2000" dirty="0"/>
              <a:t>Созданное приложение может взаимодействовать с базой данных по одному из протоколов: HTTP, HTTPS и BOLT (это собственный протокол Neo Technology).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37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50416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Безиндексная смежность и быстродействие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1737" y="550416"/>
            <a:ext cx="11249526" cy="6307584"/>
          </a:xfrm>
        </p:spPr>
        <p:txBody>
          <a:bodyPr>
            <a:normAutofit/>
          </a:bodyPr>
          <a:lstStyle/>
          <a:p>
            <a:r>
              <a:rPr lang="ru-RU" sz="2000" dirty="0"/>
              <a:t>Эмулированные </a:t>
            </a:r>
            <a:r>
              <a:rPr lang="ru-RU" sz="2000" dirty="0" err="1"/>
              <a:t>графовые</a:t>
            </a:r>
            <a:r>
              <a:rPr lang="ru-RU" sz="2000" dirty="0"/>
              <a:t> модели создаются поверх базовых моделей данных (обычно SQL), не оптимизированных для быстрого обхода графов. Дело в том, что у табличных баз данных основная цель -- быстрый доступ к строкам. В графовых базах данных цель -- быстрый поиск связей.</a:t>
            </a:r>
          </a:p>
          <a:p>
            <a:r>
              <a:rPr lang="ru-RU" sz="2000" dirty="0"/>
              <a:t>Специализированные (</a:t>
            </a:r>
            <a:r>
              <a:rPr lang="ru-RU" sz="2000" dirty="0" err="1"/>
              <a:t>нативные</a:t>
            </a:r>
            <a:r>
              <a:rPr lang="ru-RU" sz="2000" dirty="0"/>
              <a:t>) </a:t>
            </a:r>
            <a:r>
              <a:rPr lang="ru-RU" sz="2000" dirty="0" err="1"/>
              <a:t>графовые</a:t>
            </a:r>
            <a:r>
              <a:rPr lang="ru-RU" sz="2000" dirty="0"/>
              <a:t> модели реализуют так называемую </a:t>
            </a:r>
            <a:r>
              <a:rPr lang="ru-RU" sz="2000" dirty="0" err="1"/>
              <a:t>безиндексную</a:t>
            </a:r>
            <a:r>
              <a:rPr lang="ru-RU" sz="2000" dirty="0"/>
              <a:t> смежность. В этом случае каждый узел содержит прямые ссылки на смежные с ним узлы. Поэтому время выполнения запроса зависит не от размера всего графа, а только от размера той части, которая участвовала в поиске. </a:t>
            </a:r>
          </a:p>
          <a:p>
            <a:r>
              <a:rPr lang="ru-RU" sz="2000" dirty="0"/>
              <a:t>При переходе из любого узла к связанному с ним узлу незачем работать с другими структурами данных или индексами.</a:t>
            </a:r>
          </a:p>
          <a:p>
            <a:r>
              <a:rPr lang="ru-RU" sz="2000" dirty="0"/>
              <a:t>Кроме того, связанные узлы могут хранится рядом в памяти, что увеличивает вероятность того, что необходимые для перехода данные уже хранятся в </a:t>
            </a:r>
            <a:r>
              <a:rPr lang="ru-RU" sz="2000" dirty="0" err="1"/>
              <a:t>кеше</a:t>
            </a:r>
            <a:r>
              <a:rPr lang="ru-RU" sz="2000" dirty="0"/>
              <a:t>.</a:t>
            </a:r>
          </a:p>
          <a:p>
            <a:pPr marL="0" indent="360000">
              <a:lnSpc>
                <a:spcPct val="100000"/>
              </a:lnSpc>
              <a:buNone/>
            </a:pPr>
            <a:r>
              <a:rPr lang="ru-RU" sz="2000" dirty="0"/>
              <a:t>Что даёт безиндексная смежность? В книге </a:t>
            </a:r>
            <a:r>
              <a:rPr lang="en-US" sz="2000" dirty="0"/>
              <a:t>[</a:t>
            </a:r>
            <a:r>
              <a:rPr lang="ru-RU" sz="2000" dirty="0"/>
              <a:t>«Neo4j </a:t>
            </a:r>
            <a:r>
              <a:rPr lang="ru-RU" sz="2000" dirty="0" err="1"/>
              <a:t>in</a:t>
            </a:r>
            <a:r>
              <a:rPr lang="ru-RU" sz="2000" dirty="0"/>
              <a:t> </a:t>
            </a:r>
            <a:r>
              <a:rPr lang="ru-RU" sz="2000" dirty="0" err="1"/>
              <a:t>Action</a:t>
            </a:r>
            <a:r>
              <a:rPr lang="ru-RU" sz="2000" dirty="0"/>
              <a:t>» </a:t>
            </a:r>
            <a:r>
              <a:rPr lang="ru-RU" sz="2000" dirty="0" err="1"/>
              <a:t>Partner</a:t>
            </a:r>
            <a:r>
              <a:rPr lang="ru-RU" sz="2000" dirty="0"/>
              <a:t>, </a:t>
            </a:r>
            <a:r>
              <a:rPr lang="ru-RU" sz="2000" dirty="0" err="1"/>
              <a:t>Vukotic</a:t>
            </a:r>
            <a:r>
              <a:rPr lang="en-US" sz="2000" dirty="0"/>
              <a:t>] </a:t>
            </a:r>
            <a:r>
              <a:rPr lang="ru-RU" sz="2000" dirty="0"/>
              <a:t>приводится сравнение быстродействия Neo4j с реляционной базой данных  (в секундах).</a:t>
            </a:r>
          </a:p>
          <a:p>
            <a:pPr marL="0" indent="0">
              <a:buNone/>
            </a:pPr>
            <a:endParaRPr lang="ru-RU" sz="20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916204" y="4794737"/>
          <a:ext cx="10187209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5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9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1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1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Глубина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Время выполнения в РБД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Время выполнения в Neo4j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Возвращено записей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 0,016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~2500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/>
                        <a:t>3 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30,267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0,168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~110 000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1543,505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1,359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~600 000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Не завершено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2,132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~800 000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196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94640"/>
            <a:ext cx="10515600" cy="61247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4. Язык </a:t>
            </a:r>
            <a:r>
              <a:rPr lang="en-US" sz="3200" dirty="0">
                <a:solidFill>
                  <a:srgbClr val="FF0000"/>
                </a:solidFill>
              </a:rPr>
              <a:t>Cypher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78560"/>
            <a:ext cx="10515600" cy="4998402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/>
              <a:t>Это основной язык </a:t>
            </a:r>
            <a:r>
              <a:rPr lang="ru-RU" sz="2000" dirty="0" err="1"/>
              <a:t>графовой</a:t>
            </a:r>
            <a:r>
              <a:rPr lang="ru-RU" sz="2000" dirty="0"/>
              <a:t> СУБД </a:t>
            </a:r>
            <a:r>
              <a:rPr lang="en-US" sz="2000" dirty="0"/>
              <a:t>Neo4j</a:t>
            </a:r>
            <a:r>
              <a:rPr lang="ru-RU" sz="2000" dirty="0"/>
              <a:t>. Используется не только в ней.</a:t>
            </a:r>
          </a:p>
          <a:p>
            <a:pPr marL="0" indent="360000">
              <a:buNone/>
            </a:pPr>
            <a:r>
              <a:rPr lang="ru-RU" sz="2000" dirty="0"/>
              <a:t>Декларативность языка </a:t>
            </a:r>
            <a:r>
              <a:rPr lang="en-US" sz="2000" dirty="0"/>
              <a:t>Cypher</a:t>
            </a:r>
            <a:r>
              <a:rPr lang="ru-RU" sz="2000" dirty="0"/>
              <a:t>, как всегда,  позволяет задать свойства результата, не вдаваясь в подробности работы алгоритма.</a:t>
            </a:r>
          </a:p>
          <a:p>
            <a:pPr marL="0" indent="360000">
              <a:buNone/>
            </a:pPr>
            <a:r>
              <a:rPr lang="ru-RU" sz="2000" dirty="0"/>
              <a:t>Многие ключевые слова, такие как </a:t>
            </a:r>
            <a:r>
              <a:rPr lang="en-US" sz="2000" dirty="0"/>
              <a:t>CREATE, </a:t>
            </a:r>
            <a:r>
              <a:rPr lang="ru-RU" sz="2000" dirty="0"/>
              <a:t>WHERE, ORDER BY, </a:t>
            </a:r>
            <a:r>
              <a:rPr lang="en-US" sz="2000" dirty="0"/>
              <a:t>DELETE </a:t>
            </a:r>
            <a:r>
              <a:rPr lang="ru-RU" sz="2000" dirty="0"/>
              <a:t>заимствованы из SQL. Сопоставление с образцом перенесено из SPARQL. Часть семантики коллекций заимствована из языков </a:t>
            </a:r>
            <a:r>
              <a:rPr lang="ru-RU" sz="2000" dirty="0" err="1"/>
              <a:t>Haskell</a:t>
            </a:r>
            <a:r>
              <a:rPr lang="ru-RU" sz="2000" dirty="0"/>
              <a:t> и </a:t>
            </a:r>
            <a:r>
              <a:rPr lang="ru-RU" sz="2000" dirty="0" err="1"/>
              <a:t>Python</a:t>
            </a:r>
            <a:r>
              <a:rPr lang="ru-RU" sz="2000" dirty="0"/>
              <a:t>.</a:t>
            </a:r>
          </a:p>
          <a:p>
            <a:pPr marL="0" indent="360000">
              <a:buNone/>
            </a:pPr>
            <a:r>
              <a:rPr lang="ru-RU" sz="2000" dirty="0"/>
              <a:t>Запрос в </a:t>
            </a:r>
            <a:r>
              <a:rPr lang="en-US" sz="2000" dirty="0"/>
              <a:t>Cypher</a:t>
            </a:r>
            <a:r>
              <a:rPr lang="ru-RU" sz="2000" dirty="0"/>
              <a:t>, также как и в SQL,  составлен из нескольких фраз. Они передают промежуточные результирующие наборы данных друг другу.</a:t>
            </a:r>
          </a:p>
          <a:p>
            <a:pPr marL="0" indent="360000">
              <a:buNone/>
            </a:pPr>
            <a:r>
              <a:rPr lang="ru-RU" sz="2000" dirty="0"/>
              <a:t>Запрос может включать одну или несколько фраз MATCH, задающих часть графа соответствующую записанному шаблону. Эти фразы создают контекст, в котором работают следующие фразы, например, </a:t>
            </a:r>
            <a:r>
              <a:rPr lang="en-US" sz="2000" dirty="0"/>
              <a:t>RETURN, </a:t>
            </a:r>
            <a:r>
              <a:rPr lang="ru-RU" sz="2000" dirty="0"/>
              <a:t>возвращающая значения.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076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339633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Описания шаблонов в языке </a:t>
            </a:r>
            <a:r>
              <a:rPr lang="en-US" sz="3200" dirty="0">
                <a:solidFill>
                  <a:srgbClr val="FF0000"/>
                </a:solidFill>
              </a:rPr>
              <a:t>Cypher</a:t>
            </a:r>
            <a:r>
              <a:rPr lang="ru-RU" sz="3200" dirty="0">
                <a:solidFill>
                  <a:srgbClr val="FF0000"/>
                </a:solidFill>
              </a:rPr>
              <a:t> 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339634"/>
            <a:ext cx="10781581" cy="6388970"/>
          </a:xfrm>
        </p:spPr>
        <p:txBody>
          <a:bodyPr>
            <a:noAutofit/>
          </a:bodyPr>
          <a:lstStyle/>
          <a:p>
            <a:pPr marL="0" indent="360000">
              <a:buNone/>
            </a:pPr>
            <a:r>
              <a:rPr lang="ru-RU" sz="2000" dirty="0"/>
              <a:t>В Cypher для описания шаблонов извлекаемой из графа информации, используется синтаксис </a:t>
            </a:r>
            <a:r>
              <a:rPr lang="ru-RU" sz="2000" dirty="0" err="1"/>
              <a:t>ascii-art</a:t>
            </a:r>
            <a:r>
              <a:rPr lang="ru-RU" sz="2000" dirty="0"/>
              <a:t>. Основные компоненты</a:t>
            </a:r>
            <a:r>
              <a:rPr lang="en-US" sz="2000" dirty="0"/>
              <a:t> </a:t>
            </a:r>
            <a:r>
              <a:rPr lang="ru-RU" sz="2000" dirty="0"/>
              <a:t>шаблонов:</a:t>
            </a:r>
          </a:p>
          <a:p>
            <a:r>
              <a:rPr lang="ru-RU" sz="2000" dirty="0"/>
              <a:t>Узлы (вершины, </a:t>
            </a:r>
            <a:r>
              <a:rPr lang="en-US" sz="2000" dirty="0"/>
              <a:t>nodes</a:t>
            </a:r>
            <a:r>
              <a:rPr lang="ru-RU" sz="2000" dirty="0"/>
              <a:t>) изображают сущности (объекты), могут быть помечены одной или любым количеством меток, могут иметь одно или несколько поименованных свойств.</a:t>
            </a:r>
          </a:p>
          <a:p>
            <a:r>
              <a:rPr lang="ru-RU" sz="2000" dirty="0"/>
              <a:t>Рёбра (отношения, связи, </a:t>
            </a:r>
            <a:r>
              <a:rPr lang="en-US" sz="2000" dirty="0"/>
              <a:t>relationships</a:t>
            </a:r>
            <a:r>
              <a:rPr lang="ru-RU" sz="2000" dirty="0"/>
              <a:t>) -- имеют тип и направление, соединяют два узла</a:t>
            </a:r>
            <a:r>
              <a:rPr lang="en-US" sz="2000" dirty="0"/>
              <a:t> --</a:t>
            </a:r>
            <a:r>
              <a:rPr lang="ru-RU" sz="2000" dirty="0"/>
              <a:t> один начальный и один конечный. Также могут содержать свойства. </a:t>
            </a:r>
          </a:p>
          <a:p>
            <a:r>
              <a:rPr lang="ru-RU" sz="2000" dirty="0"/>
              <a:t>Свойства представляются парами </a:t>
            </a:r>
            <a:r>
              <a:rPr lang="en-US" sz="2000" dirty="0"/>
              <a:t>Key </a:t>
            </a:r>
            <a:r>
              <a:rPr lang="ru-RU" sz="2000" dirty="0"/>
              <a:t>:</a:t>
            </a:r>
            <a:r>
              <a:rPr lang="en-US" sz="2000" dirty="0"/>
              <a:t> Value</a:t>
            </a:r>
            <a:r>
              <a:rPr lang="ru-RU" sz="2000" dirty="0"/>
              <a:t>, где </a:t>
            </a:r>
            <a:r>
              <a:rPr lang="en-US" sz="2000" dirty="0"/>
              <a:t>Key</a:t>
            </a:r>
            <a:r>
              <a:rPr lang="ru-RU" sz="2000" dirty="0"/>
              <a:t> -- строка, а</a:t>
            </a:r>
            <a:r>
              <a:rPr lang="en-US" sz="2000" dirty="0"/>
              <a:t> Value</a:t>
            </a:r>
            <a:r>
              <a:rPr lang="ru-RU" sz="2000" dirty="0"/>
              <a:t> -- любой тип данных.</a:t>
            </a:r>
          </a:p>
          <a:p>
            <a:r>
              <a:rPr lang="ru-RU" sz="2000" dirty="0"/>
              <a:t>Метки (</a:t>
            </a:r>
            <a:r>
              <a:rPr lang="ru-RU" sz="2000" dirty="0" err="1"/>
              <a:t>labels</a:t>
            </a:r>
            <a:r>
              <a:rPr lang="ru-RU" sz="2000" dirty="0"/>
              <a:t>). Узлы, помеченные одной меткой, образуют набор. Метки упрощают создание запросов. Используются для задания ограничений и индексов.</a:t>
            </a:r>
          </a:p>
          <a:p>
            <a:pPr marL="0" indent="360000">
              <a:buNone/>
            </a:pPr>
            <a:r>
              <a:rPr lang="ru-RU" sz="2000" dirty="0"/>
              <a:t>Изобразительные средства: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r>
              <a:rPr lang="ru-RU" sz="2000" u="sng" dirty="0"/>
              <a:t>Справка</a:t>
            </a:r>
            <a:r>
              <a:rPr lang="ru-RU" sz="2000" dirty="0"/>
              <a:t>: ASCII-</a:t>
            </a:r>
            <a:r>
              <a:rPr lang="ru-RU" sz="2000" dirty="0" err="1"/>
              <a:t>art</a:t>
            </a:r>
            <a:r>
              <a:rPr lang="ru-RU" sz="2000" dirty="0"/>
              <a:t> (сокращение от ASCII-</a:t>
            </a:r>
            <a:r>
              <a:rPr lang="ru-RU" sz="2000" dirty="0" err="1"/>
              <a:t>artwork</a:t>
            </a:r>
            <a:r>
              <a:rPr lang="ru-RU" sz="2000" dirty="0"/>
              <a:t>) — это рисунки </a:t>
            </a:r>
            <a:r>
              <a:rPr lang="ru-RU" sz="2000" dirty="0" err="1"/>
              <a:t>моноширинной</a:t>
            </a:r>
            <a:r>
              <a:rPr lang="ru-RU" sz="2000" dirty="0"/>
              <a:t> псевдографикой. Используются символы </a:t>
            </a:r>
            <a:r>
              <a:rPr lang="en-US" sz="2000" dirty="0"/>
              <a:t>ASCII -- </a:t>
            </a:r>
            <a:r>
              <a:rPr lang="ru-RU" sz="2000" dirty="0"/>
              <a:t>буквы, цифры и знаки пунктуации —всего 95 символов из 128.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299472" y="3783729"/>
          <a:ext cx="9859034" cy="2421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4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9186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Узел. Сущность или объект. Изображается парой круглых скобок, внутри которых задаются тип вершины и/или значения свойств, например, (</a:t>
                      </a:r>
                      <a:r>
                        <a:rPr lang="ru-RU" dirty="0" err="1"/>
                        <a:t>a:User</a:t>
                      </a:r>
                      <a:r>
                        <a:rPr lang="ru-RU" dirty="0"/>
                        <a:t>) - вершина типа </a:t>
                      </a:r>
                      <a:r>
                        <a:rPr lang="ru-RU" dirty="0" err="1"/>
                        <a:t>User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[]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Рёбр</a:t>
                      </a:r>
                      <a:r>
                        <a:rPr lang="en-US" sz="1800" dirty="0"/>
                        <a:t>o</a:t>
                      </a:r>
                      <a:r>
                        <a:rPr lang="ru-RU" sz="1800" dirty="0"/>
                        <a:t> изображается парой квадратных скобок, внутри них могут задаваться условия,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800" dirty="0"/>
                        <a:t>Метка. Тип узла или ребра.</a:t>
                      </a:r>
                      <a:r>
                        <a:rPr lang="en-US" sz="1800" dirty="0"/>
                        <a:t> </a:t>
                      </a:r>
                      <a:r>
                        <a:rPr lang="ru-RU" sz="1800" dirty="0"/>
                        <a:t>Например, [:</a:t>
                      </a:r>
                      <a:r>
                        <a:rPr lang="en-US" sz="1800" dirty="0"/>
                        <a:t>FRIEND</a:t>
                      </a:r>
                      <a:r>
                        <a:rPr lang="ru-RU" sz="1800" dirty="0"/>
                        <a:t>] - связь типа </a:t>
                      </a:r>
                      <a:r>
                        <a:rPr lang="en-US" sz="1800" dirty="0"/>
                        <a:t>FRIEND</a:t>
                      </a:r>
                      <a:r>
                        <a:rPr lang="ru-RU" sz="1800" dirty="0"/>
                        <a:t>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&lt;</a:t>
                      </a:r>
                      <a:r>
                        <a:rPr lang="en-US" b="1" baseline="0" dirty="0"/>
                        <a:t> &gt;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Направление связи. Например, </a:t>
                      </a: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()-[]-&gt;().  Если можно</a:t>
                      </a:r>
                      <a:r>
                        <a:rPr lang="ru-RU" sz="18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не указывать ограничения на связи, опускаются прямые скобки и знаки направления () - -().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{}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Свойство узла или ребра. Например,</a:t>
                      </a:r>
                      <a:r>
                        <a:rPr lang="en-US" sz="1800" dirty="0"/>
                        <a:t> (mike{</a:t>
                      </a:r>
                      <a:r>
                        <a:rPr lang="en-US" sz="1800" dirty="0" err="1"/>
                        <a:t>name:’Mike</a:t>
                      </a:r>
                      <a:r>
                        <a:rPr lang="en-US" sz="1800" dirty="0"/>
                        <a:t>’})</a:t>
                      </a:r>
                      <a:r>
                        <a:rPr lang="ru-RU" sz="1800" dirty="0"/>
                        <a:t>.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26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1758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Шаблоны фильтрации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1551" y="517584"/>
            <a:ext cx="10515600" cy="5823255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/>
              <a:t>Обозначение () определяет любой узел. Если необходимо обратиться к конкретному узлу, записываем в него переменную, например, </a:t>
            </a:r>
            <a:r>
              <a:rPr lang="en-US" sz="2000" dirty="0"/>
              <a:t> (p)</a:t>
            </a:r>
            <a:r>
              <a:rPr lang="ru-RU" sz="2000" dirty="0"/>
              <a:t>. Несколько узлов можно пометить, записав метку после двоеточия. Например, </a:t>
            </a:r>
            <a:r>
              <a:rPr lang="en-US" sz="2000" dirty="0"/>
              <a:t>(p: Person).</a:t>
            </a:r>
            <a:endParaRPr lang="ru-RU" sz="2000" dirty="0"/>
          </a:p>
          <a:p>
            <a:pPr marL="0" indent="360000">
              <a:buNone/>
            </a:pPr>
            <a:r>
              <a:rPr lang="ru-RU" sz="2000" dirty="0"/>
              <a:t>У рёбер, представляющих отношения, также могут задаваться имена и типы, например,</a:t>
            </a:r>
          </a:p>
          <a:p>
            <a:pPr marL="0" indent="0">
              <a:buNone/>
            </a:pPr>
            <a:r>
              <a:rPr lang="en-US" sz="2000" dirty="0"/>
              <a:t>-[</a:t>
            </a:r>
            <a:r>
              <a:rPr lang="en-US" sz="2000" dirty="0" err="1"/>
              <a:t>rel</a:t>
            </a:r>
            <a:r>
              <a:rPr lang="ru-RU" sz="2000" dirty="0"/>
              <a:t>1</a:t>
            </a:r>
            <a:r>
              <a:rPr lang="en-US" sz="2000" dirty="0"/>
              <a:t>:KNOWS]-&gt;</a:t>
            </a:r>
            <a:r>
              <a:rPr lang="ru-RU" sz="2000" dirty="0"/>
              <a:t>.  При этом типов может быть несколько, например, </a:t>
            </a:r>
            <a:r>
              <a:rPr lang="en-US" sz="2000" dirty="0"/>
              <a:t>-[:KNOWS|:LIKE]-&gt;</a:t>
            </a:r>
            <a:r>
              <a:rPr lang="ru-RU" sz="2000" dirty="0"/>
              <a:t>.</a:t>
            </a:r>
          </a:p>
          <a:p>
            <a:pPr marL="0" indent="360000">
              <a:buNone/>
            </a:pPr>
            <a:r>
              <a:rPr lang="ru-RU" sz="2000" dirty="0"/>
              <a:t>Двунаправленные отношения представляются парой однонаправленных.</a:t>
            </a:r>
          </a:p>
          <a:p>
            <a:pPr marL="0" indent="360000">
              <a:buNone/>
            </a:pPr>
            <a:r>
              <a:rPr lang="ru-RU" sz="2000" dirty="0"/>
              <a:t>Для извлечения данных из хранилища используется запрос, содержащий шаблон фильтрации, позволяющий получать:</a:t>
            </a:r>
          </a:p>
          <a:p>
            <a:r>
              <a:rPr lang="ru-RU" sz="2000" dirty="0"/>
              <a:t>(n)—&gt;(m) — все направленные ребра из вершины n в вершину m;</a:t>
            </a:r>
          </a:p>
          <a:p>
            <a:r>
              <a:rPr lang="ru-RU" sz="2000" dirty="0"/>
              <a:t>(n)—(m) — все ненаправленные ребра между вершинами n и m;</a:t>
            </a:r>
          </a:p>
          <a:p>
            <a:r>
              <a:rPr lang="ru-RU" sz="2000" dirty="0"/>
              <a:t>(</a:t>
            </a:r>
            <a:r>
              <a:rPr lang="ru-RU" sz="2000" dirty="0" err="1"/>
              <a:t>n:Person</a:t>
            </a:r>
            <a:r>
              <a:rPr lang="ru-RU" sz="2000" dirty="0"/>
              <a:t>) — все вершины с меткой </a:t>
            </a:r>
            <a:r>
              <a:rPr lang="ru-RU" sz="2000" dirty="0" err="1"/>
              <a:t>Person</a:t>
            </a:r>
            <a:r>
              <a:rPr lang="ru-RU" sz="2000" dirty="0"/>
              <a:t>;</a:t>
            </a:r>
          </a:p>
          <a:p>
            <a:r>
              <a:rPr lang="ru-RU" sz="2000" dirty="0"/>
              <a:t>(</a:t>
            </a:r>
            <a:r>
              <a:rPr lang="ru-RU" sz="2000" dirty="0" err="1"/>
              <a:t>n:Person:Russian</a:t>
            </a:r>
            <a:r>
              <a:rPr lang="ru-RU" sz="2000" dirty="0"/>
              <a:t>) — все вершины, имеющие обе метки </a:t>
            </a:r>
            <a:r>
              <a:rPr lang="ru-RU" sz="2000" dirty="0" err="1"/>
              <a:t>Person</a:t>
            </a:r>
            <a:r>
              <a:rPr lang="ru-RU" sz="2000" dirty="0"/>
              <a:t> и </a:t>
            </a:r>
            <a:r>
              <a:rPr lang="ru-RU" sz="2000" dirty="0" err="1"/>
              <a:t>Russian</a:t>
            </a:r>
            <a:r>
              <a:rPr lang="ru-RU" sz="2000" dirty="0"/>
              <a:t>;</a:t>
            </a:r>
          </a:p>
          <a:p>
            <a:r>
              <a:rPr lang="ru-RU" sz="2000" dirty="0"/>
              <a:t>(</a:t>
            </a:r>
            <a:r>
              <a:rPr lang="ru-RU" sz="2000" dirty="0" err="1"/>
              <a:t>n:Person</a:t>
            </a:r>
            <a:r>
              <a:rPr lang="ru-RU" sz="2000" dirty="0"/>
              <a:t> {</a:t>
            </a:r>
            <a:r>
              <a:rPr lang="ru-RU" sz="2000" dirty="0" err="1"/>
              <a:t>name</a:t>
            </a:r>
            <a:r>
              <a:rPr lang="ru-RU" sz="2000" dirty="0"/>
              <a:t>:{</a:t>
            </a:r>
            <a:r>
              <a:rPr lang="ru-RU" sz="2000" dirty="0" err="1"/>
              <a:t>value</a:t>
            </a:r>
            <a:r>
              <a:rPr lang="ru-RU" sz="2000" dirty="0"/>
              <a:t>}}) — все вершины с меткой </a:t>
            </a:r>
            <a:r>
              <a:rPr lang="ru-RU" sz="2000" dirty="0" err="1"/>
              <a:t>Person</a:t>
            </a:r>
            <a:r>
              <a:rPr lang="ru-RU" sz="2000" dirty="0"/>
              <a:t> и отфильтрованные по дополнительному свойству;</a:t>
            </a:r>
          </a:p>
          <a:p>
            <a:r>
              <a:rPr lang="ru-RU" sz="2000" dirty="0"/>
              <a:t>(</a:t>
            </a:r>
            <a:r>
              <a:rPr lang="ru-RU" sz="2000" dirty="0" err="1"/>
              <a:t>n:Person</a:t>
            </a:r>
            <a:r>
              <a:rPr lang="ru-RU" sz="2000" dirty="0"/>
              <a:t>)—&gt;(m) — ребра между вершинами n с меткой </a:t>
            </a:r>
            <a:r>
              <a:rPr lang="ru-RU" sz="2000" dirty="0" err="1"/>
              <a:t>Person</a:t>
            </a:r>
            <a:r>
              <a:rPr lang="ru-RU" sz="2000" dirty="0"/>
              <a:t> и вершиной m;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31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50416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Разбираемся с сервером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50417"/>
            <a:ext cx="10515600" cy="5626546"/>
          </a:xfrm>
        </p:spPr>
        <p:txBody>
          <a:bodyPr>
            <a:normAutofit/>
          </a:bodyPr>
          <a:lstStyle/>
          <a:p>
            <a:r>
              <a:rPr lang="ru-RU" sz="2000" dirty="0"/>
              <a:t>Будем считать, что СУБД инсталлирована, создана база данных (на рисунке </a:t>
            </a:r>
            <a:r>
              <a:rPr lang="en-US" sz="2000" dirty="0"/>
              <a:t>GDB1)</a:t>
            </a:r>
            <a:r>
              <a:rPr lang="ru-RU" sz="2000" dirty="0"/>
              <a:t>, сервер запущен нажатием на кнопку </a:t>
            </a:r>
            <a:r>
              <a:rPr lang="en-US" sz="2000" dirty="0"/>
              <a:t>Start, </a:t>
            </a:r>
            <a:r>
              <a:rPr lang="ru-RU" sz="2000" dirty="0"/>
              <a:t>а затем база открыта (кнопкой </a:t>
            </a:r>
            <a:r>
              <a:rPr lang="en-US" sz="2000" dirty="0"/>
              <a:t>Open).</a:t>
            </a:r>
            <a:r>
              <a:rPr lang="ru-RU" sz="2000" dirty="0"/>
              <a:t> </a:t>
            </a:r>
          </a:p>
          <a:p>
            <a:pPr marL="0" indent="0">
              <a:buNone/>
            </a:pPr>
            <a:endParaRPr lang="ru-RU" sz="2000" dirty="0"/>
          </a:p>
          <a:p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864" y="1158631"/>
            <a:ext cx="8494701" cy="5568748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618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31256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Работаем в браузере </a:t>
            </a:r>
            <a:r>
              <a:rPr lang="en-US" sz="3200" dirty="0">
                <a:solidFill>
                  <a:srgbClr val="FF0000"/>
                </a:solidFill>
              </a:rPr>
              <a:t>neo4j</a:t>
            </a:r>
            <a:r>
              <a:rPr lang="ru-RU" sz="3200" dirty="0">
                <a:solidFill>
                  <a:srgbClr val="FF0000"/>
                </a:solidFill>
              </a:rPr>
              <a:t>. Первый 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316" y="461637"/>
            <a:ext cx="10515600" cy="6396363"/>
          </a:xfrm>
          <a:ln w="12700">
            <a:solidFill>
              <a:schemeClr val="accent1">
                <a:shade val="50000"/>
              </a:schemeClr>
            </a:solidFill>
          </a:ln>
        </p:spPr>
        <p:txBody>
          <a:bodyPr>
            <a:normAutofit fontScale="85000" lnSpcReduction="20000"/>
          </a:bodyPr>
          <a:lstStyle/>
          <a:p>
            <a:pPr marL="0" indent="360000">
              <a:lnSpc>
                <a:spcPct val="100000"/>
              </a:lnSpc>
              <a:buNone/>
            </a:pPr>
            <a:endParaRPr lang="en-US" sz="2400" dirty="0"/>
          </a:p>
          <a:p>
            <a:pPr marL="0" indent="360000">
              <a:lnSpc>
                <a:spcPct val="100000"/>
              </a:lnSpc>
              <a:buNone/>
            </a:pPr>
            <a:endParaRPr lang="en-US" sz="2400" dirty="0"/>
          </a:p>
          <a:p>
            <a:pPr marL="0" indent="360000">
              <a:lnSpc>
                <a:spcPct val="100000"/>
              </a:lnSpc>
              <a:buNone/>
            </a:pPr>
            <a:endParaRPr lang="en-US" sz="2400" dirty="0"/>
          </a:p>
          <a:p>
            <a:pPr marL="0" indent="360000">
              <a:lnSpc>
                <a:spcPct val="100000"/>
              </a:lnSpc>
              <a:buNone/>
            </a:pPr>
            <a:endParaRPr lang="en-US" sz="2400" dirty="0"/>
          </a:p>
          <a:p>
            <a:pPr marL="0" indent="360000">
              <a:lnSpc>
                <a:spcPct val="100000"/>
              </a:lnSpc>
              <a:buNone/>
            </a:pPr>
            <a:endParaRPr lang="en-US" sz="2400" dirty="0"/>
          </a:p>
          <a:p>
            <a:pPr marL="0" indent="360000">
              <a:lnSpc>
                <a:spcPct val="100000"/>
              </a:lnSpc>
              <a:buNone/>
            </a:pPr>
            <a:endParaRPr lang="en-US" sz="2400" dirty="0"/>
          </a:p>
          <a:p>
            <a:pPr marL="0" indent="360000">
              <a:lnSpc>
                <a:spcPct val="100000"/>
              </a:lnSpc>
              <a:buNone/>
            </a:pPr>
            <a:endParaRPr lang="en-US" sz="2400" dirty="0"/>
          </a:p>
          <a:p>
            <a:pPr marL="0" indent="360000">
              <a:lnSpc>
                <a:spcPct val="100000"/>
              </a:lnSpc>
              <a:buNone/>
            </a:pPr>
            <a:endParaRPr lang="en-US" sz="2400" dirty="0"/>
          </a:p>
          <a:p>
            <a:pPr marL="0" indent="360000">
              <a:lnSpc>
                <a:spcPct val="100000"/>
              </a:lnSpc>
              <a:buNone/>
            </a:pPr>
            <a:endParaRPr lang="en-US" sz="2400" dirty="0"/>
          </a:p>
          <a:p>
            <a:pPr marL="0" indent="360000">
              <a:buNone/>
            </a:pPr>
            <a:r>
              <a:rPr lang="ru-RU" sz="2400" dirty="0"/>
              <a:t>И</a:t>
            </a:r>
            <a:r>
              <a:rPr lang="en-US" sz="2400" dirty="0"/>
              <a:t>,</a:t>
            </a:r>
            <a:r>
              <a:rPr lang="ru-RU" sz="2400" dirty="0"/>
              <a:t> как всегда</a:t>
            </a:r>
            <a:r>
              <a:rPr lang="en-US" sz="2400" dirty="0"/>
              <a:t>,</a:t>
            </a:r>
            <a:r>
              <a:rPr lang="ru-RU" sz="2400" dirty="0"/>
              <a:t> первая фраза</a:t>
            </a:r>
            <a:r>
              <a:rPr lang="en-US" sz="2400"/>
              <a:t> Sypher,</a:t>
            </a:r>
            <a:r>
              <a:rPr lang="ru-RU" sz="2400" dirty="0"/>
              <a:t> пока что не очень понятная:</a:t>
            </a:r>
          </a:p>
          <a:p>
            <a:pPr marL="0" indent="0">
              <a:buNone/>
            </a:pPr>
            <a:r>
              <a:rPr lang="ru-RU" sz="2400" dirty="0"/>
              <a:t>// </a:t>
            </a:r>
            <a:r>
              <a:rPr lang="en-US" sz="2400" dirty="0"/>
              <a:t>Hello World!</a:t>
            </a:r>
          </a:p>
          <a:p>
            <a:pPr marL="0" indent="0">
              <a:buNone/>
            </a:pPr>
            <a:r>
              <a:rPr lang="en-US" sz="2400" dirty="0"/>
              <a:t>CREATE (</a:t>
            </a:r>
            <a:r>
              <a:rPr lang="en-US" sz="2400" dirty="0" err="1"/>
              <a:t>database:Database</a:t>
            </a:r>
            <a:r>
              <a:rPr lang="en-US" sz="2400" dirty="0"/>
              <a:t> {name:</a:t>
            </a:r>
            <a:r>
              <a:rPr lang="ru-RU" sz="2400" dirty="0"/>
              <a:t> </a:t>
            </a:r>
            <a:r>
              <a:rPr lang="en-US" sz="1800" spc="-25" dirty="0">
                <a:solidFill>
                  <a:srgbClr val="29292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'</a:t>
            </a:r>
            <a:r>
              <a:rPr lang="en-US" sz="2400" dirty="0"/>
              <a:t>Neo4j</a:t>
            </a:r>
            <a:r>
              <a:rPr lang="en-US" sz="1800" spc="-25" dirty="0">
                <a:solidFill>
                  <a:srgbClr val="29292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'</a:t>
            </a:r>
            <a:r>
              <a:rPr lang="en-US" sz="2400" dirty="0"/>
              <a:t>})-[</a:t>
            </a:r>
            <a:r>
              <a:rPr lang="en-US" sz="2400" dirty="0" err="1"/>
              <a:t>r:SAYS</a:t>
            </a:r>
            <a:r>
              <a:rPr lang="en-US" sz="2400" dirty="0"/>
              <a:t>]-&gt;(</a:t>
            </a:r>
            <a:r>
              <a:rPr lang="en-US" sz="2400" dirty="0" err="1"/>
              <a:t>massage:Massage</a:t>
            </a:r>
            <a:r>
              <a:rPr lang="en-US" sz="2400" dirty="0"/>
              <a:t> {name:</a:t>
            </a:r>
            <a:r>
              <a:rPr lang="en-US" sz="1800" spc="-25" dirty="0">
                <a:solidFill>
                  <a:srgbClr val="29292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'</a:t>
            </a:r>
            <a:r>
              <a:rPr lang="en-US" sz="2400" dirty="0"/>
              <a:t>Hello World!</a:t>
            </a:r>
            <a:r>
              <a:rPr lang="en-US" sz="1800" spc="-25" dirty="0">
                <a:solidFill>
                  <a:srgbClr val="29292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'</a:t>
            </a:r>
            <a:r>
              <a:rPr lang="en-US" sz="2400" dirty="0"/>
              <a:t>})</a:t>
            </a:r>
          </a:p>
          <a:p>
            <a:pPr marL="0" indent="0">
              <a:buNone/>
            </a:pPr>
            <a:r>
              <a:rPr lang="en-US" sz="2400" dirty="0"/>
              <a:t>RETURN database, massage, r</a:t>
            </a:r>
            <a:endParaRPr lang="ru-RU" sz="2400" dirty="0"/>
          </a:p>
          <a:p>
            <a:pPr marL="0" indent="360000">
              <a:buNone/>
            </a:pPr>
            <a:r>
              <a:rPr lang="ru-RU" sz="2400" dirty="0"/>
              <a:t>Выполняем скрипт в браузере </a:t>
            </a:r>
            <a:r>
              <a:rPr lang="en-US" sz="2400" dirty="0"/>
              <a:t>Neo4j.~`</a:t>
            </a:r>
            <a:endParaRPr lang="ru-RU" sz="2400" dirty="0"/>
          </a:p>
          <a:p>
            <a:pPr marL="0" indent="360000">
              <a:buNone/>
            </a:pPr>
            <a:endParaRPr lang="en-US" sz="1200" dirty="0"/>
          </a:p>
          <a:p>
            <a:pPr marL="0" indent="360000">
              <a:buNone/>
            </a:pPr>
            <a:r>
              <a:rPr lang="en-US" sz="2400" dirty="0"/>
              <a:t>CREATE </a:t>
            </a:r>
            <a:r>
              <a:rPr lang="ru-RU" sz="2400" dirty="0"/>
              <a:t>создаёт узел с меткой </a:t>
            </a:r>
            <a:r>
              <a:rPr lang="en-US" sz="2400" dirty="0"/>
              <a:t>d</a:t>
            </a:r>
            <a:r>
              <a:rPr lang="ru-RU" sz="2400" dirty="0" err="1"/>
              <a:t>atabase</a:t>
            </a:r>
            <a:r>
              <a:rPr lang="ru-RU" sz="2400" dirty="0"/>
              <a:t> и свойством </a:t>
            </a:r>
            <a:r>
              <a:rPr lang="ru-RU" sz="2400" dirty="0" err="1"/>
              <a:t>name</a:t>
            </a:r>
            <a:r>
              <a:rPr lang="ru-RU" sz="2400" dirty="0"/>
              <a:t> имеющим значение Neo4j. Он присоединяется с помощью ребра с меткой SAYS к узлу с меткой </a:t>
            </a:r>
            <a:r>
              <a:rPr lang="en-US" sz="2400" dirty="0" err="1"/>
              <a:t>m</a:t>
            </a:r>
            <a:r>
              <a:rPr lang="ru-RU" sz="2400" dirty="0" err="1"/>
              <a:t>essage</a:t>
            </a:r>
            <a:r>
              <a:rPr lang="ru-RU" sz="2400" dirty="0"/>
              <a:t> имеющему свойство  </a:t>
            </a:r>
            <a:r>
              <a:rPr lang="ru-RU" sz="2400" dirty="0" err="1"/>
              <a:t>name</a:t>
            </a:r>
            <a:r>
              <a:rPr lang="ru-RU" sz="2400" dirty="0"/>
              <a:t> со значением </a:t>
            </a:r>
            <a:r>
              <a:rPr lang="ru-RU" sz="2400" dirty="0" err="1"/>
              <a:t>Hello</a:t>
            </a:r>
            <a:r>
              <a:rPr lang="ru-RU" sz="2400" dirty="0"/>
              <a:t> </a:t>
            </a:r>
            <a:r>
              <a:rPr lang="ru-RU" sz="2400" dirty="0" err="1"/>
              <a:t>World</a:t>
            </a:r>
            <a:r>
              <a:rPr lang="ru-RU" sz="2400" dirty="0"/>
              <a:t>.</a:t>
            </a:r>
            <a:r>
              <a:rPr lang="en-US" sz="2400" dirty="0"/>
              <a:t> </a:t>
            </a:r>
            <a:r>
              <a:rPr lang="ru-RU" sz="2400" dirty="0"/>
              <a:t>Возвращаются переменные узлов </a:t>
            </a:r>
            <a:r>
              <a:rPr lang="en-US" sz="2400" dirty="0"/>
              <a:t>database</a:t>
            </a:r>
            <a:r>
              <a:rPr lang="ru-RU" sz="2400" dirty="0"/>
              <a:t>, </a:t>
            </a:r>
            <a:r>
              <a:rPr lang="en-US" sz="2400" dirty="0"/>
              <a:t>massage</a:t>
            </a:r>
            <a:r>
              <a:rPr lang="ru-RU" sz="2400" dirty="0"/>
              <a:t> и отношения </a:t>
            </a:r>
            <a:r>
              <a:rPr lang="en-US" sz="2400" dirty="0"/>
              <a:t>r.</a:t>
            </a:r>
            <a:endParaRPr lang="ru-RU" sz="2400" dirty="0"/>
          </a:p>
          <a:p>
            <a:pPr marL="0" indent="360000">
              <a:lnSpc>
                <a:spcPct val="100000"/>
              </a:lnSpc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931" y="531257"/>
            <a:ext cx="8264370" cy="3000795"/>
          </a:xfrm>
          <a:prstGeom prst="rect">
            <a:avLst/>
          </a:prstGeom>
        </p:spPr>
      </p:pic>
      <p:sp>
        <p:nvSpPr>
          <p:cNvPr id="5" name="Скругленная прямоугольная выноска 4"/>
          <p:cNvSpPr/>
          <p:nvPr/>
        </p:nvSpPr>
        <p:spPr>
          <a:xfrm>
            <a:off x="5380606" y="1055740"/>
            <a:ext cx="2163193" cy="816679"/>
          </a:xfrm>
          <a:prstGeom prst="wedgeRoundRectCallout">
            <a:avLst>
              <a:gd name="adj1" fmla="val -122193"/>
              <a:gd name="adj2" fmla="val 7026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Строка редактора. Сюда записывается 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текст команды</a:t>
            </a:r>
          </a:p>
        </p:txBody>
      </p:sp>
      <p:sp>
        <p:nvSpPr>
          <p:cNvPr id="6" name="Скругленная прямоугольная выноска 5"/>
          <p:cNvSpPr/>
          <p:nvPr/>
        </p:nvSpPr>
        <p:spPr>
          <a:xfrm>
            <a:off x="4171025" y="2182571"/>
            <a:ext cx="3068714" cy="568169"/>
          </a:xfrm>
          <a:prstGeom prst="wedgeRoundRectCallout">
            <a:avLst>
              <a:gd name="adj1" fmla="val -62178"/>
              <a:gd name="adj2" fmla="val 1978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Копия последней исполненной команды</a:t>
            </a:r>
          </a:p>
        </p:txBody>
      </p:sp>
      <p:sp>
        <p:nvSpPr>
          <p:cNvPr id="7" name="Скругленная прямоугольная выноска 6"/>
          <p:cNvSpPr/>
          <p:nvPr/>
        </p:nvSpPr>
        <p:spPr>
          <a:xfrm>
            <a:off x="8076873" y="1207363"/>
            <a:ext cx="1555353" cy="377537"/>
          </a:xfrm>
          <a:prstGeom prst="wedgeRoundRectCallout">
            <a:avLst>
              <a:gd name="adj1" fmla="val 67678"/>
              <a:gd name="adj2" fmla="val 14854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>
                <a:solidFill>
                  <a:schemeClr val="tx1"/>
                </a:solidFill>
              </a:rPr>
              <a:t>Исполнить</a:t>
            </a:r>
            <a:r>
              <a:rPr lang="ru-RU" dirty="0" err="1"/>
              <a:t>ь</a:t>
            </a:r>
            <a:endParaRPr lang="ru-RU" dirty="0"/>
          </a:p>
        </p:txBody>
      </p:sp>
      <p:sp>
        <p:nvSpPr>
          <p:cNvPr id="8" name="Скругленная прямоугольная выноска 7"/>
          <p:cNvSpPr/>
          <p:nvPr/>
        </p:nvSpPr>
        <p:spPr>
          <a:xfrm>
            <a:off x="7509953" y="2300016"/>
            <a:ext cx="1710801" cy="392015"/>
          </a:xfrm>
          <a:prstGeom prst="wedgeRoundRectCallout">
            <a:avLst>
              <a:gd name="adj1" fmla="val 59912"/>
              <a:gd name="adj2" fmla="val -9084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Очистить окно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699404" y="4366894"/>
            <a:ext cx="3854020" cy="394233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638577" y="4428313"/>
            <a:ext cx="4431944" cy="394233"/>
          </a:xfrm>
          <a:prstGeom prst="roundRect">
            <a:avLst/>
          </a:prstGeom>
          <a:solidFill>
            <a:schemeClr val="bg1">
              <a:lumMod val="95000"/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ая прямоугольная выноска 10"/>
          <p:cNvSpPr/>
          <p:nvPr/>
        </p:nvSpPr>
        <p:spPr>
          <a:xfrm>
            <a:off x="7972699" y="4150622"/>
            <a:ext cx="785308" cy="181979"/>
          </a:xfrm>
          <a:prstGeom prst="wedgeRoundRectCallout">
            <a:avLst>
              <a:gd name="adj1" fmla="val -13984"/>
              <a:gd name="adj2" fmla="val 9205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узел</a:t>
            </a:r>
          </a:p>
        </p:txBody>
      </p:sp>
      <p:sp>
        <p:nvSpPr>
          <p:cNvPr id="12" name="Скругленная прямоугольная выноска 11"/>
          <p:cNvSpPr/>
          <p:nvPr/>
        </p:nvSpPr>
        <p:spPr>
          <a:xfrm>
            <a:off x="3046207" y="4150623"/>
            <a:ext cx="785308" cy="181979"/>
          </a:xfrm>
          <a:prstGeom prst="wedgeRoundRectCallout">
            <a:avLst>
              <a:gd name="adj1" fmla="val -9874"/>
              <a:gd name="adj2" fmla="val 97969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узел</a:t>
            </a:r>
          </a:p>
        </p:txBody>
      </p:sp>
      <p:sp>
        <p:nvSpPr>
          <p:cNvPr id="13" name="Скругленная прямоугольная выноска 12"/>
          <p:cNvSpPr/>
          <p:nvPr/>
        </p:nvSpPr>
        <p:spPr>
          <a:xfrm>
            <a:off x="5593976" y="4873214"/>
            <a:ext cx="925158" cy="215153"/>
          </a:xfrm>
          <a:prstGeom prst="wedgeRoundRectCallout">
            <a:avLst>
              <a:gd name="adj1" fmla="val -27976"/>
              <a:gd name="adj2" fmla="val -10271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ребро</a:t>
            </a: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13</a:t>
            </a:fld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47" y="5455697"/>
            <a:ext cx="8075401" cy="18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74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8892" y="0"/>
            <a:ext cx="7341092" cy="56586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Смотрим результат предыдущей команды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311" y="477947"/>
            <a:ext cx="8077809" cy="304736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95311" y="3597781"/>
            <a:ext cx="1361270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Или графом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50115" y="70813"/>
            <a:ext cx="97154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тексте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18" y="3951755"/>
            <a:ext cx="4618142" cy="290624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987527" y="3696290"/>
            <a:ext cx="159569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 </a:t>
            </a:r>
            <a:r>
              <a:rPr lang="ru-RU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ещё текстом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438" y="4109477"/>
            <a:ext cx="5448300" cy="259080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246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76250" y="1164566"/>
            <a:ext cx="3296728" cy="83635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Пользуемся подсказкой (</a:t>
            </a:r>
            <a:r>
              <a:rPr lang="en-US" sz="3200" dirty="0">
                <a:solidFill>
                  <a:srgbClr val="FF0000"/>
                </a:solidFill>
              </a:rPr>
              <a:t>Help</a:t>
            </a:r>
            <a:r>
              <a:rPr lang="ru-RU" sz="3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1963" y="4560745"/>
            <a:ext cx="3138577" cy="22972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Начните с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:help commands</a:t>
            </a:r>
          </a:p>
          <a:p>
            <a:pPr marL="0" indent="0">
              <a:buNone/>
            </a:pPr>
            <a:r>
              <a:rPr lang="ru-RU" sz="2000" dirty="0"/>
              <a:t>Затем</a:t>
            </a:r>
          </a:p>
          <a:p>
            <a:pPr marL="0" indent="0">
              <a:buNone/>
            </a:pPr>
            <a:r>
              <a:rPr lang="en-US" sz="2000" dirty="0"/>
              <a:t>:help keys</a:t>
            </a:r>
          </a:p>
          <a:p>
            <a:pPr marL="0" indent="0">
              <a:buNone/>
            </a:pPr>
            <a:r>
              <a:rPr lang="en-US" sz="2000" dirty="0"/>
              <a:t>:help cypher</a:t>
            </a:r>
            <a:r>
              <a:rPr lang="ru-RU" sz="2000" dirty="0"/>
              <a:t> 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3901" y="-103134"/>
            <a:ext cx="7927676" cy="446033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404" y="3855959"/>
            <a:ext cx="7751112" cy="3002041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331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89123" y="1"/>
            <a:ext cx="6566171" cy="583659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3200" dirty="0">
                <a:solidFill>
                  <a:srgbClr val="FF0000"/>
                </a:solidFill>
              </a:rPr>
            </a:br>
            <a:r>
              <a:rPr lang="ru-RU" sz="3600" dirty="0">
                <a:solidFill>
                  <a:srgbClr val="FF0000"/>
                </a:solidFill>
              </a:rPr>
              <a:t>Консоль</a:t>
            </a:r>
            <a:br>
              <a:rPr lang="ru-RU" sz="3600" dirty="0">
                <a:solidFill>
                  <a:srgbClr val="FF0000"/>
                </a:solidFill>
              </a:rPr>
            </a:br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8047" y="65124"/>
            <a:ext cx="5144311" cy="408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Вызов консоли </a:t>
            </a:r>
            <a:r>
              <a:rPr lang="en-US" sz="2000" dirty="0">
                <a:hlinkClick r:id="rId2"/>
              </a:rPr>
              <a:t>http://console.neo4j.org/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706" y="538807"/>
            <a:ext cx="10228567" cy="553444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44102" y="6115951"/>
            <a:ext cx="69423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Имеются подсказки (кнопка </a:t>
            </a:r>
            <a:r>
              <a:rPr lang="ru-RU" dirty="0" err="1"/>
              <a:t>Help</a:t>
            </a:r>
            <a:r>
              <a:rPr lang="ru-RU" dirty="0"/>
              <a:t>).</a:t>
            </a:r>
          </a:p>
          <a:p>
            <a:r>
              <a:rPr lang="ru-RU" dirty="0"/>
              <a:t>В нижней части экрана расположена строка редактора запросов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374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6826" y="1"/>
            <a:ext cx="10515600" cy="741872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Язык </a:t>
            </a:r>
            <a:r>
              <a:rPr lang="en-US" sz="3200" dirty="0">
                <a:solidFill>
                  <a:srgbClr val="FF0000"/>
                </a:solidFill>
              </a:rPr>
              <a:t>Cypher</a:t>
            </a:r>
            <a:r>
              <a:rPr lang="ru-RU" sz="3200" dirty="0">
                <a:solidFill>
                  <a:srgbClr val="FF0000"/>
                </a:solidFill>
              </a:rPr>
              <a:t>. Типы данных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1130062" y="1127216"/>
          <a:ext cx="9204384" cy="4024945"/>
        </p:xfrm>
        <a:graphic>
          <a:graphicData uri="http://schemas.openxmlformats.org/drawingml/2006/table">
            <a:tbl>
              <a:tblPr/>
              <a:tblGrid>
                <a:gridCol w="2708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5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678">
                <a:tc>
                  <a:txBody>
                    <a:bodyPr/>
                    <a:lstStyle/>
                    <a:p>
                      <a:pPr algn="ctr" fontAlgn="t"/>
                      <a:r>
                        <a:rPr lang="ru-RU" sz="2000" dirty="0">
                          <a:effectLst/>
                        </a:rPr>
                        <a:t>Тип данных </a:t>
                      </a:r>
                      <a:r>
                        <a:rPr lang="en-US" sz="2000" dirty="0">
                          <a:effectLst/>
                        </a:rPr>
                        <a:t>CQL</a:t>
                      </a: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000" dirty="0">
                          <a:effectLst/>
                        </a:rPr>
                        <a:t>Использование</a:t>
                      </a:r>
                      <a:endParaRPr lang="en-US" sz="2000" dirty="0">
                        <a:effectLst/>
                      </a:endParaRP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03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Boolean</a:t>
                      </a: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Представляет булевы литералы</a:t>
                      </a:r>
                      <a:r>
                        <a:rPr lang="en-US" sz="2000" dirty="0">
                          <a:effectLst/>
                        </a:rPr>
                        <a:t>: true, false</a:t>
                      </a: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04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byte</a:t>
                      </a: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Представляет </a:t>
                      </a:r>
                      <a:r>
                        <a:rPr lang="en-US" sz="2000" dirty="0">
                          <a:effectLst/>
                        </a:rPr>
                        <a:t>8-bit </a:t>
                      </a:r>
                      <a:r>
                        <a:rPr lang="ru-RU" sz="2000" dirty="0">
                          <a:effectLst/>
                        </a:rPr>
                        <a:t>целые</a:t>
                      </a:r>
                      <a:endParaRPr lang="en-US" sz="2000" dirty="0">
                        <a:effectLst/>
                      </a:endParaRP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224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short</a:t>
                      </a: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Представляет </a:t>
                      </a:r>
                      <a:r>
                        <a:rPr lang="en-US" sz="2000" dirty="0">
                          <a:effectLst/>
                        </a:rPr>
                        <a:t>16-bit </a:t>
                      </a:r>
                      <a:r>
                        <a:rPr lang="ru-RU" sz="2000" dirty="0">
                          <a:effectLst/>
                        </a:rPr>
                        <a:t>целые</a:t>
                      </a:r>
                      <a:endParaRPr lang="en-US" sz="2000" dirty="0">
                        <a:effectLst/>
                      </a:endParaRP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224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effectLst/>
                        </a:rPr>
                        <a:t>int</a:t>
                      </a:r>
                      <a:endParaRPr lang="en-US" sz="2000" dirty="0">
                        <a:effectLst/>
                      </a:endParaRP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Представляет </a:t>
                      </a:r>
                      <a:r>
                        <a:rPr lang="en-US" sz="2000" dirty="0">
                          <a:effectLst/>
                        </a:rPr>
                        <a:t>32-bit </a:t>
                      </a:r>
                      <a:r>
                        <a:rPr lang="ru-RU" sz="2000" dirty="0">
                          <a:effectLst/>
                        </a:rPr>
                        <a:t>целые</a:t>
                      </a:r>
                      <a:endParaRPr lang="en-US" sz="2000" dirty="0">
                        <a:effectLst/>
                      </a:endParaRP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224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long</a:t>
                      </a: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Представляет </a:t>
                      </a:r>
                      <a:r>
                        <a:rPr lang="en-US" sz="2000" dirty="0">
                          <a:effectLst/>
                        </a:rPr>
                        <a:t> 64-bit </a:t>
                      </a:r>
                      <a:r>
                        <a:rPr lang="ru-RU" sz="2000" dirty="0">
                          <a:effectLst/>
                        </a:rPr>
                        <a:t>целые</a:t>
                      </a:r>
                      <a:endParaRPr lang="en-US" sz="2000" dirty="0">
                        <a:effectLst/>
                      </a:endParaRP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45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float</a:t>
                      </a: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Представляет </a:t>
                      </a:r>
                      <a:r>
                        <a:rPr lang="en-US" sz="2000" dirty="0">
                          <a:effectLst/>
                        </a:rPr>
                        <a:t> 32-bit </a:t>
                      </a:r>
                      <a:r>
                        <a:rPr lang="ru-RU" sz="2000" dirty="0">
                          <a:effectLst/>
                        </a:rPr>
                        <a:t>числа с плавающей запятой</a:t>
                      </a:r>
                      <a:endParaRPr lang="en-US" sz="2000" dirty="0">
                        <a:effectLst/>
                      </a:endParaRP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57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double</a:t>
                      </a: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Представляет </a:t>
                      </a:r>
                      <a:r>
                        <a:rPr lang="en-US" sz="2000" dirty="0">
                          <a:effectLst/>
                        </a:rPr>
                        <a:t> 64-bit </a:t>
                      </a:r>
                      <a:r>
                        <a:rPr lang="ru-RU" sz="2000" dirty="0">
                          <a:effectLst/>
                        </a:rPr>
                        <a:t>числа с плавающей запятой</a:t>
                      </a:r>
                      <a:endParaRPr lang="en-US" sz="2000" dirty="0">
                        <a:effectLst/>
                      </a:endParaRP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224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char</a:t>
                      </a: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Представляет </a:t>
                      </a:r>
                      <a:r>
                        <a:rPr lang="en-US" sz="2000" dirty="0">
                          <a:effectLst/>
                        </a:rPr>
                        <a:t> 16-bit </a:t>
                      </a:r>
                      <a:r>
                        <a:rPr lang="ru-RU" sz="2000" dirty="0">
                          <a:effectLst/>
                        </a:rPr>
                        <a:t>символы</a:t>
                      </a:r>
                      <a:endParaRPr lang="en-US" sz="2000" dirty="0">
                        <a:effectLst/>
                      </a:endParaRP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224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String</a:t>
                      </a: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Представляет строковые значения</a:t>
                      </a:r>
                      <a:endParaRPr lang="en-US" sz="2000" dirty="0">
                        <a:effectLst/>
                      </a:endParaRPr>
                    </a:p>
                  </a:txBody>
                  <a:tcPr marL="36566" marR="36566" marT="36566" marB="36566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236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394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Язык </a:t>
            </a:r>
            <a:r>
              <a:rPr lang="en-US" sz="3200" dirty="0">
                <a:solidFill>
                  <a:srgbClr val="FF0000"/>
                </a:solidFill>
              </a:rPr>
              <a:t>Cypher</a:t>
            </a:r>
            <a:r>
              <a:rPr lang="ru-RU" sz="3200" dirty="0">
                <a:solidFill>
                  <a:srgbClr val="FF0000"/>
                </a:solidFill>
              </a:rPr>
              <a:t>. Операторы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009764"/>
            <a:ext cx="10515600" cy="2962536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/>
              <a:t>Булевы операторы </a:t>
            </a:r>
            <a:r>
              <a:rPr lang="en-US" sz="2000" dirty="0"/>
              <a:t>AND, OR, XOR, NOT</a:t>
            </a:r>
            <a:r>
              <a:rPr lang="ru-RU" sz="2000" dirty="0"/>
              <a:t> и операторы сравнения =. &lt;&gt;, &lt;, &gt;, &lt;=, &gt;=</a:t>
            </a:r>
          </a:p>
          <a:p>
            <a:pPr marL="0" indent="0">
              <a:buNone/>
            </a:pPr>
            <a:r>
              <a:rPr lang="ru-RU" sz="2000" dirty="0"/>
              <a:t>понимаются в обычном смысле.</a:t>
            </a:r>
          </a:p>
          <a:p>
            <a:pPr marL="0" indent="360000">
              <a:buNone/>
            </a:pPr>
            <a:r>
              <a:rPr lang="ru-RU" sz="2000" dirty="0"/>
              <a:t>В </a:t>
            </a:r>
            <a:r>
              <a:rPr lang="en-US" sz="2000" dirty="0"/>
              <a:t>CQL</a:t>
            </a:r>
            <a:r>
              <a:rPr lang="ru-RU" sz="2000" dirty="0"/>
              <a:t> существует три вида функций:</a:t>
            </a:r>
          </a:p>
          <a:p>
            <a:r>
              <a:rPr lang="ru-RU" sz="2000" dirty="0"/>
              <a:t>Для работы со строками</a:t>
            </a:r>
          </a:p>
          <a:p>
            <a:r>
              <a:rPr lang="ru-RU" sz="2000" dirty="0"/>
              <a:t>Агрегирующие</a:t>
            </a:r>
          </a:p>
          <a:p>
            <a:r>
              <a:rPr lang="ru-RU" sz="2000" dirty="0"/>
              <a:t>Отношений – детализируют отношения, например, добавляют стартовый узел, конечный узел (</a:t>
            </a:r>
            <a:r>
              <a:rPr lang="en-US" sz="2000" dirty="0" err="1"/>
              <a:t>startnode</a:t>
            </a:r>
            <a:r>
              <a:rPr lang="en-US" sz="2000" dirty="0"/>
              <a:t>, </a:t>
            </a:r>
            <a:r>
              <a:rPr lang="en-US" sz="2000" dirty="0" err="1"/>
              <a:t>endnode</a:t>
            </a:r>
            <a:r>
              <a:rPr lang="ru-RU" sz="2000" dirty="0"/>
              <a:t>).</a:t>
            </a:r>
          </a:p>
          <a:p>
            <a:endParaRPr lang="ru-RU" sz="20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042757" y="623944"/>
          <a:ext cx="7628367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5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2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73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dirty="0">
                          <a:effectLst/>
                        </a:rPr>
                        <a:t>Тип</a:t>
                      </a:r>
                      <a:r>
                        <a:rPr lang="ru-RU" sz="1800" baseline="0" dirty="0">
                          <a:effectLst/>
                        </a:rPr>
                        <a:t> </a:t>
                      </a:r>
                      <a:endParaRPr lang="en-US" sz="1800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dirty="0">
                          <a:effectLst/>
                        </a:rPr>
                        <a:t>Оператор</a:t>
                      </a:r>
                      <a:endParaRPr lang="en-US" sz="1800" dirty="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83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Mathematical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effectLst/>
                        </a:rPr>
                        <a:t>+, -, *, /, %, ^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62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Comparison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=. &lt;&gt;, &lt;, &gt;, &lt;=, &gt;=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Boolean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AND, OR, XOR, NOT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String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+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List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+, IN, [X], [X…..Y]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Regular Expression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=-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String matching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STARTS WITH, ENDS WITH, CONSTRAINTS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141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42597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Язык </a:t>
            </a:r>
            <a:r>
              <a:rPr lang="en-US" sz="3200" dirty="0">
                <a:solidFill>
                  <a:srgbClr val="FF0000"/>
                </a:solidFill>
              </a:rPr>
              <a:t>Cypher</a:t>
            </a:r>
            <a:r>
              <a:rPr lang="ru-RU" sz="3200" dirty="0">
                <a:solidFill>
                  <a:srgbClr val="FF0000"/>
                </a:solidFill>
              </a:rPr>
              <a:t>. Фразы чтения 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06415" y="258184"/>
            <a:ext cx="10859270" cy="6599816"/>
          </a:xfrm>
        </p:spPr>
        <p:txBody>
          <a:bodyPr>
            <a:normAutofit fontScale="92500" lnSpcReduction="10000"/>
          </a:bodyPr>
          <a:lstStyle/>
          <a:p>
            <a:pPr marL="0" indent="360000">
              <a:buNone/>
            </a:pPr>
            <a:r>
              <a:rPr lang="ru-RU" sz="2000" dirty="0"/>
              <a:t>Фразы чтения: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r>
              <a:rPr lang="ru-RU" sz="2200" u="sng" dirty="0"/>
              <a:t>Синтаксис </a:t>
            </a:r>
            <a:r>
              <a:rPr lang="en-US" sz="2200" u="sng" dirty="0"/>
              <a:t>RETURN</a:t>
            </a:r>
            <a:r>
              <a:rPr lang="ru-RU" sz="2200" u="sng" dirty="0"/>
              <a:t> для узлов и отношений</a:t>
            </a:r>
            <a:r>
              <a:rPr lang="en-US" sz="2200" dirty="0"/>
              <a:t>:</a:t>
            </a:r>
          </a:p>
          <a:p>
            <a:pPr marL="0" indent="0">
              <a:buNone/>
            </a:pPr>
            <a:r>
              <a:rPr lang="en-US" sz="2200" dirty="0"/>
              <a:t>MATCH (node) RETURN node [AS </a:t>
            </a:r>
            <a:r>
              <a:rPr lang="en-US" sz="2200" dirty="0" err="1"/>
              <a:t>columnName</a:t>
            </a:r>
            <a:r>
              <a:rPr lang="en-US" sz="2200" dirty="0"/>
              <a:t>] </a:t>
            </a:r>
            <a:r>
              <a:rPr lang="ru-RU" sz="2200" dirty="0"/>
              <a:t>// возвращает все узлы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CREATE … RETURN * // </a:t>
            </a:r>
            <a:r>
              <a:rPr lang="ru-RU" sz="2200" dirty="0"/>
              <a:t>возвращает весь граф </a:t>
            </a:r>
          </a:p>
          <a:p>
            <a:pPr marL="0" indent="0">
              <a:buNone/>
            </a:pPr>
            <a:r>
              <a:rPr lang="en-US" sz="2200" dirty="0"/>
              <a:t>MATCH (</a:t>
            </a:r>
            <a:r>
              <a:rPr lang="en-US" sz="2200" dirty="0" err="1"/>
              <a:t>node:label</a:t>
            </a:r>
            <a:r>
              <a:rPr lang="en-US" sz="2200" dirty="0"/>
              <a:t>) RETURN node</a:t>
            </a:r>
            <a:r>
              <a:rPr lang="ru-RU" sz="2200" dirty="0"/>
              <a:t> // возвращает все узлы с заданной меткой</a:t>
            </a:r>
          </a:p>
          <a:p>
            <a:pPr marL="0" indent="0">
              <a:buNone/>
            </a:pPr>
            <a:r>
              <a:rPr lang="en-US" sz="2200" dirty="0"/>
              <a:t>MATCH (</a:t>
            </a:r>
            <a:r>
              <a:rPr lang="en-US" sz="2200" dirty="0" err="1"/>
              <a:t>node:label</a:t>
            </a:r>
            <a:r>
              <a:rPr lang="en-US" sz="2200" dirty="0"/>
              <a:t>)&lt;-[: Relationship]-(n)</a:t>
            </a:r>
            <a:r>
              <a:rPr lang="ru-RU" sz="2200" dirty="0"/>
              <a:t> </a:t>
            </a:r>
            <a:r>
              <a:rPr lang="en-US" sz="2200" dirty="0"/>
              <a:t>RETURN n</a:t>
            </a:r>
            <a:r>
              <a:rPr lang="ru-RU" sz="2200" dirty="0"/>
              <a:t> // возвращает все узлы связанные отношением</a:t>
            </a:r>
          </a:p>
          <a:p>
            <a:pPr marL="0" indent="0">
              <a:buNone/>
            </a:pPr>
            <a:r>
              <a:rPr lang="en-US" sz="2200" dirty="0"/>
              <a:t>RETURN </a:t>
            </a:r>
            <a:r>
              <a:rPr lang="ru-RU" sz="2200" dirty="0" err="1"/>
              <a:t>список_имён_узлов</a:t>
            </a:r>
            <a:r>
              <a:rPr lang="ru-RU" sz="2200" dirty="0"/>
              <a:t> // перечисление через запятую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06415" y="602426"/>
          <a:ext cx="10515600" cy="382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3404">
                <a:tc>
                  <a:txBody>
                    <a:bodyPr/>
                    <a:lstStyle/>
                    <a:p>
                      <a:r>
                        <a:rPr lang="ru-RU" sz="1900" b="1" dirty="0"/>
                        <a:t>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dirty="0"/>
                        <a:t>Выбрать. После ключевого слова следует шаблон, описывающий контекст подлежащий  обработке заданной фразами следующими за </a:t>
                      </a:r>
                      <a:r>
                        <a:rPr lang="en-US" sz="1900" dirty="0"/>
                        <a:t>MATCH</a:t>
                      </a:r>
                      <a:endParaRPr lang="ru-RU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19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 MATCH</a:t>
                      </a:r>
                      <a:endParaRPr lang="ru-RU" sz="1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dirty="0"/>
                        <a:t>То же самое, что MATCH, но может использовать </a:t>
                      </a:r>
                      <a:r>
                        <a:rPr lang="en-US" sz="1900" dirty="0"/>
                        <a:t>null’</a:t>
                      </a:r>
                      <a:r>
                        <a:rPr lang="ru-RU" sz="1900" dirty="0"/>
                        <a:t>ы в случае отсутствия компонентов шаблона.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900" b="1" dirty="0"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Добавляет ограничения в шаблон или фильтрует промежуточный результат на выходе предложения WITH. После к</a:t>
                      </a:r>
                      <a:r>
                        <a:rPr lang="ru-RU" sz="1900" dirty="0"/>
                        <a:t>лючевого слова описываются  ограничения, накладываемые на шаблон, либо на фильтр результатов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r>
                        <a:rPr lang="ru-RU" sz="1900" b="1" dirty="0"/>
                        <a:t>RETURN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dirty="0"/>
                        <a:t>Определяет что будет возвращено после обхода графа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r>
                        <a:rPr lang="en-US" sz="1900" b="1" dirty="0"/>
                        <a:t>START</a:t>
                      </a:r>
                      <a:endParaRPr lang="ru-RU" sz="1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dirty="0"/>
                        <a:t>Поиск</a:t>
                      </a:r>
                      <a:r>
                        <a:rPr lang="ru-RU" sz="1900" baseline="0" dirty="0"/>
                        <a:t> отправных точек с помощью устаревших индексов</a:t>
                      </a:r>
                      <a:endParaRPr lang="ru-RU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r>
                        <a:rPr lang="en-US" sz="1900" b="1" dirty="0"/>
                        <a:t>LOAD CSV</a:t>
                      </a:r>
                      <a:endParaRPr lang="ru-RU" sz="1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dirty="0"/>
                        <a:t>Импорт данных из файлов CSV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en-US" sz="1900" b="1" dirty="0"/>
                        <a:t>//</a:t>
                      </a:r>
                      <a:endParaRPr lang="ru-RU" sz="1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dirty="0"/>
                        <a:t>Строчный комментарий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685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41539"/>
            <a:ext cx="10515600" cy="57515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Язык </a:t>
            </a:r>
            <a:r>
              <a:rPr lang="en-US" sz="3200" dirty="0">
                <a:solidFill>
                  <a:srgbClr val="FF0000"/>
                </a:solidFill>
              </a:rPr>
              <a:t>Cypher</a:t>
            </a:r>
            <a:r>
              <a:rPr lang="ru-RU" sz="3200" dirty="0">
                <a:solidFill>
                  <a:srgbClr val="FF0000"/>
                </a:solidFill>
              </a:rPr>
              <a:t>. Фразы записи</a:t>
            </a:r>
            <a:endParaRPr lang="ru-RU" sz="32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1015760" y="1328138"/>
          <a:ext cx="10160479" cy="432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6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000" dirty="0">
                          <a:effectLst/>
                        </a:rPr>
                        <a:t>Фраза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000" dirty="0">
                          <a:effectLst/>
                        </a:rPr>
                        <a:t>Использование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effectLst/>
                        </a:rPr>
                        <a:t>CREATE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Используется для создания узлов, отношений и свойств.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MERGE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Проверяет, существует ли указанный шаблон в графе. Если нет, он создает соответствующую</a:t>
                      </a:r>
                      <a:r>
                        <a:rPr lang="ru-RU" sz="2000" baseline="0" dirty="0">
                          <a:effectLst/>
                        </a:rPr>
                        <a:t> структуру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SET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Обновляет метки узлов, свойств узлов и отношений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DELETE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Удаляет узлы и связи, или пути и т. д. из графа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REMOVE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Удаляет свойства и элементы из узлов и отношений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FOREACH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Используется для обновления данных в списке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CREATE UNIQUE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Используя предложения CREATE и MATCH, можно получить уникальный шаблон, сопоставив существующий шаблон и создав недостающие части.</a:t>
                      </a:r>
                      <a:endParaRPr lang="en-US" sz="2000" dirty="0">
                        <a:effectLst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791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324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Язык </a:t>
            </a:r>
            <a:r>
              <a:rPr lang="en-US" sz="3200" dirty="0">
                <a:solidFill>
                  <a:srgbClr val="FF0000"/>
                </a:solidFill>
              </a:rPr>
              <a:t>Cypher</a:t>
            </a:r>
            <a:r>
              <a:rPr lang="ru-RU" sz="3200" dirty="0">
                <a:solidFill>
                  <a:srgbClr val="FF0000"/>
                </a:solidFill>
              </a:rPr>
              <a:t>. Общие фразы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032000" y="719666"/>
          <a:ext cx="8128000" cy="478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5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2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000" dirty="0">
                          <a:effectLst/>
                        </a:rPr>
                        <a:t>Фраза</a:t>
                      </a:r>
                      <a:endParaRPr lang="en-US" sz="2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effectLst/>
                        </a:rPr>
                        <a:t>Использование</a:t>
                      </a:r>
                      <a:endParaRPr lang="en-US" sz="20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RETURN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Определяет то, что включается в результат запроса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ORDER BY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Упорядочивает результат запроса. Используется вместе с предложениями RETURN или WITH.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LIMIT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Ограничивает строки результата указанным значением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SKIP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Определяет, с какой строки начинать, включая строки результата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WITH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Объединяет результаты запросов в цепочку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UNWIND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Используется для расширения списка в последовательность строк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sz="2000" dirty="0"/>
                        <a:t>UNION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Объединяет результаты нескольких запросов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sz="2000" dirty="0"/>
                        <a:t>CALL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Используется для вызова процедуры, размещённой в базе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755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22500" y="0"/>
            <a:ext cx="8242300" cy="58420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3. Создание изолированных узлов 1/3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71500"/>
            <a:ext cx="10515600" cy="6286500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ru-RU" sz="2000" dirty="0"/>
              <a:t>Создаём простейший узел </a:t>
            </a:r>
          </a:p>
          <a:p>
            <a:pPr marL="0" indent="0">
              <a:buNone/>
            </a:pPr>
            <a:r>
              <a:rPr lang="ru-RU" sz="2000" dirty="0"/>
              <a:t>без метки и свойств:</a:t>
            </a:r>
          </a:p>
          <a:p>
            <a:pPr marL="0" indent="0">
              <a:buNone/>
            </a:pPr>
            <a:r>
              <a:rPr lang="en-US" sz="2000" dirty="0"/>
              <a:t>CREATE (sample)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2. Проверяем существование узла запросом, 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который возвращает все узлы в базе:</a:t>
            </a:r>
          </a:p>
          <a:p>
            <a:pPr marL="0" indent="0">
              <a:buNone/>
            </a:pPr>
            <a:r>
              <a:rPr lang="ru-RU" sz="2000" dirty="0"/>
              <a:t>MATCH (n) RETURN n 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accent6"/>
                </a:solidFill>
              </a:rPr>
              <a:t>Что такое n?</a:t>
            </a:r>
          </a:p>
          <a:p>
            <a:pPr marL="0" indent="0">
              <a:buNone/>
            </a:pPr>
            <a:r>
              <a:rPr lang="ru-RU" sz="2000" dirty="0"/>
              <a:t>Если нажать на          то в ответ получаем кружок, обозначающий узел.</a:t>
            </a:r>
          </a:p>
          <a:p>
            <a:pPr marL="0" indent="0">
              <a:buNone/>
            </a:pPr>
            <a:r>
              <a:rPr lang="ru-RU" sz="2000" dirty="0"/>
              <a:t>Если нажать на          то в ответе текст: 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"identity": 0,</a:t>
            </a:r>
          </a:p>
          <a:p>
            <a:pPr marL="0" indent="0">
              <a:buNone/>
            </a:pPr>
            <a:r>
              <a:rPr lang="en-US" sz="2000" dirty="0"/>
              <a:t>  "labels": [],</a:t>
            </a:r>
          </a:p>
          <a:p>
            <a:pPr marL="0" indent="0">
              <a:buNone/>
            </a:pPr>
            <a:r>
              <a:rPr lang="en-US" sz="2000" dirty="0"/>
              <a:t>  "properties": {</a:t>
            </a:r>
          </a:p>
          <a:p>
            <a:pPr marL="0" indent="0">
              <a:buNone/>
            </a:pPr>
            <a:r>
              <a:rPr lang="en-US" sz="2000" dirty="0"/>
              <a:t>  }</a:t>
            </a:r>
          </a:p>
          <a:p>
            <a:pPr marL="0" indent="0">
              <a:buNone/>
            </a:pPr>
            <a:r>
              <a:rPr lang="en-US" sz="2000" dirty="0"/>
              <a:t>}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и т.д.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425" y="611983"/>
            <a:ext cx="4334802" cy="126999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019800" y="1746250"/>
            <a:ext cx="5689600" cy="1657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Если вы успели поэкспериментировать, так что выдаётся много узлов и связей, удалите их скриптом:</a:t>
            </a:r>
          </a:p>
          <a:p>
            <a:r>
              <a:rPr lang="pt-BR" dirty="0">
                <a:solidFill>
                  <a:schemeClr val="tx1"/>
                </a:solidFill>
              </a:rPr>
              <a:t>MATCH (n)</a:t>
            </a:r>
          </a:p>
          <a:p>
            <a:r>
              <a:rPr lang="pt-BR" dirty="0">
                <a:solidFill>
                  <a:schemeClr val="tx1"/>
                </a:solidFill>
              </a:rPr>
              <a:t>OPTIONAL MATCH (n)-[r]-()</a:t>
            </a:r>
          </a:p>
          <a:p>
            <a:r>
              <a:rPr lang="pt-BR" dirty="0">
                <a:solidFill>
                  <a:schemeClr val="tx1"/>
                </a:solidFill>
              </a:rPr>
              <a:t>DELETE n,r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и повторите </a:t>
            </a:r>
            <a:r>
              <a:rPr lang="ru-RU" dirty="0" err="1">
                <a:solidFill>
                  <a:schemeClr val="tx1"/>
                </a:solidFill>
              </a:rPr>
              <a:t>п.п</a:t>
            </a:r>
            <a:r>
              <a:rPr lang="ru-RU" dirty="0">
                <a:solidFill>
                  <a:schemeClr val="tx1"/>
                </a:solidFill>
              </a:rPr>
              <a:t>. 1,2</a:t>
            </a:r>
            <a:endParaRPr lang="pt-BR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575" y="3141933"/>
            <a:ext cx="457950" cy="59186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050" y="3784600"/>
            <a:ext cx="464400" cy="559700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719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58799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Создание изолированных узлов 2/3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58800"/>
            <a:ext cx="10515600" cy="5981700"/>
          </a:xfrm>
        </p:spPr>
        <p:txBody>
          <a:bodyPr>
            <a:normAutofit/>
          </a:bodyPr>
          <a:lstStyle/>
          <a:p>
            <a:r>
              <a:rPr lang="ru-RU" sz="2000" dirty="0"/>
              <a:t>Для создания двух и более изолированных узлов перечислите их имена через запятую:</a:t>
            </a:r>
          </a:p>
          <a:p>
            <a:pPr marL="0" indent="0">
              <a:buNone/>
            </a:pPr>
            <a:r>
              <a:rPr lang="en-US" sz="2000" dirty="0"/>
              <a:t>CREATE (sample1),(sample2) </a:t>
            </a:r>
          </a:p>
          <a:p>
            <a:pPr marL="0" indent="0">
              <a:buNone/>
            </a:pPr>
            <a:r>
              <a:rPr lang="ru-RU" sz="2000" dirty="0"/>
              <a:t>Проверьте результат скриптом </a:t>
            </a:r>
            <a:r>
              <a:rPr lang="en-US" sz="2000" dirty="0"/>
              <a:t>MATCH (n) RETURN n</a:t>
            </a:r>
          </a:p>
          <a:p>
            <a:pPr marL="0" indent="0">
              <a:buNone/>
            </a:pPr>
            <a:r>
              <a:rPr lang="ru-RU" sz="2000" dirty="0"/>
              <a:t>Очистите базу. </a:t>
            </a:r>
          </a:p>
          <a:p>
            <a:r>
              <a:rPr lang="ru-RU" sz="2000" dirty="0"/>
              <a:t>Следующий пример – узел с меткой. Например, узел с именем </a:t>
            </a:r>
            <a:r>
              <a:rPr lang="en-US" sz="2000" dirty="0"/>
              <a:t>John </a:t>
            </a:r>
            <a:r>
              <a:rPr lang="ru-RU" sz="2000" dirty="0"/>
              <a:t>и меткой </a:t>
            </a:r>
            <a:r>
              <a:rPr lang="en-US" sz="2000" dirty="0"/>
              <a:t>player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CREATE (John: player)</a:t>
            </a:r>
          </a:p>
          <a:p>
            <a:r>
              <a:rPr lang="ru-RU" sz="2000" dirty="0"/>
              <a:t>Один узел может содержать несколько меток, разделяемых двоеточием. Синтаксис:</a:t>
            </a:r>
          </a:p>
          <a:p>
            <a:pPr marL="0" indent="0">
              <a:buNone/>
            </a:pPr>
            <a:r>
              <a:rPr lang="en-US" sz="2000" dirty="0"/>
              <a:t>CREATE (node:label1:label2:. . . . </a:t>
            </a:r>
            <a:r>
              <a:rPr lang="en-US" sz="2000" dirty="0" err="1"/>
              <a:t>labeln</a:t>
            </a:r>
            <a:r>
              <a:rPr lang="en-US" sz="2000" dirty="0"/>
              <a:t>)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Пример: </a:t>
            </a:r>
            <a:r>
              <a:rPr lang="en-US" sz="2000" dirty="0"/>
              <a:t>CREATE (</a:t>
            </a:r>
            <a:r>
              <a:rPr lang="en-US" sz="2000" dirty="0" err="1"/>
              <a:t>John:person:player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При нажатии на кружок любой кнопкой мыши</a:t>
            </a:r>
          </a:p>
          <a:p>
            <a:pPr marL="0" indent="0">
              <a:buNone/>
            </a:pPr>
            <a:r>
              <a:rPr lang="ru-RU" sz="2000" dirty="0"/>
              <a:t>видим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46378"/>
            <a:ext cx="4899037" cy="246786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00" y="5035912"/>
            <a:ext cx="1728600" cy="137030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114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07265"/>
            <a:ext cx="10515600" cy="67310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Создание изолированных узлов 3/3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938785"/>
            <a:ext cx="10515600" cy="5634138"/>
          </a:xfrm>
        </p:spPr>
        <p:txBody>
          <a:bodyPr>
            <a:normAutofit/>
          </a:bodyPr>
          <a:lstStyle/>
          <a:p>
            <a:r>
              <a:rPr lang="ru-RU" sz="2000" dirty="0"/>
              <a:t>Перейдём к свойствам. Они задаются как пары ключ-значение, перечисляемые через запятую внутри фигурных скобок «{}». Текстовые значения свойств записываются в двойных кавычках. Синтаксис:</a:t>
            </a:r>
          </a:p>
          <a:p>
            <a:pPr marL="0" indent="0">
              <a:buNone/>
            </a:pPr>
            <a:r>
              <a:rPr lang="en-US" sz="2000" dirty="0"/>
              <a:t>CREATE (</a:t>
            </a:r>
            <a:r>
              <a:rPr lang="en-US" sz="2000" dirty="0" err="1"/>
              <a:t>node:label</a:t>
            </a:r>
            <a:r>
              <a:rPr lang="en-US" sz="2000" dirty="0"/>
              <a:t> { key1: value, key2: value, . . .  }) </a:t>
            </a:r>
            <a:endParaRPr lang="ru-RU" sz="2000" dirty="0"/>
          </a:p>
          <a:p>
            <a:pPr marL="0" indent="0">
              <a:buNone/>
            </a:pPr>
            <a:r>
              <a:rPr lang="ru-RU" sz="2000" u="sng" dirty="0"/>
              <a:t>Пример</a:t>
            </a:r>
            <a:r>
              <a:rPr lang="ru-RU" sz="2000" dirty="0"/>
              <a:t>: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CREATE (John:player{name: "Smith John", YOB: 1995, POB:  "Ostin"})</a:t>
            </a:r>
          </a:p>
          <a:p>
            <a:pPr marL="0" indent="0">
              <a:buNone/>
            </a:pPr>
            <a:r>
              <a:rPr lang="ru-RU" sz="2000" dirty="0"/>
              <a:t>Затем: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MATCH (n) RETURN n</a:t>
            </a:r>
            <a:endParaRPr lang="ru-RU" sz="2000" dirty="0"/>
          </a:p>
          <a:p>
            <a:pPr marL="0" indent="360000">
              <a:buNone/>
            </a:pPr>
            <a:r>
              <a:rPr lang="ru-RU" sz="2000" dirty="0"/>
              <a:t>Можно было к фразе </a:t>
            </a:r>
            <a:r>
              <a:rPr lang="en-US" sz="2000" dirty="0"/>
              <a:t>CREATE </a:t>
            </a:r>
            <a:r>
              <a:rPr lang="ru-RU" sz="2000" dirty="0"/>
              <a:t>добавить </a:t>
            </a:r>
            <a:r>
              <a:rPr lang="en-US" sz="2000" dirty="0"/>
              <a:t>RETURN </a:t>
            </a:r>
            <a:r>
              <a:rPr lang="ru-RU" sz="2000" dirty="0" err="1"/>
              <a:t>имя_узла</a:t>
            </a:r>
            <a:r>
              <a:rPr lang="ru-RU" sz="2000" dirty="0"/>
              <a:t> и сразу увидеть результат. Например: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CREATE (John:player{name: "Smith John", YOB: 1995, POB:  "Ostin"}) RETURN John</a:t>
            </a:r>
            <a:endParaRPr lang="ru-RU" sz="2000" dirty="0"/>
          </a:p>
          <a:p>
            <a:pPr marL="0" indent="360000">
              <a:lnSpc>
                <a:spcPct val="100000"/>
              </a:lnSpc>
              <a:buNone/>
            </a:pPr>
            <a:r>
              <a:rPr lang="ru-RU" sz="2000" dirty="0"/>
              <a:t>Можно заменить имя свойства псевдонимом: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CREATE (John:player{name: "Smith John", YOB: 1995, POB:  "Ostin"}) 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err="1"/>
              <a:t>John.POB</a:t>
            </a:r>
            <a:r>
              <a:rPr lang="en-US" sz="2000" dirty="0"/>
              <a:t> AS </a:t>
            </a:r>
            <a:r>
              <a:rPr lang="en-US" sz="2000" dirty="0" err="1"/>
              <a:t>Place_of_Birth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42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52091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Сведения о метках и узлах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83079"/>
            <a:ext cx="10515600" cy="5693884"/>
          </a:xfrm>
        </p:spPr>
        <p:txBody>
          <a:bodyPr>
            <a:normAutofit lnSpcReduction="10000"/>
          </a:bodyPr>
          <a:lstStyle/>
          <a:p>
            <a:pPr marL="0" indent="360000">
              <a:buNone/>
            </a:pPr>
            <a:r>
              <a:rPr lang="ru-RU" sz="2000" dirty="0"/>
              <a:t>Получение всех имеющихся меток узлов без повторов:</a:t>
            </a:r>
          </a:p>
          <a:p>
            <a:pPr marL="0" indent="0">
              <a:buNone/>
            </a:pPr>
            <a:r>
              <a:rPr lang="en-US" sz="2000" dirty="0"/>
              <a:t>MATCH (n) RETURN distinct labels(n)</a:t>
            </a:r>
          </a:p>
          <a:p>
            <a:pPr marL="0" indent="360000">
              <a:buNone/>
            </a:pPr>
            <a:r>
              <a:rPr lang="ru-RU" sz="2000" dirty="0"/>
              <a:t>Количество узлов для каждой метки:</a:t>
            </a:r>
          </a:p>
          <a:p>
            <a:pPr marL="0" indent="0">
              <a:buNone/>
            </a:pPr>
            <a:r>
              <a:rPr lang="en-US" sz="2000" dirty="0"/>
              <a:t>MATCH (n) RETURN distinct labels(n), count(*)</a:t>
            </a:r>
            <a:endParaRPr lang="ru-RU" sz="2000" dirty="0"/>
          </a:p>
          <a:p>
            <a:pPr marL="0" indent="360000">
              <a:buNone/>
            </a:pPr>
            <a:r>
              <a:rPr lang="ru-RU" sz="2000" dirty="0"/>
              <a:t>Можно использовать специальную процедуру </a:t>
            </a:r>
            <a:r>
              <a:rPr lang="en-US" sz="2000" dirty="0"/>
              <a:t>db.labels()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call db.labels();</a:t>
            </a:r>
          </a:p>
          <a:p>
            <a:pPr marL="0" indent="360000">
              <a:buNone/>
            </a:pPr>
            <a:r>
              <a:rPr lang="ru-RU" sz="2000" dirty="0"/>
              <a:t>А, забегая вперёд, можно еще и так:</a:t>
            </a:r>
          </a:p>
          <a:p>
            <a:pPr marL="0" indent="0">
              <a:buNone/>
            </a:pPr>
            <a:r>
              <a:rPr lang="en-US" sz="2000" dirty="0"/>
              <a:t>MATCH (n)</a:t>
            </a:r>
          </a:p>
          <a:p>
            <a:pPr marL="0" indent="0">
              <a:buNone/>
            </a:pPr>
            <a:r>
              <a:rPr lang="en-US" sz="2000" dirty="0"/>
              <a:t>WITH DISTINCT labels(n) AS labels</a:t>
            </a:r>
          </a:p>
          <a:p>
            <a:pPr marL="0" indent="0">
              <a:buNone/>
            </a:pPr>
            <a:r>
              <a:rPr lang="en-US" sz="2000" dirty="0"/>
              <a:t>UNWIND labels AS label</a:t>
            </a:r>
          </a:p>
          <a:p>
            <a:pPr marL="0" indent="0">
              <a:buNone/>
            </a:pPr>
            <a:r>
              <a:rPr lang="en-US" sz="2000" dirty="0"/>
              <a:t>RETURN DISTINCT label</a:t>
            </a:r>
          </a:p>
          <a:p>
            <a:pPr marL="0" indent="0">
              <a:buNone/>
            </a:pPr>
            <a:r>
              <a:rPr lang="en-US" sz="2000" dirty="0"/>
              <a:t>ORDER BY label</a:t>
            </a:r>
            <a:endParaRPr lang="ru-RU" sz="2000" dirty="0"/>
          </a:p>
          <a:p>
            <a:pPr marL="0" indent="360000">
              <a:buNone/>
            </a:pPr>
            <a:r>
              <a:rPr lang="ru-RU" sz="2000" dirty="0"/>
              <a:t>Количество узлов с метками: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n:Ware</a:t>
            </a:r>
            <a:r>
              <a:rPr lang="en-US" sz="2000" dirty="0"/>
              <a:t> {wareId:1}) RETURN "Our graph have "+count(*)+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" Nodes with label Ware and </a:t>
            </a:r>
            <a:r>
              <a:rPr lang="en-US" sz="2000" dirty="0" err="1"/>
              <a:t>wareId</a:t>
            </a:r>
            <a:r>
              <a:rPr lang="en-US" sz="2000" dirty="0"/>
              <a:t>=1" as counter;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986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5477" y="0"/>
            <a:ext cx="10515600" cy="515566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Несколько </a:t>
            </a:r>
            <a:r>
              <a:rPr lang="en-US" sz="3200" dirty="0">
                <a:solidFill>
                  <a:srgbClr val="FF0000"/>
                </a:solidFill>
              </a:rPr>
              <a:t>MATCH </a:t>
            </a:r>
            <a:r>
              <a:rPr lang="ru-RU" sz="3200" dirty="0">
                <a:solidFill>
                  <a:srgbClr val="FF0000"/>
                </a:solidFill>
              </a:rPr>
              <a:t>подряд и через запятую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15566"/>
            <a:ext cx="10515600" cy="5661397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/>
              <a:t>В чем разница между последовательно записанными MATCH, например,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a:Thing</a:t>
            </a:r>
            <a:r>
              <a:rPr lang="en-US" sz="2000" dirty="0"/>
              <a:t>) MATCH (</a:t>
            </a:r>
            <a:r>
              <a:rPr lang="en-US" sz="2000" dirty="0" err="1"/>
              <a:t>b:Thing</a:t>
            </a:r>
            <a:r>
              <a:rPr lang="en-US" sz="2000" dirty="0"/>
              <a:t>) RETURN a, b;</a:t>
            </a:r>
          </a:p>
          <a:p>
            <a:pPr marL="0" indent="0">
              <a:buNone/>
            </a:pPr>
            <a:r>
              <a:rPr lang="ru-RU" sz="2000" dirty="0"/>
              <a:t>и записанными через запятую</a:t>
            </a:r>
          </a:p>
          <a:p>
            <a:pPr marL="0" indent="0">
              <a:buNone/>
            </a:pPr>
            <a:r>
              <a:rPr lang="ru-RU" sz="2000" dirty="0"/>
              <a:t>MATCH (</a:t>
            </a:r>
            <a:r>
              <a:rPr lang="ru-RU" sz="2000" dirty="0" err="1"/>
              <a:t>a:Thing</a:t>
            </a:r>
            <a:r>
              <a:rPr lang="ru-RU" sz="2000" dirty="0"/>
              <a:t>), (</a:t>
            </a:r>
            <a:r>
              <a:rPr lang="ru-RU" sz="2000" dirty="0" err="1"/>
              <a:t>b:Thing</a:t>
            </a:r>
            <a:r>
              <a:rPr lang="ru-RU" sz="2000" dirty="0"/>
              <a:t>) RETURN a, b;</a:t>
            </a:r>
          </a:p>
          <a:p>
            <a:pPr marL="0" indent="360000">
              <a:buNone/>
            </a:pPr>
            <a:r>
              <a:rPr lang="ru-RU" sz="2000" dirty="0"/>
              <a:t>В чем различие? Разделенные запятыми MATCH рассматриваются как образующие части одного шаблона. </a:t>
            </a:r>
          </a:p>
          <a:p>
            <a:pPr marL="0" indent="360000">
              <a:buNone/>
            </a:pPr>
            <a:r>
              <a:rPr lang="ru-RU" sz="2000" dirty="0"/>
              <a:t>Результаты совпадают только если a и b независимы. Если a и b были связаны отношениями, то смысл запроса может измениться.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35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31799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4. Создание рёбер 1/4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31800"/>
            <a:ext cx="10515600" cy="64262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1. Рассмотрим создание</a:t>
            </a:r>
            <a:r>
              <a:rPr lang="en-US" sz="2000" dirty="0"/>
              <a:t> </a:t>
            </a:r>
            <a:r>
              <a:rPr lang="ru-RU" sz="2000" b="1" dirty="0"/>
              <a:t>изолированной связи</a:t>
            </a:r>
            <a:r>
              <a:rPr lang="ru-RU" sz="2000" dirty="0"/>
              <a:t>.</a:t>
            </a:r>
          </a:p>
          <a:p>
            <a:pPr marL="0" indent="360000">
              <a:buNone/>
            </a:pPr>
            <a:r>
              <a:rPr lang="ru-RU" sz="2000" dirty="0"/>
              <a:t>Предложение CREATE позволяет создавать связи, обозначая их квадратными скобками «[]» помещёнными между дефисом «-» и стрелкой «→». Синтаксис:</a:t>
            </a:r>
          </a:p>
          <a:p>
            <a:pPr marL="0" indent="0">
              <a:buNone/>
            </a:pPr>
            <a:r>
              <a:rPr lang="en-US" sz="2000" dirty="0"/>
              <a:t>CREATE (node1)-[:</a:t>
            </a:r>
            <a:r>
              <a:rPr lang="en-US" sz="2000" dirty="0" err="1"/>
              <a:t>RelationshipType</a:t>
            </a:r>
            <a:r>
              <a:rPr lang="en-US" sz="2000" dirty="0"/>
              <a:t>]-&gt;(node2)</a:t>
            </a:r>
            <a:endParaRPr lang="ru-RU" sz="2000" dirty="0"/>
          </a:p>
          <a:p>
            <a:pPr marL="0" indent="360000">
              <a:buNone/>
            </a:pPr>
            <a:r>
              <a:rPr lang="ru-RU" sz="2000" dirty="0"/>
              <a:t>Очистим базу. Затем последовательно создадим два узла: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CREATE (John:player{name: "Smith John", YOB: 1995, POB:  "Ostin"})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CREATE (</a:t>
            </a:r>
            <a:r>
              <a:rPr lang="en-US" sz="2000" dirty="0" err="1"/>
              <a:t>usa:Country</a:t>
            </a:r>
            <a:r>
              <a:rPr lang="en-US" sz="2000" dirty="0"/>
              <a:t> {name: "USA"})</a:t>
            </a:r>
          </a:p>
          <a:p>
            <a:pPr marL="0" indent="360000">
              <a:lnSpc>
                <a:spcPct val="100000"/>
              </a:lnSpc>
              <a:buNone/>
            </a:pPr>
            <a:r>
              <a:rPr lang="ru-RU" sz="2000" dirty="0"/>
              <a:t>Теперь создаём связь </a:t>
            </a:r>
            <a:r>
              <a:rPr lang="en-US" sz="2000" dirty="0"/>
              <a:t>BATSMAN_OF</a:t>
            </a:r>
            <a:r>
              <a:rPr lang="ru-RU" sz="2000" dirty="0"/>
              <a:t>. Это такой игрок в бейсболе.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CREATE (John)-[</a:t>
            </a:r>
            <a:r>
              <a:rPr lang="en-US" sz="2000" dirty="0" err="1"/>
              <a:t>r:BATSMAN_OF</a:t>
            </a:r>
            <a:r>
              <a:rPr lang="en-US" sz="2000" dirty="0"/>
              <a:t>]-&gt;(</a:t>
            </a:r>
            <a:r>
              <a:rPr lang="en-US" sz="2000" dirty="0" err="1"/>
              <a:t>Usa</a:t>
            </a:r>
            <a:r>
              <a:rPr lang="en-US" sz="2000" dirty="0"/>
              <a:t>) 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Остаётся исполнить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RETURN John, </a:t>
            </a:r>
            <a:r>
              <a:rPr lang="en-US" sz="2000" dirty="0" err="1"/>
              <a:t>usa</a:t>
            </a:r>
            <a:r>
              <a:rPr lang="en-US" sz="20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                  Сместив узлы, получаем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012" y="4378932"/>
            <a:ext cx="7063678" cy="2085367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498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690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Создание рёбер 2/4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96901"/>
            <a:ext cx="10515600" cy="58419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dirty="0"/>
              <a:t>2. Создание </a:t>
            </a:r>
            <a:r>
              <a:rPr lang="ru-RU" sz="2000" b="1" dirty="0"/>
              <a:t>связи между существующими узлами </a:t>
            </a:r>
            <a:r>
              <a:rPr lang="ru-RU" sz="2000" dirty="0"/>
              <a:t>с использованием фразы</a:t>
            </a:r>
            <a:r>
              <a:rPr lang="ru-RU" sz="2000" b="1" dirty="0"/>
              <a:t> </a:t>
            </a:r>
            <a:r>
              <a:rPr lang="en-US" sz="2000" b="1" dirty="0"/>
              <a:t>MATCH</a:t>
            </a:r>
          </a:p>
          <a:p>
            <a:pPr marL="0" indent="0">
              <a:buNone/>
            </a:pPr>
            <a:r>
              <a:rPr lang="ru-RU" sz="2000" dirty="0"/>
              <a:t>Синтаксис:</a:t>
            </a:r>
          </a:p>
          <a:p>
            <a:pPr marL="0" indent="0">
              <a:buNone/>
            </a:pPr>
            <a:r>
              <a:rPr lang="ru-RU" sz="2000" dirty="0"/>
              <a:t> </a:t>
            </a:r>
            <a:r>
              <a:rPr lang="en-US" sz="2000" dirty="0"/>
              <a:t>MATCH (a:LabeofNode1), (b:LabeofNode2) </a:t>
            </a:r>
          </a:p>
          <a:p>
            <a:pPr marL="0" indent="0">
              <a:buNone/>
            </a:pPr>
            <a:r>
              <a:rPr lang="en-US" sz="2000" dirty="0"/>
              <a:t>   WHERE a.name = "nameofnode1" AND b.name = " nameofnode2" </a:t>
            </a:r>
          </a:p>
          <a:p>
            <a:pPr marL="0" indent="0">
              <a:buNone/>
            </a:pPr>
            <a:r>
              <a:rPr lang="en-US" sz="2000" dirty="0"/>
              <a:t>CREATE (a)-[: Relation]-&gt;(b) </a:t>
            </a:r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err="1"/>
              <a:t>a,b</a:t>
            </a:r>
            <a:r>
              <a:rPr lang="en-US" sz="2000" dirty="0"/>
              <a:t> </a:t>
            </a:r>
            <a:endParaRPr lang="ru-RU" sz="2000" dirty="0"/>
          </a:p>
          <a:p>
            <a:pPr marL="0" indent="0">
              <a:buNone/>
            </a:pPr>
            <a:r>
              <a:rPr lang="ru-RU" sz="2000" u="sng" dirty="0"/>
              <a:t>Пример</a:t>
            </a:r>
            <a:r>
              <a:rPr lang="ru-RU" sz="2000" dirty="0"/>
              <a:t>:</a:t>
            </a:r>
          </a:p>
          <a:p>
            <a:pPr marL="0" indent="360000">
              <a:buNone/>
            </a:pPr>
            <a:r>
              <a:rPr lang="ru-RU" sz="2000" dirty="0"/>
              <a:t>Должны существовать узлы с именами </a:t>
            </a:r>
            <a:r>
              <a:rPr lang="en-US" sz="2000" dirty="0"/>
              <a:t>"Smith John" </a:t>
            </a:r>
            <a:r>
              <a:rPr lang="ru-RU" sz="2000" dirty="0"/>
              <a:t>и </a:t>
            </a:r>
            <a:r>
              <a:rPr lang="en-US" sz="2000" dirty="0"/>
              <a:t>"</a:t>
            </a:r>
            <a:r>
              <a:rPr lang="en-US" sz="2000" dirty="0" err="1"/>
              <a:t>Usa</a:t>
            </a:r>
            <a:r>
              <a:rPr lang="en-US" sz="2000" dirty="0"/>
              <a:t>"</a:t>
            </a:r>
            <a:r>
              <a:rPr lang="ru-RU" sz="2000" dirty="0"/>
              <a:t>.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CREATE (John:player{name: "Smith John", YOB: 1995, POB: "Ostin"})</a:t>
            </a:r>
          </a:p>
          <a:p>
            <a:pPr marL="0" indent="0">
              <a:buNone/>
            </a:pPr>
            <a:r>
              <a:rPr lang="en-US" sz="2000" dirty="0"/>
              <a:t>CREATE (Usa:Country {name: "USA"})</a:t>
            </a:r>
          </a:p>
          <a:p>
            <a:pPr marL="0" indent="360000">
              <a:buNone/>
            </a:pPr>
            <a:r>
              <a:rPr lang="ru-RU" sz="2000" dirty="0"/>
              <a:t>Затем создаём ребро: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a:player</a:t>
            </a:r>
            <a:r>
              <a:rPr lang="en-US" sz="2000" dirty="0"/>
              <a:t>), (</a:t>
            </a:r>
            <a:r>
              <a:rPr lang="en-US" sz="2000" dirty="0" err="1"/>
              <a:t>b:Country</a:t>
            </a:r>
            <a:r>
              <a:rPr lang="en-US" sz="2000" dirty="0"/>
              <a:t>) 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WHERE a.name = "Smith John" AND 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b.name = "USA" </a:t>
            </a:r>
          </a:p>
          <a:p>
            <a:pPr marL="0" indent="0">
              <a:buNone/>
            </a:pPr>
            <a:r>
              <a:rPr lang="en-US" sz="2000" dirty="0"/>
              <a:t>CREATE (a)-[</a:t>
            </a:r>
            <a:r>
              <a:rPr lang="en-US" sz="2000" dirty="0" err="1"/>
              <a:t>r:BATSMAN_OF</a:t>
            </a:r>
            <a:r>
              <a:rPr lang="en-US" sz="2000" dirty="0"/>
              <a:t>]-&gt;(b) </a:t>
            </a:r>
          </a:p>
          <a:p>
            <a:pPr marL="0" indent="0">
              <a:buNone/>
            </a:pPr>
            <a:r>
              <a:rPr lang="en-US" sz="2000" dirty="0"/>
              <a:t>RETURN a, b 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4278167"/>
            <a:ext cx="4224500" cy="211692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211414" y="3840803"/>
            <a:ext cx="1289071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Результат: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12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07999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Создание рёбер 3/4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08001"/>
            <a:ext cx="10515600" cy="4038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3. Создание </a:t>
            </a:r>
            <a:r>
              <a:rPr lang="ru-RU" sz="2000" b="1" dirty="0"/>
              <a:t>отношения с метками и свойствами</a:t>
            </a:r>
            <a:r>
              <a:rPr lang="ru-RU" sz="2000" dirty="0"/>
              <a:t>. Синтаксис:</a:t>
            </a:r>
          </a:p>
          <a:p>
            <a:pPr marL="0" indent="0">
              <a:buNone/>
            </a:pPr>
            <a:r>
              <a:rPr lang="en-US" sz="2000" dirty="0"/>
              <a:t>CREATE (node1)-[</a:t>
            </a:r>
            <a:r>
              <a:rPr lang="en-US" sz="2000" dirty="0" err="1"/>
              <a:t>label:Rel_Type</a:t>
            </a:r>
            <a:r>
              <a:rPr lang="en-US" sz="2000" dirty="0"/>
              <a:t> {key1:value1, key2:value2, . . . n}]-&gt; (node2)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Пример:</a:t>
            </a:r>
          </a:p>
          <a:p>
            <a:pPr marL="0" indent="0">
              <a:buNone/>
            </a:pPr>
            <a:r>
              <a:rPr lang="en-US" sz="2000" dirty="0"/>
              <a:t>CREATE (John:player{name: "Smith John", YOB: 1995, POB: "Ostin"})</a:t>
            </a:r>
          </a:p>
          <a:p>
            <a:pPr marL="0" indent="0">
              <a:buNone/>
            </a:pPr>
            <a:r>
              <a:rPr lang="en-US" sz="2000" dirty="0"/>
              <a:t>CREATE (Usa:Country {name: "USA"})</a:t>
            </a:r>
          </a:p>
          <a:p>
            <a:pPr marL="0" indent="0">
              <a:buNone/>
            </a:pPr>
            <a:r>
              <a:rPr lang="ru-RU" sz="2000" dirty="0"/>
              <a:t>Создаём отношение: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a:player</a:t>
            </a:r>
            <a:r>
              <a:rPr lang="en-US" sz="2000" dirty="0"/>
              <a:t>), (</a:t>
            </a:r>
            <a:r>
              <a:rPr lang="en-US" sz="2000" dirty="0" err="1"/>
              <a:t>b:Country</a:t>
            </a:r>
            <a:r>
              <a:rPr lang="en-US" sz="2000" dirty="0"/>
              <a:t>) WHERE a.name = "Smith John" AND b.name = "USA" </a:t>
            </a:r>
          </a:p>
          <a:p>
            <a:pPr marL="0" indent="0">
              <a:buNone/>
            </a:pPr>
            <a:r>
              <a:rPr lang="en-US" sz="2000" dirty="0"/>
              <a:t>CREATE (a)-[</a:t>
            </a:r>
            <a:r>
              <a:rPr lang="en-US" sz="2000" dirty="0" err="1"/>
              <a:t>r:BATSMAN_OF</a:t>
            </a:r>
            <a:r>
              <a:rPr lang="en-US" sz="2000" dirty="0"/>
              <a:t> {Matches:5, Avg:90.75}]-&gt;(b)  </a:t>
            </a:r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err="1"/>
              <a:t>a,b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Обратим внимание на предупреждение: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4546600"/>
            <a:ext cx="11367892" cy="2048907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419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9850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Создание рёбер 4/4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98500"/>
            <a:ext cx="10515600" cy="6028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4. Создание </a:t>
            </a:r>
            <a:r>
              <a:rPr lang="ru-RU" sz="2000" b="1" dirty="0"/>
              <a:t>полного пути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Синтаксис:</a:t>
            </a:r>
          </a:p>
          <a:p>
            <a:pPr marL="0" indent="0">
              <a:buNone/>
            </a:pPr>
            <a:r>
              <a:rPr lang="en-US" sz="2000" dirty="0"/>
              <a:t>CREATE p = (Node1 {properties})-[:</a:t>
            </a:r>
            <a:r>
              <a:rPr lang="en-US" sz="2000" dirty="0" err="1"/>
              <a:t>Relationship_Type</a:t>
            </a:r>
            <a:r>
              <a:rPr lang="en-US" sz="2000" dirty="0"/>
              <a:t>]-&gt;</a:t>
            </a:r>
          </a:p>
          <a:p>
            <a:pPr marL="0" indent="0">
              <a:buNone/>
            </a:pPr>
            <a:r>
              <a:rPr lang="en-US" sz="2000" dirty="0"/>
              <a:t>   (Node2 {properties})[:</a:t>
            </a:r>
            <a:r>
              <a:rPr lang="en-US" sz="2000" dirty="0" err="1"/>
              <a:t>Relationship_Type</a:t>
            </a:r>
            <a:r>
              <a:rPr lang="en-US" sz="2000" dirty="0"/>
              <a:t>]-&gt;(Node3 {properties}) </a:t>
            </a:r>
          </a:p>
          <a:p>
            <a:pPr marL="0" indent="0">
              <a:buNone/>
            </a:pPr>
            <a:r>
              <a:rPr lang="en-US" sz="2000" dirty="0"/>
              <a:t>RETURN p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Обратите внимание на то, что тип рёбер </a:t>
            </a:r>
          </a:p>
          <a:p>
            <a:pPr marL="0" indent="0">
              <a:buNone/>
            </a:pPr>
            <a:r>
              <a:rPr lang="ru-RU" sz="2000" dirty="0"/>
              <a:t>один и тот же.</a:t>
            </a:r>
          </a:p>
          <a:p>
            <a:pPr marL="0" indent="0">
              <a:buNone/>
            </a:pPr>
            <a:r>
              <a:rPr lang="en-US" sz="2000" dirty="0"/>
              <a:t>5. </a:t>
            </a:r>
            <a:r>
              <a:rPr lang="ru-RU" sz="2000" dirty="0"/>
              <a:t>Создаём </a:t>
            </a:r>
            <a:r>
              <a:rPr lang="ru-RU" sz="2000" b="1" dirty="0"/>
              <a:t>петлю</a:t>
            </a:r>
            <a:r>
              <a:rPr lang="ru-RU" sz="2000" dirty="0"/>
              <a:t> связывающую узел с собой</a:t>
            </a:r>
          </a:p>
          <a:p>
            <a:pPr marL="0" indent="0">
              <a:buNone/>
            </a:pPr>
            <a:r>
              <a:rPr lang="ru-RU" sz="2000" dirty="0"/>
              <a:t>Сначала создаём узел</a:t>
            </a:r>
          </a:p>
          <a:p>
            <a:pPr marL="0" indent="0">
              <a:buNone/>
            </a:pPr>
            <a:r>
              <a:rPr lang="en-US" sz="2000" dirty="0"/>
              <a:t>CREATE (</a:t>
            </a:r>
            <a:r>
              <a:rPr lang="en-US" sz="2000" dirty="0" err="1"/>
              <a:t>p:Person</a:t>
            </a:r>
            <a:r>
              <a:rPr lang="en-US" sz="2000" dirty="0"/>
              <a:t> { name: "Sam" });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затем ребро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p:Person</a:t>
            </a:r>
            <a:r>
              <a:rPr lang="en-US" sz="2000" dirty="0"/>
              <a:t> { name: "Sam" })</a:t>
            </a:r>
          </a:p>
          <a:p>
            <a:pPr marL="0" indent="0">
              <a:buNone/>
            </a:pPr>
            <a:r>
              <a:rPr lang="en-US" sz="2000" dirty="0"/>
              <a:t>MERGE (p)-[:knows]-&gt;(p);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                                                         Результат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551" y="2737608"/>
            <a:ext cx="3278020" cy="3989764"/>
          </a:xfrm>
          <a:prstGeom prst="rect">
            <a:avLst/>
          </a:prstGeom>
        </p:spPr>
      </p:pic>
      <p:sp>
        <p:nvSpPr>
          <p:cNvPr id="5" name="Стрелка вправо 4"/>
          <p:cNvSpPr/>
          <p:nvPr/>
        </p:nvSpPr>
        <p:spPr>
          <a:xfrm>
            <a:off x="5599611" y="5982789"/>
            <a:ext cx="592940" cy="24819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3064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1481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Получаем типы отношений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49030"/>
            <a:ext cx="10515600" cy="5427933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/>
              <a:t>Получаем тип отношений прямо</a:t>
            </a:r>
          </a:p>
          <a:p>
            <a:pPr marL="0" indent="0">
              <a:buNone/>
            </a:pPr>
            <a:r>
              <a:rPr lang="en-US" sz="2000" dirty="0"/>
              <a:t>MATCH (n)-[r]-(m) RETURN n, r, m;</a:t>
            </a:r>
          </a:p>
          <a:p>
            <a:pPr marL="0" indent="0">
              <a:buNone/>
            </a:pPr>
            <a:r>
              <a:rPr lang="ru-RU" sz="2000" dirty="0"/>
              <a:t>или используя функцию </a:t>
            </a:r>
            <a:r>
              <a:rPr lang="en-US" sz="2000" dirty="0"/>
              <a:t>type()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MATCH (n)-[r]-(m) RETURN type(r);</a:t>
            </a:r>
          </a:p>
          <a:p>
            <a:pPr marL="0" indent="360000">
              <a:buNone/>
            </a:pPr>
            <a:r>
              <a:rPr lang="ru-RU" sz="2000" dirty="0"/>
              <a:t>Например, ответ такой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Заметим, что в использованном шаблоне </a:t>
            </a:r>
            <a:r>
              <a:rPr lang="en-US" sz="2000" dirty="0"/>
              <a:t>(n)-[r]-(m) </a:t>
            </a:r>
            <a:r>
              <a:rPr lang="ru-RU" sz="2000" dirty="0"/>
              <a:t>направление связи не учитывается.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01" y="2771136"/>
            <a:ext cx="6706451" cy="2287247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A20B3-20F8-4C15-8DCD-860C77CEF6D7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298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2513</TotalTime>
  <Words>3341</Words>
  <Application>Microsoft Office PowerPoint</Application>
  <PresentationFormat>Широкоэкранный</PresentationFormat>
  <Paragraphs>462</Paragraphs>
  <Slides>31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Verdana</vt:lpstr>
      <vt:lpstr>Тема Office</vt:lpstr>
      <vt:lpstr>Графовая база данных  Neo4j часть 1</vt:lpstr>
      <vt:lpstr>Оглавление</vt:lpstr>
      <vt:lpstr>1. Модель графов с метками и свойствами</vt:lpstr>
      <vt:lpstr>2. Что такое JSON (JavaScript Object Notation) </vt:lpstr>
      <vt:lpstr>Значение в   JSON</vt:lpstr>
      <vt:lpstr>Числа в JSON</vt:lpstr>
      <vt:lpstr>3. СУБД Neo4j релиз 4.3</vt:lpstr>
      <vt:lpstr>Безиндексная смежность и быстродействие</vt:lpstr>
      <vt:lpstr>4. Язык Cypher</vt:lpstr>
      <vt:lpstr>Описания шаблонов в языке Cypher </vt:lpstr>
      <vt:lpstr>Шаблоны фильтрации</vt:lpstr>
      <vt:lpstr>Разбираемся с сервером</vt:lpstr>
      <vt:lpstr>Работаем в браузере neo4j. Первый пример</vt:lpstr>
      <vt:lpstr>Смотрим результат предыдущей команды</vt:lpstr>
      <vt:lpstr>Пользуемся подсказкой (Help)</vt:lpstr>
      <vt:lpstr> Консоль </vt:lpstr>
      <vt:lpstr>Язык Cypher. Типы данных</vt:lpstr>
      <vt:lpstr>Язык Cypher. Операторы</vt:lpstr>
      <vt:lpstr>Язык Cypher. Фразы чтения  </vt:lpstr>
      <vt:lpstr>Язык Cypher. Фразы записи</vt:lpstr>
      <vt:lpstr>Язык Cypher. Общие фразы</vt:lpstr>
      <vt:lpstr>3. Создание изолированных узлов 1/3</vt:lpstr>
      <vt:lpstr>Создание изолированных узлов 2/3 </vt:lpstr>
      <vt:lpstr>Создание изолированных узлов 3/3 </vt:lpstr>
      <vt:lpstr>Сведения о метках и узлах</vt:lpstr>
      <vt:lpstr>Несколько MATCH подряд и через запятую</vt:lpstr>
      <vt:lpstr>4. Создание рёбер 1/4</vt:lpstr>
      <vt:lpstr>Создание рёбер 2/4</vt:lpstr>
      <vt:lpstr>Создание рёбер 3/4</vt:lpstr>
      <vt:lpstr>Создание рёбер 4/4</vt:lpstr>
      <vt:lpstr>Получаем типы отношений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Графовая база данных  Neo4j часть 1</dc:title>
  <dc:creator>Microsoft</dc:creator>
  <cp:lastModifiedBy>Nikolay Bessarabov</cp:lastModifiedBy>
  <cp:revision>24</cp:revision>
  <dcterms:created xsi:type="dcterms:W3CDTF">2020-09-08T18:13:02Z</dcterms:created>
  <dcterms:modified xsi:type="dcterms:W3CDTF">2021-09-15T18:20:23Z</dcterms:modified>
</cp:coreProperties>
</file>