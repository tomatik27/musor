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0" r:id="rId5"/>
    <p:sldId id="272" r:id="rId6"/>
    <p:sldId id="271" r:id="rId7"/>
    <p:sldId id="267" r:id="rId8"/>
    <p:sldId id="269" r:id="rId9"/>
    <p:sldId id="260" r:id="rId10"/>
    <p:sldId id="259" r:id="rId11"/>
    <p:sldId id="261" r:id="rId12"/>
    <p:sldId id="262" r:id="rId13"/>
    <p:sldId id="263" r:id="rId14"/>
    <p:sldId id="265" r:id="rId15"/>
    <p:sldId id="26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57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88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73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26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30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02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443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18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36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72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8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F2105-3643-4274-B73C-20407A2D9C4E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8C361-A04F-429C-AE0A-2969862C1A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77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es@fpm.kubsu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62697"/>
          </a:xfrm>
        </p:spPr>
        <p:txBody>
          <a:bodyPr>
            <a:normAutofit/>
          </a:bodyPr>
          <a:lstStyle/>
          <a:p>
            <a:r>
              <a:rPr lang="ru-RU" sz="4000" dirty="0"/>
              <a:t>Пользователи, роли, привилегии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ru-RU" dirty="0" err="1"/>
              <a:t>Бессарабов</a:t>
            </a:r>
            <a:r>
              <a:rPr lang="en-GB" altLang="ru-RU" dirty="0"/>
              <a:t> Н.В.</a:t>
            </a:r>
          </a:p>
          <a:p>
            <a:pPr>
              <a:lnSpc>
                <a:spcPct val="100000"/>
              </a:lnSpc>
              <a:buClr>
                <a:srgbClr val="009999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ru-RU" dirty="0">
                <a:solidFill>
                  <a:srgbClr val="009999"/>
                </a:solidFill>
                <a:hlinkClick r:id="rId2"/>
              </a:rPr>
              <a:t>bes@fpm.kubsu.ru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ru-RU" dirty="0"/>
              <a:t>20</a:t>
            </a:r>
            <a:r>
              <a:rPr lang="ru-RU" altLang="ru-RU"/>
              <a:t>20</a:t>
            </a:r>
            <a:r>
              <a:rPr lang="en-GB" altLang="ru-RU"/>
              <a:t> </a:t>
            </a:r>
            <a:r>
              <a:rPr lang="en-GB" altLang="ru-RU" dirty="0"/>
              <a:t>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121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9376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Пользователь/схема (1/2)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86888"/>
            <a:ext cx="10515600" cy="6187044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      </a:t>
            </a: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</a:rPr>
              <a:t>К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оманд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CREATE USER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созда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ё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учетный раздел </a:t>
            </a:r>
            <a:r>
              <a:rPr lang="en-US" sz="21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пользователя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Пользователь  имеет: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пароль;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конфигурацию.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spcAft>
                <a:spcPts val="0"/>
              </a:spcAft>
              <a:buNone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В  свою  очередь конфигурация  состоит  из: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профиля;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табличного  пространства  по  умолчанию;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временного  табличного  пространства;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квот  на  табличные  пространства.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Простая команда создания пользователя имеет формат: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 USER 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имя_пользователя 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IDENTIFIED  BY 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пароль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DEFAULT  TABLESPACE  </a:t>
            </a:r>
            <a:r>
              <a:rPr lang="ru-RU" sz="2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имя_табл_пространства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TEMPORARY  TABLESPACE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имя_табл_пространства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QUOTA  [UNLIMITED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| </a:t>
            </a:r>
            <a:r>
              <a:rPr lang="ru-RU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размер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  ON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имя_табл_пространства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PROFILE  </a:t>
            </a:r>
            <a:r>
              <a:rPr lang="ru-RU" sz="2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имя_профиля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Уничтожается  пользователь  командой 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DROP  USER 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имя_пользователя  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[cascade]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3867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-53788"/>
            <a:ext cx="10515600" cy="53740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Пользователь/схема (2/2)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83612"/>
            <a:ext cx="10515600" cy="63743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      Возможна  аутентификация  пользователя  непосредственно  в  </a:t>
            </a:r>
            <a:r>
              <a:rPr lang="en-US" sz="2000" dirty="0"/>
              <a:t>Oracle  </a:t>
            </a:r>
            <a:r>
              <a:rPr lang="ru-RU" sz="2000" dirty="0"/>
              <a:t>и  через  операционную  систему;  последний  вариант  не  желателен  из-за  меньшей  надежности.</a:t>
            </a:r>
          </a:p>
          <a:p>
            <a:pPr marL="0" indent="0">
              <a:buNone/>
            </a:pPr>
            <a:r>
              <a:rPr lang="ru-RU" sz="2000" dirty="0"/>
              <a:t>      Стандартная  рекомендация  по  паролям  менять  их  достаточно  часто.  Это  можно  сделать  администратору  или  самому  пользователю  (если   у  него  есть  такое  право).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b="1" dirty="0"/>
              <a:t>ALTER  USER  </a:t>
            </a:r>
            <a:r>
              <a:rPr lang="ru-RU" sz="2000" b="1" dirty="0"/>
              <a:t>имя_пользователя  </a:t>
            </a:r>
            <a:r>
              <a:rPr lang="en-US" sz="2000" b="1" dirty="0"/>
              <a:t>IDENTIFIED  BY  </a:t>
            </a:r>
            <a:r>
              <a:rPr lang="ru-RU" sz="2000" b="1" dirty="0" err="1"/>
              <a:t>новый_пароль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</a:t>
            </a:r>
            <a:r>
              <a:rPr lang="ru-RU" sz="2000" u="sng" dirty="0"/>
              <a:t>Пример</a:t>
            </a:r>
            <a:r>
              <a:rPr lang="en-US" sz="2000" u="sng" dirty="0"/>
              <a:t> 1</a:t>
            </a:r>
            <a:r>
              <a:rPr lang="ru-RU" sz="2000" u="sng" dirty="0"/>
              <a:t>: </a:t>
            </a:r>
            <a:r>
              <a:rPr lang="ru-RU" sz="2000" dirty="0"/>
              <a:t> команда  изменения существующего пользователя </a:t>
            </a:r>
            <a:r>
              <a:rPr lang="en-US" sz="2000" dirty="0"/>
              <a:t>U1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ru-RU" sz="2000" b="1" dirty="0"/>
              <a:t>         </a:t>
            </a:r>
            <a:r>
              <a:rPr lang="en-US" sz="2000" b="1" dirty="0"/>
              <a:t>ALTER  USER  U1  DEFAULT  TABLESPACE  USER_DATA  QUOTA  10 M  ON  USER_DATA;</a:t>
            </a:r>
            <a:endParaRPr lang="ru-RU" sz="2000" b="1" dirty="0"/>
          </a:p>
          <a:p>
            <a:pPr marL="0" indent="0">
              <a:buNone/>
            </a:pPr>
            <a:r>
              <a:rPr lang="ru-RU" sz="2000" u="sng" dirty="0">
                <a:solidFill>
                  <a:prstClr val="black"/>
                </a:solidFill>
              </a:rPr>
              <a:t>Пример</a:t>
            </a:r>
            <a:r>
              <a:rPr lang="en-US" sz="2000" u="sng" dirty="0">
                <a:solidFill>
                  <a:prstClr val="black"/>
                </a:solidFill>
              </a:rPr>
              <a:t> 2</a:t>
            </a:r>
            <a:r>
              <a:rPr lang="ru-RU" sz="2000" u="sng" dirty="0">
                <a:solidFill>
                  <a:prstClr val="black"/>
                </a:solidFill>
              </a:rPr>
              <a:t>:</a:t>
            </a:r>
            <a:r>
              <a:rPr lang="en-US" sz="2000" u="sng" dirty="0">
                <a:solidFill>
                  <a:prstClr val="black"/>
                </a:solidFill>
              </a:rPr>
              <a:t> </a:t>
            </a:r>
            <a:r>
              <a:rPr lang="ru-RU" sz="2000" dirty="0"/>
              <a:t> Чтобы вспомнить каким пользователем вы вошли последний  раз  наберите:</a:t>
            </a:r>
          </a:p>
          <a:p>
            <a:pPr marL="0" indent="0">
              <a:buNone/>
            </a:pPr>
            <a:r>
              <a:rPr lang="ru-RU" sz="2000" dirty="0"/>
              <a:t>        </a:t>
            </a:r>
            <a:r>
              <a:rPr lang="en-US" sz="2000" b="1" dirty="0"/>
              <a:t>SHOW  USER</a:t>
            </a:r>
            <a:endParaRPr lang="ru-RU" sz="2000" b="1" dirty="0"/>
          </a:p>
          <a:p>
            <a:pPr marL="0" indent="0"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Конфигурация  пользователя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Табличное  пространство  по  умолчанию.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нём  создается  объект схемы,  если  опция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TABLESPACE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 соответствующей  команде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  задана.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Временное  табличное  пространство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 обязательно, но желательно, так как  его  использование снижает конкуренцию за диск, уменьшает фрагментацию и   предотвращает неожиданное переполнение ТП. Используется как рабочая область  для команд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SQL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реализующих сортировку с выгрузкой на диск (например,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SORT  BY,  GROUP  BY,  UNION  ALL).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5498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1896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Привилегии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6103917"/>
          </a:xfrm>
        </p:spPr>
        <p:txBody>
          <a:bodyPr>
            <a:normAutofit/>
          </a:bodyPr>
          <a:lstStyle/>
          <a:p>
            <a:pPr marL="5715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Возможность  доступа  пользователя  к  объектам  определяют  его 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привилегии.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Выделяют: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системные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привилегии;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объектные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привилегии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Системная  привилегия  это  право  выполнять некоторое  действие  над  определенным  видом</a:t>
            </a:r>
            <a:r>
              <a:rPr lang="ru-RU" sz="2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объектов.  Например, привилегия  удалять  строки  из  любой  таблицы.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Объектная  привилегия  это  право  выполнять  некоторое  действие  над  </a:t>
            </a:r>
            <a:r>
              <a:rPr lang="ru-RU" sz="2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конкретным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объектом.  Например,   право  удалять  строки  из  таблицы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EMP.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Существует  более  80-ти  видов  системных  привилегий.</a:t>
            </a: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Привилегии могут объединяться  в  именованные  группы,  называемые 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ролями.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Пользователь  может  иметь  доступ  к  нескольким  ролям,  одной  ролью  могут  пользоваться  несколько  пользователей. 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В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Oracle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принята  </a:t>
            </a:r>
            <a:r>
              <a:rPr lang="ru-RU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децентрализованная  система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защиты  данных,  то  есть  каждый  пользователь  может  предоставить  привилегии  доступа  на  принадлежащие  ему  объекты  другим  пользователям.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83449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501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Роли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463507"/>
            <a:ext cx="10853691" cy="6079336"/>
          </a:xfrm>
        </p:spPr>
        <p:txBody>
          <a:bodyPr>
            <a:normAutofit fontScale="92500" lnSpcReduction="10000"/>
          </a:bodyPr>
          <a:lstStyle/>
          <a:p>
            <a:pPr marL="0" indent="360000" fontAlgn="base">
              <a:buNone/>
            </a:pPr>
            <a:r>
              <a:rPr lang="ru-RU" sz="2000" dirty="0"/>
              <a:t>Роль (</a:t>
            </a:r>
            <a:r>
              <a:rPr lang="ru-RU" sz="2000" dirty="0" err="1"/>
              <a:t>Role</a:t>
            </a:r>
            <a:r>
              <a:rPr lang="ru-RU" sz="2000" dirty="0"/>
              <a:t>) это набор привилегий, которые могут быть предоставлены пользователям или другим ролям. Желательно, чтобы набор привилегий объединяемый ролью был осмысленным с точки зрения бизнеса.</a:t>
            </a:r>
            <a:endParaRPr lang="en-US" sz="2000" dirty="0"/>
          </a:p>
          <a:p>
            <a:pPr marL="0" indent="360000" fontAlgn="base">
              <a:buNone/>
            </a:pPr>
            <a:r>
              <a:rPr lang="ru-RU" sz="2000" dirty="0"/>
              <a:t>Синтаксис простейшей инструкции создания роли:</a:t>
            </a:r>
            <a:endParaRPr lang="en-US" sz="2000" dirty="0"/>
          </a:p>
          <a:p>
            <a:pPr marL="0" indent="0" fontAlgn="base">
              <a:buNone/>
            </a:pPr>
            <a:r>
              <a:rPr lang="ru-RU" sz="2000" dirty="0"/>
              <a:t>CREATE ROLE </a:t>
            </a:r>
            <a:r>
              <a:rPr lang="ru-RU" sz="2000" dirty="0" err="1"/>
              <a:t>имя_роли</a:t>
            </a:r>
            <a:br>
              <a:rPr lang="ru-RU" sz="2000" dirty="0"/>
            </a:br>
            <a:r>
              <a:rPr lang="ru-RU" sz="2000" dirty="0"/>
              <a:t>[ NOT IDENTIFIED |</a:t>
            </a:r>
            <a:br>
              <a:rPr lang="ru-RU" sz="2000" dirty="0"/>
            </a:br>
            <a:r>
              <a:rPr lang="ru-RU" sz="2000" dirty="0"/>
              <a:t>IDENTIFIED {BY </a:t>
            </a:r>
            <a:r>
              <a:rPr lang="ru-RU" sz="2000" dirty="0" err="1"/>
              <a:t>password</a:t>
            </a:r>
            <a:r>
              <a:rPr lang="ru-RU" sz="2000" dirty="0"/>
              <a:t>} ;</a:t>
            </a:r>
            <a:br>
              <a:rPr lang="ru-RU" sz="2000" dirty="0"/>
            </a:br>
            <a:r>
              <a:rPr lang="ru-RU" sz="2000" dirty="0"/>
              <a:t>где</a:t>
            </a:r>
          </a:p>
          <a:p>
            <a:pPr marL="0" indent="0" fontAlgn="base">
              <a:buNone/>
            </a:pPr>
            <a:r>
              <a:rPr lang="ru-RU" sz="2000" dirty="0"/>
              <a:t>NOT IDENTIFIED – значение по умолчанию. Означает, что роль немедленно включается. Набирать пароль для включения роли не требуется.</a:t>
            </a:r>
            <a:br>
              <a:rPr lang="ru-RU" sz="2000" dirty="0"/>
            </a:br>
            <a:r>
              <a:rPr lang="ru-RU" sz="2000" dirty="0"/>
              <a:t>IDENTIFIED -- пользователь должен быть авторизован, прежде чем роль будет включена.</a:t>
            </a:r>
            <a:br>
              <a:rPr lang="ru-RU" sz="2000" dirty="0"/>
            </a:br>
            <a:r>
              <a:rPr lang="ru-RU" sz="2000" dirty="0"/>
              <a:t>BY </a:t>
            </a:r>
            <a:r>
              <a:rPr lang="ru-RU" sz="2000" dirty="0" err="1"/>
              <a:t>password</a:t>
            </a:r>
            <a:r>
              <a:rPr lang="ru-RU" sz="2000" dirty="0"/>
              <a:t> -- пользователь должен ввести пароль, чтобы включить роль.</a:t>
            </a:r>
            <a:br>
              <a:rPr lang="ru-RU" sz="2000" dirty="0"/>
            </a:br>
            <a:endParaRPr lang="ru-RU" sz="2000" dirty="0"/>
          </a:p>
          <a:p>
            <a:pPr marL="0" indent="0" fontAlgn="base">
              <a:buNone/>
            </a:pPr>
            <a:r>
              <a:rPr lang="ru-RU" sz="2000" u="sng" dirty="0"/>
              <a:t>Примеры</a:t>
            </a:r>
            <a:r>
              <a:rPr lang="ru-RU" sz="2000" dirty="0"/>
              <a:t>: </a:t>
            </a:r>
            <a:r>
              <a:rPr lang="en-US" sz="2000" dirty="0"/>
              <a:t>CREATE ROLE </a:t>
            </a:r>
            <a:r>
              <a:rPr lang="en-US" sz="2000" dirty="0" err="1"/>
              <a:t>test_role</a:t>
            </a:r>
            <a:r>
              <a:rPr lang="ru-RU" sz="2000" dirty="0"/>
              <a:t>  </a:t>
            </a:r>
            <a:r>
              <a:rPr lang="en-US" sz="2000" dirty="0"/>
              <a:t>IDENTIFIED BY </a:t>
            </a:r>
            <a:r>
              <a:rPr lang="en-US" sz="2000" dirty="0" err="1"/>
              <a:t>ppp</a:t>
            </a:r>
            <a:r>
              <a:rPr lang="en-US" sz="2000" dirty="0"/>
              <a:t>;</a:t>
            </a:r>
            <a:r>
              <a:rPr lang="ru-RU" sz="2000" dirty="0"/>
              <a:t> //</a:t>
            </a:r>
            <a:r>
              <a:rPr lang="en-US" sz="2000" dirty="0" err="1"/>
              <a:t>ppp</a:t>
            </a:r>
            <a:r>
              <a:rPr lang="en-US" sz="2000" dirty="0"/>
              <a:t> </a:t>
            </a:r>
            <a:r>
              <a:rPr lang="ru-RU" sz="2000" dirty="0"/>
              <a:t>-- это пароль</a:t>
            </a:r>
          </a:p>
          <a:p>
            <a:pPr marL="0" indent="0" fontAlgn="base">
              <a:buNone/>
            </a:pPr>
            <a:r>
              <a:rPr lang="ru-RU" sz="2000" dirty="0"/>
              <a:t>Предоставим привилегии </a:t>
            </a:r>
            <a:r>
              <a:rPr lang="en-US" sz="2000" dirty="0"/>
              <a:t>SELECT, INSERT, UPDATE </a:t>
            </a:r>
            <a:r>
              <a:rPr lang="ru-RU" sz="2000" dirty="0"/>
              <a:t>и </a:t>
            </a:r>
            <a:r>
              <a:rPr lang="en-US" sz="2000" dirty="0"/>
              <a:t>DELETE </a:t>
            </a:r>
            <a:r>
              <a:rPr lang="ru-RU" sz="2000" dirty="0"/>
              <a:t>на таблицу </a:t>
            </a:r>
            <a:r>
              <a:rPr lang="en-US" sz="2000" dirty="0"/>
              <a:t> employees </a:t>
            </a:r>
            <a:r>
              <a:rPr lang="ru-RU" sz="2000" dirty="0"/>
              <a:t>для роли </a:t>
            </a:r>
            <a:r>
              <a:rPr lang="en-US" sz="2000" dirty="0" err="1"/>
              <a:t>test_role</a:t>
            </a:r>
            <a:r>
              <a:rPr lang="ru-RU" sz="2000" dirty="0"/>
              <a:t>:</a:t>
            </a:r>
            <a:r>
              <a:rPr lang="en-US" sz="2000" dirty="0"/>
              <a:t> </a:t>
            </a:r>
          </a:p>
          <a:p>
            <a:pPr marL="0" indent="0" fontAlgn="base">
              <a:buNone/>
            </a:pPr>
            <a:r>
              <a:rPr lang="en-US" sz="2000" dirty="0"/>
              <a:t>GRANT select, insert, update, delete ON employees TO </a:t>
            </a:r>
            <a:r>
              <a:rPr lang="en-US" sz="2000" dirty="0" err="1"/>
              <a:t>test_role</a:t>
            </a:r>
            <a:r>
              <a:rPr lang="en-US" sz="2000" dirty="0"/>
              <a:t>;</a:t>
            </a:r>
          </a:p>
          <a:p>
            <a:pPr marL="0" indent="0" fontAlgn="base">
              <a:buNone/>
            </a:pPr>
            <a:r>
              <a:rPr lang="ru-RU" sz="2000" dirty="0"/>
              <a:t>Отменим привилегию </a:t>
            </a:r>
            <a:r>
              <a:rPr lang="en-US" sz="2000" dirty="0"/>
              <a:t>DELETE</a:t>
            </a:r>
            <a:r>
              <a:rPr lang="ru-RU" sz="2000" dirty="0"/>
              <a:t> </a:t>
            </a:r>
            <a:r>
              <a:rPr lang="ru-RU" sz="2000"/>
              <a:t>у роли:</a:t>
            </a:r>
            <a:endParaRPr lang="ru-RU" sz="2000" dirty="0"/>
          </a:p>
          <a:p>
            <a:pPr marL="0" indent="0" fontAlgn="base">
              <a:buNone/>
            </a:pPr>
            <a:r>
              <a:rPr lang="en-US" sz="2000" dirty="0"/>
              <a:t>REVOKE delete ON employees FROM </a:t>
            </a:r>
            <a:r>
              <a:rPr lang="en-US" sz="2000" dirty="0" err="1"/>
              <a:t>test_role</a:t>
            </a:r>
            <a:r>
              <a:rPr lang="en-US" sz="2000" dirty="0"/>
              <a:t>; </a:t>
            </a:r>
            <a:endParaRPr lang="ru-RU" sz="2000" dirty="0"/>
          </a:p>
          <a:p>
            <a:pPr marL="0" indent="0" fontAlgn="base">
              <a:buNone/>
            </a:pPr>
            <a:r>
              <a:rPr lang="en-US" sz="2000" dirty="0"/>
              <a:t> </a:t>
            </a:r>
          </a:p>
          <a:p>
            <a:pPr marL="0" indent="360000" fontAlgn="base">
              <a:buNone/>
            </a:pPr>
            <a:r>
              <a:rPr lang="ru-RU" sz="2000" dirty="0"/>
              <a:t>Для создания роли необходимо иметь привилегии на создание системной роли.</a:t>
            </a:r>
          </a:p>
          <a:p>
            <a:pPr marL="0" indent="36000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7925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Список системных привилегий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30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dirty="0"/>
              <a:t>См. файл</a:t>
            </a:r>
          </a:p>
          <a:p>
            <a:pPr marL="0" indent="0" algn="ctr">
              <a:buNone/>
            </a:pPr>
            <a:r>
              <a:rPr lang="ru-RU" sz="2000" dirty="0"/>
              <a:t>Системные привилегии _ </a:t>
            </a:r>
            <a:r>
              <a:rPr lang="en-US" sz="2000" dirty="0"/>
              <a:t>Oracle</a:t>
            </a:r>
            <a:r>
              <a:rPr lang="ru-RU" sz="2000" dirty="0"/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54325" y="3858036"/>
            <a:ext cx="6096000" cy="11339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Пользователи и схемы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См. </a:t>
            </a:r>
            <a:r>
              <a:rPr lang="ru-RU" sz="22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Пржиялковский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99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376" y="1"/>
            <a:ext cx="6445624" cy="51995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Полезные скрипты 1/2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6810" y="0"/>
            <a:ext cx="10475259" cy="748552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ru-RU" sz="2000" dirty="0"/>
              <a:t>1. Смена пароля: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200" dirty="0"/>
              <a:t>ALTER USER </a:t>
            </a:r>
            <a:r>
              <a:rPr lang="en-US" sz="2200" dirty="0" err="1"/>
              <a:t>user_name</a:t>
            </a:r>
            <a:r>
              <a:rPr lang="en-US" sz="2200" dirty="0"/>
              <a:t> IDENTIFIED BY </a:t>
            </a:r>
            <a:r>
              <a:rPr lang="en-US" sz="2200" dirty="0" err="1"/>
              <a:t>new_password</a:t>
            </a:r>
            <a:r>
              <a:rPr lang="en-US" sz="2200" dirty="0"/>
              <a:t>;</a:t>
            </a:r>
            <a:endParaRPr lang="ru-RU" sz="2200" dirty="0"/>
          </a:p>
          <a:p>
            <a:pPr marL="0" indent="0">
              <a:lnSpc>
                <a:spcPct val="80000"/>
              </a:lnSpc>
              <a:buNone/>
            </a:pPr>
            <a:r>
              <a:rPr lang="ru-RU" sz="2200" dirty="0"/>
              <a:t>2. Удаление пользователя имеющего непустую схему: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200" dirty="0"/>
              <a:t>DROP USER </a:t>
            </a:r>
            <a:r>
              <a:rPr lang="en-US" sz="2200" dirty="0" err="1"/>
              <a:t>user_name</a:t>
            </a:r>
            <a:r>
              <a:rPr lang="en-US" sz="2200" dirty="0"/>
              <a:t> [ CASCADE ];</a:t>
            </a:r>
            <a:endParaRPr lang="ru-RU" sz="2200" dirty="0"/>
          </a:p>
          <a:p>
            <a:pPr marL="0" indent="0">
              <a:lnSpc>
                <a:spcPct val="80000"/>
              </a:lnSpc>
              <a:buNone/>
            </a:pPr>
            <a:r>
              <a:rPr lang="ru-RU" sz="2200" dirty="0"/>
              <a:t>Без опции </a:t>
            </a:r>
            <a:r>
              <a:rPr lang="en-US" sz="2200" dirty="0">
                <a:solidFill>
                  <a:prstClr val="black"/>
                </a:solidFill>
              </a:rPr>
              <a:t>CASCADE</a:t>
            </a:r>
            <a:r>
              <a:rPr lang="ru-RU" sz="2200" dirty="0">
                <a:solidFill>
                  <a:prstClr val="black"/>
                </a:solidFill>
              </a:rPr>
              <a:t> объекты схемы не удаляются.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sz="2200" dirty="0"/>
              <a:t>3. Создание основных объектов базы данных (системные привилегии)</a:t>
            </a:r>
            <a:br>
              <a:rPr lang="ru-RU" sz="2200" dirty="0"/>
            </a:br>
            <a:r>
              <a:rPr lang="en-US" sz="2200" dirty="0"/>
              <a:t>GRANT </a:t>
            </a:r>
            <a:br>
              <a:rPr lang="en-US" sz="2200" dirty="0"/>
            </a:br>
            <a:r>
              <a:rPr lang="en-US" sz="2200" dirty="0">
                <a:solidFill>
                  <a:srgbClr val="000000"/>
                </a:solidFill>
              </a:rPr>
              <a:t> CREATE TABLE,</a:t>
            </a:r>
            <a:br>
              <a:rPr lang="en-US" sz="2200" dirty="0"/>
            </a:br>
            <a:r>
              <a:rPr lang="en-US" sz="2200" dirty="0">
                <a:solidFill>
                  <a:srgbClr val="000000"/>
                </a:solidFill>
              </a:rPr>
              <a:t> CREATE PROCEDURE,</a:t>
            </a:r>
            <a:br>
              <a:rPr lang="en-US" sz="2200" dirty="0"/>
            </a:br>
            <a:r>
              <a:rPr lang="en-US" sz="2200" dirty="0">
                <a:solidFill>
                  <a:srgbClr val="000000"/>
                </a:solidFill>
              </a:rPr>
              <a:t> CREATE TRIGGER,</a:t>
            </a:r>
            <a:br>
              <a:rPr lang="en-US" sz="2200" dirty="0"/>
            </a:br>
            <a:r>
              <a:rPr lang="en-US" sz="2200" dirty="0">
                <a:solidFill>
                  <a:srgbClr val="000000"/>
                </a:solidFill>
              </a:rPr>
              <a:t> CREATE VIEW,</a:t>
            </a:r>
            <a:br>
              <a:rPr lang="en-US" sz="2200" dirty="0"/>
            </a:br>
            <a:r>
              <a:rPr lang="en-US" sz="2200" dirty="0">
                <a:solidFill>
                  <a:srgbClr val="000000"/>
                </a:solidFill>
              </a:rPr>
              <a:t> CREATE SEQUENCE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>
                <a:solidFill>
                  <a:srgbClr val="000000"/>
                </a:solidFill>
              </a:rPr>
              <a:t>;</a:t>
            </a:r>
            <a:endParaRPr lang="ru-RU" sz="2200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ru-RU" sz="2200" dirty="0"/>
              <a:t>4. Права на изменение объектов</a:t>
            </a:r>
            <a:br>
              <a:rPr lang="ru-RU" sz="2200" dirty="0"/>
            </a:br>
            <a:r>
              <a:rPr lang="en-US" sz="2200" dirty="0"/>
              <a:t>GRANT ALTER ANY TABLE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/>
              <a:t>;</a:t>
            </a:r>
            <a:br>
              <a:rPr lang="en-US" sz="2200" dirty="0"/>
            </a:br>
            <a:r>
              <a:rPr lang="en-US" sz="2200" dirty="0"/>
              <a:t>GRANT ALTER ANY PROCEDURE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/>
              <a:t>;</a:t>
            </a:r>
            <a:br>
              <a:rPr lang="en-US" sz="2200" dirty="0"/>
            </a:br>
            <a:r>
              <a:rPr lang="en-US" sz="2200" dirty="0"/>
              <a:t>GRANT ALTER ANY TRIGGER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/>
              <a:t>;</a:t>
            </a:r>
            <a:br>
              <a:rPr lang="en-US" sz="2200" dirty="0"/>
            </a:br>
            <a:r>
              <a:rPr lang="en-US" sz="2200" dirty="0"/>
              <a:t>GRANT ALTER PROFILE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/>
              <a:t>;</a:t>
            </a:r>
            <a:endParaRPr lang="ru-RU" sz="2200" dirty="0"/>
          </a:p>
          <a:p>
            <a:pPr marL="0" indent="0">
              <a:buNone/>
            </a:pPr>
            <a:r>
              <a:rPr lang="ru-RU" sz="2200" dirty="0"/>
              <a:t>5. Предоставление объектных привилегий</a:t>
            </a:r>
            <a:br>
              <a:rPr lang="ru-RU" sz="2200" dirty="0"/>
            </a:br>
            <a:r>
              <a:rPr lang="ru-RU" sz="2200" dirty="0"/>
              <a:t>--На оператор </a:t>
            </a:r>
            <a:r>
              <a:rPr lang="en-US" sz="2200" dirty="0"/>
              <a:t>SELECT </a:t>
            </a:r>
            <a:r>
              <a:rPr lang="ru-RU" sz="2200" dirty="0"/>
              <a:t>для пользователя и роли</a:t>
            </a:r>
            <a:br>
              <a:rPr lang="ru-RU" sz="2200" dirty="0"/>
            </a:br>
            <a:r>
              <a:rPr lang="en-US" sz="2200" dirty="0"/>
              <a:t>GRANT SELECT ON HR.EMPLOYEES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/>
              <a:t>, </a:t>
            </a:r>
            <a:r>
              <a:rPr lang="ru-RU" sz="2200" dirty="0"/>
              <a:t>имя</a:t>
            </a:r>
            <a:r>
              <a:rPr lang="en-US" sz="2200" dirty="0"/>
              <a:t>_</a:t>
            </a:r>
            <a:r>
              <a:rPr lang="ru-RU" sz="2200" dirty="0"/>
              <a:t>роли</a:t>
            </a:r>
            <a:r>
              <a:rPr lang="en-US" sz="2200" dirty="0"/>
              <a:t>;</a:t>
            </a:r>
            <a:br>
              <a:rPr lang="en-US" sz="2200" dirty="0"/>
            </a:br>
            <a:r>
              <a:rPr lang="en-US" sz="2200" dirty="0"/>
              <a:t>--</a:t>
            </a:r>
            <a:r>
              <a:rPr lang="ru-RU" sz="2200" dirty="0"/>
              <a:t>На оператор </a:t>
            </a:r>
            <a:r>
              <a:rPr lang="en-US" sz="2200" dirty="0"/>
              <a:t>UPDATE </a:t>
            </a:r>
            <a:r>
              <a:rPr lang="ru-RU" sz="2200" dirty="0"/>
              <a:t>к определенным столбцам</a:t>
            </a:r>
            <a:br>
              <a:rPr lang="ru-RU" sz="2200" dirty="0"/>
            </a:br>
            <a:r>
              <a:rPr lang="en-US" sz="2200" dirty="0"/>
              <a:t>GRANT UPDATE(FIRST_NAME, LAST_NAME) ON HR.EMPLOYEES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</a:t>
            </a:r>
            <a:r>
              <a:rPr lang="en-US" sz="2200" dirty="0"/>
              <a:t>, </a:t>
            </a:r>
            <a:r>
              <a:rPr lang="ru-RU" sz="2200" dirty="0"/>
              <a:t>имя</a:t>
            </a:r>
            <a:r>
              <a:rPr lang="en-US" sz="2200" dirty="0"/>
              <a:t>_</a:t>
            </a:r>
            <a:r>
              <a:rPr lang="ru-RU" sz="2200" dirty="0"/>
              <a:t>роли</a:t>
            </a:r>
            <a:r>
              <a:rPr lang="en-US" sz="2200" dirty="0"/>
              <a:t>;</a:t>
            </a:r>
            <a:br>
              <a:rPr lang="en-US" sz="2200" dirty="0"/>
            </a:br>
            <a:r>
              <a:rPr lang="en-US" sz="2200" dirty="0"/>
              <a:t>--</a:t>
            </a:r>
            <a:r>
              <a:rPr lang="ru-RU" sz="2200" dirty="0"/>
              <a:t>На </a:t>
            </a:r>
            <a:r>
              <a:rPr lang="en-US" sz="2200" dirty="0"/>
              <a:t>INSERT </a:t>
            </a:r>
            <a:r>
              <a:rPr lang="ru-RU" sz="2200" dirty="0"/>
              <a:t>с возможностью пользователя передавать другим эту привилегию</a:t>
            </a:r>
            <a:br>
              <a:rPr lang="ru-RU" sz="2200" dirty="0"/>
            </a:br>
            <a:r>
              <a:rPr lang="en-US" sz="2200" dirty="0"/>
              <a:t>GRANT INSERT ON HR.EMPLOYEES TO </a:t>
            </a:r>
            <a:r>
              <a:rPr lang="ru-RU" sz="2200" dirty="0">
                <a:solidFill>
                  <a:srgbClr val="000000"/>
                </a:solidFill>
              </a:rPr>
              <a:t>имя_пользователя </a:t>
            </a:r>
            <a:r>
              <a:rPr lang="en-US" sz="2200" dirty="0"/>
              <a:t>WITH GRANT OPTION;</a:t>
            </a:r>
            <a:br>
              <a:rPr lang="en-US" sz="2200" dirty="0"/>
            </a:br>
            <a:r>
              <a:rPr lang="en-US" sz="2200" dirty="0"/>
              <a:t>--</a:t>
            </a:r>
            <a:r>
              <a:rPr lang="ru-RU" sz="2200" dirty="0"/>
              <a:t>Для всех пользователей на чтение</a:t>
            </a:r>
            <a:br>
              <a:rPr lang="ru-RU" sz="2200" dirty="0"/>
            </a:br>
            <a:r>
              <a:rPr lang="en-US" sz="2200" dirty="0"/>
              <a:t>GRANT SELECT ON HR.EMPLOYEES TO PUBLIC;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96514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94099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Полезные скрипты 2/2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94100"/>
            <a:ext cx="10515600" cy="6263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</a:rPr>
              <a:t>Как узнать: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</a:rPr>
              <a:t>1. Все системные привилегии для ролей</a:t>
            </a:r>
            <a:br>
              <a:rPr lang="ru-RU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SELECT * FROM ROLE_SYS_PRIVS; 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--</a:t>
            </a:r>
            <a:r>
              <a:rPr lang="ru-RU" sz="2000" dirty="0">
                <a:latin typeface="Times New Roman" panose="02020603050405020304" pitchFamily="18" charset="0"/>
              </a:rPr>
              <a:t>Все привилегии на таблицы для ролей</a:t>
            </a:r>
            <a:br>
              <a:rPr lang="ru-RU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SELECT * FROM ROLE_TAB_PRIVS;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--</a:t>
            </a:r>
            <a:r>
              <a:rPr lang="ru-RU" sz="2000" dirty="0">
                <a:latin typeface="Times New Roman" panose="02020603050405020304" pitchFamily="18" charset="0"/>
              </a:rPr>
              <a:t>Все роли, доступные пользователю</a:t>
            </a:r>
            <a:br>
              <a:rPr lang="ru-RU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SELECT * FROM USER_ROLE_PRIVS;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</a:rPr>
              <a:t>2. Все объектные привилегии доступные пользователю</a:t>
            </a:r>
            <a:br>
              <a:rPr lang="ru-RU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SELECT * FROM USER_TAB_PRIVS_RECD;</a:t>
            </a:r>
            <a:br>
              <a:rPr lang="en-US" sz="2000" dirty="0">
                <a:latin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</a:rPr>
              <a:t>3. Отмена привилегий</a:t>
            </a:r>
            <a:br>
              <a:rPr lang="ru-RU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REVOKE CREATE VIEW FROM CU_1;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REVOKE INSERT ON HR.EMPLOYEES FROM CU_1;</a:t>
            </a:r>
            <a:endParaRPr lang="ru-RU" sz="2000" dirty="0">
              <a:latin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4. Роли, доступные определенному пользователю</a:t>
            </a:r>
            <a:b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</a:rPr>
            </a:b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SELECT * FROM  DBA_ROLE_PRIVS WHERE GRANTEE = 'CU_1';</a:t>
            </a: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5. Отнять роль у пользователя</a:t>
            </a:r>
            <a:br>
              <a:rPr lang="ru-RU" sz="2000" dirty="0">
                <a:solidFill>
                  <a:prstClr val="black"/>
                </a:solidFill>
                <a:latin typeface="Times New Roman" panose="02020603050405020304" pitchFamily="18" charset="0"/>
              </a:rPr>
            </a:b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REVOKE CU_ROLE FROM CU_1;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</a:rPr>
              <a:t>6. Удалить роль</a:t>
            </a:r>
            <a:br>
              <a:rPr lang="ru-RU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DROP ROLE </a:t>
            </a:r>
            <a:r>
              <a:rPr lang="en-US" sz="2000" dirty="0" err="1">
                <a:latin typeface="Times New Roman" panose="02020603050405020304" pitchFamily="18" charset="0"/>
              </a:rPr>
              <a:t>cu_role</a:t>
            </a:r>
            <a:r>
              <a:rPr lang="en-US" sz="2000" dirty="0">
                <a:latin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8687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12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Профили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41269"/>
            <a:ext cx="10515600" cy="5535694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Активность пользователей ограничивают, управляя доступными им ресурсами.  Основное средство для решения этой задачи -- профили  пользователя,  которые  создаются  командой: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 PROFILE 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имя_профиля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LIMIT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о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граничение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[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ограничение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…  ];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Изменяются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командой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ALTER  PROFILE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имя_профиля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LIMIT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о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граничение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[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ограничение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…  ];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</a:rPr>
              <a:t>   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Уничтожаются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профили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командой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DROP  PROFILE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Существует профиль по умолчанию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DEFAULT.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Если при задании другого  профиля параметр профиля не задан явно, соответствующее ограничение  выбирается из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DEFAULT.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Квоты  табличных  пространств  задаются  фразами  вида: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quota 2 M on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tablespace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имя_табличного_пространства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quota  unlimited  on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tablespace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имя_табличного_пространства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65180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3766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Ресурсы  ограничиваемые профилями (1/3)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8141" y="593767"/>
            <a:ext cx="11269682" cy="6264234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228600" algn="l"/>
              </a:tabLs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SESSION_PER_USER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число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сеансов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пользователя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Определяет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максимальное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количество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подключений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к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базе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данных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Если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ограничени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 достигнуто,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выдается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сообщение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ошибке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Попытка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установить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еще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одно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соединение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удастся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CPU_PER_SESSION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процессора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сеанс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достижении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установленного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времени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центрального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процессора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минутах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может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выполнить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этом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сеансе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никаких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действий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кроме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отсоединения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сбрасыва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ющего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счетчик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времени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центрального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процессора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в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сеансе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LOGICAL_READS_PER_SESSION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количество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логических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чтений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сеанс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Определяет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общее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количество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логических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чтений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(в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блоках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 которое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может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быть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вызвано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сеанс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достижении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предела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может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продолжать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работу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только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если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он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выполняет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чтений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LOGICAL_READS_PER_CALL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количество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логических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чтений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оператор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SQL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Ограничивает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количество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блоков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данных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которое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может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читаться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одной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командой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SQL.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Если  предел  превышен, исполнение прекращается с ошибкой.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IDLE_TIME  (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время  простоя)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Определяет в минутах сколько соединение может простаивать. Следует учитывать, что      пользователь  заметит  свое  отсоединение  только  попытавшись   выполнить  запрос.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CONNECT_TIME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подключения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lvl="0" indent="0">
              <a:spcAft>
                <a:spcPts val="0"/>
              </a:spcAft>
              <a:buNone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Устанавливает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минутах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подключения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к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базе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данных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истечении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заданного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времени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соединение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завершается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Любые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запросы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возвращают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сообщение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ошибке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3428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75012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Ресурсы  ограничиваемые профилями (2/3)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2514" y="475013"/>
            <a:ext cx="11257808" cy="6382987"/>
          </a:xfrm>
        </p:spPr>
        <p:txBody>
          <a:bodyPr>
            <a:normAutofit fontScale="47500" lnSpcReduction="20000"/>
          </a:bodyPr>
          <a:lstStyle/>
          <a:p>
            <a:pPr>
              <a:tabLst>
                <a:tab pos="228600" algn="l"/>
              </a:tabLs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PRIVATE_SGA_PER_SESSION 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размер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собственной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области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SGA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на  сеанс.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Определяет размер собственной области в 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SGA.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Может иметь значение 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UNLIMITED.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</a:tabLs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COMPOSITE_LIMIT 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--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комбинированное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ограничение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На ресурсах</a:t>
            </a:r>
            <a:r>
              <a:rPr lang="ru-RU" sz="42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2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CPU_PER_SESSION,  LOGICAL_READS_PER_SESSION,  CONNECT_TIME  </a:t>
            </a:r>
            <a:r>
              <a:rPr lang="ru-RU" sz="42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и</a:t>
            </a:r>
            <a:r>
              <a:rPr lang="en-US" sz="4200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PRIVATE_SGA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можно задать их стоимости (От 0 и более).  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spcAft>
                <a:spcPts val="0"/>
              </a:spcAft>
              <a:buNone/>
            </a:pP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Стоимости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ресурсов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устанавливаются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командами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вида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ALTER  RESOURCE COST CONNECT_TIME  20;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Если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задать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стоимости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ресурсов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и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значение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COMPOSITE_LIMIT,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то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будут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разрешены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любые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комбинации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ресурсов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превышающих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COMPOSITE_LIMIT.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4200" u="sng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Пример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Установим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CPU_PER_SESSION		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 1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LOGICAL_READS_PER_SESSION	в  0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CONNECT_TIME			в  20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PRIVATE_SGA			в  10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COMPOSITE_LIMIT			в  5000</a:t>
            </a:r>
            <a:endParaRPr lang="ru-RU" sz="4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Теперь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пользователь может, например: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arenBoth"/>
              <a:tabLst>
                <a:tab pos="228600" algn="l"/>
              </a:tabLst>
            </a:pP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занимать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центральный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процессор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5000/1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минут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arenBoth"/>
              <a:tabLst>
                <a:tab pos="228600" algn="l"/>
              </a:tabLst>
            </a:pP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иметь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5000/10=500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блоков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в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собственной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области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SGA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arenBoth"/>
              <a:tabLst>
                <a:tab pos="228600" algn="l"/>
              </a:tabLst>
            </a:pP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иметь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2000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минут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центрального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процессора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и  (5000 – 2000)=3000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логических</a:t>
            </a:r>
            <a:r>
              <a:rPr lang="en-US" sz="4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чтений</a:t>
            </a:r>
            <a:endParaRPr lang="ru-RU" sz="4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0632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9397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Ресурсы  ограничиваемые профилями (3/3)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1998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latin typeface="Arial" panose="020B0604020202020204" pitchFamily="34" charset="0"/>
                <a:ea typeface="Times New Roman" panose="02020603050405020304" pitchFamily="18" charset="0"/>
              </a:rPr>
              <a:t>Пример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команды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которую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SYSTEM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выполняет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создания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ru-RU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  profile   Pr1  limit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idle_time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		20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cpu_per_call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	500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logical_reads_per_session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unlimited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composite_limit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	5000;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Замечание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1: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умолчанию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файле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INIT.ORA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параметра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RESOURCE_LIMIT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установлено  значение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FALSE.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Это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означает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используются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СУБД.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Установите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RESOURCE_LIMIT   в  TRUE,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если  хотите,  чтобы  профили  работали.</a:t>
            </a:r>
            <a:b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2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Замечание</a:t>
            </a: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2: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уничтожении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учетного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раздела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пользователя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администратор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обязан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сначала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решить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делать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с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объектами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принадлежащими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пользователю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уничтожении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решается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что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делать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с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пользователями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этого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профиля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74942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89571"/>
            <a:ext cx="10515600" cy="73598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</a:rPr>
              <a:t>Пример: метаданные пользователя </a:t>
            </a:r>
            <a:r>
              <a:rPr lang="en-US" sz="3600" dirty="0">
                <a:solidFill>
                  <a:srgbClr val="FF0000"/>
                </a:solidFill>
              </a:rPr>
              <a:t>HR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5176" y="925551"/>
            <a:ext cx="10961648" cy="5820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SELECT DBMS_METADATA.GET_DDL('USER', USERNAME) || '/' DDL</a:t>
            </a:r>
          </a:p>
          <a:p>
            <a:pPr marL="0" indent="0">
              <a:buNone/>
            </a:pPr>
            <a:r>
              <a:rPr lang="en-US" sz="2000" dirty="0"/>
              <a:t>FROM DBA_USERS where username = ‘HR'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DBMS_METADATA.GET_GRANTED_DDL('TABLESPACE_QUOTA', USERNAME) || '/' DDL</a:t>
            </a:r>
          </a:p>
          <a:p>
            <a:pPr marL="0" indent="0">
              <a:buNone/>
            </a:pPr>
            <a:r>
              <a:rPr lang="en-US" sz="2000" dirty="0"/>
              <a:t>FROM DBA_USERS where username in (select username from </a:t>
            </a:r>
            <a:r>
              <a:rPr lang="en-US" sz="2000" dirty="0" err="1"/>
              <a:t>dba_ts_quotas</a:t>
            </a:r>
            <a:r>
              <a:rPr lang="en-US" sz="2000" dirty="0"/>
              <a:t> where username = ‘HR')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DBMS_METADATA.GET_GRANTED_DDL('ROLE_GRANT', USERNAME) || '/' DDL</a:t>
            </a:r>
          </a:p>
          <a:p>
            <a:pPr marL="0" indent="0">
              <a:buNone/>
            </a:pPr>
            <a:r>
              <a:rPr lang="en-US" sz="2000" dirty="0"/>
              <a:t>FROM DBA_USERS where username in (select grantee from </a:t>
            </a:r>
            <a:r>
              <a:rPr lang="en-US" sz="2000" dirty="0" err="1"/>
              <a:t>dba_role_privs</a:t>
            </a:r>
            <a:r>
              <a:rPr lang="en-US" sz="2000" dirty="0"/>
              <a:t> where grantee = ‘HR') 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DBMS_METADATA.GET_GRANTED_DDL('SYSTEM_GRANT', USERNAME) || '/' DDL</a:t>
            </a:r>
          </a:p>
          <a:p>
            <a:pPr marL="0" indent="0">
              <a:buNone/>
            </a:pPr>
            <a:r>
              <a:rPr lang="en-US" sz="2000" dirty="0"/>
              <a:t>FROM DBA_USERS where username in (select grantee from </a:t>
            </a:r>
            <a:r>
              <a:rPr lang="en-US" sz="2000" dirty="0" err="1"/>
              <a:t>dba_sys_privs</a:t>
            </a:r>
            <a:r>
              <a:rPr lang="en-US" sz="2000" dirty="0"/>
              <a:t> where grantee = ‘HR' ) </a:t>
            </a:r>
          </a:p>
          <a:p>
            <a:pPr marL="0" indent="0">
              <a:buNone/>
            </a:pPr>
            <a:r>
              <a:rPr lang="en-US" sz="2000" dirty="0"/>
              <a:t>UNION ALL</a:t>
            </a:r>
          </a:p>
          <a:p>
            <a:pPr marL="0" indent="0">
              <a:buNone/>
            </a:pPr>
            <a:r>
              <a:rPr lang="en-US" sz="2000" dirty="0"/>
              <a:t>SELECT DBMS_METADATA.GET_GRANTED_DDL('OBJECT_GRANT', USERNAME) || '/' DDL</a:t>
            </a:r>
          </a:p>
          <a:p>
            <a:pPr marL="0" indent="0">
              <a:buNone/>
            </a:pPr>
            <a:r>
              <a:rPr lang="en-US" sz="2000" dirty="0"/>
              <a:t>FROM DBA_USERS where username in (select grantee from </a:t>
            </a:r>
            <a:r>
              <a:rPr lang="en-US" sz="2000" dirty="0" err="1"/>
              <a:t>dba_tab_privs</a:t>
            </a:r>
            <a:r>
              <a:rPr lang="en-US" sz="2000" dirty="0"/>
              <a:t> where grantee = ‘HR');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67421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9392"/>
          </a:xfrm>
        </p:spPr>
        <p:txBody>
          <a:bodyPr>
            <a:normAutofit fontScale="90000"/>
          </a:bodyPr>
          <a:lstStyle/>
          <a:p>
            <a:pPr algn="ctr">
              <a:spcAft>
                <a:spcPts val="0"/>
              </a:spcAft>
            </a:pPr>
            <a:br>
              <a:rPr lang="ru-RU" sz="3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ru-RU" sz="40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Задания (1/2)</a:t>
            </a:r>
            <a:br>
              <a:rPr lang="ru-RU" sz="4000" dirty="0">
                <a:effectLst/>
                <a:ea typeface="Times New Roman" panose="02020603050405020304" pitchFamily="18" charset="0"/>
              </a:rPr>
            </a:b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34390"/>
            <a:ext cx="10775868" cy="6214753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Подключитесь  к  базе  как  пользователь 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system.  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Командами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user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u1 </a:t>
            </a: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identified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u1;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user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u2 </a:t>
            </a: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identified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u2;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создайте  двух  пользователей.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spcAft>
                <a:spcPts val="0"/>
              </a:spcAft>
              <a:buNone/>
              <a:tabLst>
                <a:tab pos="228600" algn="l"/>
              </a:tabLst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Попробуйте  подключиться  к  базе  пользователем 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connect u1/u1,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затем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подключитесь  как 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sys  и  </a:t>
            </a:r>
            <a:r>
              <a:rPr lang="en-US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вновь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en-US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попробуйте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connect  u2/u2.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>
              <a:spcAft>
                <a:spcPts val="0"/>
              </a:spcAft>
              <a:buNone/>
              <a:tabLst>
                <a:tab pos="228600" algn="l"/>
              </a:tabLst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Соединение  не  удавалось  так  как  минимальные  привилегии  пользователя  для  задания  сессии  это 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 SESSION.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Опять  подключитесь  как 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sys. 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Присвойте  эту  привилегию пользователю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u1.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Убедитесь, что теперь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u1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может подсоединиться, а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u2  </a:t>
            </a:r>
            <a:r>
              <a:rPr lang="en-US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4"/>
              <a:tabLst>
                <a:tab pos="228600" algn="l"/>
              </a:tabLst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Опять  подключитесь  как 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sys. </a:t>
            </a:r>
            <a:r>
              <a:rPr lang="en-US" sz="2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Присвойте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роли</a:t>
            </a:r>
            <a:r>
              <a:rPr lang="en-US" sz="2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привилегию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SESSION.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Убедитесь, что оба созданных пользователя могут подключаться к базе  данных. Объясните,  почему?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4"/>
              <a:tabLst>
                <a:tab pos="228600" algn="l"/>
              </a:tabLst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Уничтожьте пользователя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u2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Убедитесь  в  этом.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4"/>
              <a:tabLst>
                <a:tab pos="228600" algn="l"/>
              </a:tabLst>
            </a:pP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Подключившись пользователем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попробуйте создать таблицу </a:t>
            </a:r>
            <a:r>
              <a:rPr lang="en-US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ru-RU" sz="2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 одного числового  столбца. Почему это не удается?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3746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5284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dirty="0">
                <a:solidFill>
                  <a:srgbClr val="FF0000"/>
                </a:solidFill>
                <a:ea typeface="Times New Roman" panose="02020603050405020304" pitchFamily="18" charset="0"/>
              </a:rPr>
              <a:t>Задания (2/2)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322" y="452846"/>
            <a:ext cx="10515600" cy="6405155"/>
          </a:xfrm>
        </p:spPr>
        <p:txBody>
          <a:bodyPr>
            <a:normAutofit fontScale="92500" lnSpcReduction="20000"/>
          </a:bodyPr>
          <a:lstStyle/>
          <a:p>
            <a:pPr marL="457200" lvl="0" indent="-457200">
              <a:spcAft>
                <a:spcPts val="0"/>
              </a:spcAft>
              <a:buFont typeface="+mj-lt"/>
              <a:buAutoNum type="arabicPeriod" startAt="7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Дадим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u1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привилегию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 ANY  TABLE.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Вновь  попробуем  создать  эту  же  таблицу, на  что  сервер  ответит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 no privileges on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'SYSTEM' ”.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Дело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том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догадались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квоту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табличные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пространства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пользователя  u1.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spcAft>
                <a:spcPts val="0"/>
              </a:spcAft>
              <a:buFont typeface="+mj-lt"/>
              <a:buAutoNum type="arabicPeriod" startAt="7"/>
              <a:tabLst>
                <a:tab pos="228600" algn="l"/>
              </a:tabLst>
            </a:pP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Теперь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проще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уничтожить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бесправного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u1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 вновь  создать  его  выбрав  табличные  пространства  и  квоты  на  них.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user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u1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identified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u1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default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tablespace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user_data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quota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unlimited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user_data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Вновь  создаем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и  вновь  это  не  удается.  Нужна  привилегия  на  создание  любых  таблиц.  Добавим  ее  и,  наконец,  создадим  таблицу.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9.     Командой     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view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v1 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select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c1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from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Попытайтесь  создать  представление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v1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 Это  не  удастся.  Добавьте   необходимую  привилегию.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10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Командой 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create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table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hr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.t222  (c1 </a:t>
            </a:r>
            <a:r>
              <a:rPr lang="ru-RU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number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(3));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создайте  таблицу  в  схеме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HR.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10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Введите  по  одной  строке  в  таблицы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 </a:t>
            </a:r>
            <a:r>
              <a:rPr lang="en-US" sz="2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.t222.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добиться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ввод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в  </a:t>
            </a:r>
            <a:r>
              <a:rPr lang="en-US" sz="2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таблицу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t222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стал  возможен?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10"/>
              <a:tabLst>
                <a:tab pos="228600" algn="l"/>
              </a:tabLs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Проверьте,  какими  возможностями  по  отношению  к  объектам  схемы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обладает  </a:t>
            </a:r>
            <a:r>
              <a:rPr lang="en-US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525902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1777</TotalTime>
  <Words>2244</Words>
  <Application>Microsoft Office PowerPoint</Application>
  <PresentationFormat>Широкоэкранный</PresentationFormat>
  <Paragraphs>170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Тема Office</vt:lpstr>
      <vt:lpstr>Пользователи, роли, привилегии</vt:lpstr>
      <vt:lpstr>Пользователь/схема (1/2)</vt:lpstr>
      <vt:lpstr>Пользователь/схема (2/2)</vt:lpstr>
      <vt:lpstr>Привилегии</vt:lpstr>
      <vt:lpstr>Роли</vt:lpstr>
      <vt:lpstr>Список системных привилегий</vt:lpstr>
      <vt:lpstr>Полезные скрипты 1/2</vt:lpstr>
      <vt:lpstr>Полезные скрипты 2/2</vt:lpstr>
      <vt:lpstr>Профили</vt:lpstr>
      <vt:lpstr>Ресурсы  ограничиваемые профилями (1/3)</vt:lpstr>
      <vt:lpstr>Ресурсы  ограничиваемые профилями (2/3)</vt:lpstr>
      <vt:lpstr>Ресурсы  ограничиваемые профилями (3/3)</vt:lpstr>
      <vt:lpstr>Пример: метаданные пользователя HR</vt:lpstr>
      <vt:lpstr> Задания (1/2) </vt:lpstr>
      <vt:lpstr>Задания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Пользователи, роли, привилегии</dc:title>
  <dc:creator>Bessarabov</dc:creator>
  <cp:lastModifiedBy>Nikolay Bessarabov</cp:lastModifiedBy>
  <cp:revision>43</cp:revision>
  <dcterms:created xsi:type="dcterms:W3CDTF">2018-01-30T17:49:32Z</dcterms:created>
  <dcterms:modified xsi:type="dcterms:W3CDTF">2021-10-07T08:50:07Z</dcterms:modified>
</cp:coreProperties>
</file>