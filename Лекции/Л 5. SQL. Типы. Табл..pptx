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79"/>
  </p:notesMasterIdLst>
  <p:sldIdLst>
    <p:sldId id="256" r:id="rId3"/>
    <p:sldId id="304" r:id="rId4"/>
    <p:sldId id="306" r:id="rId5"/>
    <p:sldId id="282" r:id="rId6"/>
    <p:sldId id="269" r:id="rId7"/>
    <p:sldId id="270" r:id="rId8"/>
    <p:sldId id="271" r:id="rId9"/>
    <p:sldId id="283" r:id="rId10"/>
    <p:sldId id="285" r:id="rId11"/>
    <p:sldId id="330" r:id="rId12"/>
    <p:sldId id="274" r:id="rId13"/>
    <p:sldId id="275" r:id="rId14"/>
    <p:sldId id="314" r:id="rId15"/>
    <p:sldId id="315" r:id="rId16"/>
    <p:sldId id="305" r:id="rId17"/>
    <p:sldId id="262" r:id="rId18"/>
    <p:sldId id="320" r:id="rId19"/>
    <p:sldId id="318" r:id="rId20"/>
    <p:sldId id="319" r:id="rId21"/>
    <p:sldId id="321" r:id="rId22"/>
    <p:sldId id="322" r:id="rId23"/>
    <p:sldId id="268" r:id="rId24"/>
    <p:sldId id="325" r:id="rId25"/>
    <p:sldId id="264" r:id="rId26"/>
    <p:sldId id="288" r:id="rId27"/>
    <p:sldId id="272" r:id="rId28"/>
    <p:sldId id="273" r:id="rId29"/>
    <p:sldId id="328" r:id="rId30"/>
    <p:sldId id="327" r:id="rId31"/>
    <p:sldId id="336" r:id="rId32"/>
    <p:sldId id="266" r:id="rId33"/>
    <p:sldId id="337" r:id="rId34"/>
    <p:sldId id="308" r:id="rId35"/>
    <p:sldId id="257" r:id="rId36"/>
    <p:sldId id="258" r:id="rId37"/>
    <p:sldId id="284" r:id="rId38"/>
    <p:sldId id="259" r:id="rId39"/>
    <p:sldId id="286" r:id="rId40"/>
    <p:sldId id="311" r:id="rId41"/>
    <p:sldId id="287" r:id="rId42"/>
    <p:sldId id="289" r:id="rId43"/>
    <p:sldId id="290" r:id="rId44"/>
    <p:sldId id="293" r:id="rId45"/>
    <p:sldId id="338" r:id="rId46"/>
    <p:sldId id="349" r:id="rId47"/>
    <p:sldId id="352" r:id="rId48"/>
    <p:sldId id="350" r:id="rId49"/>
    <p:sldId id="353" r:id="rId50"/>
    <p:sldId id="351" r:id="rId51"/>
    <p:sldId id="342" r:id="rId52"/>
    <p:sldId id="292" r:id="rId53"/>
    <p:sldId id="334" r:id="rId54"/>
    <p:sldId id="332" r:id="rId55"/>
    <p:sldId id="333" r:id="rId56"/>
    <p:sldId id="295" r:id="rId57"/>
    <p:sldId id="296" r:id="rId58"/>
    <p:sldId id="297" r:id="rId59"/>
    <p:sldId id="298" r:id="rId60"/>
    <p:sldId id="299" r:id="rId61"/>
    <p:sldId id="300" r:id="rId62"/>
    <p:sldId id="301" r:id="rId63"/>
    <p:sldId id="302" r:id="rId64"/>
    <p:sldId id="303" r:id="rId65"/>
    <p:sldId id="335" r:id="rId66"/>
    <p:sldId id="329" r:id="rId67"/>
    <p:sldId id="343" r:id="rId68"/>
    <p:sldId id="346" r:id="rId69"/>
    <p:sldId id="344" r:id="rId70"/>
    <p:sldId id="345" r:id="rId71"/>
    <p:sldId id="347" r:id="rId72"/>
    <p:sldId id="348" r:id="rId73"/>
    <p:sldId id="358" r:id="rId74"/>
    <p:sldId id="354" r:id="rId75"/>
    <p:sldId id="356" r:id="rId76"/>
    <p:sldId id="357" r:id="rId77"/>
    <p:sldId id="355" r:id="rId7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FFF3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86" autoAdjust="0"/>
    <p:restoredTop sz="94660"/>
  </p:normalViewPr>
  <p:slideViewPr>
    <p:cSldViewPr snapToGrid="0">
      <p:cViewPr varScale="1">
        <p:scale>
          <a:sx n="71" d="100"/>
          <a:sy n="71" d="100"/>
        </p:scale>
        <p:origin x="1302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4" d="100"/>
          <a:sy n="64" d="100"/>
        </p:scale>
        <p:origin x="270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AF835D-C1CD-477A-AE2E-C68A9697F52D}" type="datetimeFigureOut">
              <a:rPr lang="ru-RU" smtClean="0"/>
              <a:t>20.10.2021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5F63EF-309D-4D54-BEFF-60DB69FE84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2479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63EF-309D-4D54-BEFF-60DB69FE84AC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8048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807B-92DA-40A4-9786-FAC7D8117249}" type="datetimeFigureOut">
              <a:rPr lang="ru-RU" smtClean="0"/>
              <a:t>20.10.2021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FE08C-7F4F-4C46-BE2A-0D8FADF61A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5782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807B-92DA-40A4-9786-FAC7D8117249}" type="datetimeFigureOut">
              <a:rPr lang="ru-RU" smtClean="0"/>
              <a:t>20.10.2021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FE08C-7F4F-4C46-BE2A-0D8FADF61A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4392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807B-92DA-40A4-9786-FAC7D8117249}" type="datetimeFigureOut">
              <a:rPr lang="ru-RU" smtClean="0"/>
              <a:t>20.10.2021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FE08C-7F4F-4C46-BE2A-0D8FADF61A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277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807B-92DA-40A4-9786-FAC7D8117249}" type="datetimeFigureOut">
              <a:rPr lang="ru-RU" smtClean="0"/>
              <a:t>20.10.2021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FE08C-7F4F-4C46-BE2A-0D8FADF61A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2224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807B-92DA-40A4-9786-FAC7D8117249}" type="datetimeFigureOut">
              <a:rPr lang="ru-RU" smtClean="0"/>
              <a:t>20.10.2021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FE08C-7F4F-4C46-BE2A-0D8FADF61A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047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807B-92DA-40A4-9786-FAC7D8117249}" type="datetimeFigureOut">
              <a:rPr lang="ru-RU" smtClean="0"/>
              <a:t>20.10.2021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FE08C-7F4F-4C46-BE2A-0D8FADF61A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9015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807B-92DA-40A4-9786-FAC7D8117249}" type="datetimeFigureOut">
              <a:rPr lang="ru-RU" smtClean="0"/>
              <a:t>20.10.2021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FE08C-7F4F-4C46-BE2A-0D8FADF61A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5410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807B-92DA-40A4-9786-FAC7D8117249}" type="datetimeFigureOut">
              <a:rPr lang="ru-RU" smtClean="0"/>
              <a:t>20.10.2021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FE08C-7F4F-4C46-BE2A-0D8FADF61A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508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807B-92DA-40A4-9786-FAC7D8117249}" type="datetimeFigureOut">
              <a:rPr lang="ru-RU" smtClean="0"/>
              <a:t>20.10.2021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FE08C-7F4F-4C46-BE2A-0D8FADF61A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0960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807B-92DA-40A4-9786-FAC7D8117249}" type="datetimeFigureOut">
              <a:rPr lang="ru-RU" smtClean="0"/>
              <a:t>20.10.2021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FE08C-7F4F-4C46-BE2A-0D8FADF61A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145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807B-92DA-40A4-9786-FAC7D8117249}" type="datetimeFigureOut">
              <a:rPr lang="ru-RU" smtClean="0"/>
              <a:t>20.10.2021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FE08C-7F4F-4C46-BE2A-0D8FADF61A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4143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9DF5-2057-461B-B2DE-8A204F713B1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20.10.2021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7576-F148-41E3-970C-FD69623F14D3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46601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9DF5-2057-461B-B2DE-8A204F713B1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20.10.2021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7576-F148-41E3-970C-FD69623F14D3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9726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9DF5-2057-461B-B2DE-8A204F713B1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20.10.2021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7576-F148-41E3-970C-FD69623F14D3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7891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9DF5-2057-461B-B2DE-8A204F713B1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20.10.2021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7576-F148-41E3-970C-FD69623F14D3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3943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9DF5-2057-461B-B2DE-8A204F713B1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20.10.2021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7576-F148-41E3-970C-FD69623F14D3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53648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9DF5-2057-461B-B2DE-8A204F713B1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20.10.2021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7576-F148-41E3-970C-FD69623F14D3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9082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9DF5-2057-461B-B2DE-8A204F713B1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20.10.2021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7576-F148-41E3-970C-FD69623F14D3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8695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9DF5-2057-461B-B2DE-8A204F713B1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20.10.2021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7576-F148-41E3-970C-FD69623F14D3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24923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9DF5-2057-461B-B2DE-8A204F713B1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20.10.2021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7576-F148-41E3-970C-FD69623F14D3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54806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9DF5-2057-461B-B2DE-8A204F713B1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20.10.2021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7576-F148-41E3-970C-FD69623F14D3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1221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9DF5-2057-461B-B2DE-8A204F713B1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20.10.2021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7576-F148-41E3-970C-FD69623F14D3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478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44807B-92DA-40A4-9786-FAC7D8117249}" type="datetimeFigureOut">
              <a:rPr lang="ru-RU" smtClean="0"/>
              <a:t>20.10.2021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FE08C-7F4F-4C46-BE2A-0D8FADF61A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912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A29DF5-2057-461B-B2DE-8A204F713B1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20.10.2021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F7576-F148-41E3-970C-FD69623F14D3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715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5.wdp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cd/B10501_01/appdev.920/a96612/d_metad2.htm#1023749" TargetMode="External"/><Relationship Id="rId7" Type="http://schemas.openxmlformats.org/officeDocument/2006/relationships/hyperlink" Target="https://docs.oracle.com/cd/B10501_01/appdev.920/a96612/d_metad2.htm#1024208" TargetMode="External"/><Relationship Id="rId2" Type="http://schemas.openxmlformats.org/officeDocument/2006/relationships/hyperlink" Target="https://docs.oracle.com/cd/B10501_01/appdev.920/a96612/d_metad2.htm#1026817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docs.oracle.com/cd/B10501_01/appdev.920/a96612/d_metad2.htm#1024117" TargetMode="External"/><Relationship Id="rId5" Type="http://schemas.openxmlformats.org/officeDocument/2006/relationships/hyperlink" Target="https://docs.oracle.com/cd/B10501_01/appdev.920/a96612/d_metad2.htm#1024087" TargetMode="External"/><Relationship Id="rId4" Type="http://schemas.openxmlformats.org/officeDocument/2006/relationships/hyperlink" Target="https://docs.oracle.com/cd/B10501_01/appdev.920/a96612/d_metad2.htm#1027716" TargetMode="Externa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cd/B10501_01/appdev.920/a96612/d_metad2.htm#1027916" TargetMode="External"/><Relationship Id="rId2" Type="http://schemas.openxmlformats.org/officeDocument/2006/relationships/hyperlink" Target="https://docs.oracle.com/cd/B10501_01/appdev.920/a96612/d_metad2.htm#1024510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docs.oracle.com/cd/B10501_01/appdev.920/a96612/d_metad2.htm#1031076" TargetMode="External"/><Relationship Id="rId5" Type="http://schemas.openxmlformats.org/officeDocument/2006/relationships/hyperlink" Target="https://docs.oracle.com/cd/B10501_01/appdev.920/a96612/d_metad2.htm#1030927" TargetMode="External"/><Relationship Id="rId4" Type="http://schemas.openxmlformats.org/officeDocument/2006/relationships/hyperlink" Target="https://docs.oracle.com/cd/B10501_01/appdev.920/a96612/d_metad2.htm#1024701" TargetMode="Externa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31994"/>
          </a:xfrm>
        </p:spPr>
        <p:txBody>
          <a:bodyPr>
            <a:normAutofit/>
          </a:bodyPr>
          <a:lstStyle/>
          <a:p>
            <a:r>
              <a:rPr lang="ru-RU" sz="4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Тема 3. </a:t>
            </a:r>
            <a:r>
              <a:rPr lang="ru-RU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SQL. Типы данных и таблицы. </a:t>
            </a:r>
            <a:endParaRPr lang="ru-RU" sz="4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4407108"/>
            <a:ext cx="9144000" cy="1655762"/>
          </a:xfrm>
        </p:spPr>
        <p:txBody>
          <a:bodyPr/>
          <a:lstStyle/>
          <a:p>
            <a:pPr lvl="0"/>
            <a:r>
              <a:rPr lang="ru-RU" dirty="0">
                <a:solidFill>
                  <a:prstClr val="black"/>
                </a:solidFill>
              </a:rPr>
              <a:t>Бессарабов Н.В.</a:t>
            </a:r>
          </a:p>
          <a:p>
            <a:pPr lvl="0"/>
            <a:r>
              <a:rPr lang="ru-RU" dirty="0">
                <a:solidFill>
                  <a:prstClr val="black"/>
                </a:solidFill>
              </a:rPr>
              <a:t>2018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534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795130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solidFill>
                  <a:srgbClr val="FF0000"/>
                </a:solidFill>
              </a:rPr>
              <a:t>Оглавление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72208" y="721895"/>
            <a:ext cx="10081591" cy="5852634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ru-RU" dirty="0">
                <a:ea typeface="+mj-ea"/>
                <a:cs typeface="+mj-cs"/>
              </a:rPr>
              <a:t>Создание и изменение таблиц ………………………………………  3</a:t>
            </a:r>
          </a:p>
          <a:p>
            <a:pPr marL="514350" indent="-514350">
              <a:buAutoNum type="arabicPeriod"/>
            </a:pPr>
            <a:r>
              <a:rPr lang="ru-RU" dirty="0">
                <a:ea typeface="+mj-ea"/>
                <a:cs typeface="+mj-cs"/>
              </a:rPr>
              <a:t>Типы данных …………………………………………………………………..15</a:t>
            </a:r>
          </a:p>
          <a:p>
            <a:pPr marL="514350" indent="-514350">
              <a:buAutoNum type="arabicPeriod"/>
            </a:pPr>
            <a:r>
              <a:rPr lang="ru-RU" dirty="0">
                <a:ea typeface="+mj-ea"/>
                <a:cs typeface="+mj-cs"/>
              </a:rPr>
              <a:t>Комментарии ………………………………………………………………….29</a:t>
            </a:r>
            <a:endParaRPr lang="en-US" dirty="0">
              <a:ea typeface="+mj-ea"/>
              <a:cs typeface="+mj-cs"/>
            </a:endParaRPr>
          </a:p>
          <a:p>
            <a:pPr marL="514350" indent="-514350">
              <a:buAutoNum type="arabicPeriod"/>
            </a:pPr>
            <a:r>
              <a:rPr lang="ru-RU" dirty="0" err="1">
                <a:ea typeface="+mj-ea"/>
                <a:cs typeface="+mj-cs"/>
              </a:rPr>
              <a:t>Врéменные</a:t>
            </a:r>
            <a:r>
              <a:rPr lang="ru-RU" dirty="0">
                <a:ea typeface="+mj-ea"/>
                <a:cs typeface="+mj-cs"/>
              </a:rPr>
              <a:t> таблицы ……………………………………………..……….33</a:t>
            </a:r>
            <a:endParaRPr lang="en-US" dirty="0">
              <a:ea typeface="+mj-ea"/>
              <a:cs typeface="+mj-cs"/>
            </a:endParaRPr>
          </a:p>
          <a:p>
            <a:pPr marL="514350" indent="-514350">
              <a:buAutoNum type="arabicPeriod"/>
            </a:pPr>
            <a:r>
              <a:rPr lang="ru-RU" dirty="0">
                <a:ea typeface="+mj-ea"/>
                <a:cs typeface="+mj-cs"/>
              </a:rPr>
              <a:t>Индексно-организованные таблицы ……….…………………….39</a:t>
            </a:r>
          </a:p>
          <a:p>
            <a:pPr marL="514350" indent="-514350">
              <a:buAutoNum type="arabicPeriod"/>
            </a:pPr>
            <a:r>
              <a:rPr lang="ru-RU" dirty="0">
                <a:ea typeface="Times New Roman" panose="02020603050405020304" pitchFamily="18" charset="0"/>
              </a:rPr>
              <a:t>Сведения о таблицах и связанных с ними объектах </a:t>
            </a:r>
          </a:p>
          <a:p>
            <a:pPr marL="0" indent="360000">
              <a:buNone/>
            </a:pPr>
            <a:r>
              <a:rPr lang="ru-RU" dirty="0">
                <a:ea typeface="Times New Roman" panose="02020603050405020304" pitchFamily="18" charset="0"/>
              </a:rPr>
              <a:t>  через представления словаря ………………………………………..42</a:t>
            </a:r>
            <a:endParaRPr lang="en-US" dirty="0">
              <a:ea typeface="+mj-ea"/>
              <a:cs typeface="+mj-cs"/>
            </a:endParaRPr>
          </a:p>
          <a:p>
            <a:pPr marL="514350" indent="-514350">
              <a:buFont typeface="+mj-lt"/>
              <a:buAutoNum type="arabicPeriod" startAt="7"/>
            </a:pPr>
            <a:r>
              <a:rPr lang="ru-RU" dirty="0">
                <a:ea typeface="Times New Roman" panose="02020603050405020304" pitchFamily="18" charset="0"/>
              </a:rPr>
              <a:t>Внешние таблицы ………………………………………………..…………44</a:t>
            </a:r>
            <a:endParaRPr lang="ru-RU" dirty="0">
              <a:ea typeface="+mj-ea"/>
              <a:cs typeface="+mj-cs"/>
            </a:endParaRPr>
          </a:p>
          <a:p>
            <a:pPr marL="514350" indent="-514350">
              <a:buFont typeface="+mj-lt"/>
              <a:buAutoNum type="arabicPeriod" startAt="7"/>
            </a:pPr>
            <a:r>
              <a:rPr lang="ru-RU" dirty="0">
                <a:ea typeface="+mj-ea"/>
                <a:cs typeface="+mj-cs"/>
              </a:rPr>
              <a:t>Метаданные.</a:t>
            </a:r>
            <a:r>
              <a:rPr lang="en-US" dirty="0">
                <a:ea typeface="+mj-ea"/>
                <a:cs typeface="+mj-cs"/>
              </a:rPr>
              <a:t> DBMS_METADATA</a:t>
            </a:r>
            <a:r>
              <a:rPr lang="ru-RU" dirty="0">
                <a:ea typeface="+mj-ea"/>
                <a:cs typeface="+mj-cs"/>
              </a:rPr>
              <a:t> ……………………………………..49</a:t>
            </a:r>
            <a:endParaRPr lang="en-US" dirty="0">
              <a:ea typeface="+mj-ea"/>
              <a:cs typeface="+mj-cs"/>
            </a:endParaRPr>
          </a:p>
          <a:p>
            <a:pPr marL="514350" indent="-514350">
              <a:buFont typeface="+mj-lt"/>
              <a:buAutoNum type="arabicPeriod" startAt="7"/>
            </a:pPr>
            <a:r>
              <a:rPr lang="ru-RU" dirty="0">
                <a:ea typeface="+mj-ea"/>
                <a:cs typeface="+mj-cs"/>
              </a:rPr>
              <a:t>Представления (</a:t>
            </a:r>
            <a:r>
              <a:rPr lang="en-US" dirty="0">
                <a:ea typeface="+mj-ea"/>
                <a:cs typeface="+mj-cs"/>
              </a:rPr>
              <a:t>View</a:t>
            </a:r>
            <a:r>
              <a:rPr lang="ru-RU" dirty="0">
                <a:ea typeface="+mj-ea"/>
                <a:cs typeface="+mj-cs"/>
              </a:rPr>
              <a:t>) ……………………………………………………..64</a:t>
            </a:r>
          </a:p>
          <a:p>
            <a:pPr marL="514350" indent="-514350">
              <a:buAutoNum type="arabicPeriod" startAt="7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8243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69696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solidFill>
                  <a:srgbClr val="FF0000"/>
                </a:solidFill>
                <a:ea typeface="+mn-ea"/>
                <a:cs typeface="+mn-cs"/>
              </a:rPr>
              <a:t>Создание и изменение таблиц</a:t>
            </a:r>
            <a:endParaRPr lang="ru-RU" sz="36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3766929"/>
            <a:ext cx="10515600" cy="2410033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9929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473336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  <a:latin typeface="Arial" panose="020B0604020202020204" pitchFamily="34" charset="0"/>
              </a:rPr>
              <a:t>Виды таблиц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473337"/>
            <a:ext cx="10515600" cy="6384663"/>
          </a:xfrm>
        </p:spPr>
        <p:txBody>
          <a:bodyPr>
            <a:normAutofit lnSpcReduction="10000"/>
          </a:bodyPr>
          <a:lstStyle/>
          <a:p>
            <a:r>
              <a:rPr lang="ru-RU" sz="2000" b="1" dirty="0" err="1">
                <a:solidFill>
                  <a:srgbClr val="333333"/>
                </a:solidFill>
              </a:rPr>
              <a:t>Heap</a:t>
            </a:r>
            <a:r>
              <a:rPr lang="ru-RU" sz="2000" b="1" dirty="0">
                <a:solidFill>
                  <a:srgbClr val="333333"/>
                </a:solidFill>
              </a:rPr>
              <a:t> </a:t>
            </a:r>
            <a:r>
              <a:rPr lang="ru-RU" sz="2000" b="1" dirty="0" err="1">
                <a:solidFill>
                  <a:srgbClr val="333333"/>
                </a:solidFill>
              </a:rPr>
              <a:t>organized</a:t>
            </a:r>
            <a:r>
              <a:rPr lang="ru-RU" sz="2000" b="1" dirty="0">
                <a:solidFill>
                  <a:srgbClr val="333333"/>
                </a:solidFill>
              </a:rPr>
              <a:t> </a:t>
            </a:r>
            <a:r>
              <a:rPr lang="ru-RU" sz="2000" b="1" dirty="0" err="1">
                <a:solidFill>
                  <a:srgbClr val="333333"/>
                </a:solidFill>
              </a:rPr>
              <a:t>tables</a:t>
            </a:r>
            <a:r>
              <a:rPr lang="ru-RU" sz="2000" dirty="0">
                <a:solidFill>
                  <a:srgbClr val="333333"/>
                </a:solidFill>
              </a:rPr>
              <a:t> - обычные таблицы (</a:t>
            </a:r>
            <a:r>
              <a:rPr lang="ru-RU" sz="2000" dirty="0" err="1">
                <a:solidFill>
                  <a:srgbClr val="333333"/>
                </a:solidFill>
              </a:rPr>
              <a:t>heap</a:t>
            </a:r>
            <a:r>
              <a:rPr lang="ru-RU" sz="2000" dirty="0">
                <a:solidFill>
                  <a:srgbClr val="333333"/>
                </a:solidFill>
              </a:rPr>
              <a:t> - куча), данные хранятся неупорядоченно.</a:t>
            </a:r>
          </a:p>
          <a:p>
            <a:r>
              <a:rPr lang="ru-RU" sz="2000" b="1" dirty="0" err="1">
                <a:solidFill>
                  <a:srgbClr val="333333"/>
                </a:solidFill>
              </a:rPr>
              <a:t>Index</a:t>
            </a:r>
            <a:r>
              <a:rPr lang="ru-RU" sz="2000" b="1" dirty="0">
                <a:solidFill>
                  <a:srgbClr val="333333"/>
                </a:solidFill>
              </a:rPr>
              <a:t> </a:t>
            </a:r>
            <a:r>
              <a:rPr lang="ru-RU" sz="2000" b="1" dirty="0" err="1">
                <a:solidFill>
                  <a:srgbClr val="333333"/>
                </a:solidFill>
              </a:rPr>
              <a:t>organized</a:t>
            </a:r>
            <a:r>
              <a:rPr lang="ru-RU" sz="2000" b="1" dirty="0">
                <a:solidFill>
                  <a:srgbClr val="333333"/>
                </a:solidFill>
              </a:rPr>
              <a:t> </a:t>
            </a:r>
            <a:r>
              <a:rPr lang="ru-RU" sz="2000" b="1" dirty="0" err="1">
                <a:solidFill>
                  <a:srgbClr val="333333"/>
                </a:solidFill>
              </a:rPr>
              <a:t>tables</a:t>
            </a:r>
            <a:r>
              <a:rPr lang="ru-RU" sz="2000" b="1" dirty="0">
                <a:solidFill>
                  <a:srgbClr val="333333"/>
                </a:solidFill>
              </a:rPr>
              <a:t> (IOT)</a:t>
            </a:r>
            <a:r>
              <a:rPr lang="ru-RU" sz="2000" dirty="0">
                <a:solidFill>
                  <a:srgbClr val="333333"/>
                </a:solidFill>
              </a:rPr>
              <a:t> - данные хранятся в упорядоченном виде, отсортированы по ПК. </a:t>
            </a:r>
          </a:p>
          <a:p>
            <a:r>
              <a:rPr lang="ru-RU" sz="2000" b="1" dirty="0" err="1"/>
              <a:t>Nested</a:t>
            </a:r>
            <a:r>
              <a:rPr lang="ru-RU" sz="2000" b="1" dirty="0"/>
              <a:t> </a:t>
            </a:r>
            <a:r>
              <a:rPr lang="ru-RU" sz="2000" b="1" dirty="0" err="1"/>
              <a:t>tables</a:t>
            </a:r>
            <a:r>
              <a:rPr lang="ru-RU" sz="2000" b="1" dirty="0"/>
              <a:t> </a:t>
            </a:r>
            <a:r>
              <a:rPr lang="ru-RU" sz="2000" dirty="0"/>
              <a:t>(</a:t>
            </a:r>
            <a:r>
              <a:rPr lang="ru-RU" sz="2000" dirty="0" err="1"/>
              <a:t>nested</a:t>
            </a:r>
            <a:r>
              <a:rPr lang="ru-RU" sz="2000" dirty="0"/>
              <a:t> - вложенный) - это часть объектно-реляционных расширений для </a:t>
            </a:r>
            <a:r>
              <a:rPr lang="ru-RU" sz="2000" dirty="0" err="1"/>
              <a:t>Oracle</a:t>
            </a:r>
            <a:r>
              <a:rPr lang="ru-RU" sz="2000" dirty="0"/>
              <a:t>. Например, в схеме </a:t>
            </a:r>
            <a:r>
              <a:rPr lang="en-US" sz="2000" dirty="0"/>
              <a:t>SCOTT </a:t>
            </a:r>
            <a:r>
              <a:rPr lang="ru-RU" sz="2000" dirty="0"/>
              <a:t>таблицу </a:t>
            </a:r>
            <a:r>
              <a:rPr lang="en-US" sz="2000" dirty="0"/>
              <a:t>EMP </a:t>
            </a:r>
            <a:r>
              <a:rPr lang="ru-RU" sz="2000" dirty="0"/>
              <a:t>можно сделать вложенной в таблицу </a:t>
            </a:r>
            <a:r>
              <a:rPr lang="en-US" sz="2000" dirty="0"/>
              <a:t>DEPT</a:t>
            </a:r>
            <a:r>
              <a:rPr lang="ru-RU" sz="2000" dirty="0"/>
              <a:t>, реализуя связь предок – потомок (1:</a:t>
            </a:r>
            <a:r>
              <a:rPr lang="en-US" sz="2000" dirty="0"/>
              <a:t>N</a:t>
            </a:r>
            <a:r>
              <a:rPr lang="ru-RU" sz="2000" dirty="0"/>
              <a:t>).</a:t>
            </a:r>
            <a:endParaRPr lang="en-US" sz="2000" dirty="0"/>
          </a:p>
          <a:p>
            <a:r>
              <a:rPr lang="en-US" sz="2000" b="1" dirty="0"/>
              <a:t>Temporary tables </a:t>
            </a:r>
            <a:r>
              <a:rPr lang="en-US" sz="2000" dirty="0"/>
              <a:t>- </a:t>
            </a:r>
            <a:r>
              <a:rPr lang="ru-RU" sz="2000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врéменные таблицы – содержат данные сохраняющиеся во время транзакции или сессии.</a:t>
            </a:r>
          </a:p>
          <a:p>
            <a:r>
              <a:rPr lang="en-US" sz="2000" b="1" dirty="0"/>
              <a:t>Object tables </a:t>
            </a:r>
            <a:r>
              <a:rPr lang="en-US" sz="2000" dirty="0"/>
              <a:t>– </a:t>
            </a:r>
            <a:r>
              <a:rPr lang="ru-RU" sz="2000" dirty="0"/>
              <a:t>объектные таблицы. Имеют сгенерированный системой REF (идентификатор объекта) для каждой строки. Объектные таблицы - это особый вариант </a:t>
            </a:r>
            <a:r>
              <a:rPr lang="en-US" sz="2000" dirty="0"/>
              <a:t>heap-</a:t>
            </a:r>
            <a:r>
              <a:rPr lang="ru-RU" sz="2000" dirty="0"/>
              <a:t>таблиц. Могут содержать вложенные таблицы. Интересны как пример эмуляции объектной модели в табличной.</a:t>
            </a:r>
          </a:p>
          <a:p>
            <a:r>
              <a:rPr lang="en-US" sz="2000" b="1" dirty="0"/>
              <a:t>External tables </a:t>
            </a:r>
            <a:r>
              <a:rPr lang="en-US" sz="2000" dirty="0"/>
              <a:t>– </a:t>
            </a:r>
            <a:r>
              <a:rPr lang="ru-RU" sz="2000" dirty="0"/>
              <a:t>внешние таблицы. Данные в них хранятся в самой базе данных, а находятся в  файлах операционной системы. Можно запрашивать файл, находящийся вне базы данных, как если бы это была обычная таблица в базе данных. Внешние таблицы это инструмент для загрузки данных в базу.</a:t>
            </a:r>
          </a:p>
          <a:p>
            <a:r>
              <a:rPr lang="ru-RU" sz="2000" dirty="0">
                <a:ea typeface="Times New Roman" panose="02020603050405020304" pitchFamily="18" charset="0"/>
              </a:rPr>
              <a:t>Кластерные таблицы.</a:t>
            </a:r>
          </a:p>
          <a:p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Многоверсионные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временн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ые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(исторические)) таблицы и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flashback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-технология.</a:t>
            </a:r>
            <a:endParaRPr lang="ru-RU" sz="2000" dirty="0"/>
          </a:p>
          <a:p>
            <a:r>
              <a:rPr lang="ru-RU" sz="2000" dirty="0">
                <a:ea typeface="Times New Roman" panose="02020603050405020304" pitchFamily="18" charset="0"/>
              </a:rPr>
              <a:t>Таблицы </a:t>
            </a:r>
            <a:r>
              <a:rPr lang="en-US" sz="2000" dirty="0">
                <a:ea typeface="Times New Roman" panose="02020603050405020304" pitchFamily="18" charset="0"/>
              </a:rPr>
              <a:t>PL/SQL</a:t>
            </a:r>
            <a:r>
              <a:rPr lang="ru-RU" sz="2000" dirty="0">
                <a:ea typeface="Times New Roman" panose="02020603050405020304" pitchFamily="18" charset="0"/>
              </a:rPr>
              <a:t>.</a:t>
            </a:r>
          </a:p>
          <a:p>
            <a:r>
              <a:rPr lang="ru-RU" sz="2000" dirty="0">
                <a:ea typeface="Times New Roman" panose="02020603050405020304" pitchFamily="18" charset="0"/>
              </a:rPr>
              <a:t>Секционированные.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787725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Description of relational_table.gif follows"/>
          <p:cNvPicPr/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780" y="1708543"/>
            <a:ext cx="8319351" cy="166167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418011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  <a:latin typeface="+mn-lt"/>
              </a:rPr>
              <a:t>Создание таблицы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(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часть полной версии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) 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1/3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4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8201" y="418011"/>
            <a:ext cx="10219336" cy="129053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4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8200" y="3687567"/>
            <a:ext cx="10722231" cy="3170433"/>
          </a:xfrm>
          <a:prstGeom prst="rect">
            <a:avLst/>
          </a:prstGeom>
        </p:spPr>
      </p:pic>
      <p:sp>
        <p:nvSpPr>
          <p:cNvPr id="7" name="Скругленная прямоугольная выноска 6"/>
          <p:cNvSpPr/>
          <p:nvPr/>
        </p:nvSpPr>
        <p:spPr>
          <a:xfrm>
            <a:off x="8582297" y="3187337"/>
            <a:ext cx="2475240" cy="408790"/>
          </a:xfrm>
          <a:prstGeom prst="wedgeRoundRectCallout">
            <a:avLst>
              <a:gd name="adj1" fmla="val -42572"/>
              <a:gd name="adj2" fmla="val 123214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physical_properties</a:t>
            </a:r>
            <a:r>
              <a:rPr lang="en-US" dirty="0">
                <a:solidFill>
                  <a:schemeClr val="tx1"/>
                </a:solidFill>
              </a:rPr>
              <a:t> ::=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Скругленная прямоугольная выноска 8"/>
          <p:cNvSpPr/>
          <p:nvPr/>
        </p:nvSpPr>
        <p:spPr>
          <a:xfrm>
            <a:off x="2233749" y="1280160"/>
            <a:ext cx="1998617" cy="428383"/>
          </a:xfrm>
          <a:prstGeom prst="wedgeRoundRectCallout">
            <a:avLst>
              <a:gd name="adj1" fmla="val -26552"/>
              <a:gd name="adj2" fmla="val 115863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relational_table</a:t>
            </a:r>
            <a:r>
              <a:rPr lang="en-US" dirty="0">
                <a:solidFill>
                  <a:schemeClr val="tx1"/>
                </a:solidFill>
              </a:rPr>
              <a:t> ::=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6161808" y="2467509"/>
            <a:ext cx="57253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err="1">
                <a:solidFill>
                  <a:srgbClr val="000000"/>
                </a:solidFill>
                <a:latin typeface="Calibri" panose="020F0502020204030204" pitchFamily="34" charset="0"/>
              </a:rPr>
              <a:t>relational_properties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это описание столбцов, то есть (Имя, Тип данных,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Default, (Not) Null, Constraints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9178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07571" y="0"/>
            <a:ext cx="10515600" cy="809897"/>
          </a:xfrm>
        </p:spPr>
        <p:txBody>
          <a:bodyPr/>
          <a:lstStyle/>
          <a:p>
            <a:pPr algn="ctr"/>
            <a:r>
              <a:rPr lang="ru-RU" sz="2900" dirty="0">
                <a:solidFill>
                  <a:srgbClr val="FF0000"/>
                </a:solidFill>
              </a:rPr>
              <a:t>Создание таблицы </a:t>
            </a:r>
            <a:r>
              <a:rPr lang="en-US" sz="2900" dirty="0">
                <a:solidFill>
                  <a:srgbClr val="FF0000"/>
                </a:solidFill>
              </a:rPr>
              <a:t>(</a:t>
            </a:r>
            <a:r>
              <a:rPr lang="ru-RU" sz="2900" dirty="0">
                <a:solidFill>
                  <a:srgbClr val="FF0000"/>
                </a:solidFill>
              </a:rPr>
              <a:t>часть полной версии</a:t>
            </a:r>
            <a:r>
              <a:rPr lang="en-US" sz="2900" dirty="0">
                <a:solidFill>
                  <a:srgbClr val="FF0000"/>
                </a:solidFill>
              </a:rPr>
              <a:t>) </a:t>
            </a:r>
            <a:r>
              <a:rPr lang="ru-RU" sz="2900" dirty="0">
                <a:solidFill>
                  <a:srgbClr val="FF0000"/>
                </a:solidFill>
              </a:rPr>
              <a:t>2/3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1053" y="5185699"/>
            <a:ext cx="10927773" cy="1765819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ru-RU" sz="2000" dirty="0">
                <a:solidFill>
                  <a:srgbClr val="000000"/>
                </a:solidFill>
                <a:latin typeface="Calibri" panose="020F0502020204030204" pitchFamily="34" charset="0"/>
              </a:rPr>
              <a:t>PCTUSED нельзя указывать для </a:t>
            </a:r>
            <a:r>
              <a:rPr lang="ru-RU" sz="2000" dirty="0" err="1">
                <a:solidFill>
                  <a:srgbClr val="000000"/>
                </a:solidFill>
                <a:latin typeface="Calibri" panose="020F0502020204030204" pitchFamily="34" charset="0"/>
              </a:rPr>
              <a:t>index-organized</a:t>
            </a:r>
            <a:r>
              <a:rPr lang="ru-RU" sz="20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ru-RU" sz="2000" dirty="0" err="1">
                <a:solidFill>
                  <a:srgbClr val="000000"/>
                </a:solidFill>
                <a:latin typeface="Calibri" panose="020F0502020204030204" pitchFamily="34" charset="0"/>
              </a:rPr>
              <a:t>tables</a:t>
            </a:r>
            <a:endParaRPr lang="ru-RU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ru-RU" sz="2000" dirty="0">
                <a:solidFill>
                  <a:srgbClr val="000000"/>
                </a:solidFill>
                <a:latin typeface="Calibri" panose="020F0502020204030204" pitchFamily="34" charset="0"/>
              </a:rPr>
              <a:t>PCTFREE+PCTUSED &lt;= 100. При малом значении PCTFREE и частых UPDATE вероятно, что строки будут перемещаться из текущего в другие блоки -- миграция. Малое значение PCTFREE  для экономии дискового пространства имеет смысл делать для архивных таблиц, или таблиц логов.  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ru-RU" sz="2000" dirty="0">
                <a:solidFill>
                  <a:srgbClr val="000000"/>
                </a:solidFill>
                <a:latin typeface="Calibri" panose="020F0502020204030204" pitchFamily="34" charset="0"/>
              </a:rPr>
              <a:t>INITRANS – сколько слотов транзакций выделяется в блоке -- от 1 до 255. По умолчанию 1. Слот транзакции – это место под маркер, который транзакция ставит в блок. Занимает около 23 байт.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endParaRPr lang="ru-RU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77536" y="625231"/>
            <a:ext cx="1143692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u="sng" dirty="0">
                <a:solidFill>
                  <a:srgbClr val="000000"/>
                </a:solidFill>
                <a:latin typeface="Calibri" panose="020F0502020204030204" pitchFamily="34" charset="0"/>
              </a:rPr>
              <a:t>Пояснение</a:t>
            </a:r>
            <a:r>
              <a:rPr lang="ru-RU" sz="2000" dirty="0">
                <a:solidFill>
                  <a:srgbClr val="000000"/>
                </a:solidFill>
                <a:latin typeface="Calibri" panose="020F0502020204030204" pitchFamily="34" charset="0"/>
              </a:rPr>
              <a:t>: на предыдущем слайде в физических свойствах фраза </a:t>
            </a:r>
          </a:p>
          <a:p>
            <a:r>
              <a:rPr lang="en-US" sz="2000" dirty="0" err="1">
                <a:solidFill>
                  <a:srgbClr val="000000"/>
                </a:solidFill>
                <a:latin typeface="Calibri" panose="020F0502020204030204" pitchFamily="34" charset="0"/>
              </a:rPr>
              <a:t>deferred_segment_creation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Calibri" panose="020F0502020204030204" pitchFamily="34" charset="0"/>
              </a:rPr>
              <a:t>это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 SEGMENT CREATION DEFERRED/IMMEDIATE. </a:t>
            </a:r>
            <a:endParaRPr lang="ru-RU" sz="2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DEFERRED-</a:t>
            </a:r>
            <a:r>
              <a:rPr lang="ru-RU" sz="2000" dirty="0">
                <a:solidFill>
                  <a:srgbClr val="000000"/>
                </a:solidFill>
                <a:latin typeface="Calibri" panose="020F0502020204030204" pitchFamily="34" charset="0"/>
              </a:rPr>
              <a:t>означает, что сегмент создается при первой вставке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INSERT.</a:t>
            </a:r>
            <a:endParaRPr lang="ru-RU" sz="2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ru-RU" sz="2000" dirty="0">
                <a:solidFill>
                  <a:srgbClr val="000000"/>
                </a:solidFill>
                <a:latin typeface="Calibri" panose="020F0502020204030204" pitchFamily="34" charset="0"/>
              </a:rPr>
              <a:t>Почти все физические атрибуты для </a:t>
            </a:r>
            <a:r>
              <a:rPr lang="ru-RU" sz="2000" dirty="0" err="1">
                <a:solidFill>
                  <a:srgbClr val="000000"/>
                </a:solidFill>
                <a:latin typeface="Calibri" panose="020F0502020204030204" pitchFamily="34" charset="0"/>
              </a:rPr>
              <a:t>партиционированных</a:t>
            </a:r>
            <a:r>
              <a:rPr lang="ru-RU" sz="2000" dirty="0">
                <a:solidFill>
                  <a:srgbClr val="000000"/>
                </a:solidFill>
                <a:latin typeface="Calibri" panose="020F0502020204030204" pitchFamily="34" charset="0"/>
              </a:rPr>
              <a:t> таблиц могут быть заданы индивидуально для разделов (а могут и на уровне таблицы, тогда это влияет на все разделы).</a:t>
            </a:r>
          </a:p>
          <a:p>
            <a:endParaRPr lang="ru-RU" sz="2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2000" i="1" dirty="0" err="1">
                <a:solidFill>
                  <a:srgbClr val="000000"/>
                </a:solidFill>
                <a:latin typeface="Calibri" panose="020F0502020204030204" pitchFamily="34" charset="0"/>
              </a:rPr>
              <a:t>segment_attributes_clause</a:t>
            </a:r>
            <a:r>
              <a:rPr lang="en-US" sz="2000" i="1" dirty="0">
                <a:solidFill>
                  <a:srgbClr val="000000"/>
                </a:solidFill>
                <a:latin typeface="Calibri" panose="020F0502020204030204" pitchFamily="34" charset="0"/>
              </a:rPr>
              <a:t>:</a:t>
            </a:r>
            <a:endParaRPr lang="ru-RU" sz="20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7536" y="2872000"/>
            <a:ext cx="3975307" cy="1561035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471054" y="447243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i="1" dirty="0" err="1">
                <a:solidFill>
                  <a:srgbClr val="000000"/>
                </a:solidFill>
                <a:latin typeface="Calibri" panose="020F0502020204030204" pitchFamily="34" charset="0"/>
              </a:rPr>
              <a:t>logging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 – будут ли операции DML записаны в </a:t>
            </a:r>
            <a:r>
              <a:rPr lang="ru-RU" dirty="0" err="1">
                <a:solidFill>
                  <a:srgbClr val="000000"/>
                </a:solidFill>
                <a:latin typeface="Calibri" panose="020F0502020204030204" pitchFamily="34" charset="0"/>
              </a:rPr>
              <a:t>Redo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alibri" panose="020F0502020204030204" pitchFamily="34" charset="0"/>
              </a:rPr>
              <a:t>Log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 (значения: LOGGING или NOLOGGING)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3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67054" y="2846597"/>
            <a:ext cx="4161268" cy="2274297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6567054" y="2410335"/>
            <a:ext cx="28023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err="1"/>
              <a:t>physical_attributes_clause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281591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604596" y="184667"/>
            <a:ext cx="5985164" cy="654626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  <a:latin typeface="+mn-lt"/>
              </a:rPr>
              <a:t>Создание таблицы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(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часть полной версии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) 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  3/3</a:t>
            </a:r>
            <a:endParaRPr lang="ru-RU" sz="3200" dirty="0"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438342" y="1152939"/>
            <a:ext cx="6317672" cy="5705061"/>
          </a:xfrm>
        </p:spPr>
        <p:txBody>
          <a:bodyPr>
            <a:normAutofit fontScale="85000" lnSpcReduction="20000"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ru-RU" sz="2200" dirty="0">
                <a:solidFill>
                  <a:srgbClr val="000000"/>
                </a:solidFill>
                <a:latin typeface="Calibri" panose="020F0502020204030204" pitchFamily="34" charset="0"/>
              </a:rPr>
              <a:t>MAXSIZE – максимальный размер объекта (UNLIMITED не  ограничено)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ru-RU" sz="2200" dirty="0">
                <a:solidFill>
                  <a:srgbClr val="000000"/>
                </a:solidFill>
                <a:latin typeface="Calibri" panose="020F0502020204030204" pitchFamily="34" charset="0"/>
              </a:rPr>
              <a:t>MINEXTENTS – минимальное количество экстентов объекта</a:t>
            </a:r>
            <a:endParaRPr lang="ru-RU" sz="2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ru-RU" sz="2200" dirty="0">
                <a:solidFill>
                  <a:srgbClr val="000000"/>
                </a:solidFill>
                <a:latin typeface="Calibri" panose="020F0502020204030204" pitchFamily="34" charset="0"/>
              </a:rPr>
              <a:t>MAXEXTENTS – используется только для табличных пространств управляемых словарём. Для вычисления первоначального размера используются параметры INITIAL, MINEXTENTS, NEXT и PCTINCREASE. При дальнейшем выделении новых экстентов они игнорируются.</a:t>
            </a:r>
            <a:endParaRPr lang="ru-RU" sz="2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ru-RU" sz="2200" dirty="0">
                <a:solidFill>
                  <a:srgbClr val="000000"/>
                </a:solidFill>
                <a:latin typeface="Calibri" panose="020F0502020204030204" pitchFamily="34" charset="0"/>
              </a:rPr>
              <a:t>INITIAL – размер первого экстента объекта, в зависимости от </a:t>
            </a:r>
            <a:r>
              <a:rPr lang="ru-RU" sz="2200" i="1" dirty="0" err="1">
                <a:solidFill>
                  <a:srgbClr val="000000"/>
                </a:solidFill>
                <a:latin typeface="Calibri" panose="020F0502020204030204" pitchFamily="34" charset="0"/>
              </a:rPr>
              <a:t>allocation_type</a:t>
            </a:r>
            <a:r>
              <a:rPr lang="ru-RU" sz="2200" dirty="0">
                <a:solidFill>
                  <a:srgbClr val="000000"/>
                </a:solidFill>
                <a:latin typeface="Calibri" panose="020F0502020204030204" pitchFamily="34" charset="0"/>
              </a:rPr>
              <a:t>:</a:t>
            </a:r>
            <a:endParaRPr lang="ru-RU" sz="2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>
              <a:spcBef>
                <a:spcPts val="0"/>
              </a:spcBef>
            </a:pPr>
            <a:r>
              <a:rPr lang="ru-RU" sz="2200" dirty="0">
                <a:solidFill>
                  <a:srgbClr val="000000"/>
                </a:solidFill>
                <a:latin typeface="Calibri" panose="020F0502020204030204" pitchFamily="34" charset="0"/>
              </a:rPr>
              <a:t>UNIFORM – дефолтный размер экстента</a:t>
            </a:r>
            <a:endParaRPr lang="ru-RU" sz="2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>
              <a:spcBef>
                <a:spcPts val="0"/>
              </a:spcBef>
              <a:spcAft>
                <a:spcPts val="1000"/>
              </a:spcAft>
            </a:pPr>
            <a:r>
              <a:rPr lang="ru-RU" sz="2200" dirty="0">
                <a:solidFill>
                  <a:srgbClr val="000000"/>
                </a:solidFill>
                <a:latin typeface="Calibri" panose="020F0502020204030204" pitchFamily="34" charset="0"/>
              </a:rPr>
              <a:t>другие – может быть выделено 64K, 1M, 8M, или 64M. Нельзя указывать в ALTER.</a:t>
            </a:r>
            <a:endParaRPr lang="ru-RU" sz="2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ru-RU" sz="2200" dirty="0">
                <a:solidFill>
                  <a:srgbClr val="000000"/>
                </a:solidFill>
                <a:latin typeface="Calibri" panose="020F0502020204030204" pitchFamily="34" charset="0"/>
              </a:rPr>
              <a:t>NEXT – размер следующего выделяемого экстента:</a:t>
            </a:r>
            <a:endParaRPr lang="ru-RU" sz="2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>
              <a:spcBef>
                <a:spcPts val="0"/>
              </a:spcBef>
            </a:pPr>
            <a:r>
              <a:rPr lang="ru-RU" sz="2200" dirty="0">
                <a:solidFill>
                  <a:srgbClr val="000000"/>
                </a:solidFill>
                <a:latin typeface="Calibri" panose="020F0502020204030204" pitchFamily="34" charset="0"/>
              </a:rPr>
              <a:t>UNIFORM – игнорируется, значение берётся из табл. пространства</a:t>
            </a:r>
            <a:endParaRPr lang="ru-RU" sz="2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>
              <a:spcBef>
                <a:spcPts val="0"/>
              </a:spcBef>
              <a:spcAft>
                <a:spcPts val="1000"/>
              </a:spcAft>
            </a:pPr>
            <a:r>
              <a:rPr lang="ru-RU" sz="2200" dirty="0">
                <a:solidFill>
                  <a:srgbClr val="000000"/>
                </a:solidFill>
                <a:latin typeface="Calibri" panose="020F0502020204030204" pitchFamily="34" charset="0"/>
              </a:rPr>
              <a:t>другие – </a:t>
            </a:r>
            <a:r>
              <a:rPr lang="ru-RU" sz="2200" dirty="0" err="1">
                <a:solidFill>
                  <a:srgbClr val="000000"/>
                </a:solidFill>
                <a:latin typeface="Calibri" panose="020F0502020204030204" pitchFamily="34" charset="0"/>
              </a:rPr>
              <a:t>Oracle</a:t>
            </a:r>
            <a:r>
              <a:rPr lang="ru-RU" sz="2200" dirty="0">
                <a:solidFill>
                  <a:srgbClr val="000000"/>
                </a:solidFill>
                <a:latin typeface="Calibri" panose="020F0502020204030204" pitchFamily="34" charset="0"/>
              </a:rPr>
              <a:t> сам вычисляет (заданное пользователем игнорируется)</a:t>
            </a:r>
            <a:endParaRPr lang="ru-RU" sz="2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ru-RU" sz="2200" dirty="0">
                <a:solidFill>
                  <a:srgbClr val="000000"/>
                </a:solidFill>
                <a:latin typeface="Calibri" panose="020F0502020204030204" pitchFamily="34" charset="0"/>
              </a:rPr>
              <a:t>PCTINCREASE – на сколько % следующий экстент при выделении больше последнего (используется только для табл. Пространств управляемых словарём).</a:t>
            </a:r>
            <a:endParaRPr lang="ru-RU" sz="2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ru-RU" sz="18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3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0542" y="100878"/>
            <a:ext cx="5077258" cy="6663213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0" y="142648"/>
            <a:ext cx="16269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1000"/>
              </a:spcBef>
            </a:pPr>
            <a:r>
              <a:rPr lang="en-US" i="1" dirty="0" err="1"/>
              <a:t>storage_clause</a:t>
            </a:r>
            <a:endParaRPr lang="en-US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75706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17222"/>
            <a:ext cx="10515600" cy="692331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  <a:latin typeface="+mn-lt"/>
              </a:rPr>
              <a:t>Создание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heap-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таблицы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и </a:t>
            </a:r>
            <a:br>
              <a:rPr lang="ru-RU" sz="3200" dirty="0">
                <a:solidFill>
                  <a:srgbClr val="FF0000"/>
                </a:solidFill>
                <a:latin typeface="+mn-lt"/>
              </a:rPr>
            </a:br>
            <a:r>
              <a:rPr lang="ru-RU" sz="3200" dirty="0">
                <a:solidFill>
                  <a:srgbClr val="FF0000"/>
                </a:solidFill>
                <a:latin typeface="+mn-lt"/>
              </a:rPr>
              <a:t>врѐменной таблицы уровня сессии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 (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упрощённые версии) </a:t>
            </a:r>
            <a:endParaRPr lang="ru-RU" sz="3200" dirty="0"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4114800"/>
            <a:ext cx="10515600" cy="25334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      Синтаксис создания врѐменной таблицы уровня сессии (</a:t>
            </a:r>
            <a:r>
              <a:rPr lang="en-US" sz="2000" dirty="0">
                <a:solidFill>
                  <a:prstClr val="black"/>
                </a:solidFill>
              </a:rPr>
              <a:t>ON COMMIT  PRESERVE ROWS</a:t>
            </a:r>
            <a:r>
              <a:rPr lang="ru-RU" sz="2000" dirty="0">
                <a:solidFill>
                  <a:prstClr val="black"/>
                </a:solidFill>
              </a:rPr>
              <a:t>) и </a:t>
            </a:r>
          </a:p>
          <a:p>
            <a:pPr marL="0" indent="0">
              <a:buNone/>
            </a:pPr>
            <a:r>
              <a:rPr lang="ru-RU" sz="2000" dirty="0">
                <a:solidFill>
                  <a:prstClr val="black"/>
                </a:solidFill>
              </a:rPr>
              <a:t>уровня транзакции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ru-RU" sz="2000" dirty="0">
                <a:solidFill>
                  <a:prstClr val="black"/>
                </a:solidFill>
              </a:rPr>
              <a:t>(</a:t>
            </a:r>
            <a:r>
              <a:rPr lang="en-US" sz="2000" dirty="0">
                <a:solidFill>
                  <a:prstClr val="black"/>
                </a:solidFill>
              </a:rPr>
              <a:t>ON COMMIT DELETE ROWS </a:t>
            </a:r>
            <a:r>
              <a:rPr lang="ru-RU" sz="2000" dirty="0">
                <a:solidFill>
                  <a:prstClr val="black"/>
                </a:solidFill>
              </a:rPr>
              <a:t>):</a:t>
            </a:r>
          </a:p>
          <a:p>
            <a:pPr marL="0" indent="0">
              <a:buNone/>
            </a:pPr>
            <a:r>
              <a:rPr lang="en-US" sz="2000" dirty="0"/>
              <a:t>CREATE GLOBAL TEMPORARY TABLE </a:t>
            </a:r>
            <a:r>
              <a:rPr lang="ru-RU" sz="2000" dirty="0" err="1"/>
              <a:t>имя_таблицы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{ column-definition [ , column-definition ] * }</a:t>
            </a:r>
          </a:p>
          <a:p>
            <a:pPr marL="0" indent="0">
              <a:buNone/>
            </a:pPr>
            <a:r>
              <a:rPr lang="ru-RU" sz="2000" dirty="0"/>
              <a:t>    </a:t>
            </a:r>
            <a:r>
              <a:rPr lang="en-US" sz="2000" dirty="0"/>
              <a:t>[ ON COMMIT {DELETE | PRESERVE} ROWS ] 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1075" y="1361190"/>
            <a:ext cx="10222725" cy="250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409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2644" y="75304"/>
            <a:ext cx="8152598" cy="6782696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ru-RU" sz="1900" u="sng" dirty="0">
                <a:solidFill>
                  <a:prstClr val="black"/>
                </a:solidFill>
              </a:rPr>
              <a:t>Первичный и внешний ключи</a:t>
            </a:r>
            <a:r>
              <a:rPr lang="ru-RU" sz="1900" dirty="0">
                <a:solidFill>
                  <a:prstClr val="black"/>
                </a:solidFill>
              </a:rPr>
              <a:t>:</a:t>
            </a:r>
          </a:p>
          <a:p>
            <a:pPr marL="0" lvl="0" indent="0">
              <a:buNone/>
            </a:pPr>
            <a:r>
              <a:rPr lang="ru-RU" sz="1900" dirty="0">
                <a:solidFill>
                  <a:prstClr val="black"/>
                </a:solidFill>
              </a:rPr>
              <a:t>    </a:t>
            </a:r>
            <a:r>
              <a:rPr lang="en-US" sz="1900" dirty="0">
                <a:solidFill>
                  <a:prstClr val="black"/>
                </a:solidFill>
              </a:rPr>
              <a:t>CREATE TABLE example5 (</a:t>
            </a:r>
          </a:p>
          <a:p>
            <a:pPr marL="0" lvl="0" indent="0">
              <a:buNone/>
            </a:pPr>
            <a:r>
              <a:rPr lang="ru-RU" sz="1900" dirty="0">
                <a:solidFill>
                  <a:prstClr val="black"/>
                </a:solidFill>
              </a:rPr>
              <a:t>    </a:t>
            </a:r>
            <a:r>
              <a:rPr lang="en-US" sz="1900" dirty="0" err="1">
                <a:solidFill>
                  <a:prstClr val="black"/>
                </a:solidFill>
              </a:rPr>
              <a:t>table_id</a:t>
            </a:r>
            <a:r>
              <a:rPr lang="en-US" sz="1900" dirty="0">
                <a:solidFill>
                  <a:prstClr val="black"/>
                </a:solidFill>
              </a:rPr>
              <a:t> NUMBER(10) PRIMARY KEY,</a:t>
            </a:r>
          </a:p>
          <a:p>
            <a:pPr marL="0" lvl="0" indent="0">
              <a:buNone/>
            </a:pPr>
            <a:r>
              <a:rPr lang="ru-RU" sz="1900" dirty="0">
                <a:solidFill>
                  <a:prstClr val="black"/>
                </a:solidFill>
              </a:rPr>
              <a:t>    </a:t>
            </a:r>
            <a:r>
              <a:rPr lang="en-US" sz="1900" dirty="0" err="1">
                <a:solidFill>
                  <a:prstClr val="black"/>
                </a:solidFill>
              </a:rPr>
              <a:t>example_table_id</a:t>
            </a:r>
            <a:r>
              <a:rPr lang="en-US" sz="1900" dirty="0">
                <a:solidFill>
                  <a:prstClr val="black"/>
                </a:solidFill>
              </a:rPr>
              <a:t> NUMBER(10) REFERENCES example4(</a:t>
            </a:r>
            <a:r>
              <a:rPr lang="en-US" sz="1900" dirty="0" err="1">
                <a:solidFill>
                  <a:prstClr val="black"/>
                </a:solidFill>
              </a:rPr>
              <a:t>table_id</a:t>
            </a:r>
            <a:r>
              <a:rPr lang="en-US" sz="1900" dirty="0">
                <a:solidFill>
                  <a:prstClr val="black"/>
                </a:solidFill>
              </a:rPr>
              <a:t>),</a:t>
            </a:r>
          </a:p>
          <a:p>
            <a:pPr marL="0" lvl="0" indent="0">
              <a:buNone/>
            </a:pPr>
            <a:r>
              <a:rPr lang="ru-RU" sz="1900" dirty="0">
                <a:solidFill>
                  <a:prstClr val="black"/>
                </a:solidFill>
              </a:rPr>
              <a:t>    </a:t>
            </a:r>
            <a:r>
              <a:rPr lang="en-US" sz="1900" dirty="0" err="1">
                <a:solidFill>
                  <a:prstClr val="black"/>
                </a:solidFill>
              </a:rPr>
              <a:t>first_name</a:t>
            </a:r>
            <a:r>
              <a:rPr lang="en-US" sz="1900" dirty="0">
                <a:solidFill>
                  <a:prstClr val="black"/>
                </a:solidFill>
              </a:rPr>
              <a:t> VARCHAR2(50),</a:t>
            </a:r>
          </a:p>
          <a:p>
            <a:pPr marL="0" lvl="0" indent="0">
              <a:buNone/>
            </a:pPr>
            <a:r>
              <a:rPr lang="ru-RU" sz="1900" dirty="0">
                <a:solidFill>
                  <a:prstClr val="black"/>
                </a:solidFill>
              </a:rPr>
              <a:t>    </a:t>
            </a:r>
            <a:r>
              <a:rPr lang="en-US" sz="1900" dirty="0" err="1">
                <a:solidFill>
                  <a:prstClr val="black"/>
                </a:solidFill>
              </a:rPr>
              <a:t>last_name</a:t>
            </a:r>
            <a:r>
              <a:rPr lang="en-US" sz="1900" dirty="0">
                <a:solidFill>
                  <a:prstClr val="black"/>
                </a:solidFill>
              </a:rPr>
              <a:t> VARCHAR2(200)</a:t>
            </a:r>
            <a:r>
              <a:rPr lang="ru-RU" sz="1900" dirty="0">
                <a:solidFill>
                  <a:prstClr val="black"/>
                </a:solidFill>
              </a:rPr>
              <a:t> </a:t>
            </a:r>
            <a:r>
              <a:rPr lang="en-US" sz="1900" dirty="0">
                <a:solidFill>
                  <a:prstClr val="black"/>
                </a:solidFill>
              </a:rPr>
              <a:t>);</a:t>
            </a:r>
            <a:endParaRPr lang="ru-RU" sz="1900" dirty="0">
              <a:solidFill>
                <a:prstClr val="black"/>
              </a:solidFill>
            </a:endParaRPr>
          </a:p>
          <a:p>
            <a:pPr lvl="0"/>
            <a:r>
              <a:rPr lang="ru-RU" sz="1900" u="sng" dirty="0">
                <a:solidFill>
                  <a:prstClr val="black"/>
                </a:solidFill>
              </a:rPr>
              <a:t>Ограничения целостности и значения по умолчанию</a:t>
            </a:r>
            <a:r>
              <a:rPr lang="ru-RU" sz="1900" dirty="0">
                <a:solidFill>
                  <a:prstClr val="black"/>
                </a:solidFill>
              </a:rPr>
              <a:t>:</a:t>
            </a:r>
          </a:p>
          <a:p>
            <a:pPr marL="0" lvl="0" indent="0">
              <a:buNone/>
            </a:pPr>
            <a:r>
              <a:rPr lang="ru-RU" sz="1900" dirty="0">
                <a:solidFill>
                  <a:prstClr val="black"/>
                </a:solidFill>
              </a:rPr>
              <a:t>    </a:t>
            </a:r>
            <a:r>
              <a:rPr lang="en-US" sz="1900" dirty="0">
                <a:solidFill>
                  <a:prstClr val="black"/>
                </a:solidFill>
              </a:rPr>
              <a:t>CREATE TABLE </a:t>
            </a:r>
            <a:r>
              <a:rPr lang="en-US" sz="1900" dirty="0" err="1">
                <a:solidFill>
                  <a:prstClr val="black"/>
                </a:solidFill>
              </a:rPr>
              <a:t>projx</a:t>
            </a:r>
            <a:r>
              <a:rPr lang="en-US" sz="1900" dirty="0">
                <a:solidFill>
                  <a:prstClr val="black"/>
                </a:solidFill>
              </a:rPr>
              <a:t> (</a:t>
            </a:r>
          </a:p>
          <a:p>
            <a:pPr marL="0" lvl="0" indent="0">
              <a:buNone/>
            </a:pPr>
            <a:r>
              <a:rPr lang="en-US" sz="1900" dirty="0">
                <a:solidFill>
                  <a:prstClr val="black"/>
                </a:solidFill>
              </a:rPr>
              <a:t> </a:t>
            </a:r>
            <a:r>
              <a:rPr lang="ru-RU" sz="1900" dirty="0">
                <a:solidFill>
                  <a:prstClr val="black"/>
                </a:solidFill>
              </a:rPr>
              <a:t>     </a:t>
            </a:r>
            <a:r>
              <a:rPr lang="en-US" sz="1900" dirty="0">
                <a:solidFill>
                  <a:prstClr val="black"/>
                </a:solidFill>
              </a:rPr>
              <a:t>  </a:t>
            </a:r>
            <a:r>
              <a:rPr lang="en-US" sz="1900" dirty="0" err="1">
                <a:solidFill>
                  <a:prstClr val="black"/>
                </a:solidFill>
              </a:rPr>
              <a:t>projno</a:t>
            </a:r>
            <a:r>
              <a:rPr lang="en-US" sz="1900" dirty="0">
                <a:solidFill>
                  <a:prstClr val="black"/>
                </a:solidFill>
              </a:rPr>
              <a:t> NUMBER   (4)  NOT NULL</a:t>
            </a:r>
          </a:p>
          <a:p>
            <a:pPr marL="0" lvl="0" indent="0">
              <a:buNone/>
            </a:pPr>
            <a:r>
              <a:rPr lang="en-US" sz="1900" dirty="0">
                <a:solidFill>
                  <a:prstClr val="black"/>
                </a:solidFill>
              </a:rPr>
              <a:t> </a:t>
            </a:r>
            <a:r>
              <a:rPr lang="ru-RU" sz="1900" dirty="0">
                <a:solidFill>
                  <a:prstClr val="black"/>
                </a:solidFill>
              </a:rPr>
              <a:t>      </a:t>
            </a:r>
            <a:r>
              <a:rPr lang="en-US" sz="1900" dirty="0">
                <a:solidFill>
                  <a:prstClr val="black"/>
                </a:solidFill>
              </a:rPr>
              <a:t>, </a:t>
            </a:r>
            <a:r>
              <a:rPr lang="en-US" sz="1900" dirty="0" err="1">
                <a:solidFill>
                  <a:prstClr val="black"/>
                </a:solidFill>
              </a:rPr>
              <a:t>pname</a:t>
            </a:r>
            <a:r>
              <a:rPr lang="en-US" sz="1900" dirty="0">
                <a:solidFill>
                  <a:prstClr val="black"/>
                </a:solidFill>
              </a:rPr>
              <a:t>  VARCHAR2 (14) CHECK (SUBSTR(pname,1,1) BETWEEN 'A' AND 'Z')</a:t>
            </a:r>
          </a:p>
          <a:p>
            <a:pPr marL="0" lvl="0" indent="0">
              <a:buNone/>
            </a:pPr>
            <a:r>
              <a:rPr lang="en-US" sz="1900" dirty="0">
                <a:solidFill>
                  <a:prstClr val="black"/>
                </a:solidFill>
              </a:rPr>
              <a:t> </a:t>
            </a:r>
            <a:r>
              <a:rPr lang="ru-RU" sz="1900" dirty="0">
                <a:solidFill>
                  <a:prstClr val="black"/>
                </a:solidFill>
              </a:rPr>
              <a:t>      </a:t>
            </a:r>
            <a:r>
              <a:rPr lang="en-US" sz="1900" dirty="0">
                <a:solidFill>
                  <a:prstClr val="black"/>
                </a:solidFill>
              </a:rPr>
              <a:t>, </a:t>
            </a:r>
            <a:r>
              <a:rPr lang="en-US" sz="1900" dirty="0" err="1">
                <a:solidFill>
                  <a:prstClr val="black"/>
                </a:solidFill>
              </a:rPr>
              <a:t>bdate</a:t>
            </a:r>
            <a:r>
              <a:rPr lang="en-US" sz="1900" dirty="0">
                <a:solidFill>
                  <a:prstClr val="black"/>
                </a:solidFill>
              </a:rPr>
              <a:t>  DATE          DEFAULT TRUNC ( SYSDATE )</a:t>
            </a:r>
          </a:p>
          <a:p>
            <a:pPr marL="0" lvl="0" indent="0">
              <a:buNone/>
            </a:pPr>
            <a:r>
              <a:rPr lang="ru-RU" sz="1900" dirty="0">
                <a:solidFill>
                  <a:prstClr val="black"/>
                </a:solidFill>
              </a:rPr>
              <a:t>      </a:t>
            </a:r>
            <a:r>
              <a:rPr lang="en-US" sz="1900" dirty="0">
                <a:solidFill>
                  <a:prstClr val="black"/>
                </a:solidFill>
              </a:rPr>
              <a:t> , budget NUMBER   (10,2)</a:t>
            </a:r>
            <a:r>
              <a:rPr lang="ru-RU" sz="1900" dirty="0">
                <a:solidFill>
                  <a:prstClr val="black"/>
                </a:solidFill>
              </a:rPr>
              <a:t> </a:t>
            </a:r>
            <a:r>
              <a:rPr lang="en-US" sz="1900" dirty="0">
                <a:solidFill>
                  <a:prstClr val="black"/>
                </a:solidFill>
              </a:rPr>
              <a:t>);</a:t>
            </a:r>
            <a:endParaRPr lang="ru-RU" sz="2000" u="sng" dirty="0"/>
          </a:p>
          <a:p>
            <a:r>
              <a:rPr lang="ru-RU" sz="2000" u="sng" dirty="0"/>
              <a:t>Версия с запросом </a:t>
            </a:r>
            <a:r>
              <a:rPr lang="en-US" sz="2000" u="sng" dirty="0"/>
              <a:t>AS SELECT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ru-RU" sz="2000" dirty="0"/>
              <a:t>    </a:t>
            </a:r>
            <a:r>
              <a:rPr lang="en-US" sz="2000" dirty="0"/>
              <a:t>CREATE TABLE </a:t>
            </a:r>
            <a:r>
              <a:rPr lang="en-US" sz="2000" dirty="0" err="1"/>
              <a:t>dept_copy</a:t>
            </a:r>
            <a:r>
              <a:rPr lang="en-US" sz="2000" dirty="0"/>
              <a:t> AS SELECT * FROM </a:t>
            </a:r>
            <a:r>
              <a:rPr lang="en-US" sz="2000" dirty="0" err="1"/>
              <a:t>dept</a:t>
            </a:r>
            <a:r>
              <a:rPr lang="en-US" sz="2000" dirty="0"/>
              <a:t>;</a:t>
            </a:r>
          </a:p>
          <a:p>
            <a:pPr marL="0" indent="0">
              <a:buNone/>
            </a:pPr>
            <a:r>
              <a:rPr lang="ru-RU" sz="2000" dirty="0"/>
              <a:t>    </a:t>
            </a:r>
            <a:r>
              <a:rPr lang="en-US" sz="2000" dirty="0"/>
              <a:t>CREATE TABLE </a:t>
            </a:r>
            <a:r>
              <a:rPr lang="en-US" sz="2000" dirty="0" err="1"/>
              <a:t>emps</a:t>
            </a:r>
            <a:r>
              <a:rPr lang="en-US" sz="2000" dirty="0"/>
              <a:t> ( name, department ) </a:t>
            </a:r>
          </a:p>
          <a:p>
            <a:pPr marL="0" indent="0">
              <a:buNone/>
            </a:pPr>
            <a:r>
              <a:rPr lang="ru-RU" sz="2000" dirty="0"/>
              <a:t>    </a:t>
            </a:r>
            <a:r>
              <a:rPr lang="en-US" sz="2000" dirty="0"/>
              <a:t>AS SELECT </a:t>
            </a:r>
            <a:r>
              <a:rPr lang="en-US" sz="2000" dirty="0" err="1"/>
              <a:t>ename</a:t>
            </a:r>
            <a:r>
              <a:rPr lang="en-US" sz="2000" dirty="0"/>
              <a:t>, </a:t>
            </a:r>
            <a:r>
              <a:rPr lang="en-US" sz="2000" dirty="0" err="1"/>
              <a:t>dname</a:t>
            </a:r>
            <a:r>
              <a:rPr lang="en-US" sz="2000" dirty="0"/>
              <a:t> FROM </a:t>
            </a:r>
            <a:r>
              <a:rPr lang="en-US" sz="2000" dirty="0" err="1"/>
              <a:t>emp</a:t>
            </a:r>
            <a:r>
              <a:rPr lang="en-US" sz="2000" dirty="0"/>
              <a:t>, </a:t>
            </a:r>
            <a:r>
              <a:rPr lang="en-US" sz="2000" dirty="0" err="1"/>
              <a:t>dept</a:t>
            </a:r>
            <a:r>
              <a:rPr lang="en-US" sz="2000" dirty="0"/>
              <a:t> WHERE </a:t>
            </a:r>
            <a:r>
              <a:rPr lang="en-US" sz="2000" dirty="0" err="1"/>
              <a:t>emp.deptno</a:t>
            </a:r>
            <a:r>
              <a:rPr lang="en-US" sz="2000" dirty="0"/>
              <a:t> = </a:t>
            </a:r>
            <a:r>
              <a:rPr lang="ru-RU" sz="2000" dirty="0"/>
              <a:t>  </a:t>
            </a:r>
          </a:p>
          <a:p>
            <a:pPr marL="0" indent="0">
              <a:buNone/>
            </a:pPr>
            <a:r>
              <a:rPr lang="ru-RU" sz="2000" dirty="0"/>
              <a:t>                                                                                                     </a:t>
            </a:r>
            <a:r>
              <a:rPr lang="en-US" sz="2000" dirty="0" err="1"/>
              <a:t>dept.deptno</a:t>
            </a:r>
            <a:r>
              <a:rPr lang="en-US" sz="2000" dirty="0"/>
              <a:t>;</a:t>
            </a:r>
            <a:endParaRPr lang="ru-RU" sz="2000" dirty="0"/>
          </a:p>
          <a:p>
            <a:r>
              <a:rPr lang="ru-RU" sz="2000" u="sng" dirty="0"/>
              <a:t>Запрос </a:t>
            </a:r>
            <a:r>
              <a:rPr lang="ru-RU" sz="2100" u="sng" dirty="0">
                <a:solidFill>
                  <a:prstClr val="black"/>
                </a:solidFill>
              </a:rPr>
              <a:t> </a:t>
            </a:r>
            <a:r>
              <a:rPr lang="en-US" sz="2100" u="sng" dirty="0">
                <a:solidFill>
                  <a:prstClr val="black"/>
                </a:solidFill>
              </a:rPr>
              <a:t>AS SELECT </a:t>
            </a:r>
            <a:r>
              <a:rPr lang="ru-RU" sz="2100" u="sng" dirty="0">
                <a:solidFill>
                  <a:prstClr val="black"/>
                </a:solidFill>
              </a:rPr>
              <a:t>передающий структуру таблицы</a:t>
            </a:r>
            <a:r>
              <a:rPr lang="ru-RU" sz="2100" dirty="0">
                <a:solidFill>
                  <a:prstClr val="black"/>
                </a:solidFill>
              </a:rPr>
              <a:t>, но не данные:</a:t>
            </a:r>
          </a:p>
          <a:p>
            <a:pPr marL="0" indent="0">
              <a:buNone/>
            </a:pPr>
            <a:r>
              <a:rPr lang="ru-RU" sz="2000" dirty="0"/>
              <a:t>    </a:t>
            </a:r>
            <a:r>
              <a:rPr lang="en-US" sz="2000" dirty="0"/>
              <a:t>CREATE TABLE </a:t>
            </a:r>
            <a:r>
              <a:rPr lang="en-US" sz="2000" dirty="0" err="1"/>
              <a:t>dept_new</a:t>
            </a:r>
            <a:endParaRPr lang="en-US" sz="2000" dirty="0"/>
          </a:p>
          <a:p>
            <a:pPr marL="0" indent="0">
              <a:buNone/>
            </a:pPr>
            <a:r>
              <a:rPr lang="ru-RU" sz="2000" dirty="0"/>
              <a:t>    </a:t>
            </a:r>
            <a:r>
              <a:rPr lang="en-US" sz="2000" dirty="0"/>
              <a:t>AS (SELECT * FROM </a:t>
            </a:r>
            <a:r>
              <a:rPr lang="en-US" sz="2000" dirty="0" err="1"/>
              <a:t>dept</a:t>
            </a:r>
            <a:r>
              <a:rPr lang="en-US" sz="2000" dirty="0"/>
              <a:t> WHERE 1=0)</a:t>
            </a:r>
            <a:r>
              <a:rPr lang="ru-RU" sz="2000" dirty="0"/>
              <a:t>;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67200" y="75305"/>
            <a:ext cx="7485888" cy="53429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+mn-lt"/>
              </a:rPr>
              <a:t>CREATE TABLE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.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Примеры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для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heap-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таблицы</a:t>
            </a:r>
          </a:p>
        </p:txBody>
      </p:sp>
    </p:spTree>
    <p:extLst>
      <p:ext uri="{BB962C8B-B14F-4D97-AF65-F5344CB8AC3E}">
        <p14:creationId xmlns:p14="http://schemas.microsoft.com/office/powerpoint/2010/main" val="1143815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75252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rgbClr val="FF0000"/>
                </a:solidFill>
                <a:latin typeface="Calibri" panose="020F0502020204030204"/>
              </a:rPr>
              <a:t>Что можно изменять в таблице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993913"/>
            <a:ext cx="10515600" cy="51830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000" dirty="0">
                <a:solidFill>
                  <a:srgbClr val="424242"/>
                </a:solidFill>
                <a:latin typeface="Tahoma" panose="020B0604030504040204" pitchFamily="34" charset="0"/>
              </a:rPr>
              <a:t>      Команда ALTER TABLE обеспечивает</a:t>
            </a:r>
            <a:r>
              <a:rPr lang="ru-RU" sz="2000" b="1" dirty="0">
                <a:solidFill>
                  <a:srgbClr val="424242"/>
                </a:solidFill>
                <a:latin typeface="Tahoma" panose="020B0604030504040204" pitchFamily="34" charset="0"/>
              </a:rPr>
              <a:t>:</a:t>
            </a:r>
            <a:endParaRPr lang="ru-RU" sz="2000" dirty="0">
              <a:solidFill>
                <a:srgbClr val="424242"/>
              </a:solidFill>
              <a:latin typeface="Tahoma" panose="020B0604030504040204" pitchFamily="34" charset="0"/>
            </a:endParaRPr>
          </a:p>
          <a:p>
            <a:pPr algn="just"/>
            <a:r>
              <a:rPr lang="ru-RU" sz="2000" dirty="0">
                <a:solidFill>
                  <a:srgbClr val="424242"/>
                </a:solidFill>
                <a:latin typeface="Tahoma" panose="020B0604030504040204" pitchFamily="34" charset="0"/>
              </a:rPr>
              <a:t> изменение имени таблицы;</a:t>
            </a:r>
          </a:p>
          <a:p>
            <a:pPr algn="just"/>
            <a:r>
              <a:rPr lang="ru-RU" sz="2000" dirty="0">
                <a:solidFill>
                  <a:srgbClr val="424242"/>
                </a:solidFill>
                <a:latin typeface="Tahoma" panose="020B0604030504040204" pitchFamily="34" charset="0"/>
              </a:rPr>
              <a:t> изменение имени существующего поля;</a:t>
            </a:r>
          </a:p>
          <a:p>
            <a:pPr algn="just"/>
            <a:r>
              <a:rPr lang="ru-RU" sz="2000" dirty="0">
                <a:solidFill>
                  <a:srgbClr val="424242"/>
                </a:solidFill>
                <a:latin typeface="Tahoma" panose="020B0604030504040204" pitchFamily="34" charset="0"/>
              </a:rPr>
              <a:t> добавление нового поля;</a:t>
            </a:r>
          </a:p>
          <a:p>
            <a:pPr algn="just"/>
            <a:r>
              <a:rPr lang="ru-RU" sz="2000" dirty="0">
                <a:solidFill>
                  <a:srgbClr val="424242"/>
                </a:solidFill>
                <a:latin typeface="Tahoma" panose="020B0604030504040204" pitchFamily="34" charset="0"/>
              </a:rPr>
              <a:t> удаление существующего поля;</a:t>
            </a:r>
          </a:p>
          <a:p>
            <a:pPr algn="just"/>
            <a:r>
              <a:rPr lang="ru-RU" sz="2000" dirty="0">
                <a:solidFill>
                  <a:srgbClr val="424242"/>
                </a:solidFill>
                <a:latin typeface="Tahoma" panose="020B0604030504040204" pitchFamily="34" charset="0"/>
              </a:rPr>
              <a:t> изменение типа существующего поля;</a:t>
            </a:r>
          </a:p>
          <a:p>
            <a:pPr algn="just"/>
            <a:r>
              <a:rPr lang="ru-RU" sz="2000" dirty="0">
                <a:solidFill>
                  <a:srgbClr val="424242"/>
                </a:solidFill>
                <a:latin typeface="Tahoma" panose="020B0604030504040204" pitchFamily="34" charset="0"/>
              </a:rPr>
              <a:t> изменение выражение для виртуального поля;</a:t>
            </a:r>
          </a:p>
          <a:p>
            <a:pPr algn="just"/>
            <a:r>
              <a:rPr lang="ru-RU" sz="2000" dirty="0">
                <a:solidFill>
                  <a:srgbClr val="424242"/>
                </a:solidFill>
                <a:latin typeface="Tahoma" panose="020B0604030504040204" pitchFamily="34" charset="0"/>
              </a:rPr>
              <a:t> создание нового ограничения;</a:t>
            </a:r>
          </a:p>
          <a:p>
            <a:pPr algn="just"/>
            <a:r>
              <a:rPr lang="ru-RU" sz="2000" dirty="0">
                <a:solidFill>
                  <a:srgbClr val="424242"/>
                </a:solidFill>
                <a:latin typeface="Tahoma" panose="020B0604030504040204" pitchFamily="34" charset="0"/>
              </a:rPr>
              <a:t> удаление существующего ограничения;</a:t>
            </a:r>
          </a:p>
          <a:p>
            <a:pPr algn="just"/>
            <a:r>
              <a:rPr lang="ru-RU" sz="2000" dirty="0">
                <a:solidFill>
                  <a:srgbClr val="424242"/>
                </a:solidFill>
                <a:latin typeface="Tahoma" panose="020B0604030504040204" pitchFamily="34" charset="0"/>
              </a:rPr>
              <a:t> изменение имени существующего ограничения;</a:t>
            </a:r>
          </a:p>
          <a:p>
            <a:pPr algn="just"/>
            <a:r>
              <a:rPr lang="ru-RU" sz="2000" dirty="0">
                <a:solidFill>
                  <a:srgbClr val="424242"/>
                </a:solidFill>
                <a:latin typeface="Tahoma" panose="020B0604030504040204" pitchFamily="34" charset="0"/>
              </a:rPr>
              <a:t> отключение и включение действия ограничений;</a:t>
            </a:r>
          </a:p>
          <a:p>
            <a:pPr algn="just"/>
            <a:r>
              <a:rPr lang="ru-RU" sz="2000" dirty="0">
                <a:solidFill>
                  <a:srgbClr val="424242"/>
                </a:solidFill>
                <a:latin typeface="Tahoma" panose="020B0604030504040204" pitchFamily="34" charset="0"/>
              </a:rPr>
              <a:t> изменение физических параметров размещения таблицы и т.д.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12270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6695" y="52784"/>
            <a:ext cx="5944737" cy="586853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  <a:latin typeface="+mn-lt"/>
              </a:rPr>
              <a:t>Команда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ALTER TABLE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413"/>
                    </a14:imgEffect>
                    <a14:imgEffect>
                      <a14:saturation sat="28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2860" y="1608906"/>
            <a:ext cx="10928235" cy="4845538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6305267" y="300251"/>
            <a:ext cx="5737798" cy="3534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000"/>
              </a:spcAft>
            </a:pPr>
            <a:r>
              <a:rPr lang="en-US" i="1" dirty="0" err="1">
                <a:solidFill>
                  <a:srgbClr val="000000"/>
                </a:solidFill>
                <a:latin typeface="Calibri" panose="020F0502020204030204" pitchFamily="34" charset="0"/>
              </a:rPr>
              <a:t>alter_table_properties</a:t>
            </a:r>
            <a:r>
              <a:rPr lang="en-US" i="1" dirty="0">
                <a:solidFill>
                  <a:srgbClr val="000000"/>
                </a:solidFill>
                <a:latin typeface="Calibri" panose="020F0502020204030204" pitchFamily="34" charset="0"/>
              </a:rPr>
              <a:t> – 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изменение свойств таблицы</a:t>
            </a:r>
            <a:endParaRPr lang="ru-RU" i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i="1" dirty="0" err="1">
                <a:solidFill>
                  <a:srgbClr val="000000"/>
                </a:solidFill>
                <a:latin typeface="Calibri" panose="020F0502020204030204" pitchFamily="34" charset="0"/>
              </a:rPr>
              <a:t>column_clauses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 – 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добавление, удаление и изменение полей таблицы, в том числе переименование</a:t>
            </a:r>
            <a:endParaRPr lang="ru-RU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i="1" dirty="0" err="1">
                <a:solidFill>
                  <a:srgbClr val="000000"/>
                </a:solidFill>
                <a:latin typeface="Calibri" panose="020F0502020204030204" pitchFamily="34" charset="0"/>
              </a:rPr>
              <a:t>constraint_clauses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 – 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добавление, изменение, переименование и удаление ограничений целостности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i="1" dirty="0" err="1">
                <a:solidFill>
                  <a:srgbClr val="000000"/>
                </a:solidFill>
                <a:latin typeface="Calibri" panose="020F0502020204030204" pitchFamily="34" charset="0"/>
              </a:rPr>
              <a:t>alter_table_partitioning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 – 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изменение способа </a:t>
            </a:r>
            <a:r>
              <a:rPr lang="ru-RU" dirty="0" err="1">
                <a:solidFill>
                  <a:srgbClr val="000000"/>
                </a:solidFill>
                <a:latin typeface="Calibri" panose="020F0502020204030204" pitchFamily="34" charset="0"/>
              </a:rPr>
              <a:t>партиционирования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 таблицы</a:t>
            </a:r>
            <a:endParaRPr lang="ru-RU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i="1" dirty="0" err="1">
                <a:solidFill>
                  <a:srgbClr val="000000"/>
                </a:solidFill>
                <a:latin typeface="Calibri" panose="020F0502020204030204" pitchFamily="34" charset="0"/>
              </a:rPr>
              <a:t>move_table_clause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 – 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изменение атрибутов сегмента таблицы, в том числе перемещение в другое ТП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i="1" dirty="0" err="1">
                <a:solidFill>
                  <a:srgbClr val="000000"/>
                </a:solidFill>
                <a:latin typeface="Calibri" panose="020F0502020204030204" pitchFamily="34" charset="0"/>
              </a:rPr>
              <a:t>enable_disable_clause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 – 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включение/выключение ограничений целостности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641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00500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  <a:latin typeface="+mn-lt"/>
              </a:rPr>
              <a:t>Примеры изменений таблицы 1/2</a:t>
            </a:r>
            <a:endParaRPr lang="ru-RU" sz="3200" dirty="0"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21208" y="600501"/>
            <a:ext cx="10515600" cy="62575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000" dirty="0">
                <a:solidFill>
                  <a:srgbClr val="333333"/>
                </a:solidFill>
              </a:rPr>
              <a:t>      Таблица должна быть в схеме пользователя, или пользователь должен иметь системную 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333333"/>
                </a:solidFill>
              </a:rPr>
              <a:t>привилегию ALTER ANY TABLE. Можно:</a:t>
            </a:r>
          </a:p>
          <a:p>
            <a:pPr marL="0" indent="0">
              <a:buNone/>
            </a:pPr>
            <a:endParaRPr lang="ru-RU" sz="2000" dirty="0">
              <a:solidFill>
                <a:srgbClr val="333333"/>
              </a:solidFill>
            </a:endParaRPr>
          </a:p>
          <a:p>
            <a:pPr lvl="0"/>
            <a:r>
              <a:rPr lang="ru-RU" sz="2000" u="sng" dirty="0">
                <a:solidFill>
                  <a:srgbClr val="333333"/>
                </a:solidFill>
              </a:rPr>
              <a:t>Добавить, переопределить столбец (тип, размер, значение по умолчанию) или удалить его</a:t>
            </a:r>
            <a:r>
              <a:rPr lang="ru-RU" sz="2000" dirty="0">
                <a:solidFill>
                  <a:srgbClr val="333333"/>
                </a:solidFill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ALTER TABLE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имя_таблицы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ADD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имя_столбца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тип_столбца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[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DEFAULT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значение_по_умолчанию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];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ALTER TABLE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имя_таблицы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DROP COLUMN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имя_столбца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ALTER TABLE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имя_таблицы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DROP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список_столбцов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);</a:t>
            </a:r>
          </a:p>
          <a:p>
            <a:pPr marL="0" indent="0">
              <a:spcAft>
                <a:spcPts val="0"/>
              </a:spcAft>
              <a:buNone/>
            </a:pP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/>
            <a:r>
              <a:rPr lang="ru-RU" sz="2000" u="sng" dirty="0">
                <a:solidFill>
                  <a:srgbClr val="333333"/>
                </a:solidFill>
              </a:rPr>
              <a:t>Сделать столбец неиспользуемым:</a:t>
            </a:r>
          </a:p>
          <a:p>
            <a:pPr marL="0" lvl="0" indent="0">
              <a:buNone/>
            </a:pPr>
            <a:r>
              <a:rPr lang="en-US" sz="19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ALTER TABLE</a:t>
            </a:r>
            <a:r>
              <a:rPr lang="ru-RU" sz="19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900" dirty="0" err="1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имя_таблицы</a:t>
            </a:r>
            <a:r>
              <a:rPr lang="ru-RU" sz="19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9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SET UNUSED COLUMN</a:t>
            </a:r>
            <a:r>
              <a:rPr lang="ru-RU" sz="19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900" dirty="0" err="1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имя_столбца</a:t>
            </a:r>
            <a:r>
              <a:rPr lang="ru-RU" sz="19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</a:p>
          <a:p>
            <a:pPr marL="0" lvl="0" indent="0">
              <a:buNone/>
            </a:pPr>
            <a:r>
              <a:rPr lang="en-US" sz="19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ALTER TABLE </a:t>
            </a:r>
            <a:r>
              <a:rPr lang="ru-RU" sz="19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имя</a:t>
            </a:r>
            <a:r>
              <a:rPr lang="en-US" sz="19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_</a:t>
            </a:r>
            <a:r>
              <a:rPr lang="ru-RU" sz="19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таблицы</a:t>
            </a:r>
            <a:r>
              <a:rPr lang="en-US" sz="19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SET UNUSED (</a:t>
            </a:r>
            <a:r>
              <a:rPr lang="ru-RU" sz="19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список</a:t>
            </a:r>
            <a:r>
              <a:rPr lang="en-US" sz="19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_</a:t>
            </a:r>
            <a:r>
              <a:rPr lang="ru-RU" sz="19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столбцов</a:t>
            </a:r>
            <a:r>
              <a:rPr lang="en-US" sz="19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);</a:t>
            </a:r>
            <a:endParaRPr lang="ru-RU" sz="19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>
              <a:buNone/>
            </a:pPr>
            <a:endParaRPr lang="ru-RU" sz="2000" u="sng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ru-RU" sz="2000" u="sng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Замечание</a:t>
            </a:r>
            <a:r>
              <a:rPr lang="ru-RU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обратите внимание на то, что данные столбца, помеченного как неиспользуемый не удаляются; можно создать второй столбец с тем же именем, что у неиспользуемого; данные удаляются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только после выполнения команды </a:t>
            </a:r>
          </a:p>
          <a:p>
            <a:pPr marL="0" lvl="0" indent="0">
              <a:buNone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ALTER TABLE </a:t>
            </a:r>
            <a:r>
              <a:rPr lang="ru-RU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имя_таблицы</a:t>
            </a:r>
            <a:r>
              <a:rPr lang="ru-RU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DROP UNUSED COLUMNS</a:t>
            </a:r>
            <a:endParaRPr lang="ru-RU" sz="20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endParaRPr lang="ru-R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1811" y="3963809"/>
            <a:ext cx="4078577" cy="132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899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2446" y="33867"/>
            <a:ext cx="10515600" cy="409193"/>
          </a:xfrm>
        </p:spPr>
        <p:txBody>
          <a:bodyPr>
            <a:noAutofit/>
          </a:bodyPr>
          <a:lstStyle/>
          <a:p>
            <a:pPr marL="228600" lvl="0" indent="-228600" algn="ctr">
              <a:spcBef>
                <a:spcPts val="1000"/>
              </a:spcBef>
            </a:pPr>
            <a:r>
              <a:rPr lang="ru-RU" sz="3200" dirty="0">
                <a:solidFill>
                  <a:srgbClr val="FF0000"/>
                </a:solidFill>
                <a:latin typeface="Calibri" panose="020F0502020204030204"/>
              </a:rPr>
              <a:t>Примеры изменений таблицы 2/2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8761" y="536264"/>
            <a:ext cx="11495314" cy="6321735"/>
          </a:xfrm>
        </p:spPr>
        <p:txBody>
          <a:bodyPr>
            <a:noAutofit/>
          </a:bodyPr>
          <a:lstStyle/>
          <a:p>
            <a:pPr lvl="0"/>
            <a:r>
              <a:rPr lang="ru-RU" sz="2000" u="sng" dirty="0">
                <a:latin typeface="Times New Roman" panose="02020603050405020304" pitchFamily="18" charset="0"/>
              </a:rPr>
              <a:t>Д</a:t>
            </a:r>
            <a:r>
              <a:rPr lang="ru-RU" sz="2000" u="sng" dirty="0">
                <a:solidFill>
                  <a:srgbClr val="333333"/>
                </a:solidFill>
              </a:rPr>
              <a:t>обавить ограничение целостности или изменить его свойства</a:t>
            </a:r>
            <a:r>
              <a:rPr lang="ru-RU" sz="2000" dirty="0">
                <a:solidFill>
                  <a:srgbClr val="333333"/>
                </a:solidFill>
              </a:rPr>
              <a:t>: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ALTER TABLE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имя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_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таблицы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ENABLE CONSTAINT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имя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_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ограничения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_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целостности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--разрешить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огр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ALTER TABLE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имя_таблицы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DISABLE CONSTAINT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имя_ограничения_целостности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;--запретить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огр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ALTER TABLE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имя_таблицы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ADD CONSTAINT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имя_ограничения_целостности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; -- добавить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огр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ALTER TABLE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имя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_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таблицы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DROP PRIMARY KEY;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-- удаление ПК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ALTER TABLE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имя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_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таблицы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DROP CONSTAINT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имя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_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ограничения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_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целостности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-- удалить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огр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ALTER TABLE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имя_таблицы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RENAME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имя_старого_огранич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имя_нового_огранич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.; --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переимен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Примеры:</a:t>
            </a:r>
          </a:p>
          <a:p>
            <a:pPr lvl="0" algn="just"/>
            <a:r>
              <a:rPr lang="ru-RU" sz="2200" u="sng" dirty="0">
                <a:solidFill>
                  <a:srgbClr val="424242"/>
                </a:solidFill>
              </a:rPr>
              <a:t>Переименование таблицы</a:t>
            </a:r>
          </a:p>
          <a:p>
            <a:pPr marL="0" lvl="0" indent="0" algn="just">
              <a:buNone/>
            </a:pPr>
            <a:r>
              <a:rPr lang="ru-RU" sz="2200" dirty="0">
                <a:solidFill>
                  <a:srgbClr val="424242"/>
                </a:solidFill>
              </a:rPr>
              <a:t>ALTER TABLE "</a:t>
            </a:r>
            <a:r>
              <a:rPr lang="ru-RU" sz="2200" dirty="0" err="1">
                <a:solidFill>
                  <a:srgbClr val="424242"/>
                </a:solidFill>
              </a:rPr>
              <a:t>Все_заказы</a:t>
            </a:r>
            <a:r>
              <a:rPr lang="ru-RU" sz="2200" dirty="0">
                <a:solidFill>
                  <a:srgbClr val="424242"/>
                </a:solidFill>
              </a:rPr>
              <a:t>" RENAME TO "Все_ заказы_1";</a:t>
            </a:r>
          </a:p>
          <a:p>
            <a:pPr marL="0" lvl="0" indent="0" algn="just">
              <a:buNone/>
            </a:pPr>
            <a:r>
              <a:rPr lang="ru-RU" sz="2200" dirty="0">
                <a:solidFill>
                  <a:srgbClr val="424242"/>
                </a:solidFill>
              </a:rPr>
              <a:t>RENAME "</a:t>
            </a:r>
            <a:r>
              <a:rPr lang="ru-RU" sz="2200" dirty="0" err="1">
                <a:solidFill>
                  <a:srgbClr val="424242"/>
                </a:solidFill>
              </a:rPr>
              <a:t>Все_заказы</a:t>
            </a:r>
            <a:r>
              <a:rPr lang="ru-RU" sz="2200" dirty="0">
                <a:solidFill>
                  <a:srgbClr val="424242"/>
                </a:solidFill>
              </a:rPr>
              <a:t>" TO "Все_заказы_1"; </a:t>
            </a:r>
          </a:p>
          <a:p>
            <a:pPr algn="just"/>
            <a:r>
              <a:rPr lang="ru-RU" sz="2200" u="sng" dirty="0">
                <a:solidFill>
                  <a:srgbClr val="424242"/>
                </a:solidFill>
              </a:rPr>
              <a:t>Переименование поля</a:t>
            </a:r>
          </a:p>
          <a:p>
            <a:pPr marL="0" lvl="0" indent="0" algn="just">
              <a:buNone/>
            </a:pPr>
            <a:r>
              <a:rPr lang="ru-RU" sz="2200" dirty="0">
                <a:solidFill>
                  <a:srgbClr val="424242"/>
                </a:solidFill>
              </a:rPr>
              <a:t>ALTER TABLE "Клиент" RENAME COLUMN "Образование" TO "Степень";</a:t>
            </a:r>
          </a:p>
          <a:p>
            <a:pPr lvl="0" algn="just"/>
            <a:r>
              <a:rPr lang="ru-RU" sz="2200" u="sng" dirty="0">
                <a:solidFill>
                  <a:srgbClr val="424242"/>
                </a:solidFill>
                <a:latin typeface="Tahoma" panose="020B0604030504040204" pitchFamily="34" charset="0"/>
              </a:rPr>
              <a:t>Установление значения по умолчанию</a:t>
            </a:r>
            <a:r>
              <a:rPr lang="ru-RU" sz="2200" dirty="0">
                <a:solidFill>
                  <a:srgbClr val="424242"/>
                </a:solidFill>
                <a:latin typeface="Tahoma" panose="020B0604030504040204" pitchFamily="34" charset="0"/>
              </a:rPr>
              <a:t> </a:t>
            </a:r>
          </a:p>
          <a:p>
            <a:pPr marL="0" lvl="0" indent="0" algn="just">
              <a:buNone/>
            </a:pPr>
            <a:r>
              <a:rPr lang="ru-RU" sz="2200" dirty="0">
                <a:solidFill>
                  <a:srgbClr val="424242"/>
                </a:solidFill>
              </a:rPr>
              <a:t>ALTER TABLE "Клиент " MODIFY "Степень" DEFAULT 'отсутствует‘;</a:t>
            </a:r>
          </a:p>
          <a:p>
            <a:pPr marL="0" lvl="0" indent="0" algn="just">
              <a:buNone/>
            </a:pPr>
            <a:endParaRPr lang="ru-RU" sz="2000" dirty="0">
              <a:solidFill>
                <a:srgbClr val="424242"/>
              </a:solidFill>
            </a:endParaRPr>
          </a:p>
          <a:p>
            <a:pPr lvl="0"/>
            <a:endParaRPr lang="ru-RU" sz="1900" u="sng" dirty="0">
              <a:solidFill>
                <a:srgbClr val="333333"/>
              </a:solidFill>
            </a:endParaRP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976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474388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dirty="0">
                <a:solidFill>
                  <a:srgbClr val="FF0000"/>
                </a:solidFill>
                <a:latin typeface="+mn-lt"/>
                <a:ea typeface="Times New Roman" panose="02020603050405020304" pitchFamily="18" charset="0"/>
                <a:cs typeface="+mn-cs"/>
              </a:rPr>
              <a:t>Восстановление удаленной таблицы</a:t>
            </a:r>
            <a:endParaRPr lang="ru-RU" sz="36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412512"/>
            <a:ext cx="10515600" cy="6310406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Корзина для удаленных объектов базы просматривается через представление словаря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user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_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recyclebin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Командой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SHOW RECYCLEBIN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можно просмотреть часть его столбцов.</a:t>
            </a:r>
          </a:p>
          <a:p>
            <a:pPr>
              <a:spcAft>
                <a:spcPts val="0"/>
              </a:spcAft>
            </a:pPr>
            <a:r>
              <a:rPr lang="ru-RU" sz="2000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Скрипт для просмотра </a:t>
            </a:r>
            <a:r>
              <a:rPr lang="en-US" sz="2000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user</a:t>
            </a:r>
            <a:r>
              <a:rPr lang="ru-RU" sz="2000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_</a:t>
            </a:r>
            <a:r>
              <a:rPr lang="en-US" sz="2000" u="sng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recyclebin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COLUMN type FORMAT A10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Select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original_name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object_name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type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FROM user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_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recyclebin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2000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Восстановить удаленную таблицу можно командой: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FLASHBACK TABLE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имя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_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таблицы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TO BEFORE DROP;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2000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Удаление таблицы полностью: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PURGE TABLE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имя_таблицы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</a:p>
          <a:p>
            <a:pPr>
              <a:spcAft>
                <a:spcPts val="0"/>
              </a:spcAft>
            </a:pPr>
            <a:r>
              <a:rPr lang="ru-RU" sz="2000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Очистка корзины: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PURGE RECYCLEBIN;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2000" dirty="0"/>
              <a:t>Обязательно поработайте с корзиной </a:t>
            </a:r>
          </a:p>
          <a:p>
            <a:pPr marL="0" indent="0">
              <a:buNone/>
            </a:pPr>
            <a:r>
              <a:rPr lang="ru-RU" sz="2000" dirty="0"/>
              <a:t>пользователями </a:t>
            </a:r>
            <a:r>
              <a:rPr lang="en-US" sz="2000" dirty="0"/>
              <a:t>SYS</a:t>
            </a:r>
            <a:r>
              <a:rPr lang="ru-RU" sz="2000" dirty="0"/>
              <a:t> и</a:t>
            </a:r>
            <a:r>
              <a:rPr lang="en-US" sz="2000" dirty="0"/>
              <a:t> HR. </a:t>
            </a:r>
            <a:r>
              <a:rPr lang="ru-RU" sz="2000" dirty="0"/>
              <a:t>В чём разница?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457" y="996902"/>
            <a:ext cx="6524589" cy="16944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340" y="3440016"/>
            <a:ext cx="5394845" cy="328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687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42861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solidFill>
                  <a:srgbClr val="FF0000"/>
                </a:solidFill>
              </a:rPr>
              <a:t>Типы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3707295"/>
            <a:ext cx="10515600" cy="2469667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2975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43953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dirty="0">
                <a:solidFill>
                  <a:srgbClr val="FF0000"/>
                </a:solidFill>
              </a:rPr>
              <a:t>Встроенные типы данных в </a:t>
            </a:r>
            <a:r>
              <a:rPr lang="en-US" sz="3600" dirty="0">
                <a:solidFill>
                  <a:srgbClr val="FF0000"/>
                </a:solidFill>
              </a:rPr>
              <a:t>Oracle 11g</a:t>
            </a:r>
            <a:endParaRPr lang="ru-RU" sz="36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269" y="472377"/>
            <a:ext cx="5334000" cy="5443002"/>
          </a:xfrm>
          <a:ln w="127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ru-RU" sz="2000" u="sng" dirty="0"/>
              <a:t>Символьные типы данных</a:t>
            </a:r>
            <a:endParaRPr lang="en-US" sz="2000" u="sng" dirty="0"/>
          </a:p>
          <a:p>
            <a:pPr marL="0" indent="0">
              <a:buNone/>
            </a:pPr>
            <a:r>
              <a:rPr lang="en-US" sz="2000" dirty="0"/>
              <a:t>{ CHAR [ (size [ BYTE | CHAR ]) ]</a:t>
            </a:r>
          </a:p>
          <a:p>
            <a:pPr marL="0" indent="0">
              <a:buNone/>
            </a:pPr>
            <a:r>
              <a:rPr lang="en-US" sz="2000" dirty="0"/>
              <a:t>| VARCHAR2 (size [ BYTE | CHAR ])</a:t>
            </a:r>
          </a:p>
          <a:p>
            <a:pPr marL="0" indent="0">
              <a:buNone/>
            </a:pPr>
            <a:r>
              <a:rPr lang="en-US" sz="2000" dirty="0"/>
              <a:t>| NCHAR [ (size) ]</a:t>
            </a:r>
          </a:p>
          <a:p>
            <a:pPr marL="0" indent="0">
              <a:buNone/>
            </a:pPr>
            <a:r>
              <a:rPr lang="en-US" sz="2000" dirty="0"/>
              <a:t>| NVARCHAR2 (size) }</a:t>
            </a: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r>
              <a:rPr lang="ru-RU" sz="2000" u="sng" dirty="0"/>
              <a:t>Типы данных дата - время</a:t>
            </a:r>
            <a:endParaRPr lang="en-US" sz="2000" u="sng" dirty="0"/>
          </a:p>
          <a:p>
            <a:pPr marL="0" indent="0">
              <a:buNone/>
            </a:pPr>
            <a:r>
              <a:rPr lang="en-US" sz="2000" dirty="0"/>
              <a:t>{ DATE</a:t>
            </a:r>
          </a:p>
          <a:p>
            <a:pPr marL="0" indent="0">
              <a:buNone/>
            </a:pPr>
            <a:r>
              <a:rPr lang="en-US" sz="2000" dirty="0"/>
              <a:t>| TIMESTAMP [ (</a:t>
            </a:r>
            <a:r>
              <a:rPr lang="en-US" sz="2000" dirty="0" err="1"/>
              <a:t>fractional_seconds_precision</a:t>
            </a:r>
            <a:r>
              <a:rPr lang="en-US" sz="2000" dirty="0"/>
              <a:t>) ]</a:t>
            </a:r>
          </a:p>
          <a:p>
            <a:pPr marL="0" indent="0">
              <a:buNone/>
            </a:pPr>
            <a:r>
              <a:rPr lang="en-US" sz="2000" dirty="0"/>
              <a:t>   </a:t>
            </a:r>
            <a:r>
              <a:rPr lang="ru-RU" sz="2000" dirty="0"/>
              <a:t>  </a:t>
            </a:r>
            <a:r>
              <a:rPr lang="en-US" sz="2000" dirty="0"/>
              <a:t>  [ WITH [ LOCAL ] TIME ZONE ]</a:t>
            </a:r>
          </a:p>
          <a:p>
            <a:pPr marL="0" indent="0">
              <a:buNone/>
            </a:pPr>
            <a:r>
              <a:rPr lang="en-US" sz="2000" dirty="0"/>
              <a:t>| INTERVAL YEAR [ (</a:t>
            </a:r>
            <a:r>
              <a:rPr lang="en-US" sz="2000" dirty="0" err="1"/>
              <a:t>year_precision</a:t>
            </a:r>
            <a:r>
              <a:rPr lang="en-US" sz="2000" dirty="0"/>
              <a:t>) ] TO MONTH</a:t>
            </a:r>
          </a:p>
          <a:p>
            <a:pPr marL="0" indent="0">
              <a:buNone/>
            </a:pPr>
            <a:r>
              <a:rPr lang="en-US" sz="2000" dirty="0"/>
              <a:t>| INTERVAL DAY [ (</a:t>
            </a:r>
            <a:r>
              <a:rPr lang="en-US" sz="2000" dirty="0" err="1"/>
              <a:t>day_precision</a:t>
            </a:r>
            <a:r>
              <a:rPr lang="en-US" sz="2000" dirty="0"/>
              <a:t>) ] TO SECOND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ru-RU" sz="2000" dirty="0"/>
              <a:t>  </a:t>
            </a:r>
            <a:r>
              <a:rPr lang="en-US" sz="2000" dirty="0"/>
              <a:t> [ (</a:t>
            </a:r>
            <a:r>
              <a:rPr lang="en-US" sz="2000" dirty="0" err="1"/>
              <a:t>fractional_seconds_precision</a:t>
            </a:r>
            <a:r>
              <a:rPr lang="en-US" sz="2000" dirty="0"/>
              <a:t>) ]}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789626" y="472377"/>
            <a:ext cx="4391890" cy="4708981"/>
          </a:xfrm>
          <a:prstGeom prst="rect">
            <a:avLst/>
          </a:prstGeom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u="sng" dirty="0"/>
              <a:t>Типы данных больших объектов</a:t>
            </a:r>
            <a:endParaRPr lang="en-US" sz="2000" u="sng" dirty="0"/>
          </a:p>
          <a:p>
            <a:r>
              <a:rPr lang="en-US" sz="2000" dirty="0"/>
              <a:t>{ BLOB | CLOB | NCLOB | BFILE }</a:t>
            </a:r>
          </a:p>
          <a:p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u="sng" dirty="0"/>
              <a:t>Типы </a:t>
            </a:r>
            <a:r>
              <a:rPr lang="en-US" sz="2000" u="sng" dirty="0"/>
              <a:t>long</a:t>
            </a:r>
            <a:r>
              <a:rPr lang="ru-RU" sz="2000" u="sng" dirty="0"/>
              <a:t> и </a:t>
            </a:r>
            <a:r>
              <a:rPr lang="en-US" sz="2000" u="sng" dirty="0"/>
              <a:t>raw</a:t>
            </a:r>
          </a:p>
          <a:p>
            <a:r>
              <a:rPr lang="en-US" sz="2000" dirty="0"/>
              <a:t>{ LONG | LONG RAW | RAW (size) }</a:t>
            </a:r>
          </a:p>
          <a:p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Числовые типы данных</a:t>
            </a:r>
            <a:endParaRPr lang="en-US" sz="2000" dirty="0"/>
          </a:p>
          <a:p>
            <a:r>
              <a:rPr lang="en-US" sz="2000" dirty="0"/>
              <a:t>{ NUMBER [ (precision [, scale ]) ]</a:t>
            </a:r>
          </a:p>
          <a:p>
            <a:r>
              <a:rPr lang="en-US" sz="2000" dirty="0"/>
              <a:t>| FLOAT [ (precision) ]</a:t>
            </a:r>
          </a:p>
          <a:p>
            <a:r>
              <a:rPr lang="en-US" sz="2000" dirty="0"/>
              <a:t>| BINARY_FLOAT</a:t>
            </a:r>
          </a:p>
          <a:p>
            <a:r>
              <a:rPr lang="en-US" sz="2000" dirty="0"/>
              <a:t>| BINARY_DOUBLE</a:t>
            </a:r>
          </a:p>
          <a:p>
            <a:r>
              <a:rPr lang="en-US" sz="2000" dirty="0"/>
              <a:t>}</a:t>
            </a:r>
            <a:endParaRPr lang="ru-RU" sz="2000" dirty="0"/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u="sng" dirty="0"/>
              <a:t>Типы </a:t>
            </a:r>
            <a:r>
              <a:rPr lang="en-US" sz="2000" u="sng" dirty="0" err="1"/>
              <a:t>rowid</a:t>
            </a:r>
            <a:endParaRPr lang="en-US" sz="2000" u="sng" dirty="0"/>
          </a:p>
          <a:p>
            <a:r>
              <a:rPr lang="en-US" sz="2000" dirty="0"/>
              <a:t>{ ROWID | UROWID [ (size) ] }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4704845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87584"/>
            <a:ext cx="6095464" cy="585925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Числовые типы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673510"/>
            <a:ext cx="10515600" cy="595107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       Два основных типа </a:t>
            </a:r>
            <a:r>
              <a:rPr lang="en-US" sz="2000" dirty="0"/>
              <a:t>NUMBER </a:t>
            </a:r>
            <a:r>
              <a:rPr lang="ru-RU" sz="2000" dirty="0"/>
              <a:t>и</a:t>
            </a:r>
            <a:r>
              <a:rPr lang="en-US" sz="2000" dirty="0"/>
              <a:t> FLOAT.</a:t>
            </a:r>
            <a:endParaRPr lang="ru-RU" sz="2000" dirty="0"/>
          </a:p>
          <a:p>
            <a:r>
              <a:rPr lang="en-US" sz="2000" dirty="0"/>
              <a:t>NUMBER </a:t>
            </a:r>
            <a:r>
              <a:rPr lang="ru-RU" sz="2000" dirty="0"/>
              <a:t>существует в трёх вариантах:</a:t>
            </a:r>
          </a:p>
          <a:p>
            <a:pPr marL="0" indent="0">
              <a:buNone/>
            </a:pPr>
            <a:r>
              <a:rPr lang="ru-RU" sz="2000" dirty="0"/>
              <a:t>         </a:t>
            </a:r>
            <a:r>
              <a:rPr lang="en-US" sz="2000" dirty="0"/>
              <a:t>NUMBER	    -- </a:t>
            </a:r>
          </a:p>
          <a:p>
            <a:pPr marL="0" indent="0">
              <a:buNone/>
            </a:pPr>
            <a:r>
              <a:rPr lang="en-US" sz="2000" dirty="0"/>
              <a:t>     </a:t>
            </a:r>
            <a:r>
              <a:rPr lang="ru-RU" sz="2000" dirty="0"/>
              <a:t>   </a:t>
            </a:r>
            <a:r>
              <a:rPr lang="en-US" sz="2000" dirty="0"/>
              <a:t> NUMBER(n)	    -- </a:t>
            </a:r>
            <a:r>
              <a:rPr lang="ru-RU" sz="2000" dirty="0"/>
              <a:t>мантисса в </a:t>
            </a:r>
            <a:r>
              <a:rPr lang="en-US" sz="2000" dirty="0"/>
              <a:t>n </a:t>
            </a:r>
            <a:r>
              <a:rPr lang="ru-RU" sz="2000" dirty="0"/>
              <a:t>десятичных позиций;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</a:t>
            </a:r>
            <a:r>
              <a:rPr lang="ru-RU" sz="2000" dirty="0"/>
              <a:t>   </a:t>
            </a:r>
            <a:r>
              <a:rPr lang="en-US" sz="2000" dirty="0"/>
              <a:t> NUMBER(n, m)</a:t>
            </a:r>
            <a:r>
              <a:rPr lang="ru-RU" sz="2000" dirty="0"/>
              <a:t>   -- для чисел с фиксированной </a:t>
            </a:r>
          </a:p>
          <a:p>
            <a:pPr marL="0" indent="0">
              <a:buNone/>
            </a:pPr>
            <a:r>
              <a:rPr lang="ru-RU" sz="2000" dirty="0"/>
              <a:t>                                           десятичной точкой.</a:t>
            </a:r>
          </a:p>
          <a:p>
            <a:r>
              <a:rPr lang="ru-RU" sz="2000" dirty="0">
                <a:solidFill>
                  <a:srgbClr val="000000"/>
                </a:solidFill>
              </a:rPr>
              <a:t>Гарантируется переносимость между любыми 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</a:rPr>
              <a:t>    операционными системами, на которых ORACLE работает.</a:t>
            </a:r>
          </a:p>
          <a:p>
            <a:r>
              <a:rPr lang="ru-RU" sz="2000" dirty="0"/>
              <a:t>Позволяет хранить: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solidFill>
                  <a:prstClr val="black"/>
                </a:solidFill>
              </a:rPr>
              <a:t>     -- Положительные числа в диапазоне</a:t>
            </a:r>
            <a:r>
              <a:rPr lang="en-US" sz="2000" dirty="0">
                <a:solidFill>
                  <a:prstClr val="black"/>
                </a:solidFill>
              </a:rPr>
              <a:t> 1 x 10</a:t>
            </a:r>
            <a:r>
              <a:rPr lang="en-US" sz="2000" baseline="30000" dirty="0">
                <a:solidFill>
                  <a:prstClr val="black"/>
                </a:solidFill>
              </a:rPr>
              <a:t>-130</a:t>
            </a:r>
            <a:endParaRPr lang="ru-RU" sz="2000" dirty="0">
              <a:solidFill>
                <a:prstClr val="black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solidFill>
                  <a:prstClr val="black"/>
                </a:solidFill>
              </a:rPr>
              <a:t>         до</a:t>
            </a:r>
            <a:r>
              <a:rPr lang="en-US" sz="2000" dirty="0">
                <a:solidFill>
                  <a:prstClr val="black"/>
                </a:solidFill>
              </a:rPr>
              <a:t> 9.99...9 x 10</a:t>
            </a:r>
            <a:r>
              <a:rPr lang="en-US" sz="2000" baseline="30000" dirty="0">
                <a:solidFill>
                  <a:prstClr val="black"/>
                </a:solidFill>
              </a:rPr>
              <a:t>125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ru-RU" sz="2000" dirty="0">
                <a:solidFill>
                  <a:prstClr val="black"/>
                </a:solidFill>
              </a:rPr>
              <a:t>до</a:t>
            </a:r>
            <a:r>
              <a:rPr lang="en-US" sz="2000" dirty="0">
                <a:solidFill>
                  <a:prstClr val="black"/>
                </a:solidFill>
              </a:rPr>
              <a:t> 38 </a:t>
            </a:r>
            <a:r>
              <a:rPr lang="ru-RU" sz="2000" dirty="0">
                <a:solidFill>
                  <a:prstClr val="black"/>
                </a:solidFill>
              </a:rPr>
              <a:t>значащих цифр.</a:t>
            </a:r>
            <a:endParaRPr lang="en-US" sz="2000" dirty="0">
              <a:solidFill>
                <a:prstClr val="black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solidFill>
                  <a:prstClr val="black"/>
                </a:solidFill>
              </a:rPr>
              <a:t>     -- Отрицательные числа в диапазоне</a:t>
            </a:r>
            <a:r>
              <a:rPr lang="en-US" sz="2000" dirty="0">
                <a:solidFill>
                  <a:prstClr val="black"/>
                </a:solidFill>
              </a:rPr>
              <a:t> -1 x 10</a:t>
            </a:r>
            <a:r>
              <a:rPr lang="en-US" sz="2000" baseline="30000" dirty="0">
                <a:solidFill>
                  <a:prstClr val="black"/>
                </a:solidFill>
              </a:rPr>
              <a:t>-130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ru-RU" sz="2000" dirty="0">
                <a:solidFill>
                  <a:prstClr val="black"/>
                </a:solidFill>
              </a:rPr>
              <a:t>до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solidFill>
                  <a:prstClr val="black"/>
                </a:solidFill>
              </a:rPr>
              <a:t>        </a:t>
            </a:r>
            <a:r>
              <a:rPr lang="en-US" sz="2000" dirty="0">
                <a:solidFill>
                  <a:prstClr val="black"/>
                </a:solidFill>
              </a:rPr>
              <a:t> 9.99...99 x 10</a:t>
            </a:r>
            <a:r>
              <a:rPr lang="en-US" sz="2000" baseline="30000" dirty="0">
                <a:solidFill>
                  <a:prstClr val="black"/>
                </a:solidFill>
              </a:rPr>
              <a:t>125 </a:t>
            </a:r>
            <a:r>
              <a:rPr lang="ru-RU" sz="2000" dirty="0">
                <a:solidFill>
                  <a:prstClr val="black"/>
                </a:solidFill>
              </a:rPr>
              <a:t>до</a:t>
            </a:r>
            <a:r>
              <a:rPr lang="en-US" sz="2000" dirty="0">
                <a:solidFill>
                  <a:prstClr val="black"/>
                </a:solidFill>
              </a:rPr>
              <a:t> 38 </a:t>
            </a:r>
            <a:r>
              <a:rPr lang="ru-RU" sz="2000" dirty="0">
                <a:solidFill>
                  <a:prstClr val="black"/>
                </a:solidFill>
              </a:rPr>
              <a:t>значащих цифр.</a:t>
            </a:r>
            <a:endParaRPr lang="en-US" sz="2000" dirty="0">
              <a:solidFill>
                <a:prstClr val="black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solidFill>
                  <a:prstClr val="black"/>
                </a:solidFill>
              </a:rPr>
              <a:t>     -- Ноль.</a:t>
            </a:r>
            <a:endParaRPr lang="en-US" sz="2000" dirty="0">
              <a:solidFill>
                <a:prstClr val="black"/>
              </a:solidFill>
            </a:endParaRPr>
          </a:p>
          <a:p>
            <a:pPr marL="0" indent="0">
              <a:buNone/>
            </a:pPr>
            <a:r>
              <a:rPr lang="ru-RU" sz="2000" dirty="0"/>
              <a:t>  		Функция </a:t>
            </a:r>
            <a:r>
              <a:rPr lang="en-US" sz="2000" dirty="0"/>
              <a:t>DUMP </a:t>
            </a:r>
            <a:r>
              <a:rPr lang="ru-RU" sz="2000" dirty="0"/>
              <a:t>позволяет </a:t>
            </a:r>
          </a:p>
          <a:p>
            <a:pPr marL="0" indent="0">
              <a:buNone/>
            </a:pPr>
            <a:r>
              <a:rPr lang="ru-RU" sz="2000" dirty="0"/>
              <a:t>		увидеть формат хранения: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3744" y="1"/>
            <a:ext cx="4190056" cy="6624583"/>
          </a:xfrm>
          <a:prstGeom prst="rect">
            <a:avLst/>
          </a:prstGeom>
        </p:spPr>
      </p:pic>
      <p:sp>
        <p:nvSpPr>
          <p:cNvPr id="6" name="Стрелка вправо 5"/>
          <p:cNvSpPr/>
          <p:nvPr/>
        </p:nvSpPr>
        <p:spPr>
          <a:xfrm>
            <a:off x="5949691" y="5636458"/>
            <a:ext cx="983973" cy="417443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2881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6802" y="24903"/>
            <a:ext cx="3556247" cy="1325563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  <a:latin typeface="+mn-lt"/>
              </a:rPr>
              <a:t>Что задаётся на самом деле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775077" y="1309922"/>
            <a:ext cx="3707907" cy="5355312"/>
          </a:xfrm>
          <a:prstGeom prst="rect">
            <a:avLst/>
          </a:prstGeom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CREATE TABLE numbers (</a:t>
            </a:r>
          </a:p>
          <a:p>
            <a:r>
              <a:rPr lang="en-US" dirty="0"/>
              <a:t>     </a:t>
            </a:r>
            <a:r>
              <a:rPr lang="en-US" dirty="0" err="1"/>
              <a:t>number_u</a:t>
            </a:r>
            <a:r>
              <a:rPr lang="en-US" dirty="0"/>
              <a:t>       NUMBER,</a:t>
            </a:r>
          </a:p>
          <a:p>
            <a:r>
              <a:rPr lang="en-US" dirty="0"/>
              <a:t>     </a:t>
            </a:r>
            <a:r>
              <a:rPr lang="en-US" dirty="0" err="1"/>
              <a:t>numeric_u</a:t>
            </a:r>
            <a:r>
              <a:rPr lang="en-US" dirty="0"/>
              <a:t>      NUMERIC,</a:t>
            </a:r>
          </a:p>
          <a:p>
            <a:r>
              <a:rPr lang="en-US" dirty="0"/>
              <a:t>     </a:t>
            </a:r>
            <a:r>
              <a:rPr lang="en-US" dirty="0" err="1"/>
              <a:t>decimal_u</a:t>
            </a:r>
            <a:r>
              <a:rPr lang="en-US" dirty="0"/>
              <a:t>       DECIMAL,</a:t>
            </a:r>
          </a:p>
          <a:p>
            <a:r>
              <a:rPr lang="en-US" dirty="0"/>
              <a:t>     </a:t>
            </a:r>
            <a:r>
              <a:rPr lang="en-US" dirty="0" err="1"/>
              <a:t>integer_u</a:t>
            </a:r>
            <a:r>
              <a:rPr lang="en-US" dirty="0"/>
              <a:t>        INTEGER,</a:t>
            </a:r>
          </a:p>
          <a:p>
            <a:r>
              <a:rPr lang="en-US" dirty="0"/>
              <a:t>     </a:t>
            </a:r>
            <a:r>
              <a:rPr lang="en-US" dirty="0" err="1"/>
              <a:t>smallint_u</a:t>
            </a:r>
            <a:r>
              <a:rPr lang="en-US" dirty="0"/>
              <a:t>      SMALLINT,</a:t>
            </a:r>
          </a:p>
          <a:p>
            <a:r>
              <a:rPr lang="en-US" dirty="0"/>
              <a:t>     </a:t>
            </a:r>
            <a:r>
              <a:rPr lang="en-US" dirty="0" err="1"/>
              <a:t>number_p</a:t>
            </a:r>
            <a:r>
              <a:rPr lang="en-US" dirty="0"/>
              <a:t>      NUMBER(9),</a:t>
            </a:r>
          </a:p>
          <a:p>
            <a:r>
              <a:rPr lang="en-US" dirty="0"/>
              <a:t>     </a:t>
            </a:r>
            <a:r>
              <a:rPr lang="en-US" dirty="0" err="1"/>
              <a:t>numeric_p</a:t>
            </a:r>
            <a:r>
              <a:rPr lang="en-US" dirty="0"/>
              <a:t>      NUMERIC(9),</a:t>
            </a:r>
          </a:p>
          <a:p>
            <a:r>
              <a:rPr lang="en-US" dirty="0"/>
              <a:t>     </a:t>
            </a:r>
            <a:r>
              <a:rPr lang="en-US" dirty="0" err="1"/>
              <a:t>decimal_p</a:t>
            </a:r>
            <a:r>
              <a:rPr lang="en-US" dirty="0"/>
              <a:t>       DECIMAL(9),</a:t>
            </a:r>
          </a:p>
          <a:p>
            <a:r>
              <a:rPr lang="en-US" dirty="0"/>
              <a:t>     </a:t>
            </a:r>
            <a:r>
              <a:rPr lang="en-US" dirty="0" err="1"/>
              <a:t>number_ps</a:t>
            </a:r>
            <a:r>
              <a:rPr lang="en-US" dirty="0"/>
              <a:t>     NUMBER(9,2),</a:t>
            </a:r>
          </a:p>
          <a:p>
            <a:r>
              <a:rPr lang="en-US" dirty="0"/>
              <a:t>     </a:t>
            </a:r>
            <a:r>
              <a:rPr lang="en-US" dirty="0" err="1"/>
              <a:t>numeric_ps</a:t>
            </a:r>
            <a:r>
              <a:rPr lang="en-US" dirty="0"/>
              <a:t>    NUMERIC(9,2),</a:t>
            </a:r>
          </a:p>
          <a:p>
            <a:r>
              <a:rPr lang="en-US" dirty="0"/>
              <a:t>     </a:t>
            </a:r>
            <a:r>
              <a:rPr lang="en-US" dirty="0" err="1"/>
              <a:t>decimal_ps</a:t>
            </a:r>
            <a:r>
              <a:rPr lang="en-US" dirty="0"/>
              <a:t>     DECIMAL(9,2),</a:t>
            </a:r>
          </a:p>
          <a:p>
            <a:r>
              <a:rPr lang="en-US" dirty="0"/>
              <a:t>     </a:t>
            </a:r>
            <a:r>
              <a:rPr lang="en-US" dirty="0" err="1"/>
              <a:t>number_s</a:t>
            </a:r>
            <a:r>
              <a:rPr lang="en-US" dirty="0"/>
              <a:t>       NUMBER(*,2),</a:t>
            </a:r>
          </a:p>
          <a:p>
            <a:r>
              <a:rPr lang="en-US" dirty="0"/>
              <a:t>     </a:t>
            </a:r>
            <a:r>
              <a:rPr lang="en-US" dirty="0" err="1"/>
              <a:t>numeric_s</a:t>
            </a:r>
            <a:r>
              <a:rPr lang="en-US" dirty="0"/>
              <a:t>       NUMERIC(*,2),</a:t>
            </a:r>
          </a:p>
          <a:p>
            <a:r>
              <a:rPr lang="en-US" dirty="0"/>
              <a:t>     </a:t>
            </a:r>
            <a:r>
              <a:rPr lang="en-US" dirty="0" err="1"/>
              <a:t>decimal_s</a:t>
            </a:r>
            <a:r>
              <a:rPr lang="en-US" dirty="0"/>
              <a:t>       DECIMAL(*,2),</a:t>
            </a:r>
          </a:p>
          <a:p>
            <a:r>
              <a:rPr lang="en-US" dirty="0"/>
              <a:t>     </a:t>
            </a:r>
            <a:r>
              <a:rPr lang="en-US" dirty="0" err="1"/>
              <a:t>float_u</a:t>
            </a:r>
            <a:r>
              <a:rPr lang="en-US" dirty="0"/>
              <a:t>            FLOAT,</a:t>
            </a:r>
          </a:p>
          <a:p>
            <a:r>
              <a:rPr lang="en-US" dirty="0"/>
              <a:t>     </a:t>
            </a:r>
            <a:r>
              <a:rPr lang="en-US" dirty="0" err="1"/>
              <a:t>float_p</a:t>
            </a:r>
            <a:r>
              <a:rPr lang="en-US" dirty="0"/>
              <a:t>            FLOAT(30),</a:t>
            </a:r>
          </a:p>
          <a:p>
            <a:r>
              <a:rPr lang="en-US" dirty="0"/>
              <a:t>     </a:t>
            </a:r>
            <a:r>
              <a:rPr lang="en-US" dirty="0" err="1"/>
              <a:t>real_u</a:t>
            </a:r>
            <a:r>
              <a:rPr lang="en-US" dirty="0"/>
              <a:t>             REAL,</a:t>
            </a:r>
          </a:p>
          <a:p>
            <a:r>
              <a:rPr lang="en-US" dirty="0"/>
              <a:t>     </a:t>
            </a:r>
            <a:r>
              <a:rPr lang="en-US" dirty="0" err="1"/>
              <a:t>double_u</a:t>
            </a:r>
            <a:r>
              <a:rPr lang="en-US" dirty="0"/>
              <a:t>        DOUBLE PRECISION);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580" y="24903"/>
            <a:ext cx="6640973" cy="6833097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622742" y="6332985"/>
            <a:ext cx="4971495" cy="332249"/>
          </a:xfrm>
          <a:solidFill>
            <a:schemeClr val="bg2"/>
          </a:solidFill>
          <a:ln w="1270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http://www.compdoc.ru/bd/oracle/oracle-internal-world/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3221649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3822" y="265345"/>
            <a:ext cx="11458221" cy="608819"/>
          </a:xfrm>
        </p:spPr>
        <p:txBody>
          <a:bodyPr>
            <a:noAutofit/>
          </a:bodyPr>
          <a:lstStyle/>
          <a:p>
            <a:r>
              <a:rPr lang="ru-RU" sz="3200" dirty="0">
                <a:solidFill>
                  <a:srgbClr val="FF0000"/>
                </a:solidFill>
              </a:rPr>
              <a:t>К чему приводит отсутствие правильного задания числового типа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49654" y="1204053"/>
            <a:ext cx="4345792" cy="2258103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TABLE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float_check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(f float(2));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INSERT INTO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float_check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VALUES (7);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INSERT INTO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float_check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VALUES (11);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* FROM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float_check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0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833" y="1199133"/>
            <a:ext cx="5205066" cy="399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5010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35467"/>
            <a:ext cx="10515600" cy="586596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  <a:latin typeface="Calibri" panose="020F0502020204030204"/>
                <a:ea typeface="+mn-ea"/>
                <a:cs typeface="+mn-cs"/>
              </a:rPr>
              <a:t>Символьные типы. Хранение текстовых строк в </a:t>
            </a:r>
            <a:r>
              <a:rPr lang="en-US" sz="3200" dirty="0">
                <a:solidFill>
                  <a:srgbClr val="FF0000"/>
                </a:solidFill>
                <a:latin typeface="Calibri" panose="020F0502020204030204"/>
                <a:ea typeface="+mn-ea"/>
                <a:cs typeface="+mn-cs"/>
              </a:rPr>
              <a:t>SQL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99911" y="722064"/>
            <a:ext cx="10871199" cy="6135936"/>
          </a:xfrm>
        </p:spPr>
        <p:txBody>
          <a:bodyPr>
            <a:normAutofit/>
          </a:bodyPr>
          <a:lstStyle/>
          <a:p>
            <a:r>
              <a:rPr lang="ru-RU" sz="2000" dirty="0"/>
              <a:t>CHAR[(длина)] -- строки фиксированной длины от 1 до 2000 байт </a:t>
            </a:r>
          </a:p>
          <a:p>
            <a:pPr lvl="0"/>
            <a:r>
              <a:rPr lang="ru-RU" sz="2000" dirty="0">
                <a:solidFill>
                  <a:prstClr val="black"/>
                </a:solidFill>
              </a:rPr>
              <a:t>VARCHAR2 (длина) -- строки символов переменной длины от 1 до 4000 байт. Синоним </a:t>
            </a:r>
            <a:r>
              <a:rPr lang="en-US" sz="2000" dirty="0">
                <a:solidFill>
                  <a:prstClr val="black"/>
                </a:solidFill>
              </a:rPr>
              <a:t>VARCHAR</a:t>
            </a:r>
            <a:r>
              <a:rPr lang="ru-RU" sz="2000" dirty="0">
                <a:solidFill>
                  <a:prstClr val="black"/>
                </a:solidFill>
              </a:rPr>
              <a:t>.</a:t>
            </a:r>
          </a:p>
          <a:p>
            <a:pPr lvl="0"/>
            <a:r>
              <a:rPr lang="en-US" sz="2000" dirty="0">
                <a:solidFill>
                  <a:prstClr val="black"/>
                </a:solidFill>
              </a:rPr>
              <a:t>NCHAR(</a:t>
            </a:r>
            <a:r>
              <a:rPr lang="ru-RU" sz="2000" dirty="0">
                <a:solidFill>
                  <a:prstClr val="black"/>
                </a:solidFill>
              </a:rPr>
              <a:t>длина</a:t>
            </a:r>
            <a:r>
              <a:rPr lang="en-US" sz="2000" dirty="0">
                <a:solidFill>
                  <a:prstClr val="black"/>
                </a:solidFill>
              </a:rPr>
              <a:t>) </a:t>
            </a:r>
            <a:r>
              <a:rPr lang="ru-RU" sz="2000" dirty="0">
                <a:solidFill>
                  <a:prstClr val="black"/>
                </a:solidFill>
              </a:rPr>
              <a:t>и </a:t>
            </a:r>
            <a:r>
              <a:rPr lang="en-US" sz="2000" dirty="0">
                <a:solidFill>
                  <a:prstClr val="black"/>
                </a:solidFill>
              </a:rPr>
              <a:t>N</a:t>
            </a:r>
            <a:r>
              <a:rPr lang="ru-RU" sz="2000" dirty="0">
                <a:solidFill>
                  <a:prstClr val="black"/>
                </a:solidFill>
              </a:rPr>
              <a:t>VARCHAR2 (длина) – строки в национальной многобайтной кодировке. </a:t>
            </a:r>
          </a:p>
          <a:p>
            <a:pPr marL="0" lvl="0" indent="0">
              <a:buNone/>
            </a:pPr>
            <a:r>
              <a:rPr lang="ru-RU" sz="2000" dirty="0"/>
              <a:t>Большие объекты четырех типов:</a:t>
            </a:r>
          </a:p>
          <a:p>
            <a:r>
              <a:rPr lang="ru-RU" sz="2000" dirty="0"/>
              <a:t>BFILE — двоичный файл. Содержит локатор файла операционной системы расположенный вне базы данных. Это внешний объект.</a:t>
            </a:r>
          </a:p>
          <a:p>
            <a:r>
              <a:rPr lang="ru-RU" sz="2000" dirty="0"/>
              <a:t>BLOB — большой двоичный объект. Содержит локатор LOB, указывающий на большой двоичный объект, хранящийся в базе данных. Внутренний объект.</a:t>
            </a:r>
            <a:r>
              <a:rPr lang="ru-RU" sz="2000" dirty="0">
                <a:solidFill>
                  <a:srgbClr val="424242"/>
                </a:solidFill>
                <a:latin typeface="Tahoma" panose="020B0604030504040204" pitchFamily="34" charset="0"/>
              </a:rPr>
              <a:t> </a:t>
            </a:r>
            <a:r>
              <a:rPr lang="ru-RU" sz="2000" dirty="0">
                <a:solidFill>
                  <a:srgbClr val="424242"/>
                </a:solidFill>
              </a:rPr>
              <a:t>Хранятся двоичные объекты, например, графические данные, видео- или звуковые файлы.</a:t>
            </a:r>
            <a:endParaRPr lang="ru-RU" sz="2000" dirty="0"/>
          </a:p>
          <a:p>
            <a:pPr lvl="0"/>
            <a:r>
              <a:rPr lang="ru-RU" sz="2000" dirty="0"/>
              <a:t>CLOB — большой символьный объект. Содержит локатор LOB, указывающий на хранящийся в базе блок текстовых данных.</a:t>
            </a:r>
            <a:r>
              <a:rPr lang="ru-RU" sz="2000" dirty="0">
                <a:solidFill>
                  <a:prstClr val="black"/>
                </a:solidFill>
              </a:rPr>
              <a:t> Размер до 8 терабайт. Внутренний объект.</a:t>
            </a:r>
            <a:r>
              <a:rPr lang="ru-RU" sz="2000" dirty="0">
                <a:solidFill>
                  <a:srgbClr val="424242"/>
                </a:solidFill>
                <a:latin typeface="Tahoma" panose="020B0604030504040204" pitchFamily="34" charset="0"/>
              </a:rPr>
              <a:t> </a:t>
            </a:r>
            <a:r>
              <a:rPr lang="ru-RU" sz="2000" dirty="0">
                <a:solidFill>
                  <a:srgbClr val="424242"/>
                </a:solidFill>
              </a:rPr>
              <a:t>Хранятся символьные объекты, например, документы.</a:t>
            </a:r>
            <a:endParaRPr lang="ru-RU" sz="2000" dirty="0"/>
          </a:p>
          <a:p>
            <a:pPr lvl="0"/>
            <a:r>
              <a:rPr lang="ru-RU" sz="2000" dirty="0"/>
              <a:t>NCLOB — это </a:t>
            </a:r>
            <a:r>
              <a:rPr lang="en-US" sz="2000" dirty="0"/>
              <a:t>LOB </a:t>
            </a:r>
            <a:r>
              <a:rPr lang="ru-RU" sz="2000" dirty="0"/>
              <a:t>с поддержкой символов национальных языков (NLS). </a:t>
            </a:r>
            <a:r>
              <a:rPr lang="en-US" sz="2000" dirty="0"/>
              <a:t>C</a:t>
            </a:r>
            <a:r>
              <a:rPr lang="ru-RU" sz="2000" dirty="0"/>
              <a:t>одержит локатор LOB, указывающий на хранящийся в базе</a:t>
            </a:r>
            <a:r>
              <a:rPr lang="en-US" sz="2000" dirty="0"/>
              <a:t> </a:t>
            </a:r>
            <a:r>
              <a:rPr lang="ru-RU" sz="2000" dirty="0"/>
              <a:t>блок.</a:t>
            </a:r>
            <a:r>
              <a:rPr lang="ru-RU" sz="2000" dirty="0">
                <a:solidFill>
                  <a:prstClr val="black"/>
                </a:solidFill>
              </a:rPr>
              <a:t> Размер до 8 терабайт. Внутренний объект.</a:t>
            </a:r>
            <a:endParaRPr lang="ru-RU" sz="2000" dirty="0"/>
          </a:p>
          <a:p>
            <a:r>
              <a:rPr lang="ru-RU" sz="2000" dirty="0"/>
              <a:t>RAW – аналог </a:t>
            </a:r>
            <a:r>
              <a:rPr lang="en-US" sz="2000" dirty="0"/>
              <a:t>VARCHAR2, </a:t>
            </a:r>
            <a:r>
              <a:rPr lang="ru-RU" sz="2000" dirty="0"/>
              <a:t>максимальный размер - 2000 байт.</a:t>
            </a:r>
          </a:p>
          <a:p>
            <a:pPr marL="0" indent="0">
              <a:buNone/>
            </a:pPr>
            <a:r>
              <a:rPr lang="ru-RU" sz="2000" dirty="0"/>
              <a:t>      </a:t>
            </a:r>
            <a:r>
              <a:rPr lang="ru-RU" sz="2000" dirty="0">
                <a:solidFill>
                  <a:srgbClr val="424242"/>
                </a:solidFill>
              </a:rPr>
              <a:t>Столбец LOB может храниться не так как базовая таблица. Можно, например, хранить данные таблицы и связанные с ней объекты LOB в разных местах . 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8073081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25689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Большие символьные типы и </a:t>
            </a:r>
            <a:r>
              <a:rPr lang="en-US" sz="3200" dirty="0">
                <a:solidFill>
                  <a:srgbClr val="FF0000"/>
                </a:solidFill>
              </a:rPr>
              <a:t>PL/SQL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677334"/>
            <a:ext cx="10515600" cy="6180666"/>
          </a:xfrm>
        </p:spPr>
        <p:txBody>
          <a:bodyPr>
            <a:normAutofit/>
          </a:bodyPr>
          <a:lstStyle/>
          <a:p>
            <a:pPr lvl="0"/>
            <a:r>
              <a:rPr lang="ru-RU" sz="2000" dirty="0">
                <a:solidFill>
                  <a:prstClr val="black"/>
                </a:solidFill>
              </a:rPr>
              <a:t>LONG для строк переменной длины-- максимальный размер до 2 Гб. Используется в словаре для хранения текстов. Столбцы типа </a:t>
            </a:r>
            <a:r>
              <a:rPr lang="en-US" sz="2000" dirty="0">
                <a:solidFill>
                  <a:prstClr val="black"/>
                </a:solidFill>
              </a:rPr>
              <a:t>LONG </a:t>
            </a:r>
            <a:r>
              <a:rPr lang="ru-RU" sz="2000" dirty="0">
                <a:solidFill>
                  <a:prstClr val="black"/>
                </a:solidFill>
              </a:rPr>
              <a:t>можно использовать в запросах и командах </a:t>
            </a:r>
            <a:r>
              <a:rPr lang="en-US" sz="2000" dirty="0">
                <a:solidFill>
                  <a:prstClr val="black"/>
                </a:solidFill>
              </a:rPr>
              <a:t>DML</a:t>
            </a:r>
            <a:r>
              <a:rPr lang="ru-RU" sz="2000" dirty="0">
                <a:solidFill>
                  <a:prstClr val="black"/>
                </a:solidFill>
              </a:rPr>
              <a:t>.  </a:t>
            </a:r>
          </a:p>
          <a:p>
            <a:pPr lvl="0"/>
            <a:r>
              <a:rPr lang="ru-RU" sz="2000" dirty="0">
                <a:solidFill>
                  <a:prstClr val="black"/>
                </a:solidFill>
              </a:rPr>
              <a:t>LONG RAW, для двоичных данных или строк байтов --  максимальный размер до 2 Гб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ru-RU" sz="2000" dirty="0">
                <a:solidFill>
                  <a:prstClr val="black"/>
                </a:solidFill>
              </a:rPr>
              <a:t> </a:t>
            </a:r>
          </a:p>
          <a:p>
            <a:pPr lvl="0"/>
            <a:r>
              <a:rPr lang="ru-RU" sz="2000" dirty="0">
                <a:solidFill>
                  <a:prstClr val="black"/>
                </a:solidFill>
              </a:rPr>
              <a:t>LONG и LONG RAW устаревшие типы используемые для обеспечения обратной совместимости; лучше заменить их на </a:t>
            </a:r>
            <a:r>
              <a:rPr lang="en-US" sz="2000" dirty="0">
                <a:solidFill>
                  <a:prstClr val="black"/>
                </a:solidFill>
              </a:rPr>
              <a:t>CLOB </a:t>
            </a:r>
            <a:r>
              <a:rPr lang="ru-RU" sz="2000" dirty="0">
                <a:solidFill>
                  <a:prstClr val="black"/>
                </a:solidFill>
              </a:rPr>
              <a:t>или</a:t>
            </a:r>
            <a:r>
              <a:rPr lang="en-US" sz="2000" dirty="0">
                <a:solidFill>
                  <a:prstClr val="black"/>
                </a:solidFill>
              </a:rPr>
              <a:t> BLOB</a:t>
            </a:r>
          </a:p>
          <a:p>
            <a:pPr marL="0" lvl="0" indent="0">
              <a:buNone/>
            </a:pPr>
            <a:r>
              <a:rPr lang="en-US" sz="2000" dirty="0">
                <a:solidFill>
                  <a:prstClr val="black"/>
                </a:solidFill>
              </a:rPr>
              <a:t>      </a:t>
            </a:r>
            <a:r>
              <a:rPr lang="ru-RU" sz="2000" dirty="0">
                <a:solidFill>
                  <a:srgbClr val="424242"/>
                </a:solidFill>
              </a:rPr>
              <a:t>В таблице может быть несколько столбцов CLOB, BLOB и BFILE, а столбец типов LONG или LONG RAW может быть только один.</a:t>
            </a:r>
            <a:endParaRPr lang="ru-RU" sz="2000" dirty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ru-RU" sz="2000" dirty="0">
                <a:solidFill>
                  <a:prstClr val="black"/>
                </a:solidFill>
              </a:rPr>
              <a:t>      Хотя в столбцах типа LONG и LONG RAW можно хранить большие объемы символьных и двоичных данных, максимальная длина соответствующих им переменных PL/SQL всего лишь 32 760 байт. Поэтому в PL/SQL лучше использовать вместо них типы VARCHAR2 и RAW.</a:t>
            </a:r>
          </a:p>
          <a:p>
            <a:pPr marL="0" indent="0">
              <a:buNone/>
            </a:pPr>
            <a:r>
              <a:rPr lang="ru-RU" sz="2000" dirty="0"/>
              <a:t>      Значения типов LONG и LONG RAW, извлекаемые из базы данных и содержащие более 32 767 байт данных, не могут присваиваться переменным типа VARCHAR2 и RAW. Это крайне неудобное ограничение, из-за которого типы LONG и LONG RAW лучше вообще не применять.</a:t>
            </a:r>
            <a:endParaRPr lang="en-US" sz="2000" dirty="0"/>
          </a:p>
          <a:p>
            <a:pPr marL="0" indent="0">
              <a:buNone/>
            </a:pPr>
            <a:r>
              <a:rPr lang="ru-RU" sz="2000" dirty="0"/>
              <a:t>     В описании типов и в функциях можно указывать размер в байтах</a:t>
            </a:r>
          </a:p>
          <a:p>
            <a:pPr marL="0" indent="0">
              <a:buNone/>
            </a:pPr>
            <a:r>
              <a:rPr lang="en-US" sz="2000" dirty="0"/>
              <a:t>VARCHAR2(20 BYTE)</a:t>
            </a:r>
            <a:r>
              <a:rPr lang="ru-RU" sz="2000" dirty="0"/>
              <a:t> и </a:t>
            </a:r>
            <a:r>
              <a:rPr lang="en-US" sz="2000" dirty="0">
                <a:solidFill>
                  <a:prstClr val="black"/>
                </a:solidFill>
              </a:rPr>
              <a:t>SUBSTRB(&lt;string&gt;, 1, 20) 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и в символах</a:t>
            </a:r>
            <a:r>
              <a:rPr lang="en-US" sz="2000" dirty="0"/>
              <a:t> </a:t>
            </a:r>
            <a:endParaRPr lang="ru-RU" sz="2000" dirty="0"/>
          </a:p>
          <a:p>
            <a:pPr marL="0" indent="0">
              <a:buNone/>
            </a:pPr>
            <a:r>
              <a:rPr lang="en-US" sz="2000" dirty="0"/>
              <a:t>VARCHAR2(10 CHAR) and SUBSTR(&lt;string&gt;, 1, 10).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3241584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22192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  <a:latin typeface="+mn-lt"/>
              </a:rPr>
              <a:t>Сравнение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CHAR 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и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VARCHAR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19200" y="5373511"/>
            <a:ext cx="9652000" cy="130951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000" dirty="0"/>
              <a:t>      Если вводимое значение имеет длину меньше указанной в определении типа</a:t>
            </a:r>
            <a:r>
              <a:rPr lang="en-US" sz="2000" dirty="0"/>
              <a:t> CHAR</a:t>
            </a:r>
            <a:r>
              <a:rPr lang="ru-RU" sz="2000" dirty="0"/>
              <a:t>, то происходит пополнение пробелами до этой длины. 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</a:t>
            </a:r>
            <a:r>
              <a:rPr lang="ru-RU" sz="2000" dirty="0"/>
              <a:t>В столбце типа </a:t>
            </a:r>
            <a:r>
              <a:rPr lang="en-US" sz="2000" dirty="0"/>
              <a:t>VARCHAR2</a:t>
            </a:r>
            <a:r>
              <a:rPr lang="ru-RU" sz="2000" dirty="0"/>
              <a:t> в этом случае сохранится ровно столько символов, сколько было введено.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lum bright="-6000"/>
          </a:blip>
          <a:stretch>
            <a:fillRect/>
          </a:stretch>
        </p:blipFill>
        <p:spPr>
          <a:xfrm>
            <a:off x="2016489" y="640886"/>
            <a:ext cx="8159021" cy="445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2043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49087"/>
            <a:ext cx="10515600" cy="487017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Типы даты -- времени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805070"/>
            <a:ext cx="10515600" cy="58044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      </a:t>
            </a:r>
            <a:r>
              <a:rPr lang="ru-RU" sz="2200" dirty="0">
                <a:solidFill>
                  <a:srgbClr val="515151"/>
                </a:solidFill>
              </a:rPr>
              <a:t>Существует два вида</a:t>
            </a:r>
            <a:r>
              <a:rPr lang="en-US" sz="2200" dirty="0">
                <a:solidFill>
                  <a:srgbClr val="515151"/>
                </a:solidFill>
              </a:rPr>
              <a:t> </a:t>
            </a:r>
            <a:r>
              <a:rPr lang="ru-RU" sz="2200" dirty="0">
                <a:solidFill>
                  <a:srgbClr val="515151"/>
                </a:solidFill>
              </a:rPr>
              <a:t>типов даты – времени:</a:t>
            </a:r>
            <a:endParaRPr lang="en-US" sz="2000" dirty="0"/>
          </a:p>
          <a:p>
            <a:r>
              <a:rPr lang="ru-RU" sz="2000" dirty="0"/>
              <a:t>DATE -- дата в диапазоне от 1 января 4712 г. до нашей эры до 31 декабря 9999 г. нашей эры; в дате хранится время с точностью до секунды.</a:t>
            </a:r>
          </a:p>
          <a:p>
            <a:pPr lvl="0"/>
            <a:r>
              <a:rPr lang="ru-RU" sz="2000" dirty="0"/>
              <a:t>TIMESTAMP (точность) --значение года, месяца, дня, время в часах, минутах и секундах с точностью_в_долях_секунды. Д</a:t>
            </a:r>
            <a:r>
              <a:rPr lang="ru-RU" sz="2000" dirty="0">
                <a:solidFill>
                  <a:prstClr val="black"/>
                </a:solidFill>
              </a:rPr>
              <a:t>иапазон точности от 0 до 9. Значение по умолчанию 6.</a:t>
            </a:r>
          </a:p>
          <a:p>
            <a:pPr marL="0" indent="0">
              <a:buNone/>
            </a:pPr>
            <a:r>
              <a:rPr lang="ru-RU" sz="2000" dirty="0"/>
              <a:t>       Значение точности определяет число цифр в дробной части поля секунд. </a:t>
            </a:r>
          </a:p>
          <a:p>
            <a:pPr marL="0" indent="0">
              <a:buNone/>
            </a:pPr>
            <a:r>
              <a:rPr lang="ru-RU" sz="2200" dirty="0">
                <a:solidFill>
                  <a:srgbClr val="515151"/>
                </a:solidFill>
              </a:rPr>
              <a:t>      Существует два вида интервалов «год-месяц» и «день- время»:</a:t>
            </a:r>
            <a:endParaRPr lang="ru-RU" sz="2200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ea typeface="Calibri" panose="020F0502020204030204" pitchFamily="34" charset="0"/>
                <a:cs typeface="Times New Roman" panose="02020603050405020304" pitchFamily="18" charset="0"/>
              </a:rPr>
              <a:t>INTERVAL YEAR [(точность)] TO MONTH -- интервалы, содержащие годы и месяцы. Точность задает число цифр в поле лет. Необходимо указать целое значение в диапазоне от 0 до 4. По умолчанию значение 2.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ea typeface="Calibri" panose="020F0502020204030204" pitchFamily="34" charset="0"/>
                <a:cs typeface="Times New Roman" panose="02020603050405020304" pitchFamily="18" charset="0"/>
              </a:rPr>
              <a:t>INTERVAL DAY [(точность_для_дней)] TO SECOND [(дробная_часть_секунд] -- интервалы, содержащие дни, часы, минуты и секунды. </a:t>
            </a: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ru-RU" sz="2000" dirty="0">
                <a:solidFill>
                  <a:prstClr val="black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Точность_для_дней</a:t>
            </a:r>
            <a:r>
              <a:rPr lang="en-US" sz="2000" dirty="0">
                <a:solidFill>
                  <a:prstClr val="black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r>
              <a:rPr lang="ru-RU" sz="2000" dirty="0">
                <a:solidFill>
                  <a:prstClr val="black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определяет число цифр в поле дней (от 0 до 9, по умолчанию 2 ). </a:t>
            </a:r>
            <a:r>
              <a:rPr lang="en-US" sz="2000" dirty="0">
                <a:solidFill>
                  <a:prstClr val="black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ru-RU" sz="2000" dirty="0">
                <a:solidFill>
                  <a:prstClr val="black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Дробная_часть_секунд</a:t>
            </a:r>
            <a:r>
              <a:rPr lang="en-US" sz="2000" dirty="0">
                <a:solidFill>
                  <a:prstClr val="black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r>
              <a:rPr lang="ru-RU" sz="2000" dirty="0">
                <a:solidFill>
                  <a:prstClr val="black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ea typeface="Calibri" panose="020F0502020204030204" pitchFamily="34" charset="0"/>
                <a:cs typeface="Times New Roman" panose="02020603050405020304" pitchFamily="18" charset="0"/>
              </a:rPr>
              <a:t>определяет точность в поле секунд (</a:t>
            </a:r>
            <a:r>
              <a:rPr lang="ru-RU" sz="2000" dirty="0">
                <a:solidFill>
                  <a:prstClr val="black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от 0 до 9, по умолчанию 6</a:t>
            </a:r>
            <a:r>
              <a:rPr lang="ru-RU" sz="2000" dirty="0">
                <a:ea typeface="Calibri" panose="020F0502020204030204" pitchFamily="34" charset="0"/>
                <a:cs typeface="Times New Roman" panose="02020603050405020304" pitchFamily="18" charset="0"/>
              </a:rPr>
              <a:t>). 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9775804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50718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+mn-lt"/>
              </a:rPr>
              <a:t>ROWID 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и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UROWID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0832" y="550718"/>
            <a:ext cx="10889950" cy="6307282"/>
          </a:xfrm>
        </p:spPr>
        <p:txBody>
          <a:bodyPr>
            <a:normAutofit/>
          </a:bodyPr>
          <a:lstStyle/>
          <a:p>
            <a:r>
              <a:rPr lang="ru-RU" sz="2000" b="1" dirty="0">
                <a:solidFill>
                  <a:srgbClr val="444444"/>
                </a:solidFill>
              </a:rPr>
              <a:t>ROWID</a:t>
            </a:r>
            <a:r>
              <a:rPr lang="ru-RU" sz="2000" dirty="0">
                <a:solidFill>
                  <a:srgbClr val="444444"/>
                </a:solidFill>
              </a:rPr>
              <a:t> (псевдостолбец ROW IDENTIFIER) – это двоичное значение, идентифицирующее строку данных в таблице ORACLE.</a:t>
            </a:r>
            <a:r>
              <a:rPr lang="en-US" sz="2000" dirty="0">
                <a:solidFill>
                  <a:srgbClr val="444444"/>
                </a:solidFill>
              </a:rPr>
              <a:t> </a:t>
            </a:r>
            <a:r>
              <a:rPr lang="ru-RU" sz="2000" dirty="0">
                <a:solidFill>
                  <a:srgbClr val="444444"/>
                </a:solidFill>
              </a:rPr>
              <a:t>Генерируется</a:t>
            </a:r>
            <a:r>
              <a:rPr lang="en-US" sz="2000" dirty="0">
                <a:solidFill>
                  <a:srgbClr val="444444"/>
                </a:solidFill>
              </a:rPr>
              <a:t> </a:t>
            </a:r>
            <a:r>
              <a:rPr lang="ru-RU" sz="2000" dirty="0">
                <a:solidFill>
                  <a:srgbClr val="444444"/>
                </a:solidFill>
              </a:rPr>
              <a:t>при вставке строки в таблицу. Доступ к строке по её ROWID выполняется быстрее, чем по первичному ключу. В инструкциях UPDATE и DELETE его использование может  повысить скорость обработки.</a:t>
            </a:r>
            <a:r>
              <a:rPr lang="en-US" sz="2000" dirty="0">
                <a:solidFill>
                  <a:srgbClr val="444444"/>
                </a:solidFill>
              </a:rPr>
              <a:t> </a:t>
            </a:r>
            <a:r>
              <a:rPr lang="ru-RU" sz="2000" dirty="0">
                <a:solidFill>
                  <a:srgbClr val="444444"/>
                </a:solidFill>
              </a:rPr>
              <a:t>Пользователь не может изменить этот идентификатор, но может считать его указав в SELECT имя  </a:t>
            </a:r>
            <a:r>
              <a:rPr lang="ru-RU" sz="2000" i="1" dirty="0">
                <a:solidFill>
                  <a:srgbClr val="444444"/>
                </a:solidFill>
              </a:rPr>
              <a:t>ROWID</a:t>
            </a:r>
            <a:r>
              <a:rPr lang="ru-RU" sz="2000" dirty="0">
                <a:solidFill>
                  <a:srgbClr val="444444"/>
                </a:solidFill>
              </a:rPr>
              <a:t>.</a:t>
            </a:r>
          </a:p>
          <a:p>
            <a:pPr lvl="0"/>
            <a:r>
              <a:rPr lang="ru-RU" sz="2000" dirty="0">
                <a:solidFill>
                  <a:srgbClr val="444444"/>
                </a:solidFill>
              </a:rPr>
              <a:t>Тип данных </a:t>
            </a:r>
            <a:r>
              <a:rPr lang="ru-RU" sz="2000" b="1" dirty="0">
                <a:solidFill>
                  <a:srgbClr val="444444"/>
                </a:solidFill>
              </a:rPr>
              <a:t>UROWID</a:t>
            </a:r>
            <a:r>
              <a:rPr lang="ru-RU" sz="2000" dirty="0">
                <a:solidFill>
                  <a:srgbClr val="444444"/>
                </a:solidFill>
              </a:rPr>
              <a:t> (Буква U означает UNIVERSAL) используется для хранения идентификаторов строк в таблицах любого типа, например, индекс-таблиц и типов данных для межсетевых шлюзов.</a:t>
            </a:r>
          </a:p>
          <a:p>
            <a:pPr lvl="0"/>
            <a:r>
              <a:rPr lang="ru-RU" sz="2000" dirty="0">
                <a:solidFill>
                  <a:srgbClr val="444444"/>
                </a:solidFill>
              </a:rPr>
              <a:t>Синтаксис:     </a:t>
            </a:r>
            <a:r>
              <a:rPr lang="ru-RU" altLang="ru-RU" sz="2000" dirty="0">
                <a:solidFill>
                  <a:srgbClr val="000000"/>
                </a:solidFill>
              </a:rPr>
              <a:t>{ ROWID | UROWID [ (</a:t>
            </a:r>
            <a:r>
              <a:rPr lang="ru-RU" altLang="ru-RU" sz="2000" dirty="0" err="1">
                <a:solidFill>
                  <a:srgbClr val="000000"/>
                </a:solidFill>
              </a:rPr>
              <a:t>size</a:t>
            </a:r>
            <a:r>
              <a:rPr lang="ru-RU" altLang="ru-RU" sz="2000" dirty="0">
                <a:solidFill>
                  <a:srgbClr val="000000"/>
                </a:solidFill>
              </a:rPr>
              <a:t>) ] }</a:t>
            </a:r>
          </a:p>
          <a:p>
            <a:pPr lvl="0"/>
            <a:r>
              <a:rPr lang="ru-RU" altLang="ru-RU" sz="2000" dirty="0">
                <a:solidFill>
                  <a:prstClr val="black"/>
                </a:solidFill>
              </a:rPr>
              <a:t>Запрос:            </a:t>
            </a:r>
            <a:r>
              <a:rPr lang="en-US" altLang="ru-RU" sz="2000" dirty="0">
                <a:solidFill>
                  <a:prstClr val="black"/>
                </a:solidFill>
              </a:rPr>
              <a:t>SELECT ROWID, </a:t>
            </a:r>
            <a:r>
              <a:rPr lang="en-US" altLang="ru-RU" sz="2000" dirty="0" err="1">
                <a:solidFill>
                  <a:prstClr val="black"/>
                </a:solidFill>
              </a:rPr>
              <a:t>ename</a:t>
            </a:r>
            <a:r>
              <a:rPr lang="en-US" altLang="ru-RU" sz="2000" dirty="0">
                <a:solidFill>
                  <a:prstClr val="black"/>
                </a:solidFill>
              </a:rPr>
              <a:t> FROM </a:t>
            </a:r>
            <a:r>
              <a:rPr lang="en-US" altLang="ru-RU" sz="2000" dirty="0" err="1">
                <a:solidFill>
                  <a:prstClr val="black"/>
                </a:solidFill>
              </a:rPr>
              <a:t>emp</a:t>
            </a:r>
            <a:r>
              <a:rPr lang="en-US" altLang="ru-RU" sz="2000" dirty="0">
                <a:solidFill>
                  <a:prstClr val="black"/>
                </a:solidFill>
              </a:rPr>
              <a:t>; </a:t>
            </a:r>
            <a:r>
              <a:rPr lang="ru-RU" altLang="ru-RU" sz="2000" dirty="0">
                <a:solidFill>
                  <a:prstClr val="black"/>
                </a:solidFill>
              </a:rPr>
              <a:t> </a:t>
            </a:r>
          </a:p>
          <a:p>
            <a:pPr lvl="0"/>
            <a:r>
              <a:rPr lang="ru-RU" sz="1900" dirty="0">
                <a:solidFill>
                  <a:prstClr val="black"/>
                </a:solidFill>
              </a:rPr>
              <a:t>Формат </a:t>
            </a:r>
            <a:r>
              <a:rPr lang="en-US" sz="1900" dirty="0" err="1">
                <a:solidFill>
                  <a:prstClr val="black"/>
                </a:solidFill>
              </a:rPr>
              <a:t>ROWIDis</a:t>
            </a:r>
            <a:r>
              <a:rPr lang="en-US" sz="1900" dirty="0">
                <a:solidFill>
                  <a:prstClr val="black"/>
                </a:solidFill>
              </a:rPr>
              <a:t>:   OOOOOO.FFF.BBBBBB.RRR</a:t>
            </a:r>
          </a:p>
          <a:p>
            <a:pPr marL="0" lvl="0" indent="0">
              <a:buNone/>
            </a:pPr>
            <a:r>
              <a:rPr lang="en-US" sz="1900" dirty="0">
                <a:solidFill>
                  <a:prstClr val="black"/>
                </a:solidFill>
              </a:rPr>
              <a:t>      OOOOOO </a:t>
            </a:r>
            <a:r>
              <a:rPr lang="ru-RU" sz="1900" dirty="0">
                <a:solidFill>
                  <a:prstClr val="black"/>
                </a:solidFill>
              </a:rPr>
              <a:t>– идентификатор объекта;</a:t>
            </a:r>
            <a:endParaRPr lang="en-US" sz="1900" dirty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en-US" sz="1900" dirty="0">
                <a:solidFill>
                  <a:prstClr val="black"/>
                </a:solidFill>
              </a:rPr>
              <a:t>      FFF </a:t>
            </a:r>
            <a:r>
              <a:rPr lang="ru-RU" sz="1900" dirty="0">
                <a:solidFill>
                  <a:prstClr val="black"/>
                </a:solidFill>
              </a:rPr>
              <a:t>-- номер файла;</a:t>
            </a:r>
            <a:endParaRPr lang="en-US" sz="1900" dirty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en-US" sz="1900" dirty="0">
                <a:solidFill>
                  <a:prstClr val="black"/>
                </a:solidFill>
              </a:rPr>
              <a:t>      BBBBBB </a:t>
            </a:r>
            <a:r>
              <a:rPr lang="ru-RU" sz="1900" dirty="0">
                <a:solidFill>
                  <a:prstClr val="black"/>
                </a:solidFill>
              </a:rPr>
              <a:t>– номер блока;</a:t>
            </a:r>
            <a:endParaRPr lang="en-US" sz="1900" dirty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en-US" sz="1900" dirty="0">
                <a:solidFill>
                  <a:prstClr val="black"/>
                </a:solidFill>
              </a:rPr>
              <a:t>      RRR </a:t>
            </a:r>
            <a:r>
              <a:rPr lang="ru-RU" sz="1900" dirty="0">
                <a:solidFill>
                  <a:prstClr val="black"/>
                </a:solidFill>
              </a:rPr>
              <a:t>– номер строки.</a:t>
            </a:r>
          </a:p>
          <a:p>
            <a:pPr lvl="0"/>
            <a:endParaRPr lang="ru-RU" sz="2000" dirty="0">
              <a:solidFill>
                <a:srgbClr val="4444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3918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48640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Calibri" panose="020F0502020204030204"/>
              </a:rPr>
              <a:t>ROWID</a:t>
            </a:r>
            <a:r>
              <a:rPr lang="ru-RU" sz="3200" dirty="0">
                <a:solidFill>
                  <a:srgbClr val="FF0000"/>
                </a:solidFill>
                <a:latin typeface="Calibri" panose="020F0502020204030204"/>
              </a:rPr>
              <a:t>    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18616" y="597979"/>
            <a:ext cx="10098024" cy="4351338"/>
          </a:xfrm>
        </p:spPr>
        <p:txBody>
          <a:bodyPr>
            <a:normAutofit/>
          </a:bodyPr>
          <a:lstStyle/>
          <a:p>
            <a:pPr lvl="0"/>
            <a:r>
              <a:rPr lang="ru-RU" sz="2000" dirty="0">
                <a:solidFill>
                  <a:srgbClr val="444444"/>
                </a:solidFill>
              </a:rPr>
              <a:t> Функцию </a:t>
            </a:r>
            <a:r>
              <a:rPr lang="en-US" sz="2000" dirty="0">
                <a:solidFill>
                  <a:srgbClr val="444444"/>
                </a:solidFill>
              </a:rPr>
              <a:t>SUBSTR </a:t>
            </a:r>
            <a:r>
              <a:rPr lang="ru-RU" sz="2000" dirty="0">
                <a:solidFill>
                  <a:srgbClr val="444444"/>
                </a:solidFill>
              </a:rPr>
              <a:t>можно использовать, чтобы разбить значение </a:t>
            </a:r>
            <a:r>
              <a:rPr lang="en-US" sz="2000" dirty="0">
                <a:solidFill>
                  <a:srgbClr val="444444"/>
                </a:solidFill>
              </a:rPr>
              <a:t>ROWID </a:t>
            </a:r>
            <a:r>
              <a:rPr lang="ru-RU" sz="2000" dirty="0">
                <a:solidFill>
                  <a:srgbClr val="444444"/>
                </a:solidFill>
              </a:rPr>
              <a:t>на четыре его </a:t>
            </a:r>
          </a:p>
          <a:p>
            <a:pPr marL="0" lvl="0" indent="0">
              <a:buNone/>
            </a:pPr>
            <a:r>
              <a:rPr lang="ru-RU" sz="2000" dirty="0">
                <a:solidFill>
                  <a:srgbClr val="444444"/>
                </a:solidFill>
              </a:rPr>
              <a:t>компоненты (объект, файл, блок и строку). </a:t>
            </a:r>
          </a:p>
          <a:p>
            <a:pPr marL="0" lvl="0" indent="0">
              <a:buNone/>
            </a:pPr>
            <a:r>
              <a:rPr lang="ru-RU" sz="2000" u="sng" dirty="0">
                <a:solidFill>
                  <a:srgbClr val="444444"/>
                </a:solidFill>
              </a:rPr>
              <a:t>Пример</a:t>
            </a:r>
            <a:r>
              <a:rPr lang="ru-RU" sz="2000" dirty="0">
                <a:solidFill>
                  <a:srgbClr val="444444"/>
                </a:solidFill>
              </a:rPr>
              <a:t>:</a:t>
            </a:r>
          </a:p>
          <a:p>
            <a:pPr marL="0" lvl="0" indent="0">
              <a:buNone/>
            </a:pPr>
            <a:r>
              <a:rPr lang="en-US" sz="2000" dirty="0">
                <a:solidFill>
                  <a:srgbClr val="444444"/>
                </a:solidFill>
              </a:rPr>
              <a:t>SELECT ROWID, SUBSTR(ROWID,15,4) "FILE",</a:t>
            </a:r>
          </a:p>
          <a:p>
            <a:pPr marL="0" lvl="0" indent="0">
              <a:buNone/>
            </a:pPr>
            <a:r>
              <a:rPr lang="en-US" sz="2000" dirty="0">
                <a:solidFill>
                  <a:srgbClr val="444444"/>
                </a:solidFill>
              </a:rPr>
              <a:t>       SUBSTR(ROWID,1,8) "BLOCK",</a:t>
            </a:r>
          </a:p>
          <a:p>
            <a:pPr marL="0" lvl="0" indent="0">
              <a:buNone/>
            </a:pPr>
            <a:r>
              <a:rPr lang="en-US" sz="2000" dirty="0">
                <a:solidFill>
                  <a:srgbClr val="444444"/>
                </a:solidFill>
              </a:rPr>
              <a:t>       SUBSTR(ROWID,1</a:t>
            </a:r>
            <a:r>
              <a:rPr lang="ru-RU" sz="2000" dirty="0">
                <a:solidFill>
                  <a:srgbClr val="444444"/>
                </a:solidFill>
              </a:rPr>
              <a:t>6</a:t>
            </a:r>
            <a:r>
              <a:rPr lang="en-US" sz="2000" dirty="0">
                <a:solidFill>
                  <a:srgbClr val="444444"/>
                </a:solidFill>
              </a:rPr>
              <a:t>,4) "ROW"</a:t>
            </a:r>
          </a:p>
          <a:p>
            <a:pPr marL="0" lvl="0" indent="0">
              <a:buNone/>
            </a:pPr>
            <a:r>
              <a:rPr lang="en-US" sz="2000" dirty="0">
                <a:solidFill>
                  <a:srgbClr val="444444"/>
                </a:solidFill>
              </a:rPr>
              <a:t>       FROM </a:t>
            </a:r>
            <a:r>
              <a:rPr lang="en-US" sz="2000" dirty="0" err="1">
                <a:solidFill>
                  <a:srgbClr val="444444"/>
                </a:solidFill>
              </a:rPr>
              <a:t>emp</a:t>
            </a:r>
            <a:r>
              <a:rPr lang="en-US" sz="2000" dirty="0">
                <a:solidFill>
                  <a:srgbClr val="444444"/>
                </a:solidFill>
              </a:rPr>
              <a:t>; </a:t>
            </a:r>
            <a:endParaRPr lang="ru-RU" sz="2000" dirty="0">
              <a:solidFill>
                <a:srgbClr val="444444"/>
              </a:solidFill>
            </a:endParaRPr>
          </a:p>
          <a:p>
            <a:pPr marL="0" indent="0">
              <a:buNone/>
            </a:pPr>
            <a:endParaRPr lang="ru-RU" sz="20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728" y="2988142"/>
            <a:ext cx="7878472" cy="3575050"/>
          </a:xfrm>
          <a:prstGeom prst="rect">
            <a:avLst/>
          </a:prstGeom>
        </p:spPr>
      </p:pic>
      <p:sp>
        <p:nvSpPr>
          <p:cNvPr id="4" name="Выноска-облако 3"/>
          <p:cNvSpPr/>
          <p:nvPr/>
        </p:nvSpPr>
        <p:spPr>
          <a:xfrm>
            <a:off x="6502401" y="1712599"/>
            <a:ext cx="3230879" cy="1061049"/>
          </a:xfrm>
          <a:prstGeom prst="cloudCallout">
            <a:avLst>
              <a:gd name="adj1" fmla="val -22720"/>
              <a:gd name="adj2" fmla="val 7877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Система счисления с основанием 64 !!! </a:t>
            </a:r>
          </a:p>
        </p:txBody>
      </p:sp>
    </p:spTree>
    <p:extLst>
      <p:ext uri="{BB962C8B-B14F-4D97-AF65-F5344CB8AC3E}">
        <p14:creationId xmlns:p14="http://schemas.microsoft.com/office/powerpoint/2010/main" val="39530189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8591" y="1"/>
            <a:ext cx="10515600" cy="457200"/>
          </a:xfrm>
        </p:spPr>
        <p:txBody>
          <a:bodyPr>
            <a:normAutofit fontScale="90000"/>
          </a:bodyPr>
          <a:lstStyle/>
          <a:p>
            <a:pPr>
              <a:spcAft>
                <a:spcPts val="0"/>
              </a:spcAft>
            </a:pPr>
            <a:br>
              <a:rPr lang="ru-RU" sz="3200" dirty="0"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>
                <a:solidFill>
                  <a:srgbClr val="FF000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Количество блоков занятых таблицей</a:t>
            </a:r>
            <a:br>
              <a:rPr lang="ru-RU" sz="3600" dirty="0"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600" dirty="0">
              <a:latin typeface="+mn-lt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454" y="457201"/>
            <a:ext cx="6894559" cy="358253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1787" y="3630304"/>
            <a:ext cx="9315841" cy="3227696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7242013" y="648502"/>
            <a:ext cx="4949987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FF0000"/>
                </a:solidFill>
                <a:ea typeface="Times New Roman" panose="02020603050405020304" pitchFamily="18" charset="0"/>
                <a:cs typeface="+mj-cs"/>
              </a:rPr>
              <a:t>Место зарезервированное </a:t>
            </a:r>
          </a:p>
          <a:p>
            <a:r>
              <a:rPr lang="ru-RU" sz="2800" dirty="0">
                <a:solidFill>
                  <a:srgbClr val="FF0000"/>
                </a:solidFill>
                <a:ea typeface="Times New Roman" panose="02020603050405020304" pitchFamily="18" charset="0"/>
                <a:cs typeface="+mj-cs"/>
              </a:rPr>
              <a:t>под каждую таблицу:</a:t>
            </a:r>
          </a:p>
          <a:p>
            <a:pPr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COLUMN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segment_name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FORMAT A40</a:t>
            </a:r>
          </a:p>
          <a:p>
            <a:pPr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SELECT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segment_type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segment_name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tablespace_name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(bytes/1024) AS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KiloBytes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FROM USER_EXTENTS</a:t>
            </a:r>
          </a:p>
          <a:p>
            <a:pPr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ORDER BY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bytes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2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	           </a:t>
            </a:r>
            <a:r>
              <a:rPr lang="ru-RU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или</a:t>
            </a:r>
          </a:p>
          <a:p>
            <a:br>
              <a:rPr lang="ru-RU" sz="32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</a:b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7" name="Стрелка вниз 6"/>
          <p:cNvSpPr/>
          <p:nvPr/>
        </p:nvSpPr>
        <p:spPr>
          <a:xfrm>
            <a:off x="8912869" y="3198073"/>
            <a:ext cx="550719" cy="841664"/>
          </a:xfrm>
          <a:prstGeom prst="downArrow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31217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40327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Пример неправильного использования </a:t>
            </a:r>
            <a:r>
              <a:rPr lang="en-US" sz="3200" dirty="0">
                <a:solidFill>
                  <a:srgbClr val="FF0000"/>
                </a:solidFill>
              </a:rPr>
              <a:t>ROWID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86326" y="494630"/>
            <a:ext cx="5014514" cy="6247864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2000" u="sng" dirty="0">
                <a:ea typeface="Times New Roman" panose="02020603050405020304" pitchFamily="18" charset="0"/>
                <a:cs typeface="Times New Roman" panose="02020603050405020304" pitchFamily="18" charset="0"/>
              </a:rPr>
              <a:t>Задача</a:t>
            </a:r>
            <a:r>
              <a:rPr lang="ru-RU" altLang="ru-RU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Выбрать первые три записи: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SELECT SUBSTR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(</a:t>
            </a:r>
            <a:r>
              <a:rPr kumimoji="0" lang="en-US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rowid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, 18,1), </a:t>
            </a:r>
            <a:r>
              <a:rPr kumimoji="0" lang="en-US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ename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FROM </a:t>
            </a:r>
            <a:r>
              <a:rPr kumimoji="0" lang="en-US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emp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WHERE SUBSTR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(</a:t>
            </a:r>
            <a:r>
              <a:rPr kumimoji="0" lang="en-US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rowid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, 18,1)&lt;'D';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S ENAME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- ----------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A SMITH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B ALLEN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C WARD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Частный результат верен.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Решение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неправильное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Поясняем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Пример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C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REATE TABLE </a:t>
            </a:r>
            <a:r>
              <a:rPr kumimoji="0" lang="en-US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chain_T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(s1 char(2000), 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s2 char(2000), s3 char(2000), s4 char(2000));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INSERT INTO </a:t>
            </a:r>
            <a:r>
              <a:rPr kumimoji="0" lang="en-US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chain_T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values ('A', 'A', 'A', 'A' );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INSERT INTO </a:t>
            </a:r>
            <a:r>
              <a:rPr kumimoji="0" lang="en-US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chain_T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values ('B', 'B', 'B', 'B');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INSERT INTO </a:t>
            </a:r>
            <a:r>
              <a:rPr kumimoji="0" lang="en-US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chain_T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values ('D', 'D', 'D', 'D');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INSERT INTO </a:t>
            </a:r>
            <a:r>
              <a:rPr kumimoji="0" lang="en-US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chain_T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values ('E', 'E', 'E', 'E');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INSERT INTO </a:t>
            </a:r>
            <a:r>
              <a:rPr kumimoji="0" lang="en-US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chain_T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values ('F', 'F', 'F', 'F');</a:t>
            </a:r>
            <a:endParaRPr kumimoji="0" lang="en-US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144126" y="648518"/>
            <a:ext cx="5660572" cy="5940088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dirty="0">
                <a:latin typeface="Times New Roman CYR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ROWID, s1 FROM </a:t>
            </a:r>
            <a:r>
              <a:rPr lang="en-US" sz="2000" dirty="0" err="1">
                <a:latin typeface="Times New Roman CYR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chain_T</a:t>
            </a:r>
            <a:r>
              <a:rPr lang="en-US" sz="2000" dirty="0">
                <a:latin typeface="Times New Roman CYR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2000" dirty="0">
                <a:latin typeface="Times New Roman CYR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или</a:t>
            </a:r>
            <a:r>
              <a:rPr lang="en-US" sz="2000" dirty="0">
                <a:latin typeface="Times New Roman CYR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latin typeface="Times New Roman CYR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SUBSTR(s1,1,5) FROM </a:t>
            </a:r>
            <a:r>
              <a:rPr lang="en-US" sz="2000" dirty="0" err="1">
                <a:latin typeface="Times New Roman CYR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chain_T</a:t>
            </a:r>
            <a:r>
              <a:rPr lang="en-US" sz="2000" dirty="0">
                <a:latin typeface="Times New Roman CYR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latin typeface="Times New Roman CYR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2000" dirty="0">
                <a:latin typeface="Times New Roman CYR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SUBST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2000" dirty="0">
                <a:latin typeface="Times New Roman CYR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-----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2000" dirty="0">
                <a:latin typeface="Times New Roman CYR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2000" dirty="0">
                <a:latin typeface="Times New Roman CYR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2000" dirty="0">
                <a:latin typeface="Times New Roman CYR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2000" dirty="0">
                <a:latin typeface="Times New Roman CYR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2000" dirty="0">
                <a:latin typeface="Times New Roman CYR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2000" dirty="0">
                <a:latin typeface="Times New Roman CYR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2000" dirty="0">
                <a:latin typeface="Times New Roman CYR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 из </a:t>
            </a:r>
            <a:r>
              <a:rPr lang="en-US" sz="2000" dirty="0">
                <a:latin typeface="Times New Roman CYR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  <a:r>
              <a:rPr lang="ru-RU" sz="2000" dirty="0">
                <a:latin typeface="Times New Roman CYR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2000" dirty="0">
                <a:latin typeface="Times New Roman CYR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2000" dirty="0">
                <a:latin typeface="Times New Roman CYR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получим первые три записи тем же неправильным способом: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SELECT SUBSTR (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rowid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18,1), SUBSTR(s1,1,10)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FROM </a:t>
            </a:r>
            <a:r>
              <a:rPr lang="en-US" sz="2000" dirty="0" err="1">
                <a:latin typeface="Times New Roman CYR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chain_T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WHERE SUBSTR(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rowid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18,1)&lt;'D';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latin typeface="Times New Roman CYR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000" dirty="0" err="1">
                <a:latin typeface="Times New Roman CYR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Что</a:t>
            </a:r>
            <a:r>
              <a:rPr lang="en-US" sz="2000" dirty="0">
                <a:latin typeface="Times New Roman CYR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 CYR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получилось</a:t>
            </a:r>
            <a:r>
              <a:rPr lang="en-US" sz="2000" dirty="0">
                <a:latin typeface="Times New Roman CYR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r>
              <a:rPr lang="ru-RU" sz="2000" dirty="0">
                <a:latin typeface="Times New Roman CYR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Почему?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7795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57646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Имитация типа </a:t>
            </a:r>
            <a:r>
              <a:rPr lang="en-US" sz="3200" dirty="0">
                <a:solidFill>
                  <a:srgbClr val="FF0000"/>
                </a:solidFill>
              </a:rPr>
              <a:t>BOOLEAN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7372" y="842622"/>
            <a:ext cx="10515600" cy="5249500"/>
          </a:xfrm>
        </p:spPr>
        <p:txBody>
          <a:bodyPr>
            <a:normAutofit/>
          </a:bodyPr>
          <a:lstStyle/>
          <a:p>
            <a:pPr fontAlgn="base"/>
            <a:r>
              <a:rPr lang="ru-RU" sz="2000" dirty="0"/>
              <a:t>В </a:t>
            </a:r>
            <a:r>
              <a:rPr lang="ru-RU" sz="2000" dirty="0" err="1"/>
              <a:t>Oracle</a:t>
            </a:r>
            <a:r>
              <a:rPr lang="ru-RU" sz="2000" dirty="0"/>
              <a:t> тип BOOLEAN</a:t>
            </a:r>
            <a:r>
              <a:rPr lang="en-US" sz="2000" dirty="0"/>
              <a:t> </a:t>
            </a:r>
            <a:r>
              <a:rPr lang="ru-RU" sz="2000" dirty="0"/>
              <a:t>существует только в PL/SQL. Его нельзя использовать в качестве типа колонки таблицы. </a:t>
            </a:r>
          </a:p>
          <a:p>
            <a:pPr fontAlgn="base"/>
            <a:r>
              <a:rPr lang="ru-RU" sz="2000" dirty="0"/>
              <a:t>Для имитации типа приходиться использовать </a:t>
            </a:r>
          </a:p>
          <a:p>
            <a:pPr marL="0" indent="0" fontAlgn="base">
              <a:buNone/>
            </a:pPr>
            <a:r>
              <a:rPr lang="ru-RU" sz="2000" dirty="0"/>
              <a:t>    тип CHAR(1)со значениями 'Y'/ 'N'  </a:t>
            </a:r>
          </a:p>
          <a:p>
            <a:pPr marL="0" indent="0" fontAlgn="base">
              <a:buNone/>
            </a:pPr>
            <a:r>
              <a:rPr lang="ru-RU" sz="2000" dirty="0"/>
              <a:t>или </a:t>
            </a:r>
          </a:p>
          <a:p>
            <a:pPr marL="0" indent="0" fontAlgn="base">
              <a:buNone/>
            </a:pPr>
            <a:r>
              <a:rPr lang="ru-RU" sz="2000" dirty="0"/>
              <a:t>    NUMBER(1)  со значениями 1/0 .</a:t>
            </a:r>
          </a:p>
          <a:p>
            <a:pPr fontAlgn="base"/>
            <a:r>
              <a:rPr lang="ru-RU" sz="2000" dirty="0"/>
              <a:t>Рекомендуется накладывать ограничение </a:t>
            </a:r>
            <a:r>
              <a:rPr lang="en-US" sz="2000" dirty="0"/>
              <a:t>CHECK: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    </a:t>
            </a:r>
            <a:r>
              <a:rPr lang="en-US" sz="2000" dirty="0"/>
              <a:t>CREATE TABLE </a:t>
            </a:r>
            <a:r>
              <a:rPr lang="en-US" sz="2000" dirty="0" err="1"/>
              <a:t>mytable</a:t>
            </a:r>
            <a:r>
              <a:rPr lang="en-US" sz="2000" dirty="0"/>
              <a:t> (</a:t>
            </a:r>
            <a:r>
              <a:rPr lang="en-US" sz="2000" dirty="0" err="1"/>
              <a:t>boolvalue</a:t>
            </a:r>
            <a:r>
              <a:rPr lang="en-US" sz="2000" dirty="0"/>
              <a:t> CHAR(1) CHECK (</a:t>
            </a:r>
            <a:r>
              <a:rPr lang="en-US" sz="2000" dirty="0" err="1"/>
              <a:t>boolvalue</a:t>
            </a:r>
            <a:r>
              <a:rPr lang="en-US" sz="2000" dirty="0"/>
              <a:t> IN ('N','Y'));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или</a:t>
            </a:r>
          </a:p>
          <a:p>
            <a:pPr marL="0" indent="0">
              <a:buNone/>
            </a:pPr>
            <a:r>
              <a:rPr lang="ru-RU" sz="2000" dirty="0"/>
              <a:t>    </a:t>
            </a:r>
            <a:r>
              <a:rPr lang="en-US" sz="2000" dirty="0"/>
              <a:t>CREATE TABLE </a:t>
            </a:r>
            <a:r>
              <a:rPr lang="en-US" sz="2000" dirty="0" err="1"/>
              <a:t>mytable</a:t>
            </a:r>
            <a:r>
              <a:rPr lang="en-US" sz="2000" dirty="0"/>
              <a:t> (</a:t>
            </a:r>
            <a:r>
              <a:rPr lang="en-US" sz="2000" dirty="0" err="1"/>
              <a:t>boolvalue</a:t>
            </a:r>
            <a:r>
              <a:rPr lang="en-US" sz="2000" dirty="0"/>
              <a:t> NUMBER(1) CHECK (</a:t>
            </a:r>
            <a:r>
              <a:rPr lang="en-US" sz="2000" dirty="0" err="1"/>
              <a:t>boolvalue</a:t>
            </a:r>
            <a:r>
              <a:rPr lang="en-US" sz="2000" dirty="0"/>
              <a:t> IN (0,1));</a:t>
            </a:r>
            <a:endParaRPr lang="ru-RU" sz="2000" dirty="0"/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4147817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>
                <a:solidFill>
                  <a:srgbClr val="FF0000"/>
                </a:solidFill>
              </a:rPr>
              <a:t>Комментарии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6147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18753"/>
            <a:ext cx="10515600" cy="1116281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dirty="0">
                <a:solidFill>
                  <a:srgbClr val="FF0000"/>
                </a:solidFill>
              </a:rPr>
              <a:t>Комментарии к таблицам, столбцам, представлениям или моментальным снимкам</a:t>
            </a:r>
            <a:br>
              <a:rPr lang="ru-RU" sz="3600" dirty="0"/>
            </a:b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116281"/>
            <a:ext cx="10515600" cy="561937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000" dirty="0"/>
              <a:t>      Комментарии к таблицам хранятся в представлениях:</a:t>
            </a:r>
          </a:p>
          <a:p>
            <a:r>
              <a:rPr lang="en-US" sz="2000" dirty="0"/>
              <a:t>DBA_TAB_COMMENTS</a:t>
            </a:r>
            <a:r>
              <a:rPr lang="ru-RU" sz="2000" dirty="0"/>
              <a:t>,</a:t>
            </a:r>
            <a:r>
              <a:rPr lang="en-US" sz="2000" dirty="0"/>
              <a:t> </a:t>
            </a:r>
            <a:r>
              <a:rPr lang="ru-RU" sz="2000" dirty="0"/>
              <a:t>или </a:t>
            </a:r>
            <a:r>
              <a:rPr lang="en-US" sz="2000" dirty="0"/>
              <a:t>ALL_TAB_COMMENTS</a:t>
            </a:r>
            <a:r>
              <a:rPr lang="ru-RU" sz="2000" dirty="0"/>
              <a:t>, или </a:t>
            </a:r>
            <a:r>
              <a:rPr lang="en-US" sz="2000" dirty="0"/>
              <a:t>USER_TAB_COMMENTS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      Комментарии к столбцам хранятся в представлениях:</a:t>
            </a:r>
          </a:p>
          <a:p>
            <a:r>
              <a:rPr lang="en-US" sz="2000" dirty="0"/>
              <a:t>DBA_COL_COMMENTS</a:t>
            </a:r>
            <a:r>
              <a:rPr lang="ru-RU" sz="2000" dirty="0"/>
              <a:t>,</a:t>
            </a:r>
            <a:r>
              <a:rPr lang="en-US" sz="2000" dirty="0"/>
              <a:t> </a:t>
            </a:r>
            <a:r>
              <a:rPr lang="ru-RU" sz="2000" dirty="0"/>
              <a:t>или </a:t>
            </a:r>
            <a:r>
              <a:rPr lang="en-US" sz="2000" dirty="0"/>
              <a:t>ALL_COL_COMMENTS</a:t>
            </a:r>
            <a:r>
              <a:rPr lang="ru-RU" sz="2000" dirty="0"/>
              <a:t>, или </a:t>
            </a:r>
            <a:r>
              <a:rPr lang="en-US" sz="2000" dirty="0"/>
              <a:t>USER_COL_COMMENTS</a:t>
            </a:r>
            <a:endParaRPr lang="ru-RU" sz="2000" dirty="0"/>
          </a:p>
          <a:p>
            <a:pPr marL="0" lvl="0" indent="0">
              <a:buNone/>
            </a:pPr>
            <a:r>
              <a:rPr lang="ru-RU" sz="2000" dirty="0"/>
              <a:t>      </a:t>
            </a:r>
            <a:r>
              <a:rPr lang="ru-RU" sz="2000" dirty="0">
                <a:solidFill>
                  <a:prstClr val="black"/>
                </a:solidFill>
              </a:rPr>
              <a:t>Комментарии к </a:t>
            </a:r>
            <a:r>
              <a:rPr lang="en-US" sz="2000" dirty="0">
                <a:solidFill>
                  <a:prstClr val="black"/>
                </a:solidFill>
              </a:rPr>
              <a:t>VIEW </a:t>
            </a:r>
            <a:r>
              <a:rPr lang="ru-RU" sz="2000" dirty="0">
                <a:solidFill>
                  <a:prstClr val="black"/>
                </a:solidFill>
              </a:rPr>
              <a:t>и </a:t>
            </a:r>
            <a:r>
              <a:rPr lang="en-US" sz="2000" dirty="0">
                <a:solidFill>
                  <a:prstClr val="black"/>
                </a:solidFill>
              </a:rPr>
              <a:t>SNAPSHOT</a:t>
            </a:r>
            <a:r>
              <a:rPr lang="ru-RU" sz="2000" dirty="0">
                <a:solidFill>
                  <a:prstClr val="black"/>
                </a:solidFill>
              </a:rPr>
              <a:t> хранятся в представлениях</a:t>
            </a:r>
            <a:r>
              <a:rPr lang="en-US" sz="2000" dirty="0">
                <a:solidFill>
                  <a:prstClr val="black"/>
                </a:solidFill>
              </a:rPr>
              <a:t>:</a:t>
            </a:r>
          </a:p>
          <a:p>
            <a:pPr lvl="0"/>
            <a:r>
              <a:rPr lang="en-US" sz="2000" dirty="0">
                <a:solidFill>
                  <a:prstClr val="black"/>
                </a:solidFill>
              </a:rPr>
              <a:t>DBA_MVIEW_COMMENTS</a:t>
            </a:r>
            <a:r>
              <a:rPr lang="ru-RU" sz="2000" dirty="0">
                <a:solidFill>
                  <a:prstClr val="black"/>
                </a:solidFill>
              </a:rPr>
              <a:t>,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ru-RU" sz="2000" dirty="0">
                <a:solidFill>
                  <a:prstClr val="black"/>
                </a:solidFill>
              </a:rPr>
              <a:t>или </a:t>
            </a:r>
            <a:r>
              <a:rPr lang="en-US" sz="2000" dirty="0">
                <a:solidFill>
                  <a:prstClr val="black"/>
                </a:solidFill>
              </a:rPr>
              <a:t>ALL_</a:t>
            </a:r>
            <a:r>
              <a:rPr lang="en-US" sz="2100" dirty="0">
                <a:solidFill>
                  <a:prstClr val="black"/>
                </a:solidFill>
              </a:rPr>
              <a:t>MVIEW</a:t>
            </a:r>
            <a:r>
              <a:rPr lang="en-US" sz="2000" dirty="0">
                <a:solidFill>
                  <a:prstClr val="black"/>
                </a:solidFill>
              </a:rPr>
              <a:t>_COMMENTS</a:t>
            </a:r>
            <a:r>
              <a:rPr lang="ru-RU" sz="2000" dirty="0">
                <a:solidFill>
                  <a:prstClr val="black"/>
                </a:solidFill>
              </a:rPr>
              <a:t>, или </a:t>
            </a:r>
            <a:r>
              <a:rPr lang="en-US" sz="2000" dirty="0">
                <a:solidFill>
                  <a:prstClr val="black"/>
                </a:solidFill>
              </a:rPr>
              <a:t>USER_</a:t>
            </a:r>
            <a:r>
              <a:rPr lang="en-US" sz="2100" dirty="0">
                <a:solidFill>
                  <a:prstClr val="black"/>
                </a:solidFill>
              </a:rPr>
              <a:t>MVIEW</a:t>
            </a:r>
            <a:r>
              <a:rPr lang="en-US" sz="2000" dirty="0">
                <a:solidFill>
                  <a:prstClr val="black"/>
                </a:solidFill>
              </a:rPr>
              <a:t>_COMMENTS</a:t>
            </a:r>
            <a:endParaRPr lang="ru-RU" sz="2000" dirty="0">
              <a:solidFill>
                <a:prstClr val="black"/>
              </a:solidFill>
            </a:endParaRPr>
          </a:p>
          <a:p>
            <a:pPr lvl="0"/>
            <a:r>
              <a:rPr lang="en-US" sz="2100" dirty="0">
                <a:solidFill>
                  <a:prstClr val="black"/>
                </a:solidFill>
              </a:rPr>
              <a:t>DBA_INDEXTYPE_COMMENTS</a:t>
            </a:r>
            <a:r>
              <a:rPr lang="ru-RU" sz="2100" dirty="0">
                <a:solidFill>
                  <a:prstClr val="black"/>
                </a:solidFill>
              </a:rPr>
              <a:t>,</a:t>
            </a:r>
            <a:r>
              <a:rPr lang="en-US" sz="2100" dirty="0">
                <a:solidFill>
                  <a:prstClr val="black"/>
                </a:solidFill>
              </a:rPr>
              <a:t> </a:t>
            </a:r>
            <a:r>
              <a:rPr lang="ru-RU" sz="2100" dirty="0">
                <a:solidFill>
                  <a:prstClr val="black"/>
                </a:solidFill>
              </a:rPr>
              <a:t>или </a:t>
            </a:r>
            <a:r>
              <a:rPr lang="en-US" sz="2100" dirty="0">
                <a:solidFill>
                  <a:prstClr val="black"/>
                </a:solidFill>
              </a:rPr>
              <a:t>ALL_INDEXTYPE_COMMENTS</a:t>
            </a:r>
            <a:r>
              <a:rPr lang="ru-RU" sz="2100" dirty="0">
                <a:solidFill>
                  <a:prstClr val="black"/>
                </a:solidFill>
              </a:rPr>
              <a:t>, или </a:t>
            </a:r>
            <a:r>
              <a:rPr lang="en-US" sz="2100" dirty="0">
                <a:solidFill>
                  <a:prstClr val="black"/>
                </a:solidFill>
              </a:rPr>
              <a:t>USER_INDEXTYPE_COMMENTS</a:t>
            </a:r>
            <a:endParaRPr lang="ru-RU" sz="2100" dirty="0">
              <a:solidFill>
                <a:prstClr val="black"/>
              </a:solidFill>
            </a:endParaRPr>
          </a:p>
          <a:p>
            <a:r>
              <a:rPr lang="en-US" sz="2100" dirty="0">
                <a:solidFill>
                  <a:prstClr val="black"/>
                </a:solidFill>
              </a:rPr>
              <a:t>DBA_EDITION_COMMENTS</a:t>
            </a:r>
            <a:r>
              <a:rPr lang="ru-RU" sz="2100" dirty="0">
                <a:solidFill>
                  <a:prstClr val="black"/>
                </a:solidFill>
              </a:rPr>
              <a:t>,</a:t>
            </a:r>
            <a:r>
              <a:rPr lang="en-US" sz="2100" dirty="0">
                <a:solidFill>
                  <a:prstClr val="black"/>
                </a:solidFill>
              </a:rPr>
              <a:t> </a:t>
            </a:r>
            <a:r>
              <a:rPr lang="ru-RU" sz="2100" dirty="0">
                <a:solidFill>
                  <a:prstClr val="black"/>
                </a:solidFill>
              </a:rPr>
              <a:t>или </a:t>
            </a:r>
            <a:r>
              <a:rPr lang="en-US" sz="2100" dirty="0">
                <a:solidFill>
                  <a:prstClr val="black"/>
                </a:solidFill>
              </a:rPr>
              <a:t>ALL_EDITION_COMMENTS</a:t>
            </a:r>
            <a:endParaRPr lang="ru-RU" sz="2000" dirty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ru-RU" sz="2000" dirty="0">
                <a:solidFill>
                  <a:prstClr val="black"/>
                </a:solidFill>
              </a:rPr>
              <a:t>      </a:t>
            </a:r>
            <a:r>
              <a:rPr lang="ru-RU" sz="2000" dirty="0"/>
              <a:t>Добавление комментария на таблицу/строку:</a:t>
            </a:r>
          </a:p>
          <a:p>
            <a:pPr marL="0" indent="0">
              <a:buNone/>
            </a:pPr>
            <a:r>
              <a:rPr lang="en-US" sz="2000" dirty="0"/>
              <a:t>COMMENT ON {TABLE </a:t>
            </a:r>
            <a:r>
              <a:rPr lang="ru-RU" sz="2000" dirty="0" err="1"/>
              <a:t>имя_табл</a:t>
            </a:r>
            <a:r>
              <a:rPr lang="en-US" sz="2000" dirty="0"/>
              <a:t> | COLUMN </a:t>
            </a:r>
            <a:r>
              <a:rPr lang="ru-RU" sz="2000" dirty="0" err="1"/>
              <a:t>имя_табл</a:t>
            </a:r>
            <a:r>
              <a:rPr lang="en-US" sz="2000" dirty="0"/>
              <a:t>.</a:t>
            </a:r>
            <a:r>
              <a:rPr lang="ru-RU" sz="2000" dirty="0" err="1"/>
              <a:t>имя_столбца</a:t>
            </a:r>
            <a:r>
              <a:rPr lang="en-US" sz="2000" dirty="0"/>
              <a:t>}</a:t>
            </a:r>
            <a:r>
              <a:rPr lang="ru-RU" sz="2000" dirty="0"/>
              <a:t> </a:t>
            </a:r>
            <a:r>
              <a:rPr lang="en-US" sz="2000" dirty="0"/>
              <a:t>IS ‘</a:t>
            </a:r>
            <a:r>
              <a:rPr lang="ru-RU" sz="2000" dirty="0"/>
              <a:t>текст</a:t>
            </a:r>
            <a:r>
              <a:rPr lang="en-US" sz="2000" dirty="0"/>
              <a:t>';</a:t>
            </a:r>
          </a:p>
          <a:p>
            <a:pPr marL="0" indent="0">
              <a:buNone/>
            </a:pPr>
            <a:r>
              <a:rPr lang="ru-RU" sz="2000" dirty="0"/>
              <a:t>Где:</a:t>
            </a:r>
          </a:p>
          <a:p>
            <a:r>
              <a:rPr lang="ru-RU" sz="2000" dirty="0"/>
              <a:t>Текст --</a:t>
            </a:r>
            <a:r>
              <a:rPr lang="en-US" sz="2000" dirty="0"/>
              <a:t> </a:t>
            </a:r>
            <a:r>
              <a:rPr lang="ru-RU" sz="2000" dirty="0"/>
              <a:t>текст комментария размером до 4000 байт. 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dirty="0"/>
              <a:t>      Комментарий можно удалить из базы данных, установив его равным пустой строке (''):   	</a:t>
            </a:r>
          </a:p>
          <a:p>
            <a:pPr marL="0" indent="0">
              <a:buNone/>
            </a:pPr>
            <a:r>
              <a:rPr lang="en-US" sz="2000" dirty="0"/>
              <a:t>COMMENT ON TABLE </a:t>
            </a:r>
            <a:r>
              <a:rPr lang="en-US" sz="2000" dirty="0" err="1"/>
              <a:t>emp_new</a:t>
            </a:r>
            <a:r>
              <a:rPr lang="en-US" sz="2000" dirty="0"/>
              <a:t> IS '';</a:t>
            </a:r>
          </a:p>
          <a:p>
            <a:endParaRPr lang="en-US" sz="2000" dirty="0"/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4504603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858000"/>
          </a:xfrm>
        </p:spPr>
        <p:txBody>
          <a:bodyPr>
            <a:noAutofit/>
          </a:bodyPr>
          <a:lstStyle/>
          <a:p>
            <a:pPr>
              <a:spcAft>
                <a:spcPts val="0"/>
              </a:spcAft>
            </a:pPr>
            <a:r>
              <a:rPr lang="ru-RU" sz="2000" u="sng" dirty="0">
                <a:ea typeface="Times New Roman" panose="02020603050405020304" pitchFamily="18" charset="0"/>
              </a:rPr>
              <a:t>Комментарий на таблицу: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ea typeface="Times New Roman" panose="02020603050405020304" pitchFamily="18" charset="0"/>
              </a:rPr>
              <a:t>COMMENT ON TABLE</a:t>
            </a:r>
            <a:r>
              <a:rPr lang="ru-RU" sz="2000" dirty="0"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ea typeface="Times New Roman" panose="02020603050405020304" pitchFamily="18" charset="0"/>
              </a:rPr>
              <a:t>имя_таблицы</a:t>
            </a:r>
            <a:r>
              <a:rPr lang="ru-RU" sz="2000" dirty="0">
                <a:ea typeface="Times New Roman" panose="02020603050405020304" pitchFamily="18" charset="0"/>
              </a:rPr>
              <a:t> </a:t>
            </a:r>
            <a:r>
              <a:rPr lang="en-US" sz="2000" dirty="0">
                <a:ea typeface="Times New Roman" panose="02020603050405020304" pitchFamily="18" charset="0"/>
              </a:rPr>
              <a:t>IS</a:t>
            </a:r>
            <a:r>
              <a:rPr lang="ru-RU" sz="2000" dirty="0">
                <a:ea typeface="Times New Roman" panose="02020603050405020304" pitchFamily="18" charset="0"/>
              </a:rPr>
              <a:t> ‘</a:t>
            </a:r>
            <a:r>
              <a:rPr lang="ru-RU" sz="2000" dirty="0" err="1">
                <a:ea typeface="Times New Roman" panose="02020603050405020304" pitchFamily="18" charset="0"/>
              </a:rPr>
              <a:t>текст_комментария</a:t>
            </a:r>
            <a:r>
              <a:rPr lang="ru-RU" sz="2000" dirty="0">
                <a:ea typeface="Times New Roman" panose="02020603050405020304" pitchFamily="18" charset="0"/>
              </a:rPr>
              <a:t>’</a:t>
            </a:r>
          </a:p>
          <a:p>
            <a:pPr>
              <a:spcAft>
                <a:spcPts val="0"/>
              </a:spcAft>
            </a:pPr>
            <a:r>
              <a:rPr lang="ru-RU" sz="2000" u="sng" dirty="0">
                <a:solidFill>
                  <a:prstClr val="black"/>
                </a:solidFill>
                <a:ea typeface="Times New Roman" panose="02020603050405020304" pitchFamily="18" charset="0"/>
              </a:rPr>
              <a:t>Комментарий н</a:t>
            </a:r>
            <a:r>
              <a:rPr lang="ru-RU" sz="2000" u="sng" dirty="0">
                <a:ea typeface="Times New Roman" panose="02020603050405020304" pitchFamily="18" charset="0"/>
              </a:rPr>
              <a:t>а столбец: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ea typeface="Times New Roman" panose="02020603050405020304" pitchFamily="18" charset="0"/>
              </a:rPr>
              <a:t>COMMENT ON COLUMN</a:t>
            </a:r>
            <a:r>
              <a:rPr lang="ru-RU" sz="2000" dirty="0"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ea typeface="Times New Roman" panose="02020603050405020304" pitchFamily="18" charset="0"/>
              </a:rPr>
              <a:t>имя_столбца</a:t>
            </a:r>
            <a:r>
              <a:rPr lang="ru-RU" sz="2000" dirty="0">
                <a:ea typeface="Times New Roman" panose="02020603050405020304" pitchFamily="18" charset="0"/>
              </a:rPr>
              <a:t> </a:t>
            </a:r>
            <a:r>
              <a:rPr lang="en-US" sz="2000" dirty="0">
                <a:ea typeface="Times New Roman" panose="02020603050405020304" pitchFamily="18" charset="0"/>
              </a:rPr>
              <a:t>IS</a:t>
            </a:r>
            <a:r>
              <a:rPr lang="ru-RU" sz="2000" dirty="0">
                <a:ea typeface="Times New Roman" panose="02020603050405020304" pitchFamily="18" charset="0"/>
              </a:rPr>
              <a:t> ‘</a:t>
            </a:r>
            <a:r>
              <a:rPr lang="ru-RU" sz="2000" dirty="0" err="1">
                <a:ea typeface="Times New Roman" panose="02020603050405020304" pitchFamily="18" charset="0"/>
              </a:rPr>
              <a:t>текст_комментария</a:t>
            </a:r>
            <a:r>
              <a:rPr lang="ru-RU" sz="2000" dirty="0">
                <a:ea typeface="Times New Roman" panose="02020603050405020304" pitchFamily="18" charset="0"/>
              </a:rPr>
              <a:t>’</a:t>
            </a:r>
          </a:p>
          <a:p>
            <a:pPr>
              <a:spcAft>
                <a:spcPts val="0"/>
              </a:spcAft>
            </a:pPr>
            <a:r>
              <a:rPr lang="ru-RU" sz="2000" u="sng" dirty="0">
                <a:ea typeface="Times New Roman" panose="02020603050405020304" pitchFamily="18" charset="0"/>
              </a:rPr>
              <a:t>Пример</a:t>
            </a:r>
            <a:r>
              <a:rPr lang="en-US" sz="2000" dirty="0">
                <a:ea typeface="Times New Roman" panose="02020603050405020304" pitchFamily="18" charset="0"/>
              </a:rPr>
              <a:t>:</a:t>
            </a:r>
            <a:endParaRPr lang="ru-RU" sz="2000" dirty="0"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ea typeface="Times New Roman" panose="02020603050405020304" pitchFamily="18" charset="0"/>
              </a:rPr>
              <a:t>SET PAGESIZE 20</a:t>
            </a:r>
            <a:endParaRPr lang="ru-RU" sz="2000" dirty="0"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ea typeface="Times New Roman" panose="02020603050405020304" pitchFamily="18" charset="0"/>
              </a:rPr>
              <a:t>COLUMN </a:t>
            </a:r>
            <a:r>
              <a:rPr lang="en-US" sz="2000" dirty="0" err="1">
                <a:ea typeface="Times New Roman" panose="02020603050405020304" pitchFamily="18" charset="0"/>
              </a:rPr>
              <a:t>table_name</a:t>
            </a:r>
            <a:r>
              <a:rPr lang="en-US" sz="2000" dirty="0">
                <a:ea typeface="Times New Roman" panose="02020603050405020304" pitchFamily="18" charset="0"/>
              </a:rPr>
              <a:t> FORMAT A15</a:t>
            </a:r>
            <a:endParaRPr lang="ru-RU" sz="2000" dirty="0"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ea typeface="Times New Roman" panose="02020603050405020304" pitchFamily="18" charset="0"/>
              </a:rPr>
              <a:t>COLUMN </a:t>
            </a:r>
            <a:r>
              <a:rPr lang="en-US" sz="2000" dirty="0" err="1">
                <a:ea typeface="Times New Roman" panose="02020603050405020304" pitchFamily="18" charset="0"/>
              </a:rPr>
              <a:t>constraint_type</a:t>
            </a:r>
            <a:r>
              <a:rPr lang="en-US" sz="2000" dirty="0">
                <a:ea typeface="Times New Roman" panose="02020603050405020304" pitchFamily="18" charset="0"/>
              </a:rPr>
              <a:t> FORMAT A10</a:t>
            </a:r>
            <a:endParaRPr lang="ru-RU" sz="2000" dirty="0"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ea typeface="Times New Roman" panose="02020603050405020304" pitchFamily="18" charset="0"/>
              </a:rPr>
              <a:t> SELECT </a:t>
            </a:r>
            <a:r>
              <a:rPr lang="en-US" sz="2000" dirty="0" err="1">
                <a:ea typeface="Times New Roman" panose="02020603050405020304" pitchFamily="18" charset="0"/>
              </a:rPr>
              <a:t>table_name</a:t>
            </a:r>
            <a:r>
              <a:rPr lang="en-US" sz="2000" dirty="0">
                <a:ea typeface="Times New Roman" panose="02020603050405020304" pitchFamily="18" charset="0"/>
              </a:rPr>
              <a:t>, </a:t>
            </a:r>
            <a:r>
              <a:rPr lang="en-US" sz="2000" dirty="0" err="1">
                <a:ea typeface="Times New Roman" panose="02020603050405020304" pitchFamily="18" charset="0"/>
              </a:rPr>
              <a:t>constraint_type</a:t>
            </a:r>
            <a:r>
              <a:rPr lang="en-US" sz="2000" dirty="0">
                <a:ea typeface="Times New Roman" panose="02020603050405020304" pitchFamily="18" charset="0"/>
              </a:rPr>
              <a:t>, </a:t>
            </a:r>
            <a:r>
              <a:rPr lang="en-US" sz="2000" dirty="0" err="1">
                <a:ea typeface="Times New Roman" panose="02020603050405020304" pitchFamily="18" charset="0"/>
              </a:rPr>
              <a:t>constraint_name</a:t>
            </a:r>
            <a:r>
              <a:rPr lang="en-US" sz="2000" dirty="0">
                <a:ea typeface="Times New Roman" panose="02020603050405020304" pitchFamily="18" charset="0"/>
              </a:rPr>
              <a:t>, status</a:t>
            </a:r>
            <a:endParaRPr lang="ru-RU" sz="2000" dirty="0"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ea typeface="Times New Roman" panose="02020603050405020304" pitchFamily="18" charset="0"/>
              </a:rPr>
              <a:t>FROM </a:t>
            </a:r>
            <a:r>
              <a:rPr lang="en-US" sz="2000" dirty="0" err="1">
                <a:ea typeface="Times New Roman" panose="02020603050405020304" pitchFamily="18" charset="0"/>
              </a:rPr>
              <a:t>user_constraints</a:t>
            </a:r>
            <a:endParaRPr lang="ru-RU" sz="2000" dirty="0"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ea typeface="Times New Roman" panose="02020603050405020304" pitchFamily="18" charset="0"/>
              </a:rPr>
              <a:t>WHERE </a:t>
            </a:r>
            <a:r>
              <a:rPr lang="en-US" sz="2000" dirty="0" err="1">
                <a:ea typeface="Times New Roman" panose="02020603050405020304" pitchFamily="18" charset="0"/>
              </a:rPr>
              <a:t>table_name</a:t>
            </a:r>
            <a:r>
              <a:rPr lang="en-US" sz="2000" dirty="0">
                <a:ea typeface="Times New Roman" panose="02020603050405020304" pitchFamily="18" charset="0"/>
              </a:rPr>
              <a:t> NOT LIKE 'BIN%'</a:t>
            </a:r>
            <a:endParaRPr lang="ru-RU" sz="2000" dirty="0"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2000" dirty="0">
                <a:ea typeface="Times New Roman" panose="02020603050405020304" pitchFamily="18" charset="0"/>
              </a:rPr>
              <a:t>ORDER BY </a:t>
            </a:r>
            <a:r>
              <a:rPr lang="ru-RU" sz="2000" dirty="0" err="1">
                <a:ea typeface="Times New Roman" panose="02020603050405020304" pitchFamily="18" charset="0"/>
              </a:rPr>
              <a:t>table_name</a:t>
            </a:r>
            <a:r>
              <a:rPr lang="ru-RU" sz="2000" dirty="0">
                <a:ea typeface="Times New Roman" panose="02020603050405020304" pitchFamily="18" charset="0"/>
              </a:rPr>
              <a:t>;</a:t>
            </a:r>
          </a:p>
          <a:p>
            <a:pPr marL="0" indent="0">
              <a:spcAft>
                <a:spcPts val="0"/>
              </a:spcAft>
              <a:buNone/>
            </a:pPr>
            <a:r>
              <a:rPr lang="ru-RU" sz="2000" dirty="0">
                <a:ea typeface="Times New Roman" panose="02020603050405020304" pitchFamily="18" charset="0"/>
              </a:rPr>
              <a:t> </a:t>
            </a:r>
          </a:p>
          <a:p>
            <a:pPr>
              <a:spcAft>
                <a:spcPts val="0"/>
              </a:spcAft>
            </a:pPr>
            <a:r>
              <a:rPr lang="ru-RU" sz="2000" u="sng" dirty="0">
                <a:ea typeface="Times New Roman" panose="02020603050405020304" pitchFamily="18" charset="0"/>
              </a:rPr>
              <a:t>Как найти комментарии в словаре.</a:t>
            </a:r>
          </a:p>
          <a:p>
            <a:pPr marL="0" indent="0">
              <a:spcAft>
                <a:spcPts val="0"/>
              </a:spcAft>
              <a:buNone/>
            </a:pPr>
            <a:r>
              <a:rPr lang="ru-RU" sz="2000" dirty="0">
                <a:ea typeface="Times New Roman" panose="02020603050405020304" pitchFamily="18" charset="0"/>
              </a:rPr>
              <a:t>Представления словаря</a:t>
            </a:r>
            <a:r>
              <a:rPr lang="fr-FR" sz="2000" dirty="0">
                <a:ea typeface="Times New Roman" panose="02020603050405020304" pitchFamily="18" charset="0"/>
              </a:rPr>
              <a:t>:</a:t>
            </a:r>
            <a:endParaRPr lang="ru-RU" sz="2000" dirty="0"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fr-FR" sz="2000" dirty="0">
                <a:ea typeface="Times New Roman" panose="02020603050405020304" pitchFamily="18" charset="0"/>
              </a:rPr>
              <a:t>user_tab_comments</a:t>
            </a:r>
            <a:endParaRPr lang="ru-RU" sz="2000" dirty="0"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fr-FR" sz="2000" dirty="0">
                <a:ea typeface="Times New Roman" panose="02020603050405020304" pitchFamily="18" charset="0"/>
              </a:rPr>
              <a:t>user_col_comments</a:t>
            </a:r>
            <a:endParaRPr lang="ru-RU" sz="200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42463" y="405245"/>
            <a:ext cx="4184073" cy="561109"/>
          </a:xfrm>
        </p:spPr>
        <p:txBody>
          <a:bodyPr>
            <a:noAutofit/>
          </a:bodyPr>
          <a:lstStyle/>
          <a:p>
            <a:pPr algn="ctr"/>
            <a:r>
              <a:rPr lang="ru-RU" sz="3600" dirty="0">
                <a:solidFill>
                  <a:srgbClr val="FF0000"/>
                </a:solidFill>
              </a:rPr>
              <a:t>Комментарии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324" y="3667991"/>
            <a:ext cx="6630291" cy="276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2452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30630"/>
            <a:ext cx="10515600" cy="579548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dirty="0">
                <a:solidFill>
                  <a:srgbClr val="FF0000"/>
                </a:solidFill>
              </a:rPr>
              <a:t>Запрос описания столбцов с комментариями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938151"/>
            <a:ext cx="5060324" cy="5919849"/>
          </a:xfrm>
          <a:ln w="12700">
            <a:solidFill>
              <a:schemeClr val="accent1">
                <a:shade val="50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SELECT </a:t>
            </a:r>
            <a:r>
              <a:rPr lang="en-US" sz="2000" dirty="0" err="1"/>
              <a:t>col.table_name</a:t>
            </a:r>
            <a:r>
              <a:rPr lang="en-US" sz="2000" dirty="0"/>
              <a:t>,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ru-RU" sz="2000" dirty="0"/>
              <a:t>  </a:t>
            </a:r>
            <a:r>
              <a:rPr lang="en-US" sz="2000" dirty="0"/>
              <a:t> </a:t>
            </a:r>
            <a:r>
              <a:rPr lang="en-US" sz="2000" dirty="0" err="1"/>
              <a:t>col.column_name</a:t>
            </a:r>
            <a:r>
              <a:rPr lang="en-US" sz="2000" dirty="0"/>
              <a:t>,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ru-RU" sz="2000" dirty="0"/>
              <a:t>  </a:t>
            </a:r>
            <a:r>
              <a:rPr lang="en-US" sz="2000" dirty="0"/>
              <a:t> </a:t>
            </a:r>
            <a:r>
              <a:rPr lang="en-US" sz="2000" dirty="0" err="1"/>
              <a:t>col.data_type</a:t>
            </a:r>
            <a:r>
              <a:rPr lang="en-US" sz="2000" dirty="0"/>
              <a:t>,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ru-RU" sz="2000" dirty="0"/>
              <a:t>  </a:t>
            </a:r>
            <a:r>
              <a:rPr lang="en-US" sz="2000" dirty="0"/>
              <a:t> </a:t>
            </a:r>
            <a:r>
              <a:rPr lang="en-US" sz="2000" dirty="0" err="1"/>
              <a:t>col.data_length</a:t>
            </a:r>
            <a:r>
              <a:rPr lang="en-US" sz="2000" dirty="0"/>
              <a:t>,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ru-RU" sz="2000" dirty="0"/>
              <a:t>  </a:t>
            </a:r>
            <a:r>
              <a:rPr lang="en-US" sz="2000" dirty="0"/>
              <a:t> </a:t>
            </a:r>
            <a:r>
              <a:rPr lang="en-US" sz="2000" dirty="0" err="1"/>
              <a:t>col.data_precision</a:t>
            </a:r>
            <a:r>
              <a:rPr lang="en-US" sz="2000" dirty="0"/>
              <a:t>,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ru-RU" sz="2000" dirty="0"/>
              <a:t>  </a:t>
            </a:r>
            <a:r>
              <a:rPr lang="en-US" sz="2000" dirty="0"/>
              <a:t> </a:t>
            </a:r>
            <a:r>
              <a:rPr lang="en-US" sz="2000" dirty="0" err="1"/>
              <a:t>col.data_scale</a:t>
            </a:r>
            <a:r>
              <a:rPr lang="en-US" sz="2000" dirty="0"/>
              <a:t>,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ru-RU" sz="2000" dirty="0"/>
              <a:t>  </a:t>
            </a:r>
            <a:r>
              <a:rPr lang="en-US" sz="2000" dirty="0"/>
              <a:t> </a:t>
            </a:r>
            <a:r>
              <a:rPr lang="en-US" sz="2000" dirty="0" err="1"/>
              <a:t>col.nullable</a:t>
            </a:r>
            <a:r>
              <a:rPr lang="en-US" sz="2000" dirty="0"/>
              <a:t>,</a:t>
            </a:r>
          </a:p>
          <a:p>
            <a:pPr marL="0" indent="0">
              <a:buNone/>
            </a:pPr>
            <a:r>
              <a:rPr lang="en-US" sz="2000" dirty="0"/>
              <a:t>  </a:t>
            </a:r>
            <a:r>
              <a:rPr lang="ru-RU" sz="2000" dirty="0"/>
              <a:t>  </a:t>
            </a:r>
            <a:r>
              <a:rPr lang="en-US" sz="2000" dirty="0" err="1"/>
              <a:t>com.comments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FROM ALL_TAB_COLUMNS col</a:t>
            </a:r>
          </a:p>
          <a:p>
            <a:pPr marL="0" indent="0">
              <a:buNone/>
            </a:pPr>
            <a:r>
              <a:rPr lang="en-US" sz="2000" dirty="0"/>
              <a:t>LEFT JOIN </a:t>
            </a:r>
            <a:r>
              <a:rPr lang="en-US" sz="2000" dirty="0" err="1"/>
              <a:t>user_col_comments</a:t>
            </a:r>
            <a:r>
              <a:rPr lang="en-US" sz="2000" dirty="0"/>
              <a:t> com</a:t>
            </a:r>
          </a:p>
          <a:p>
            <a:pPr marL="0" indent="0">
              <a:buNone/>
            </a:pPr>
            <a:r>
              <a:rPr lang="en-US" sz="2000" dirty="0"/>
              <a:t>ON (</a:t>
            </a:r>
            <a:r>
              <a:rPr lang="en-US" sz="2000" dirty="0" err="1"/>
              <a:t>col.table_name</a:t>
            </a:r>
            <a:r>
              <a:rPr lang="en-US" sz="2000" dirty="0"/>
              <a:t>  = </a:t>
            </a:r>
            <a:r>
              <a:rPr lang="en-US" sz="2000" dirty="0" err="1"/>
              <a:t>com.table_name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AND </a:t>
            </a:r>
            <a:r>
              <a:rPr lang="en-US" sz="2000" dirty="0" err="1"/>
              <a:t>col.column_name</a:t>
            </a:r>
            <a:r>
              <a:rPr lang="en-US" sz="2000" dirty="0"/>
              <a:t> = </a:t>
            </a:r>
            <a:r>
              <a:rPr lang="en-US" sz="2000" dirty="0" err="1"/>
              <a:t>com.column_name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WHERE </a:t>
            </a:r>
            <a:r>
              <a:rPr lang="en-US" sz="2000" dirty="0" err="1"/>
              <a:t>col.TABLE_NAME</a:t>
            </a:r>
            <a:r>
              <a:rPr lang="en-US" sz="2000" dirty="0"/>
              <a:t> = ‘</a:t>
            </a:r>
            <a:r>
              <a:rPr lang="ru-RU" sz="2000" dirty="0" err="1"/>
              <a:t>имя_табл</a:t>
            </a:r>
            <a:r>
              <a:rPr lang="en-US" sz="2000" dirty="0"/>
              <a:t>'</a:t>
            </a:r>
          </a:p>
          <a:p>
            <a:pPr marL="0" indent="0">
              <a:buNone/>
            </a:pPr>
            <a:r>
              <a:rPr lang="en-US" sz="2000" dirty="0"/>
              <a:t>ORDER BY </a:t>
            </a:r>
            <a:r>
              <a:rPr lang="en-US" sz="2000" dirty="0" err="1"/>
              <a:t>table_name</a:t>
            </a:r>
            <a:r>
              <a:rPr lang="en-US" sz="2000" dirty="0"/>
              <a:t>,</a:t>
            </a:r>
            <a:r>
              <a:rPr lang="ru-RU" sz="2000" dirty="0"/>
              <a:t> </a:t>
            </a:r>
            <a:r>
              <a:rPr lang="en-US" sz="2000" dirty="0" err="1"/>
              <a:t>column_name</a:t>
            </a:r>
            <a:r>
              <a:rPr lang="en-US" sz="2000" dirty="0"/>
              <a:t>;</a:t>
            </a:r>
            <a:endParaRPr lang="ru-RU" sz="20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096000" y="2369841"/>
            <a:ext cx="6096000" cy="31700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000" dirty="0">
                <a:solidFill>
                  <a:prstClr val="black"/>
                </a:solidFill>
              </a:rPr>
              <a:t>Запрос возвращает для таблицы </a:t>
            </a:r>
            <a:r>
              <a:rPr lang="ru-RU" sz="2000" b="1" dirty="0" err="1">
                <a:solidFill>
                  <a:prstClr val="black"/>
                </a:solidFill>
              </a:rPr>
              <a:t>имя_табл</a:t>
            </a:r>
            <a:r>
              <a:rPr lang="ru-RU" sz="2000" b="1" dirty="0">
                <a:solidFill>
                  <a:prstClr val="black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 имя столбца (</a:t>
            </a:r>
            <a:r>
              <a:rPr lang="ru-RU" sz="2000" dirty="0" err="1">
                <a:solidFill>
                  <a:prstClr val="black"/>
                </a:solidFill>
              </a:rPr>
              <a:t>column_name</a:t>
            </a:r>
            <a:r>
              <a:rPr lang="ru-RU" sz="2000" dirty="0">
                <a:solidFill>
                  <a:prstClr val="black"/>
                </a:solidFill>
              </a:rPr>
              <a:t>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 тип данных (</a:t>
            </a:r>
            <a:r>
              <a:rPr lang="ru-RU" sz="2000" dirty="0" err="1">
                <a:solidFill>
                  <a:prstClr val="black"/>
                </a:solidFill>
              </a:rPr>
              <a:t>data_type</a:t>
            </a:r>
            <a:r>
              <a:rPr lang="ru-RU" sz="2000" dirty="0">
                <a:solidFill>
                  <a:prstClr val="black"/>
                </a:solidFill>
              </a:rPr>
              <a:t>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 длину данных для текстовых типов (</a:t>
            </a:r>
            <a:r>
              <a:rPr lang="ru-RU" sz="2000" dirty="0" err="1">
                <a:solidFill>
                  <a:prstClr val="black"/>
                </a:solidFill>
              </a:rPr>
              <a:t>data_length</a:t>
            </a:r>
            <a:r>
              <a:rPr lang="ru-RU" sz="2000" dirty="0">
                <a:solidFill>
                  <a:prstClr val="black"/>
                </a:solidFill>
              </a:rPr>
              <a:t>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 точность и масштаб для числовых типов (</a:t>
            </a:r>
            <a:r>
              <a:rPr lang="ru-RU" sz="2000" dirty="0" err="1">
                <a:solidFill>
                  <a:prstClr val="black"/>
                </a:solidFill>
              </a:rPr>
              <a:t>data_precision</a:t>
            </a:r>
            <a:r>
              <a:rPr lang="ru-RU" sz="2000" dirty="0">
                <a:solidFill>
                  <a:prstClr val="black"/>
                </a:solidFill>
              </a:rPr>
              <a:t>                </a:t>
            </a:r>
          </a:p>
          <a:p>
            <a:r>
              <a:rPr lang="ru-RU" sz="2000" dirty="0">
                <a:solidFill>
                  <a:prstClr val="black"/>
                </a:solidFill>
              </a:rPr>
              <a:t>                                  и </a:t>
            </a:r>
            <a:r>
              <a:rPr lang="ru-RU" sz="2000" dirty="0" err="1">
                <a:solidFill>
                  <a:prstClr val="black"/>
                </a:solidFill>
              </a:rPr>
              <a:t>data_scale</a:t>
            </a:r>
            <a:r>
              <a:rPr lang="ru-RU" sz="2000" dirty="0">
                <a:solidFill>
                  <a:prstClr val="black"/>
                </a:solidFill>
              </a:rPr>
              <a:t> соответственно),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 возможность поля хранить значение NULL (</a:t>
            </a:r>
            <a:r>
              <a:rPr lang="ru-RU" sz="2000" dirty="0" err="1">
                <a:solidFill>
                  <a:prstClr val="black"/>
                </a:solidFill>
              </a:rPr>
              <a:t>nullable</a:t>
            </a:r>
            <a:r>
              <a:rPr lang="ru-RU" sz="2000" dirty="0">
                <a:solidFill>
                  <a:prstClr val="black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комментарий (</a:t>
            </a:r>
            <a:r>
              <a:rPr lang="ru-RU" sz="2000" dirty="0" err="1">
                <a:solidFill>
                  <a:prstClr val="black"/>
                </a:solidFill>
              </a:rPr>
              <a:t>comments</a:t>
            </a:r>
            <a:r>
              <a:rPr lang="ru-RU" sz="2000" dirty="0">
                <a:solidFill>
                  <a:prstClr val="black"/>
                </a:solidFill>
              </a:rPr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10344648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786421"/>
            <a:ext cx="10515600" cy="1325563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rgbClr val="FF000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Врéменные таблицы</a:t>
            </a:r>
            <a:endParaRPr lang="ru-RU" dirty="0"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4750903"/>
            <a:ext cx="10515600" cy="1426059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17249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72736"/>
            <a:ext cx="10515600" cy="519545"/>
          </a:xfrm>
        </p:spPr>
        <p:txBody>
          <a:bodyPr>
            <a:normAutofit fontScale="90000"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br>
              <a:rPr lang="ru-RU" sz="4000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Врéменные таблицы 1/2</a:t>
            </a:r>
            <a:br>
              <a:rPr lang="ru-RU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706582"/>
            <a:ext cx="10515600" cy="607868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В каких ситуациях они нужны:</a:t>
            </a:r>
            <a:endParaRPr lang="ru-R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Создается достаточно большой объем врéменных данных, которые должны существовать только в период жизни транзакции или одной сессии. Затем удаляются</a:t>
            </a: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данные, но не схемы.</a:t>
            </a:r>
            <a:endParaRPr lang="ru-R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Очень сложный запрос разбивается на несколько простых. Каждый из них формирует свою врéменную таблицу. Затем к ним обращаются. Такое кеширование промежуточных данных может повысить производительность.</a:t>
            </a:r>
            <a:endParaRPr lang="ru-R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457200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В определении врéменных таблиц, существующих только в текущей транзакции добавляется фраза </a:t>
            </a:r>
            <a:r>
              <a:rPr lang="en-US" sz="20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ON COMMIT DELETE ROWS</a:t>
            </a:r>
            <a:r>
              <a:rPr lang="ru-RU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CREATE GLOBAL TEMPORARY TABLE …..</a:t>
            </a:r>
            <a:endParaRPr lang="ru-R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ON COMMIT DELETE ROWS;</a:t>
            </a:r>
            <a:endParaRPr lang="ru-R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2000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В таблицах, существующих в течение сессии добавляется фраза </a:t>
            </a:r>
            <a:r>
              <a:rPr lang="en-US" sz="2000" b="1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ON COMMIT</a:t>
            </a:r>
            <a:r>
              <a:rPr lang="ru-RU" sz="2000" b="1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b="1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PRESERVE</a:t>
            </a:r>
            <a:r>
              <a:rPr lang="ru-RU" sz="2000" b="1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b="1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ROWS</a:t>
            </a:r>
            <a:r>
              <a:rPr lang="ru-RU" sz="2000" b="1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</a:p>
          <a:p>
            <a:pPr marL="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CREATE GLOBAL TEMPORARY TABLE …..</a:t>
            </a:r>
            <a:endParaRPr lang="ru-R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ON COMMIT PRESERVE ROWS;</a:t>
            </a:r>
            <a:endParaRPr lang="ru-R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1545056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5800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rgbClr val="FF0000"/>
                </a:solidFill>
                <a:latin typeface="Calibri" panose="020F0502020204030204"/>
                <a:ea typeface="Times New Roman" panose="02020603050405020304" pitchFamily="18" charset="0"/>
                <a:cs typeface="Times New Roman" panose="02020603050405020304" pitchFamily="18" charset="0"/>
              </a:rPr>
              <a:t>Врéменные таблицы 2/2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685801"/>
            <a:ext cx="10515600" cy="3574472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Для созданных врéменных таблиц сегменты выделяются только после первой вставки строки (первая команда </a:t>
            </a: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ru-RU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или </a:t>
            </a: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CREATE TABLE AS SELECT</a:t>
            </a:r>
            <a:r>
              <a:rPr lang="ru-RU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). Сегменты освобождаются после завершения транзакции, соответственно, сессии. Резервирование (</a:t>
            </a: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backup</a:t>
            </a:r>
            <a:r>
              <a:rPr lang="ru-RU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) и восстановление (</a:t>
            </a: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recovery</a:t>
            </a:r>
            <a:r>
              <a:rPr lang="ru-RU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) для врéменных таблиц невозможно. </a:t>
            </a:r>
            <a:endParaRPr lang="ru-R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При откате транзакции данные врéменной таблицы теряются, но ее определение сохраняется. Если в рамках транзакции, использующей врéменную таблицу порождается несколько </a:t>
            </a:r>
            <a:r>
              <a:rPr lang="ru-RU" sz="20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автономных транзакций</a:t>
            </a:r>
            <a:r>
              <a:rPr lang="ru-RU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то они используют врéменную таблицу по очереди (последующая только после того как завершится предыдущая). </a:t>
            </a:r>
            <a:endParaRPr lang="ru-R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Разрешается выполнять все команды </a:t>
            </a: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DDL</a:t>
            </a:r>
            <a:r>
              <a:rPr lang="ru-RU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кроме </a:t>
            </a: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TRUNCATE</a:t>
            </a:r>
            <a:r>
              <a:rPr lang="ru-RU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/>
              <a:t>      Создадим две </a:t>
            </a:r>
            <a:r>
              <a:rPr lang="ru-RU" sz="2000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врéменные таблицы: </a:t>
            </a:r>
            <a:endParaRPr lang="ru-RU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959427" y="4122409"/>
            <a:ext cx="4703618" cy="2397579"/>
          </a:xfrm>
          <a:prstGeom prst="rect">
            <a:avLst/>
          </a:prstGeom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sz="20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 сессионной </a:t>
            </a:r>
            <a:r>
              <a:rPr lang="ru-RU" sz="2000" u="sng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вр</a:t>
            </a:r>
            <a:r>
              <a:rPr lang="en-US" sz="20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ru-RU" sz="2000" u="sng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менной</a:t>
            </a:r>
            <a:r>
              <a:rPr lang="ru-RU" sz="20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таблицы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CREATE GLOBAL TEMPORARY TABLE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tt0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ename</a:t>
            </a: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char(20),</a:t>
            </a:r>
            <a:endParaRPr lang="ru-R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sal</a:t>
            </a: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number(5),</a:t>
            </a:r>
            <a:endParaRPr lang="ru-R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char(10))</a:t>
            </a:r>
            <a:endParaRPr lang="ru-R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ON COMMIT PRESERVE ROWS</a:t>
            </a: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359236" y="4122409"/>
            <a:ext cx="4994564" cy="2496261"/>
          </a:xfrm>
          <a:prstGeom prst="rect">
            <a:avLst/>
          </a:prstGeom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 транзакционной </a:t>
            </a:r>
            <a:r>
              <a:rPr lang="ru-RU" u="sng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вр</a:t>
            </a:r>
            <a:r>
              <a:rPr lang="en-US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ru-RU" u="sng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менной</a:t>
            </a:r>
            <a:r>
              <a:rPr lang="ru-RU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таблицы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</a:pPr>
            <a:r>
              <a:rPr lang="en-US" sz="2000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CREATE GLOBAL TEMPORARY TABLE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tt1</a:t>
            </a:r>
            <a:endParaRPr lang="ru-RU" sz="20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ename</a:t>
            </a:r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char(20),</a:t>
            </a:r>
            <a:endParaRPr lang="ru-RU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sal</a:t>
            </a:r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number(5),</a:t>
            </a:r>
            <a:endParaRPr lang="ru-RU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char(10))</a:t>
            </a:r>
            <a:endParaRPr lang="ru-RU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</a:pPr>
            <a:r>
              <a:rPr lang="en-US" sz="2000" b="1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ON COMMIT DELETE ROWS</a:t>
            </a:r>
            <a:r>
              <a:rPr lang="en-US" sz="2000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solidFill>
                <a:prstClr val="black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8063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91670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  <a:latin typeface="+mn-lt"/>
              </a:rPr>
              <a:t>Ограничения на использование</a:t>
            </a:r>
            <a:r>
              <a:rPr lang="ru-RU" sz="3600" dirty="0">
                <a:solidFill>
                  <a:srgbClr val="FF000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rgbClr val="FF0000"/>
                </a:solidFill>
                <a:latin typeface="Calibri" panose="020F0502020204030204"/>
                <a:ea typeface="Times New Roman" panose="02020603050405020304" pitchFamily="18" charset="0"/>
                <a:cs typeface="Times New Roman" panose="02020603050405020304" pitchFamily="18" charset="0"/>
              </a:rPr>
              <a:t>врéменных</a:t>
            </a:r>
            <a:r>
              <a:rPr lang="ru-RU" sz="3200" dirty="0">
                <a:solidFill>
                  <a:srgbClr val="FF0000"/>
                </a:solidFill>
                <a:latin typeface="Calibri" panose="020F0502020204030204"/>
                <a:ea typeface="Times New Roman" panose="02020603050405020304" pitchFamily="18" charset="0"/>
                <a:cs typeface="Times New Roman" panose="02020603050405020304" pitchFamily="18" charset="0"/>
              </a:rPr>
              <a:t> таблиц </a:t>
            </a:r>
            <a:r>
              <a:rPr lang="ru-RU" sz="3200" dirty="0">
                <a:solidFill>
                  <a:srgbClr val="00B0F0"/>
                </a:solidFill>
                <a:latin typeface="Calibri" panose="020F0502020204030204"/>
                <a:ea typeface="Times New Roman" panose="02020603050405020304" pitchFamily="18" charset="0"/>
                <a:cs typeface="Times New Roman" panose="02020603050405020304" pitchFamily="18" charset="0"/>
              </a:rPr>
              <a:t>??</a:t>
            </a:r>
            <a:endParaRPr lang="ru-RU" sz="3200" dirty="0">
              <a:solidFill>
                <a:srgbClr val="00B0F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91671"/>
            <a:ext cx="2873188" cy="5585292"/>
          </a:xfrm>
          <a:ln w="15875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Врéменные таблицы не </a:t>
            </a:r>
          </a:p>
          <a:p>
            <a:pPr marL="0" indent="0">
              <a:buNone/>
            </a:pPr>
            <a:r>
              <a:rPr lang="ru-RU" sz="2000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могут использоваться </a:t>
            </a:r>
          </a:p>
          <a:p>
            <a:pPr marL="0" indent="0">
              <a:buNone/>
            </a:pPr>
            <a:r>
              <a:rPr lang="ru-RU" sz="2000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в инструкциях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0000"/>
                </a:solidFill>
              </a:rPr>
              <a:t>ALTER TABLE</a:t>
            </a:r>
          </a:p>
          <a:p>
            <a:r>
              <a:rPr lang="en-US" sz="2000" dirty="0">
                <a:solidFill>
                  <a:srgbClr val="000000"/>
                </a:solidFill>
              </a:rPr>
              <a:t>CREATE INDEX</a:t>
            </a:r>
          </a:p>
          <a:p>
            <a:r>
              <a:rPr lang="en-US" sz="2000" dirty="0">
                <a:solidFill>
                  <a:srgbClr val="000000"/>
                </a:solidFill>
              </a:rPr>
              <a:t>CREATE SYNONYM</a:t>
            </a:r>
          </a:p>
          <a:p>
            <a:r>
              <a:rPr lang="en-US" sz="2000" dirty="0">
                <a:solidFill>
                  <a:srgbClr val="000000"/>
                </a:solidFill>
              </a:rPr>
              <a:t>CREATE TRIGGER</a:t>
            </a:r>
          </a:p>
          <a:p>
            <a:r>
              <a:rPr lang="en-US" sz="2000" dirty="0">
                <a:solidFill>
                  <a:srgbClr val="000000"/>
                </a:solidFill>
              </a:rPr>
              <a:t>CREATE VIEW</a:t>
            </a:r>
          </a:p>
          <a:p>
            <a:r>
              <a:rPr lang="en-US" sz="2000" dirty="0">
                <a:solidFill>
                  <a:srgbClr val="000000"/>
                </a:solidFill>
              </a:rPr>
              <a:t>LOCK TABLE</a:t>
            </a:r>
          </a:p>
          <a:p>
            <a:r>
              <a:rPr lang="en-US" sz="2000" dirty="0">
                <a:solidFill>
                  <a:srgbClr val="000000"/>
                </a:solidFill>
              </a:rPr>
              <a:t>RENAME</a:t>
            </a:r>
            <a:endParaRPr lang="ru-RU" sz="2000" dirty="0">
              <a:solidFill>
                <a:srgbClr val="000000"/>
              </a:solidFill>
            </a:endParaRPr>
          </a:p>
          <a:p>
            <a:r>
              <a:rPr lang="en-US" sz="2000" dirty="0">
                <a:solidFill>
                  <a:srgbClr val="000000"/>
                </a:solidFill>
              </a:rPr>
              <a:t>GRANT</a:t>
            </a:r>
          </a:p>
          <a:p>
            <a:r>
              <a:rPr lang="en-US" sz="2000" dirty="0">
                <a:solidFill>
                  <a:srgbClr val="000000"/>
                </a:solidFill>
              </a:rPr>
              <a:t>REVOKE</a:t>
            </a:r>
          </a:p>
          <a:p>
            <a:endParaRPr lang="ru-RU" sz="2000" dirty="0"/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3905922" y="591671"/>
            <a:ext cx="7201632" cy="5585292"/>
          </a:xfrm>
          <a:prstGeom prst="rect">
            <a:avLst/>
          </a:prstGeom>
          <a:ln w="15875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rgbClr val="222222"/>
                </a:solidFill>
              </a:rPr>
              <a:t>Ещё ограничения:</a:t>
            </a:r>
          </a:p>
          <a:p>
            <a:r>
              <a:rPr lang="ru-RU" sz="2000" dirty="0">
                <a:solidFill>
                  <a:srgbClr val="222222"/>
                </a:solidFill>
              </a:rPr>
              <a:t>Временная таблица в </a:t>
            </a:r>
            <a:r>
              <a:rPr lang="ru-RU" sz="2000" dirty="0" err="1">
                <a:solidFill>
                  <a:srgbClr val="222222"/>
                </a:solidFill>
              </a:rPr>
              <a:t>Oracle</a:t>
            </a:r>
            <a:r>
              <a:rPr lang="ru-RU" sz="2000" dirty="0">
                <a:solidFill>
                  <a:srgbClr val="222222"/>
                </a:solidFill>
              </a:rPr>
              <a:t> не может быть </a:t>
            </a:r>
            <a:r>
              <a:rPr lang="ru-RU" sz="2000" dirty="0" err="1">
                <a:solidFill>
                  <a:srgbClr val="222222"/>
                </a:solidFill>
              </a:rPr>
              <a:t>партицирована</a:t>
            </a:r>
            <a:r>
              <a:rPr lang="ru-RU" sz="2000" dirty="0">
                <a:solidFill>
                  <a:srgbClr val="222222"/>
                </a:solidFill>
              </a:rPr>
              <a:t> (</a:t>
            </a:r>
            <a:r>
              <a:rPr lang="ru-RU" sz="2000" dirty="0" err="1">
                <a:solidFill>
                  <a:srgbClr val="222222"/>
                </a:solidFill>
              </a:rPr>
              <a:t>particioned</a:t>
            </a:r>
            <a:r>
              <a:rPr lang="ru-RU" sz="2000" dirty="0">
                <a:solidFill>
                  <a:srgbClr val="222222"/>
                </a:solidFill>
              </a:rPr>
              <a:t>), </a:t>
            </a:r>
            <a:r>
              <a:rPr lang="ru-RU" sz="2000" dirty="0" err="1">
                <a:solidFill>
                  <a:srgbClr val="222222"/>
                </a:solidFill>
              </a:rPr>
              <a:t>кластеризована</a:t>
            </a:r>
            <a:r>
              <a:rPr lang="ru-RU" sz="2000" dirty="0">
                <a:solidFill>
                  <a:srgbClr val="222222"/>
                </a:solidFill>
              </a:rPr>
              <a:t> (</a:t>
            </a:r>
            <a:r>
              <a:rPr lang="ru-RU" sz="2000" dirty="0" err="1">
                <a:solidFill>
                  <a:srgbClr val="222222"/>
                </a:solidFill>
              </a:rPr>
              <a:t>clustered</a:t>
            </a:r>
            <a:r>
              <a:rPr lang="ru-RU" sz="2000" dirty="0">
                <a:solidFill>
                  <a:srgbClr val="222222"/>
                </a:solidFill>
              </a:rPr>
              <a:t>), или быть организованной по индексу (</a:t>
            </a:r>
            <a:r>
              <a:rPr lang="ru-RU" sz="2000" dirty="0" err="1">
                <a:solidFill>
                  <a:srgbClr val="222222"/>
                </a:solidFill>
              </a:rPr>
              <a:t>index</a:t>
            </a:r>
            <a:r>
              <a:rPr lang="ru-RU" sz="2000" dirty="0">
                <a:solidFill>
                  <a:srgbClr val="222222"/>
                </a:solidFill>
              </a:rPr>
              <a:t> </a:t>
            </a:r>
            <a:r>
              <a:rPr lang="ru-RU" sz="2000" dirty="0" err="1">
                <a:solidFill>
                  <a:srgbClr val="222222"/>
                </a:solidFill>
              </a:rPr>
              <a:t>organized</a:t>
            </a:r>
            <a:r>
              <a:rPr lang="ru-RU" sz="2000" dirty="0">
                <a:solidFill>
                  <a:srgbClr val="222222"/>
                </a:solidFill>
              </a:rPr>
              <a:t>).</a:t>
            </a:r>
          </a:p>
          <a:p>
            <a:r>
              <a:rPr lang="ru-RU" sz="2000" dirty="0">
                <a:solidFill>
                  <a:srgbClr val="222222"/>
                </a:solidFill>
              </a:rPr>
              <a:t>Нельзя связывать внешние ключи с колонками вр</a:t>
            </a:r>
            <a:r>
              <a:rPr lang="ru-RU" sz="2000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ru-RU" sz="2000" dirty="0">
                <a:solidFill>
                  <a:srgbClr val="222222"/>
                </a:solidFill>
              </a:rPr>
              <a:t>менной таблицы</a:t>
            </a:r>
          </a:p>
          <a:p>
            <a:r>
              <a:rPr lang="ru-RU" sz="2000" dirty="0">
                <a:solidFill>
                  <a:srgbClr val="222222"/>
                </a:solidFill>
              </a:rPr>
              <a:t>Вр</a:t>
            </a:r>
            <a:r>
              <a:rPr lang="ru-RU" sz="2000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ru-RU" sz="2000" dirty="0">
                <a:solidFill>
                  <a:srgbClr val="222222"/>
                </a:solidFill>
              </a:rPr>
              <a:t>менная таблица не может включать вложенных таблиц (</a:t>
            </a:r>
            <a:r>
              <a:rPr lang="ru-RU" sz="2000" dirty="0" err="1">
                <a:solidFill>
                  <a:srgbClr val="222222"/>
                </a:solidFill>
              </a:rPr>
              <a:t>nested</a:t>
            </a:r>
            <a:r>
              <a:rPr lang="ru-RU" sz="2000" dirty="0">
                <a:solidFill>
                  <a:srgbClr val="222222"/>
                </a:solidFill>
              </a:rPr>
              <a:t> </a:t>
            </a:r>
            <a:r>
              <a:rPr lang="ru-RU" sz="2000" dirty="0" err="1">
                <a:solidFill>
                  <a:srgbClr val="222222"/>
                </a:solidFill>
              </a:rPr>
              <a:t>table</a:t>
            </a:r>
            <a:r>
              <a:rPr lang="ru-RU" sz="2000" dirty="0">
                <a:solidFill>
                  <a:srgbClr val="222222"/>
                </a:solidFill>
              </a:rPr>
              <a:t>)</a:t>
            </a:r>
          </a:p>
          <a:p>
            <a:r>
              <a:rPr lang="ru-RU" sz="2000" dirty="0">
                <a:solidFill>
                  <a:srgbClr val="00B0F0"/>
                </a:solidFill>
              </a:rPr>
              <a:t>Нельзя использовать в описании временных таблиц:</a:t>
            </a:r>
            <a:r>
              <a:rPr lang="en-US" sz="2000" dirty="0">
                <a:solidFill>
                  <a:srgbClr val="00B0F0"/>
                </a:solidFill>
              </a:rPr>
              <a:t> </a:t>
            </a:r>
            <a:r>
              <a:rPr lang="ru-RU" sz="2000" dirty="0" err="1">
                <a:solidFill>
                  <a:srgbClr val="00B0F0"/>
                </a:solidFill>
              </a:rPr>
              <a:t>LOB_storage_clause</a:t>
            </a:r>
            <a:r>
              <a:rPr lang="ru-RU" sz="2000" dirty="0">
                <a:solidFill>
                  <a:srgbClr val="00B0F0"/>
                </a:solidFill>
              </a:rPr>
              <a:t>: TABLESPACE, </a:t>
            </a:r>
            <a:r>
              <a:rPr lang="ru-RU" sz="2000" dirty="0" err="1">
                <a:solidFill>
                  <a:srgbClr val="00B0F0"/>
                </a:solidFill>
              </a:rPr>
              <a:t>storage_clause</a:t>
            </a:r>
            <a:r>
              <a:rPr lang="ru-RU" sz="2000" dirty="0">
                <a:solidFill>
                  <a:srgbClr val="00B0F0"/>
                </a:solidFill>
              </a:rPr>
              <a:t>, или </a:t>
            </a:r>
            <a:r>
              <a:rPr lang="ru-RU" sz="2000" dirty="0" err="1">
                <a:solidFill>
                  <a:srgbClr val="00B0F0"/>
                </a:solidFill>
              </a:rPr>
              <a:t>logging_clause</a:t>
            </a:r>
            <a:endParaRPr lang="ru-RU" sz="2000" dirty="0">
              <a:solidFill>
                <a:srgbClr val="00B0F0"/>
              </a:solidFill>
            </a:endParaRPr>
          </a:p>
          <a:p>
            <a:r>
              <a:rPr lang="ru-RU" sz="2000" dirty="0">
                <a:solidFill>
                  <a:srgbClr val="222222"/>
                </a:solidFill>
              </a:rPr>
              <a:t>Параллельные запросы во </a:t>
            </a:r>
            <a:r>
              <a:rPr lang="ru-RU" sz="2000" dirty="0" err="1">
                <a:solidFill>
                  <a:srgbClr val="222222"/>
                </a:solidFill>
              </a:rPr>
              <a:t>вр</a:t>
            </a:r>
            <a:r>
              <a:rPr lang="ru-RU" sz="2000" dirty="0" err="1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ru-RU" sz="2000" dirty="0" err="1">
                <a:solidFill>
                  <a:srgbClr val="222222"/>
                </a:solidFill>
              </a:rPr>
              <a:t>менных</a:t>
            </a:r>
            <a:r>
              <a:rPr lang="ru-RU" sz="2000" dirty="0">
                <a:solidFill>
                  <a:srgbClr val="222222"/>
                </a:solidFill>
              </a:rPr>
              <a:t> таблицах не поддерживаются </a:t>
            </a:r>
          </a:p>
          <a:p>
            <a:r>
              <a:rPr lang="ru-RU" sz="2000" dirty="0">
                <a:solidFill>
                  <a:srgbClr val="222222"/>
                </a:solidFill>
              </a:rPr>
              <a:t>Распределенные транзакции не могут работать с </a:t>
            </a:r>
            <a:r>
              <a:rPr lang="ru-RU" sz="2000" dirty="0" err="1">
                <a:solidFill>
                  <a:srgbClr val="222222"/>
                </a:solidFill>
              </a:rPr>
              <a:t>вр</a:t>
            </a:r>
            <a:r>
              <a:rPr lang="ru-RU" sz="2000" dirty="0" err="1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ru-RU" sz="2000" dirty="0" err="1">
                <a:solidFill>
                  <a:srgbClr val="222222"/>
                </a:solidFill>
              </a:rPr>
              <a:t>менными</a:t>
            </a:r>
            <a:r>
              <a:rPr lang="ru-RU" sz="2000" dirty="0">
                <a:solidFill>
                  <a:srgbClr val="222222"/>
                </a:solidFill>
              </a:rPr>
              <a:t> таблицами</a:t>
            </a:r>
          </a:p>
          <a:p>
            <a:r>
              <a:rPr lang="ru-RU" sz="2000" dirty="0">
                <a:solidFill>
                  <a:srgbClr val="222222"/>
                </a:solidFill>
              </a:rPr>
              <a:t>Сегментирование во </a:t>
            </a:r>
            <a:r>
              <a:rPr lang="ru-RU" sz="2000" dirty="0" err="1">
                <a:solidFill>
                  <a:srgbClr val="222222"/>
                </a:solidFill>
              </a:rPr>
              <a:t>вр</a:t>
            </a:r>
            <a:r>
              <a:rPr lang="ru-RU" sz="2000" dirty="0" err="1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ru-RU" sz="2000" dirty="0" err="1">
                <a:solidFill>
                  <a:srgbClr val="222222"/>
                </a:solidFill>
              </a:rPr>
              <a:t>менных</a:t>
            </a:r>
            <a:r>
              <a:rPr lang="ru-RU" sz="2000" dirty="0">
                <a:solidFill>
                  <a:srgbClr val="222222"/>
                </a:solidFill>
              </a:rPr>
              <a:t> таблицах не работает. </a:t>
            </a:r>
            <a:endParaRPr lang="en-US" sz="200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953150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97427"/>
            <a:ext cx="10515600" cy="706582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solidFill>
                  <a:srgbClr val="FF0000"/>
                </a:solidFill>
                <a:latin typeface="+mn-lt"/>
              </a:rPr>
              <a:t>Как работают</a:t>
            </a:r>
            <a:r>
              <a:rPr lang="ru-RU" sz="3600" dirty="0">
                <a:solidFill>
                  <a:srgbClr val="FF000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врéменные</a:t>
            </a:r>
            <a:r>
              <a:rPr lang="ru-RU" sz="3600" dirty="0">
                <a:solidFill>
                  <a:srgbClr val="FF0000"/>
                </a:solidFill>
                <a:latin typeface="+mn-lt"/>
              </a:rPr>
              <a:t> таблицы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29013"/>
            <a:ext cx="5365174" cy="504709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083" y="1208230"/>
            <a:ext cx="5242442" cy="504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5955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494852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dirty="0">
                <a:solidFill>
                  <a:srgbClr val="FF0000"/>
                </a:solidFill>
                <a:latin typeface="Calibri" panose="020F0502020204030204"/>
                <a:ea typeface="Times New Roman" panose="02020603050405020304" pitchFamily="18" charset="0"/>
                <a:cs typeface="Times New Roman" panose="02020603050405020304" pitchFamily="18" charset="0"/>
              </a:rPr>
              <a:t>Примеры </a:t>
            </a:r>
            <a:r>
              <a:rPr lang="ru-RU" sz="3600" dirty="0" err="1">
                <a:solidFill>
                  <a:srgbClr val="FF0000"/>
                </a:solidFill>
                <a:latin typeface="Calibri" panose="020F0502020204030204"/>
                <a:ea typeface="Times New Roman" panose="02020603050405020304" pitchFamily="18" charset="0"/>
                <a:cs typeface="Times New Roman" panose="02020603050405020304" pitchFamily="18" charset="0"/>
              </a:rPr>
              <a:t>врéменных</a:t>
            </a:r>
            <a:r>
              <a:rPr lang="ru-RU" sz="3600" dirty="0">
                <a:solidFill>
                  <a:srgbClr val="FF0000"/>
                </a:solidFill>
                <a:latin typeface="Calibri" panose="020F0502020204030204"/>
              </a:rPr>
              <a:t> таблиц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494853"/>
            <a:ext cx="10515600" cy="6262081"/>
          </a:xfrm>
        </p:spPr>
        <p:txBody>
          <a:bodyPr>
            <a:normAutofit lnSpcReduction="10000"/>
          </a:bodyPr>
          <a:lstStyle/>
          <a:p>
            <a:r>
              <a:rPr lang="en-US" sz="2200" dirty="0" err="1"/>
              <a:t>Пример</a:t>
            </a:r>
            <a:r>
              <a:rPr lang="en-US" sz="2200" dirty="0"/>
              <a:t> </a:t>
            </a:r>
            <a:r>
              <a:rPr lang="en-US" sz="2200" dirty="0" err="1"/>
              <a:t>создания</a:t>
            </a:r>
            <a:r>
              <a:rPr lang="en-US" sz="2200" dirty="0"/>
              <a:t> </a:t>
            </a:r>
            <a:r>
              <a:rPr lang="en-US" sz="2200" dirty="0" err="1"/>
              <a:t>временной</a:t>
            </a:r>
            <a:r>
              <a:rPr lang="en-US" sz="2200" dirty="0"/>
              <a:t> </a:t>
            </a:r>
            <a:r>
              <a:rPr lang="en-US" sz="2200" dirty="0" err="1"/>
              <a:t>таблицы</a:t>
            </a:r>
            <a:r>
              <a:rPr lang="en-US" sz="2200" dirty="0"/>
              <a:t> </a:t>
            </a:r>
            <a:r>
              <a:rPr lang="en-US" sz="2200" b="1" dirty="0"/>
              <a:t>с </a:t>
            </a:r>
            <a:r>
              <a:rPr lang="en-US" sz="2200" b="1" dirty="0" err="1"/>
              <a:t>использованием</a:t>
            </a:r>
            <a:r>
              <a:rPr lang="en-US" sz="2200" b="1" dirty="0"/>
              <a:t> </a:t>
            </a:r>
            <a:r>
              <a:rPr lang="en-US" sz="2200" b="1" dirty="0" err="1"/>
              <a:t>запроса</a:t>
            </a:r>
            <a:r>
              <a:rPr lang="ru-RU" sz="2200" dirty="0"/>
              <a:t>. Заполненные данные  существуют только для текущей сессии. При чтении таблицы </a:t>
            </a:r>
            <a:r>
              <a:rPr lang="ru-RU" sz="2200" dirty="0" err="1"/>
              <a:t>min_salesemp</a:t>
            </a:r>
            <a:r>
              <a:rPr lang="ru-RU" sz="2200" dirty="0"/>
              <a:t> из другой сессии  она будет представляться пустой. </a:t>
            </a:r>
            <a:endParaRPr lang="en-US" sz="2200" dirty="0"/>
          </a:p>
          <a:p>
            <a:pPr marL="0" indent="0">
              <a:lnSpc>
                <a:spcPct val="50000"/>
              </a:lnSpc>
              <a:buNone/>
            </a:pPr>
            <a:r>
              <a:rPr lang="ru-RU" sz="2200" dirty="0"/>
              <a:t>    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2200" dirty="0"/>
              <a:t>CREATE GLOBAL TEMPORARY TABLE </a:t>
            </a:r>
            <a:r>
              <a:rPr lang="en-US" sz="2200" dirty="0" err="1"/>
              <a:t>min_salesemp</a:t>
            </a:r>
            <a:r>
              <a:rPr lang="en-US" sz="2200" dirty="0"/>
              <a:t>   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ru-RU" sz="2200" dirty="0"/>
              <a:t>    </a:t>
            </a:r>
            <a:r>
              <a:rPr lang="en-US" sz="2200" dirty="0"/>
              <a:t>ON COMMIT PRESERVE ROWS    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ru-RU" sz="2200" dirty="0"/>
              <a:t>    </a:t>
            </a:r>
            <a:r>
              <a:rPr lang="en-US" sz="2200" dirty="0"/>
              <a:t>AS SELECT * FROM EMP WHERE </a:t>
            </a:r>
            <a:r>
              <a:rPr lang="en-US" sz="2200" dirty="0" err="1"/>
              <a:t>sal</a:t>
            </a:r>
            <a:r>
              <a:rPr lang="en-US" sz="2200" dirty="0"/>
              <a:t> &lt; 2000</a:t>
            </a:r>
            <a:r>
              <a:rPr lang="ru-RU" sz="2200" dirty="0"/>
              <a:t>;</a:t>
            </a:r>
          </a:p>
          <a:p>
            <a:pPr marL="0" indent="0">
              <a:lnSpc>
                <a:spcPct val="50000"/>
              </a:lnSpc>
              <a:buNone/>
            </a:pPr>
            <a:endParaRPr lang="ru-RU" sz="2200" dirty="0"/>
          </a:p>
          <a:p>
            <a:pPr>
              <a:lnSpc>
                <a:spcPct val="50000"/>
              </a:lnSpc>
            </a:pPr>
            <a:r>
              <a:rPr lang="ru-RU" sz="2200" dirty="0">
                <a:solidFill>
                  <a:srgbClr val="222222"/>
                </a:solidFill>
              </a:rPr>
              <a:t>Во временных таблицах можно </a:t>
            </a:r>
            <a:r>
              <a:rPr lang="ru-RU" sz="2200" b="1" dirty="0">
                <a:solidFill>
                  <a:srgbClr val="222222"/>
                </a:solidFill>
              </a:rPr>
              <a:t>использовать индексы и ограничения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ru-RU" sz="2200" dirty="0">
                <a:solidFill>
                  <a:srgbClr val="222222"/>
                </a:solidFill>
              </a:rPr>
              <a:t>    как в </a:t>
            </a:r>
            <a:r>
              <a:rPr lang="en-US" sz="2200" dirty="0">
                <a:solidFill>
                  <a:srgbClr val="222222"/>
                </a:solidFill>
              </a:rPr>
              <a:t>heap-</a:t>
            </a:r>
            <a:r>
              <a:rPr lang="ru-RU" sz="2200" dirty="0">
                <a:solidFill>
                  <a:srgbClr val="222222"/>
                </a:solidFill>
              </a:rPr>
              <a:t>таблицах:</a:t>
            </a:r>
          </a:p>
          <a:p>
            <a:pPr marL="0" indent="0">
              <a:lnSpc>
                <a:spcPct val="50000"/>
              </a:lnSpc>
              <a:buNone/>
            </a:pPr>
            <a:endParaRPr lang="ru-RU" sz="2200" dirty="0"/>
          </a:p>
          <a:p>
            <a:pPr marL="0" indent="0">
              <a:lnSpc>
                <a:spcPct val="50000"/>
              </a:lnSpc>
              <a:buNone/>
            </a:pPr>
            <a:r>
              <a:rPr lang="en-US" sz="2200" dirty="0"/>
              <a:t>DROP TABLE HR.CITY_DEPT;  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2200" dirty="0"/>
              <a:t>CREATE GLOBAL TEMPORARY TABLE HR.CITY_DEPT     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2200" dirty="0"/>
              <a:t>(       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2200" dirty="0"/>
              <a:t>DEPTNO NUMBER(2,0),   DNAME VARCHAR2(14),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2200" dirty="0"/>
              <a:t>      CONSTRAINT PK_CITY_DEPT PRIMARY KEY (DEPTNO) ) 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2200" dirty="0"/>
              <a:t>      ON COMMIT DELETE ROWS;  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2200" dirty="0"/>
              <a:t>COMMENT ON COLUMN HR.CITY_DEPT.DEPTNO IS 'DEPARTMENT NUMBER'; 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2200" dirty="0"/>
              <a:t>COMMENT ON COLUMN HR.CITY_DEPT.DNAME IS 'DEPARTMENT NAME';    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2200" dirty="0"/>
              <a:t>CREATE UNIQUE INDEX HR.PK_CITY_DEPT_DNAME ON HR.CITY_DEPT (DEPTNO,DNAME);  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2200" dirty="0"/>
              <a:t>CREATE INDEX HR.IDX_DNAME       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2200" dirty="0"/>
              <a:t>ON HR.CITY_DEPT (DNAME);</a:t>
            </a:r>
            <a:endParaRPr lang="ru-RU" sz="2200" dirty="0"/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4158641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985203"/>
            <a:ext cx="10515600" cy="1325563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Индексно-организованные таблицы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019261"/>
            <a:ext cx="10515600" cy="1157702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37891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55785" y="369278"/>
            <a:ext cx="10515600" cy="597407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Индексно-организованная таблица 1/2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50976" y="1327638"/>
            <a:ext cx="10515600" cy="4959053"/>
          </a:xfrm>
        </p:spPr>
        <p:txBody>
          <a:bodyPr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ea typeface="Times New Roman" panose="02020603050405020304" pitchFamily="18" charset="0"/>
              </a:rPr>
              <a:t>      </a:t>
            </a:r>
            <a:r>
              <a:rPr lang="ru-RU" sz="2000" dirty="0">
                <a:ea typeface="Times New Roman" panose="02020603050405020304" pitchFamily="18" charset="0"/>
              </a:rPr>
              <a:t>Таблицы организованные по индексу (</a:t>
            </a:r>
            <a:r>
              <a:rPr lang="en-US" sz="2000" dirty="0">
                <a:ea typeface="Times New Roman" panose="02020603050405020304" pitchFamily="18" charset="0"/>
              </a:rPr>
              <a:t>index</a:t>
            </a:r>
            <a:r>
              <a:rPr lang="ru-RU" sz="2000" dirty="0">
                <a:ea typeface="Times New Roman" panose="02020603050405020304" pitchFamily="18" charset="0"/>
              </a:rPr>
              <a:t>-</a:t>
            </a:r>
            <a:r>
              <a:rPr lang="en-US" sz="2000" dirty="0">
                <a:ea typeface="Times New Roman" panose="02020603050405020304" pitchFamily="18" charset="0"/>
              </a:rPr>
              <a:t>organized tables</a:t>
            </a:r>
            <a:r>
              <a:rPr lang="ru-RU" sz="2000" dirty="0">
                <a:ea typeface="Times New Roman" panose="02020603050405020304" pitchFamily="18" charset="0"/>
              </a:rPr>
              <a:t> -- </a:t>
            </a:r>
            <a:r>
              <a:rPr lang="en-US" sz="2000" dirty="0">
                <a:ea typeface="Times New Roman" panose="02020603050405020304" pitchFamily="18" charset="0"/>
              </a:rPr>
              <a:t>IOT</a:t>
            </a:r>
            <a:r>
              <a:rPr lang="ru-RU" sz="2000" dirty="0">
                <a:ea typeface="Times New Roman" panose="02020603050405020304" pitchFamily="18" charset="0"/>
              </a:rPr>
              <a:t>) имеют структуру индекса. Данные отсортированы по значениям столбца, на котором создан первичный ключ. Дополнительное место для хранения индекса не требуется. 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ea typeface="Times New Roman" panose="02020603050405020304" pitchFamily="18" charset="0"/>
              </a:rPr>
              <a:t>      </a:t>
            </a:r>
            <a:r>
              <a:rPr lang="ru-RU" sz="2000" dirty="0">
                <a:ea typeface="Times New Roman" panose="02020603050405020304" pitchFamily="18" charset="0"/>
              </a:rPr>
              <a:t>Типичное применение такой организации – таблица, к которой часто обращаются по ключу. В частности, так организуют справочники с поиском по коду, скажем, город по почтовому индексу. 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ea typeface="Times New Roman" panose="02020603050405020304" pitchFamily="18" charset="0"/>
              </a:rPr>
              <a:t>      </a:t>
            </a:r>
            <a:r>
              <a:rPr lang="ru-RU" sz="2000" dirty="0">
                <a:ea typeface="Times New Roman" panose="02020603050405020304" pitchFamily="18" charset="0"/>
              </a:rPr>
              <a:t>Индексно-организованная таблица будет эффективна, только если она мало изменяется или вообще статическая. В противном случае возрастают затраты на перестройку индекса.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ea typeface="Times New Roman" panose="02020603050405020304" pitchFamily="18" charset="0"/>
              </a:rPr>
              <a:t>      </a:t>
            </a:r>
            <a:r>
              <a:rPr lang="ru-RU" sz="2000" dirty="0">
                <a:ea typeface="Times New Roman" panose="02020603050405020304" pitchFamily="18" charset="0"/>
              </a:rPr>
              <a:t>Если запросы по ключу не критичны, лучше использовать </a:t>
            </a:r>
            <a:r>
              <a:rPr lang="en-US" sz="2000" dirty="0">
                <a:ea typeface="Times New Roman" panose="02020603050405020304" pitchFamily="18" charset="0"/>
              </a:rPr>
              <a:t>heap-</a:t>
            </a:r>
            <a:r>
              <a:rPr lang="ru-RU" sz="2000" dirty="0">
                <a:ea typeface="Times New Roman" panose="02020603050405020304" pitchFamily="18" charset="0"/>
              </a:rPr>
              <a:t>таблицу.</a:t>
            </a:r>
          </a:p>
          <a:p>
            <a:pPr marL="0" indent="0">
              <a:buNone/>
            </a:pPr>
            <a:r>
              <a:rPr lang="ru-RU" sz="2000" dirty="0"/>
              <a:t>      Два критерия для принятия решения о том, следует ли организовать таблицу как IOT:</a:t>
            </a:r>
          </a:p>
          <a:p>
            <a:r>
              <a:rPr lang="ru-RU" sz="2000" dirty="0"/>
              <a:t>Она должна состоять из первичного ключа (на одном или нескольких столбцах) и ещё одного, максимум двух столбцов.</a:t>
            </a:r>
          </a:p>
          <a:p>
            <a:r>
              <a:rPr lang="ru-RU" sz="2000" dirty="0"/>
              <a:t>Единственный путь доступа к таблице - это первичный ключ (или его столбцы).</a:t>
            </a:r>
          </a:p>
          <a:p>
            <a:pPr marL="0" indent="0">
              <a:spcAft>
                <a:spcPts val="0"/>
              </a:spcAft>
              <a:buNone/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>
              <a:spcAft>
                <a:spcPts val="0"/>
              </a:spcAft>
            </a:pPr>
            <a:endParaRPr lang="ru-RU" sz="20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892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74979"/>
            <a:ext cx="10515600" cy="839421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Индексно-организованная таблица 2/2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ru-RU" sz="2000" dirty="0">
                <a:solidFill>
                  <a:prstClr val="black"/>
                </a:solidFill>
                <a:ea typeface="Times New Roman" panose="02020603050405020304" pitchFamily="18" charset="0"/>
              </a:rPr>
              <a:t>      Синтаксис команды создания </a:t>
            </a:r>
            <a:r>
              <a:rPr lang="en-US" sz="2000" dirty="0">
                <a:solidFill>
                  <a:prstClr val="black"/>
                </a:solidFill>
                <a:ea typeface="Times New Roman" panose="02020603050405020304" pitchFamily="18" charset="0"/>
              </a:rPr>
              <a:t>IOT</a:t>
            </a:r>
            <a:r>
              <a:rPr lang="ru-RU" sz="2000" dirty="0">
                <a:solidFill>
                  <a:prstClr val="black"/>
                </a:solidFill>
                <a:ea typeface="Times New Roman" panose="02020603050405020304" pitchFamily="18" charset="0"/>
              </a:rPr>
              <a:t>:</a:t>
            </a:r>
          </a:p>
          <a:p>
            <a:pPr marL="0" lvl="0" indent="0">
              <a:buNone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CREATE TABLE</a:t>
            </a:r>
            <a:r>
              <a:rPr lang="ru-RU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имя_таблицы</a:t>
            </a:r>
            <a:endParaRPr lang="ru-RU" sz="20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ru-RU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(</a:t>
            </a:r>
            <a:r>
              <a:rPr lang="ru-RU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описания_полей</a:t>
            </a:r>
            <a:r>
              <a:rPr lang="ru-RU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</a:p>
          <a:p>
            <a:pPr marL="0" lvl="0" indent="0">
              <a:buNone/>
            </a:pPr>
            <a:r>
              <a:rPr lang="ru-RU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CONSTRAINT</a:t>
            </a:r>
            <a:r>
              <a:rPr lang="ru-RU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имя_ПК</a:t>
            </a:r>
            <a:r>
              <a:rPr lang="ru-RU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PRIMARY KEY</a:t>
            </a:r>
            <a:r>
              <a:rPr lang="ru-RU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ключевые_поля</a:t>
            </a:r>
            <a:r>
              <a:rPr lang="ru-RU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))</a:t>
            </a:r>
          </a:p>
          <a:p>
            <a:pPr marL="0" lvl="0" indent="0">
              <a:buNone/>
            </a:pPr>
            <a:r>
              <a:rPr lang="ru-RU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ORGANIZATION INDEX  [tablespace </a:t>
            </a:r>
            <a:r>
              <a:rPr lang="ru-RU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имя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_</a:t>
            </a:r>
            <a:r>
              <a:rPr lang="ru-RU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табл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_</a:t>
            </a:r>
            <a:r>
              <a:rPr lang="ru-RU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пространства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ru-RU" sz="20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[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pctthreshold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20]</a:t>
            </a:r>
            <a:endParaRPr lang="ru-RU" sz="20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[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owerflow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tablespace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имя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_</a:t>
            </a:r>
            <a:r>
              <a:rPr lang="ru-RU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табл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_</a:t>
            </a:r>
            <a:r>
              <a:rPr lang="ru-RU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пространства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];</a:t>
            </a:r>
            <a:endParaRPr lang="ru-RU" sz="20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>
              <a:buNone/>
            </a:pPr>
            <a:endParaRPr lang="ru-RU" sz="2000" u="sng" dirty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ru-RU" sz="2000" u="sng" dirty="0">
                <a:solidFill>
                  <a:prstClr val="black"/>
                </a:solidFill>
              </a:rPr>
              <a:t>Пример</a:t>
            </a:r>
            <a:r>
              <a:rPr lang="ru-RU" sz="2000" dirty="0">
                <a:solidFill>
                  <a:prstClr val="black"/>
                </a:solidFill>
              </a:rPr>
              <a:t>:</a:t>
            </a:r>
          </a:p>
          <a:p>
            <a:pPr marL="0" lvl="0" indent="0">
              <a:lnSpc>
                <a:spcPct val="50000"/>
              </a:lnSpc>
              <a:buNone/>
            </a:pPr>
            <a:r>
              <a:rPr lang="en-US" sz="2000" dirty="0">
                <a:solidFill>
                  <a:prstClr val="black"/>
                </a:solidFill>
                <a:ea typeface="Times New Roman" panose="02020603050405020304" pitchFamily="18" charset="0"/>
              </a:rPr>
              <a:t>CREATE TABLE </a:t>
            </a:r>
            <a:r>
              <a:rPr lang="en-US" sz="2000" dirty="0" err="1">
                <a:solidFill>
                  <a:prstClr val="black"/>
                </a:solidFill>
                <a:ea typeface="Times New Roman" panose="02020603050405020304" pitchFamily="18" charset="0"/>
              </a:rPr>
              <a:t>iot</a:t>
            </a:r>
            <a:r>
              <a:rPr lang="en-US" sz="2000" dirty="0">
                <a:solidFill>
                  <a:prstClr val="black"/>
                </a:solidFill>
                <a:ea typeface="Times New Roman" panose="02020603050405020304" pitchFamily="18" charset="0"/>
              </a:rPr>
              <a:t>_ (</a:t>
            </a:r>
          </a:p>
          <a:p>
            <a:pPr marL="0" lvl="0" indent="0">
              <a:lnSpc>
                <a:spcPct val="50000"/>
              </a:lnSpc>
              <a:buNone/>
            </a:pPr>
            <a:r>
              <a:rPr lang="en-US" sz="2000" dirty="0">
                <a:solidFill>
                  <a:prstClr val="black"/>
                </a:solidFill>
                <a:ea typeface="Times New Roman" panose="02020603050405020304" pitchFamily="18" charset="0"/>
              </a:rPr>
              <a:t>  a number,</a:t>
            </a:r>
          </a:p>
          <a:p>
            <a:pPr marL="0" lvl="0" indent="0">
              <a:lnSpc>
                <a:spcPct val="50000"/>
              </a:lnSpc>
              <a:buNone/>
            </a:pPr>
            <a:r>
              <a:rPr lang="en-US" sz="2000" dirty="0">
                <a:solidFill>
                  <a:prstClr val="black"/>
                </a:solidFill>
                <a:ea typeface="Times New Roman" panose="02020603050405020304" pitchFamily="18" charset="0"/>
              </a:rPr>
              <a:t>  b varchar2(10),</a:t>
            </a:r>
          </a:p>
          <a:p>
            <a:pPr marL="0" lvl="0" indent="0">
              <a:lnSpc>
                <a:spcPct val="50000"/>
              </a:lnSpc>
              <a:buNone/>
            </a:pPr>
            <a:r>
              <a:rPr lang="en-US" sz="2000" dirty="0">
                <a:solidFill>
                  <a:prstClr val="black"/>
                </a:solidFill>
                <a:ea typeface="Times New Roman" panose="02020603050405020304" pitchFamily="18" charset="0"/>
              </a:rPr>
              <a:t>CONSTRAINT </a:t>
            </a:r>
            <a:r>
              <a:rPr lang="en-US" sz="2000" dirty="0" err="1">
                <a:solidFill>
                  <a:prstClr val="black"/>
                </a:solidFill>
                <a:ea typeface="Times New Roman" panose="02020603050405020304" pitchFamily="18" charset="0"/>
              </a:rPr>
              <a:t>pk_iot</a:t>
            </a:r>
            <a:r>
              <a:rPr lang="en-US" sz="2000" dirty="0">
                <a:solidFill>
                  <a:prstClr val="black"/>
                </a:solidFill>
                <a:ea typeface="Times New Roman" panose="02020603050405020304" pitchFamily="18" charset="0"/>
              </a:rPr>
              <a:t>_ PRIMARY KEY (a, b)</a:t>
            </a:r>
          </a:p>
          <a:p>
            <a:pPr marL="0" lvl="0" indent="0">
              <a:lnSpc>
                <a:spcPct val="50000"/>
              </a:lnSpc>
              <a:buNone/>
            </a:pPr>
            <a:r>
              <a:rPr lang="en-US" sz="2000" dirty="0">
                <a:solidFill>
                  <a:prstClr val="black"/>
                </a:solidFill>
                <a:ea typeface="Times New Roman" panose="02020603050405020304" pitchFamily="18" charset="0"/>
              </a:rPr>
              <a:t>)</a:t>
            </a:r>
            <a:endParaRPr lang="ru-RU" sz="2000" dirty="0">
              <a:solidFill>
                <a:prstClr val="black"/>
              </a:solidFill>
              <a:ea typeface="Times New Roman" panose="02020603050405020304" pitchFamily="18" charset="0"/>
            </a:endParaRPr>
          </a:p>
          <a:p>
            <a:pPr marL="0" lvl="0" indent="0">
              <a:lnSpc>
                <a:spcPct val="50000"/>
              </a:lnSpc>
              <a:buNone/>
            </a:pPr>
            <a:r>
              <a:rPr lang="en-US" sz="2000" dirty="0">
                <a:solidFill>
                  <a:prstClr val="black"/>
                </a:solidFill>
                <a:ea typeface="Times New Roman" panose="02020603050405020304" pitchFamily="18" charset="0"/>
              </a:rPr>
              <a:t>ORGANIZATION INDEX;</a:t>
            </a:r>
            <a:endParaRPr lang="ru-RU" sz="2000" dirty="0">
              <a:solidFill>
                <a:prstClr val="black"/>
              </a:solidFill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8941756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8808" y="2584174"/>
            <a:ext cx="10515600" cy="768927"/>
          </a:xfrm>
        </p:spPr>
        <p:txBody>
          <a:bodyPr>
            <a:normAutofit fontScale="90000"/>
          </a:bodyPr>
          <a:lstStyle/>
          <a:p>
            <a:pPr algn="ctr">
              <a:spcAft>
                <a:spcPts val="0"/>
              </a:spcAft>
            </a:pPr>
            <a:r>
              <a:rPr lang="ru-RU" sz="3600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Сведения о таблицах и связанных с ними объектах через представления словаря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4830417"/>
            <a:ext cx="10515600" cy="134654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1946586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53915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  <a:latin typeface="+mn-lt"/>
              </a:rPr>
              <a:t>Сведения об объектах базы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738554"/>
            <a:ext cx="10515600" cy="54384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      Объекты текущей схемы:</a:t>
            </a:r>
          </a:p>
          <a:p>
            <a:pPr marL="0" indent="0">
              <a:buNone/>
            </a:pPr>
            <a:r>
              <a:rPr lang="ru-RU" sz="2000" dirty="0"/>
              <a:t>SELECT * FROM </a:t>
            </a:r>
            <a:r>
              <a:rPr lang="ru-RU" sz="2000" dirty="0" err="1"/>
              <a:t>user_tables</a:t>
            </a:r>
            <a:r>
              <a:rPr lang="ru-RU" sz="2000" dirty="0"/>
              <a:t>;	  -- </a:t>
            </a:r>
            <a:r>
              <a:rPr lang="ru-RU" sz="2000" dirty="0">
                <a:solidFill>
                  <a:prstClr val="black"/>
                </a:solidFill>
              </a:rPr>
              <a:t>таблицы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SELECT * FROM </a:t>
            </a:r>
            <a:r>
              <a:rPr lang="ru-RU" sz="2000" dirty="0" err="1"/>
              <a:t>user_tab_columns</a:t>
            </a:r>
            <a:r>
              <a:rPr lang="ru-RU" sz="2000" dirty="0"/>
              <a:t>; </a:t>
            </a:r>
            <a:r>
              <a:rPr lang="en-US" sz="2000" dirty="0"/>
              <a:t> </a:t>
            </a:r>
            <a:r>
              <a:rPr lang="ru-RU" sz="2000" dirty="0"/>
              <a:t>-- столбцы</a:t>
            </a:r>
          </a:p>
          <a:p>
            <a:pPr marL="0" indent="0">
              <a:buNone/>
            </a:pPr>
            <a:r>
              <a:rPr lang="ru-RU" sz="2000" dirty="0"/>
              <a:t>SELECT * FROM </a:t>
            </a:r>
            <a:r>
              <a:rPr lang="ru-RU" sz="2000" dirty="0" err="1"/>
              <a:t>user_indexes</a:t>
            </a:r>
            <a:r>
              <a:rPr lang="ru-RU" sz="2000" dirty="0"/>
              <a:t>;	  -- индексы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dirty="0"/>
              <a:t>      Представления содержащие метаданные других объектов базы:</a:t>
            </a:r>
          </a:p>
          <a:p>
            <a:pPr marL="0" indent="0">
              <a:buNone/>
            </a:pPr>
            <a:r>
              <a:rPr lang="ru-RU" sz="2000" dirty="0" err="1"/>
              <a:t>user_views</a:t>
            </a:r>
            <a:r>
              <a:rPr lang="ru-RU" sz="2000" dirty="0"/>
              <a:t> 			  -- данные по представлениям (</a:t>
            </a:r>
            <a:r>
              <a:rPr lang="en-US" sz="2000" dirty="0"/>
              <a:t>views</a:t>
            </a:r>
            <a:r>
              <a:rPr lang="ru-RU" sz="2000" dirty="0"/>
              <a:t>);</a:t>
            </a:r>
          </a:p>
          <a:p>
            <a:pPr marL="0" indent="0">
              <a:buNone/>
            </a:pPr>
            <a:r>
              <a:rPr lang="ru-RU" sz="2000" dirty="0" err="1"/>
              <a:t>user_constraints</a:t>
            </a:r>
            <a:r>
              <a:rPr lang="ru-RU" sz="2000" dirty="0"/>
              <a:t> 			  -- данные по ограничениям целостности;</a:t>
            </a:r>
          </a:p>
          <a:p>
            <a:pPr marL="0" indent="0">
              <a:buNone/>
            </a:pPr>
            <a:r>
              <a:rPr lang="ru-RU" sz="2000" dirty="0" err="1"/>
              <a:t>user_sequences</a:t>
            </a:r>
            <a:r>
              <a:rPr lang="ru-RU" sz="2000" dirty="0"/>
              <a:t> 			  -- данные по последовательностям;</a:t>
            </a:r>
          </a:p>
          <a:p>
            <a:pPr marL="0" indent="0">
              <a:buNone/>
            </a:pPr>
            <a:r>
              <a:rPr lang="ru-RU" sz="2000" dirty="0" err="1"/>
              <a:t>user_triggers</a:t>
            </a:r>
            <a:r>
              <a:rPr lang="ru-RU" sz="2000" dirty="0"/>
              <a:t> 			  -- данные по триггерам;</a:t>
            </a:r>
          </a:p>
          <a:p>
            <a:pPr marL="0" indent="0">
              <a:buNone/>
            </a:pPr>
            <a:r>
              <a:rPr lang="ru-RU" sz="2000" dirty="0" err="1"/>
              <a:t>user_source</a:t>
            </a:r>
            <a:r>
              <a:rPr lang="ru-RU" sz="2000" dirty="0"/>
              <a:t> 			  -- данные по PL/SQL объектам (процедуры, функции, </a:t>
            </a:r>
          </a:p>
          <a:p>
            <a:pPr marL="0" indent="0">
              <a:buNone/>
            </a:pPr>
            <a:r>
              <a:rPr lang="ru-RU" sz="2000" dirty="0"/>
              <a:t>                                                                      пакеты).</a:t>
            </a:r>
          </a:p>
          <a:p>
            <a:pPr marL="0" indent="0">
              <a:buNone/>
            </a:pPr>
            <a:r>
              <a:rPr lang="ru-RU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51318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0746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solidFill>
                  <a:srgbClr val="FF0000"/>
                </a:solidFill>
                <a:latin typeface="Calibri" panose="020F0502020204030204"/>
                <a:ea typeface="Times New Roman" panose="02020603050405020304" pitchFamily="18" charset="0"/>
              </a:rPr>
              <a:t>Внешние таблицы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4661451"/>
            <a:ext cx="10515600" cy="1515511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79998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174782-2D0C-4A25-A5C0-5AD6D08EF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30332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Создаём внешние таблицы 1/3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EFEA8C-0718-4908-8E12-C0193E1C3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387" y="2506757"/>
            <a:ext cx="11603736" cy="4259803"/>
          </a:xfrm>
        </p:spPr>
        <p:txBody>
          <a:bodyPr>
            <a:normAutofit lnSpcReduction="10000"/>
          </a:bodyPr>
          <a:lstStyle/>
          <a:p>
            <a:pPr mar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C</a:t>
            </a:r>
            <a:r>
              <a:rPr lang="ru-RU" sz="2000" dirty="0"/>
              <a:t>оздаём в </a:t>
            </a:r>
            <a:r>
              <a:rPr lang="en-US" sz="2000" dirty="0"/>
              <a:t>Oracle </a:t>
            </a:r>
            <a:r>
              <a:rPr lang="ru-RU" sz="2000" dirty="0"/>
              <a:t>специальный объект </a:t>
            </a:r>
            <a:r>
              <a:rPr lang="en-US" sz="2000" dirty="0"/>
              <a:t>directory </a:t>
            </a:r>
            <a:r>
              <a:rPr lang="ru-RU" sz="2000" dirty="0"/>
              <a:t>указывающий на каталог, где расположены файлы внешних таблиц.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CREATE OR REPLACE DIRECTORY </a:t>
            </a:r>
            <a:r>
              <a:rPr lang="en-US" sz="2000" dirty="0" err="1"/>
              <a:t>ext_tab_data</a:t>
            </a:r>
            <a:r>
              <a:rPr lang="en-US" sz="2000" dirty="0"/>
              <a:t> AS 'c:/temp’;</a:t>
            </a:r>
            <a:endParaRPr lang="ru-RU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u="sng" dirty="0"/>
              <a:t>Задание</a:t>
            </a:r>
            <a:r>
              <a:rPr lang="ru-RU" sz="2000" dirty="0"/>
              <a:t>: На следующем слайде приведен вариант файлов </a:t>
            </a:r>
            <a:r>
              <a:rPr lang="en-US" sz="2000" dirty="0">
                <a:solidFill>
                  <a:srgbClr val="222222"/>
                </a:solidFill>
              </a:rPr>
              <a:t>city.csv </a:t>
            </a:r>
            <a:r>
              <a:rPr lang="ru-RU" sz="2000" dirty="0">
                <a:solidFill>
                  <a:srgbClr val="222222"/>
                </a:solidFill>
              </a:rPr>
              <a:t>и </a:t>
            </a:r>
            <a:r>
              <a:rPr lang="en-US" sz="2000" dirty="0">
                <a:solidFill>
                  <a:srgbClr val="222222"/>
                </a:solidFill>
              </a:rPr>
              <a:t>man.csv</a:t>
            </a:r>
            <a:r>
              <a:rPr lang="ru-RU" sz="2000" dirty="0">
                <a:solidFill>
                  <a:srgbClr val="222222"/>
                </a:solidFill>
              </a:rPr>
              <a:t> </a:t>
            </a:r>
            <a:r>
              <a:rPr lang="ru-RU" sz="2000" dirty="0"/>
              <a:t>с кириллицей. Попробуйте решить проблему с кодировками.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NLS </a:t>
            </a:r>
            <a:r>
              <a:rPr lang="ru-RU" sz="2000" dirty="0"/>
              <a:t>параметры: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SQL&gt; COLUMN parameter FORMAT A30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SQL&gt; COLUMN value FORMAT A30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SQL&gt; select * from </a:t>
            </a:r>
            <a:r>
              <a:rPr lang="en-US" sz="2000" dirty="0" err="1"/>
              <a:t>nls_database_parameters</a:t>
            </a:r>
            <a:r>
              <a:rPr lang="en-US" sz="2000" dirty="0"/>
              <a:t> where parameter like '%CHARACTERSET';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PARAMETER                  </a:t>
            </a:r>
            <a:r>
              <a:rPr lang="ru-RU" sz="2000" dirty="0"/>
              <a:t>         </a:t>
            </a:r>
            <a:r>
              <a:rPr lang="en-US" sz="2000" dirty="0"/>
              <a:t>    VALUE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----------------------------</a:t>
            </a:r>
            <a:r>
              <a:rPr lang="ru-RU" sz="2000" dirty="0"/>
              <a:t>--------</a:t>
            </a:r>
            <a:r>
              <a:rPr lang="en-US" sz="2000" dirty="0"/>
              <a:t>-- ------------------------------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NLS_NCHAR_CHARACTERSET AL16UTF16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NLS_CHARACTERSET             </a:t>
            </a:r>
            <a:r>
              <a:rPr lang="ru-RU" sz="2000" dirty="0"/>
              <a:t> </a:t>
            </a:r>
            <a:r>
              <a:rPr lang="en-US" sz="2000" dirty="0"/>
              <a:t>  AL32UTF8</a:t>
            </a:r>
            <a:endParaRPr lang="ru-RU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B669D0-992B-4D24-8931-A33FA1E1DED3}"/>
              </a:ext>
            </a:extLst>
          </p:cNvPr>
          <p:cNvSpPr txBox="1"/>
          <p:nvPr/>
        </p:nvSpPr>
        <p:spPr>
          <a:xfrm>
            <a:off x="6123813" y="6397228"/>
            <a:ext cx="4599432" cy="369332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https://www.sql.ru/blogs/oracleandsql/2255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67F4A6-7963-417A-97C6-4BF9AA1DA864}"/>
              </a:ext>
            </a:extLst>
          </p:cNvPr>
          <p:cNvSpPr txBox="1"/>
          <p:nvPr/>
        </p:nvSpPr>
        <p:spPr>
          <a:xfrm>
            <a:off x="7925657" y="476451"/>
            <a:ext cx="3838956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900" dirty="0"/>
              <a:t>Файл </a:t>
            </a:r>
            <a:r>
              <a:rPr lang="en-US" sz="1900" dirty="0"/>
              <a:t>man.csv</a:t>
            </a:r>
          </a:p>
          <a:p>
            <a:r>
              <a:rPr lang="en-US" sz="1900" dirty="0"/>
              <a:t>9152222221,Andrey,Nikolaev,1,22</a:t>
            </a:r>
          </a:p>
          <a:p>
            <a:r>
              <a:rPr lang="en-US" sz="1900" dirty="0"/>
              <a:t>9152222222,Maksim,Moskitov,1,31</a:t>
            </a:r>
          </a:p>
          <a:p>
            <a:r>
              <a:rPr lang="en-US" sz="1900" dirty="0"/>
              <a:t>9153333333,Oleg,Denisov,3,34</a:t>
            </a:r>
          </a:p>
          <a:p>
            <a:r>
              <a:rPr lang="en-US" sz="1900" dirty="0"/>
              <a:t>9173333334,Alisa,Nikforova,4,31</a:t>
            </a:r>
          </a:p>
          <a:p>
            <a:r>
              <a:rPr lang="en-US" sz="1900" dirty="0"/>
              <a:t>9173333335,Tanja,Ivanova,4,31</a:t>
            </a:r>
          </a:p>
          <a:p>
            <a:r>
              <a:rPr lang="en-US" sz="1900" dirty="0"/>
              <a:t>9213333336,Aleksej,Ivanov,7,25</a:t>
            </a:r>
            <a:endParaRPr lang="ru-RU" sz="19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BBA467-3E33-463E-93AF-2B48EA52DDD3}"/>
              </a:ext>
            </a:extLst>
          </p:cNvPr>
          <p:cNvSpPr txBox="1"/>
          <p:nvPr/>
        </p:nvSpPr>
        <p:spPr>
          <a:xfrm>
            <a:off x="484632" y="999691"/>
            <a:ext cx="54498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222222"/>
                </a:solidFill>
              </a:rPr>
              <a:t>Имеется два файла с разделителями в кодировке </a:t>
            </a:r>
            <a:r>
              <a:rPr lang="en-US" sz="1800" dirty="0">
                <a:solidFill>
                  <a:srgbClr val="222222"/>
                </a:solidFill>
              </a:rPr>
              <a:t>UTF-8</a:t>
            </a:r>
            <a:r>
              <a:rPr lang="ru-RU" sz="1800" dirty="0">
                <a:solidFill>
                  <a:srgbClr val="222222"/>
                </a:solidFill>
              </a:rPr>
              <a:t>. Это </a:t>
            </a:r>
            <a:r>
              <a:rPr lang="en-US" sz="1800" dirty="0">
                <a:solidFill>
                  <a:srgbClr val="222222"/>
                </a:solidFill>
              </a:rPr>
              <a:t> city.csv </a:t>
            </a:r>
            <a:r>
              <a:rPr lang="ru-RU" sz="1800" dirty="0">
                <a:solidFill>
                  <a:srgbClr val="222222"/>
                </a:solidFill>
              </a:rPr>
              <a:t>и </a:t>
            </a:r>
            <a:r>
              <a:rPr lang="en-US" sz="1800" dirty="0">
                <a:solidFill>
                  <a:srgbClr val="222222"/>
                </a:solidFill>
              </a:rPr>
              <a:t>man.csv</a:t>
            </a:r>
            <a:r>
              <a:rPr lang="ru-RU" sz="1800" dirty="0">
                <a:solidFill>
                  <a:srgbClr val="222222"/>
                </a:solidFill>
              </a:rPr>
              <a:t> размещённые в папке </a:t>
            </a:r>
            <a:r>
              <a:rPr lang="en-US" sz="1800" dirty="0">
                <a:solidFill>
                  <a:srgbClr val="222222"/>
                </a:solidFill>
              </a:rPr>
              <a:t>c:/</a:t>
            </a:r>
            <a:r>
              <a:rPr lang="ru-RU" sz="1800" b="0" i="0" dirty="0" err="1">
                <a:solidFill>
                  <a:srgbClr val="222222"/>
                </a:solidFill>
                <a:effectLst/>
              </a:rPr>
              <a:t>temp</a:t>
            </a:r>
            <a:r>
              <a:rPr lang="ru-RU" sz="1800" b="0" i="0" dirty="0">
                <a:solidFill>
                  <a:srgbClr val="222222"/>
                </a:solidFill>
                <a:effectLst/>
              </a:rPr>
              <a:t> </a:t>
            </a:r>
            <a:r>
              <a:rPr lang="en-US" sz="1800" dirty="0">
                <a:solidFill>
                  <a:srgbClr val="222222"/>
                </a:solidFill>
              </a:rPr>
              <a:t>.</a:t>
            </a:r>
            <a:r>
              <a:rPr lang="ru-RU" sz="1800" dirty="0">
                <a:solidFill>
                  <a:srgbClr val="222222"/>
                </a:solidFill>
              </a:rPr>
              <a:t> </a:t>
            </a:r>
            <a:r>
              <a:rPr lang="ru-RU" sz="1800" b="0" i="0" dirty="0">
                <a:solidFill>
                  <a:srgbClr val="222222"/>
                </a:solidFill>
                <a:effectLst/>
              </a:rPr>
              <a:t>Необходимо подключить эти файлы как внешние таблицы к нашей базе данных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8CBA78-9980-4533-8FD6-50719A7F5525}"/>
              </a:ext>
            </a:extLst>
          </p:cNvPr>
          <p:cNvSpPr txBox="1"/>
          <p:nvPr/>
        </p:nvSpPr>
        <p:spPr>
          <a:xfrm>
            <a:off x="5558600" y="475432"/>
            <a:ext cx="26037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Файл </a:t>
            </a:r>
            <a:r>
              <a:rPr lang="en-US" dirty="0"/>
              <a:t>city.csv:</a:t>
            </a:r>
          </a:p>
          <a:p>
            <a:r>
              <a:rPr lang="en-US" dirty="0"/>
              <a:t>1,Moscow,10000000</a:t>
            </a:r>
          </a:p>
          <a:p>
            <a:r>
              <a:rPr lang="en-US" dirty="0"/>
              <a:t>3,Orel,300000</a:t>
            </a:r>
          </a:p>
          <a:p>
            <a:r>
              <a:rPr lang="en-US" dirty="0"/>
              <a:t>4,Kursk,200000</a:t>
            </a:r>
          </a:p>
          <a:p>
            <a:r>
              <a:rPr lang="en-US" dirty="0"/>
              <a:t>5,Kasan,2000000</a:t>
            </a:r>
          </a:p>
          <a:p>
            <a:r>
              <a:rPr lang="en-US" dirty="0"/>
              <a:t>7,Kotlas,110000</a:t>
            </a:r>
          </a:p>
          <a:p>
            <a:r>
              <a:rPr lang="en-US" dirty="0"/>
              <a:t>8,Murmansk,400000</a:t>
            </a:r>
          </a:p>
        </p:txBody>
      </p:sp>
    </p:spTree>
    <p:extLst>
      <p:ext uri="{BB962C8B-B14F-4D97-AF65-F5344CB8AC3E}">
        <p14:creationId xmlns:p14="http://schemas.microsoft.com/office/powerpoint/2010/main" val="2989502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88994A-EFCB-4880-835F-A425AA499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Вариант файлов с кириллицей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33A4F5-ADBF-4243-9F0C-6090F22C8C9F}"/>
              </a:ext>
            </a:extLst>
          </p:cNvPr>
          <p:cNvSpPr txBox="1"/>
          <p:nvPr/>
        </p:nvSpPr>
        <p:spPr>
          <a:xfrm>
            <a:off x="2077974" y="2483811"/>
            <a:ext cx="322554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Файл city.csv:</a:t>
            </a:r>
          </a:p>
          <a:p>
            <a:r>
              <a:rPr lang="ru-RU" dirty="0"/>
              <a:t>1,Москва,10000000</a:t>
            </a:r>
          </a:p>
          <a:p>
            <a:r>
              <a:rPr lang="ru-RU" dirty="0"/>
              <a:t>2,Владимир,500000</a:t>
            </a:r>
          </a:p>
          <a:p>
            <a:r>
              <a:rPr lang="ru-RU" dirty="0"/>
              <a:t>3,Орел,300000</a:t>
            </a:r>
          </a:p>
          <a:p>
            <a:r>
              <a:rPr lang="ru-RU" dirty="0"/>
              <a:t>4,Курск,200000</a:t>
            </a:r>
          </a:p>
          <a:p>
            <a:r>
              <a:rPr lang="ru-RU" dirty="0"/>
              <a:t>5,Казань,2000000</a:t>
            </a:r>
          </a:p>
          <a:p>
            <a:r>
              <a:rPr lang="ru-RU" dirty="0"/>
              <a:t>7,Котлас,110000</a:t>
            </a:r>
          </a:p>
          <a:p>
            <a:r>
              <a:rPr lang="ru-RU" dirty="0"/>
              <a:t>8,Мурманск,400000</a:t>
            </a:r>
          </a:p>
          <a:p>
            <a:r>
              <a:rPr lang="ru-RU" dirty="0"/>
              <a:t>9,Ярославль,500000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5DED22-5D10-4C35-8C76-A563E38266E2}"/>
              </a:ext>
            </a:extLst>
          </p:cNvPr>
          <p:cNvSpPr txBox="1"/>
          <p:nvPr/>
        </p:nvSpPr>
        <p:spPr>
          <a:xfrm>
            <a:off x="6238494" y="2483811"/>
            <a:ext cx="457885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Файл man.csv</a:t>
            </a:r>
          </a:p>
          <a:p>
            <a:r>
              <a:rPr lang="ru-RU" dirty="0"/>
              <a:t>9152222221,Андрей,Николаев,1,22</a:t>
            </a:r>
          </a:p>
          <a:p>
            <a:r>
              <a:rPr lang="ru-RU" dirty="0"/>
              <a:t>9152222222,Максим,Москитов,1,31</a:t>
            </a:r>
          </a:p>
          <a:p>
            <a:r>
              <a:rPr lang="ru-RU" dirty="0"/>
              <a:t>9153333333,Олег,Денисов,3,34</a:t>
            </a:r>
          </a:p>
          <a:p>
            <a:r>
              <a:rPr lang="ru-RU" dirty="0"/>
              <a:t>9173333334,Алиса,Никифорова,4,31</a:t>
            </a:r>
          </a:p>
          <a:p>
            <a:r>
              <a:rPr lang="ru-RU" dirty="0"/>
              <a:t>9173333335,Таня,Иванова,4,31</a:t>
            </a:r>
          </a:p>
          <a:p>
            <a:r>
              <a:rPr lang="ru-RU" dirty="0"/>
              <a:t>9213333336,Алексей,Иванов,7,25</a:t>
            </a:r>
          </a:p>
          <a:p>
            <a:r>
              <a:rPr lang="ru-RU" dirty="0"/>
              <a:t>9213333331,Андрей,Некрасов,2,27</a:t>
            </a:r>
          </a:p>
          <a:p>
            <a:r>
              <a:rPr lang="ru-RU" dirty="0"/>
              <a:t>9213333332,Миша,Рогозин,2,21</a:t>
            </a:r>
          </a:p>
          <a:p>
            <a:r>
              <a:rPr lang="ru-RU" dirty="0"/>
              <a:t>9214444444,Алексей,Галкин,1,38</a:t>
            </a:r>
          </a:p>
        </p:txBody>
      </p:sp>
    </p:spTree>
    <p:extLst>
      <p:ext uri="{BB962C8B-B14F-4D97-AF65-F5344CB8AC3E}">
        <p14:creationId xmlns:p14="http://schemas.microsoft.com/office/powerpoint/2010/main" val="30201740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E4A412-301C-492C-8B17-6C095688B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Создаём внешние таблицы 2/3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FFBD4E-A45A-4DC0-80EB-937650C6C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9680" y="681038"/>
            <a:ext cx="4273296" cy="6094666"/>
          </a:xfrm>
          <a:ln w="19050">
            <a:solidFill>
              <a:schemeClr val="accent1"/>
            </a:solidFill>
          </a:ln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sz="3800" dirty="0"/>
              <a:t>Для</a:t>
            </a:r>
            <a:r>
              <a:rPr lang="en-US" sz="3800" dirty="0">
                <a:solidFill>
                  <a:srgbClr val="222222"/>
                </a:solidFill>
              </a:rPr>
              <a:t> </a:t>
            </a:r>
            <a:r>
              <a:rPr lang="ru-RU" sz="3800" dirty="0">
                <a:solidFill>
                  <a:srgbClr val="222222"/>
                </a:solidFill>
              </a:rPr>
              <a:t> </a:t>
            </a:r>
            <a:r>
              <a:rPr lang="en-US" sz="3800" dirty="0">
                <a:solidFill>
                  <a:srgbClr val="222222"/>
                </a:solidFill>
              </a:rPr>
              <a:t>city.csv </a:t>
            </a:r>
            <a:endParaRPr lang="ru-RU" sz="3800" dirty="0"/>
          </a:p>
          <a:p>
            <a:pPr marL="0" indent="0">
              <a:buNone/>
            </a:pPr>
            <a:r>
              <a:rPr lang="en-US" sz="3800" dirty="0"/>
              <a:t>SQL&gt; CREATE TABLE </a:t>
            </a:r>
            <a:r>
              <a:rPr lang="en-US" sz="3800" dirty="0" err="1"/>
              <a:t>city_ext</a:t>
            </a:r>
            <a:r>
              <a:rPr lang="en-US" sz="3800" dirty="0"/>
              <a:t> (</a:t>
            </a:r>
          </a:p>
          <a:p>
            <a:pPr marL="0" indent="0">
              <a:buNone/>
            </a:pPr>
            <a:r>
              <a:rPr lang="en-US" sz="3800" dirty="0"/>
              <a:t>  2    CITYCODE      NUMBER,</a:t>
            </a:r>
          </a:p>
          <a:p>
            <a:pPr marL="0" indent="0">
              <a:buNone/>
            </a:pPr>
            <a:r>
              <a:rPr lang="en-US" sz="3800" dirty="0"/>
              <a:t>  3    CITYNAME      VARCHAR2(50),</a:t>
            </a:r>
          </a:p>
          <a:p>
            <a:pPr marL="0" indent="0">
              <a:buNone/>
            </a:pPr>
            <a:r>
              <a:rPr lang="en-US" sz="3800" dirty="0"/>
              <a:t>  4    PEOPLES  NUMBER</a:t>
            </a:r>
          </a:p>
          <a:p>
            <a:pPr marL="0" indent="0">
              <a:buNone/>
            </a:pPr>
            <a:r>
              <a:rPr lang="en-US" sz="3800" dirty="0"/>
              <a:t>  5  )</a:t>
            </a:r>
          </a:p>
          <a:p>
            <a:pPr marL="0" indent="0">
              <a:buNone/>
            </a:pPr>
            <a:r>
              <a:rPr lang="en-US" sz="3800" dirty="0"/>
              <a:t>  6  ORGANIZATION EXTERNAL (</a:t>
            </a:r>
          </a:p>
          <a:p>
            <a:pPr marL="0" indent="0">
              <a:buNone/>
            </a:pPr>
            <a:r>
              <a:rPr lang="en-US" sz="3800" dirty="0"/>
              <a:t>  7    TYPE ORACLE_LOADER</a:t>
            </a:r>
          </a:p>
          <a:p>
            <a:pPr marL="0" indent="0">
              <a:buNone/>
            </a:pPr>
            <a:r>
              <a:rPr lang="en-US" sz="3800" dirty="0"/>
              <a:t>  8    DEFAULT DIRECTORY </a:t>
            </a:r>
            <a:r>
              <a:rPr lang="en-US" sz="3800" dirty="0" err="1"/>
              <a:t>ext_tab_data</a:t>
            </a:r>
            <a:endParaRPr lang="en-US" sz="3800" dirty="0"/>
          </a:p>
          <a:p>
            <a:pPr marL="0" indent="0">
              <a:buNone/>
            </a:pPr>
            <a:r>
              <a:rPr lang="en-US" sz="3800" dirty="0"/>
              <a:t>  9    ACCESS PARAMETERS (</a:t>
            </a:r>
          </a:p>
          <a:p>
            <a:pPr marL="0" indent="0">
              <a:buNone/>
            </a:pPr>
            <a:r>
              <a:rPr lang="en-US" sz="3800" dirty="0"/>
              <a:t> 10      RECORDS DELIMITED BY NEWLINE</a:t>
            </a:r>
          </a:p>
          <a:p>
            <a:pPr marL="0" indent="0">
              <a:buNone/>
            </a:pPr>
            <a:r>
              <a:rPr lang="en-US" sz="3800" dirty="0"/>
              <a:t> 11      FIELDS TERMINATED BY ','</a:t>
            </a:r>
          </a:p>
          <a:p>
            <a:pPr marL="0" indent="0">
              <a:buNone/>
            </a:pPr>
            <a:r>
              <a:rPr lang="en-US" sz="3800" dirty="0"/>
              <a:t> 12      MISSING FIELD VALUES ARE NULL</a:t>
            </a:r>
          </a:p>
          <a:p>
            <a:pPr marL="0" indent="0">
              <a:buNone/>
            </a:pPr>
            <a:r>
              <a:rPr lang="en-US" sz="3800" dirty="0"/>
              <a:t> 13    )</a:t>
            </a:r>
          </a:p>
          <a:p>
            <a:pPr marL="0" indent="0">
              <a:buNone/>
            </a:pPr>
            <a:r>
              <a:rPr lang="en-US" sz="3800" dirty="0"/>
              <a:t> 14    LOCATION ('city.csv')</a:t>
            </a:r>
          </a:p>
          <a:p>
            <a:pPr marL="0" indent="0">
              <a:buNone/>
            </a:pPr>
            <a:r>
              <a:rPr lang="en-US" sz="3800" dirty="0"/>
              <a:t> 15  )</a:t>
            </a:r>
          </a:p>
          <a:p>
            <a:pPr marL="0" indent="0">
              <a:buNone/>
            </a:pPr>
            <a:r>
              <a:rPr lang="en-US" sz="3800" dirty="0"/>
              <a:t> 16  PARALLEL 5</a:t>
            </a:r>
          </a:p>
          <a:p>
            <a:pPr marL="0" indent="0">
              <a:buNone/>
            </a:pPr>
            <a:r>
              <a:rPr lang="en-US" sz="3800" dirty="0"/>
              <a:t> 17  REJECT LIMIT UNLIMITED;</a:t>
            </a:r>
          </a:p>
          <a:p>
            <a:pPr marL="0" indent="0">
              <a:buNone/>
            </a:pPr>
            <a:r>
              <a:rPr lang="en-US" sz="3800" dirty="0"/>
              <a:t>Table created.</a:t>
            </a:r>
            <a:endParaRPr lang="ru-RU" sz="3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0F5FE8-4CBE-40CA-9891-4D9A253E24DB}"/>
              </a:ext>
            </a:extLst>
          </p:cNvPr>
          <p:cNvSpPr txBox="1"/>
          <p:nvPr/>
        </p:nvSpPr>
        <p:spPr>
          <a:xfrm>
            <a:off x="6372987" y="681038"/>
            <a:ext cx="4414266" cy="590931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ru-RU" dirty="0"/>
              <a:t>Для </a:t>
            </a:r>
            <a:r>
              <a:rPr lang="en-US" sz="1800" dirty="0">
                <a:solidFill>
                  <a:srgbClr val="222222"/>
                </a:solidFill>
              </a:rPr>
              <a:t>man.csv</a:t>
            </a:r>
            <a:r>
              <a:rPr lang="ru-RU" sz="1800" dirty="0">
                <a:solidFill>
                  <a:srgbClr val="222222"/>
                </a:solidFill>
              </a:rPr>
              <a:t> </a:t>
            </a:r>
            <a:endParaRPr lang="en-US" dirty="0"/>
          </a:p>
          <a:p>
            <a:r>
              <a:rPr lang="en-US" dirty="0"/>
              <a:t>SQL&gt; CREATE TABLE </a:t>
            </a:r>
            <a:r>
              <a:rPr lang="en-US" dirty="0" err="1"/>
              <a:t>man_ext</a:t>
            </a:r>
            <a:r>
              <a:rPr lang="en-US" dirty="0"/>
              <a:t> (</a:t>
            </a:r>
          </a:p>
          <a:p>
            <a:r>
              <a:rPr lang="en-US" dirty="0"/>
              <a:t>  2    PHONENUM      VARCHAR2(50),</a:t>
            </a:r>
          </a:p>
          <a:p>
            <a:r>
              <a:rPr lang="en-US" dirty="0"/>
              <a:t>  3    FIRSTNAME      VARCHAR2(50),</a:t>
            </a:r>
          </a:p>
          <a:p>
            <a:r>
              <a:rPr lang="en-US" dirty="0"/>
              <a:t>  4    LASTNAME      VARCHAR2(50),</a:t>
            </a:r>
          </a:p>
          <a:p>
            <a:r>
              <a:rPr lang="en-US" dirty="0"/>
              <a:t>  5    CITYCODE      NUMBER,</a:t>
            </a:r>
          </a:p>
          <a:p>
            <a:r>
              <a:rPr lang="en-US" dirty="0"/>
              <a:t>  6    YEARSOLD  NUMBER</a:t>
            </a:r>
          </a:p>
          <a:p>
            <a:r>
              <a:rPr lang="en-US" dirty="0"/>
              <a:t>  7  )</a:t>
            </a:r>
          </a:p>
          <a:p>
            <a:r>
              <a:rPr lang="en-US" dirty="0"/>
              <a:t>  8  ORGANIZATION EXTERNAL (</a:t>
            </a:r>
          </a:p>
          <a:p>
            <a:r>
              <a:rPr lang="en-US" dirty="0"/>
              <a:t>  9    TYPE ORACLE_LOADER</a:t>
            </a:r>
          </a:p>
          <a:p>
            <a:r>
              <a:rPr lang="en-US" dirty="0"/>
              <a:t> 10    DEFAULT DIRECTORY </a:t>
            </a:r>
            <a:r>
              <a:rPr lang="en-US" dirty="0" err="1"/>
              <a:t>ext_tab_data</a:t>
            </a:r>
            <a:endParaRPr lang="en-US" dirty="0"/>
          </a:p>
          <a:p>
            <a:r>
              <a:rPr lang="en-US" dirty="0"/>
              <a:t> 11    ACCESS PARAMETERS (</a:t>
            </a:r>
          </a:p>
          <a:p>
            <a:r>
              <a:rPr lang="en-US" dirty="0"/>
              <a:t> 12      RECORDS DELIMITED BY NEWLINE</a:t>
            </a:r>
          </a:p>
          <a:p>
            <a:r>
              <a:rPr lang="en-US" dirty="0"/>
              <a:t> 13      FIELDS TERMINATED BY ','</a:t>
            </a:r>
          </a:p>
          <a:p>
            <a:r>
              <a:rPr lang="en-US" dirty="0"/>
              <a:t> 14      MISSING FIELD VALUES ARE NULL</a:t>
            </a:r>
          </a:p>
          <a:p>
            <a:r>
              <a:rPr lang="en-US" dirty="0"/>
              <a:t> 15    )</a:t>
            </a:r>
          </a:p>
          <a:p>
            <a:r>
              <a:rPr lang="en-US" dirty="0"/>
              <a:t> 16    LOCATION ('man.csv')</a:t>
            </a:r>
          </a:p>
          <a:p>
            <a:r>
              <a:rPr lang="en-US" dirty="0"/>
              <a:t> 17  )</a:t>
            </a:r>
          </a:p>
          <a:p>
            <a:r>
              <a:rPr lang="en-US" dirty="0"/>
              <a:t> 18  PARALLEL 5</a:t>
            </a:r>
          </a:p>
          <a:p>
            <a:r>
              <a:rPr lang="en-US" dirty="0"/>
              <a:t> 19  REJECT LIMIT UNLIMITED;</a:t>
            </a:r>
          </a:p>
          <a:p>
            <a:r>
              <a:rPr lang="en-US" dirty="0"/>
              <a:t>Table created.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90237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274CE4-B4FF-41A8-8BAF-80244157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024"/>
            <a:ext cx="10515600" cy="1060737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Инструкция создания внешних таблиц </a:t>
            </a:r>
            <a:br>
              <a:rPr lang="ru-RU" sz="3200" dirty="0">
                <a:solidFill>
                  <a:srgbClr val="FF0000"/>
                </a:solidFill>
              </a:rPr>
            </a:br>
            <a:r>
              <a:rPr lang="en-US" sz="3200" dirty="0">
                <a:solidFill>
                  <a:srgbClr val="FF0000"/>
                </a:solidFill>
              </a:rPr>
              <a:t>CREATE TABLE</a:t>
            </a:r>
            <a:r>
              <a:rPr lang="ru-RU" sz="3200" dirty="0">
                <a:solidFill>
                  <a:srgbClr val="FF0000"/>
                </a:solidFill>
              </a:rPr>
              <a:t> …</a:t>
            </a:r>
            <a:r>
              <a:rPr lang="en-US" sz="3200" dirty="0">
                <a:solidFill>
                  <a:srgbClr val="FF0000"/>
                </a:solidFill>
              </a:rPr>
              <a:t> ORGANIZATION EXTERNAL 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50344B-8B1C-4044-9633-8F5067FEF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9032"/>
            <a:ext cx="11039856" cy="5266944"/>
          </a:xfrm>
        </p:spPr>
        <p:txBody>
          <a:bodyPr>
            <a:normAutofit/>
          </a:bodyPr>
          <a:lstStyle/>
          <a:p>
            <a:pPr mar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/>
              <a:t>Сначала, как обычно, фраза </a:t>
            </a:r>
            <a:r>
              <a:rPr lang="en-US" sz="2000" dirty="0"/>
              <a:t>CREATE TABLE</a:t>
            </a:r>
            <a:r>
              <a:rPr lang="ru-RU" sz="2000" dirty="0"/>
              <a:t> и описания столбцов.</a:t>
            </a:r>
          </a:p>
          <a:p>
            <a:pPr mar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/>
              <a:t>Фраза ORGANIZATION EXTERNAL указывает, что таблица внешняя.</a:t>
            </a:r>
          </a:p>
          <a:p>
            <a:pPr mar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/>
              <a:t>Фраза </a:t>
            </a:r>
            <a:r>
              <a:rPr lang="en-US" sz="2000" dirty="0"/>
              <a:t>TYPE </a:t>
            </a:r>
            <a:r>
              <a:rPr lang="ru-RU" sz="2000" dirty="0"/>
              <a:t>определяет драйвер доступа (в примере это </a:t>
            </a:r>
            <a:r>
              <a:rPr lang="en-US" sz="2000" dirty="0"/>
              <a:t>ORACLE_LOADER</a:t>
            </a:r>
            <a:r>
              <a:rPr lang="ru-RU" sz="2000" dirty="0"/>
              <a:t> -- значение по умолчанию).</a:t>
            </a:r>
            <a:r>
              <a:rPr lang="en-US" sz="1400" b="0" i="1" dirty="0">
                <a:solidFill>
                  <a:srgbClr val="5F5F5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000" b="0" dirty="0">
                <a:effectLst/>
              </a:rPr>
              <a:t>Может быть значение </a:t>
            </a:r>
            <a:r>
              <a:rPr lang="en-US" sz="2000" b="0" dirty="0">
                <a:effectLst/>
              </a:rPr>
              <a:t>ORACLE_DATAPUMP</a:t>
            </a:r>
            <a:r>
              <a:rPr lang="ru-RU" sz="2000" b="0" dirty="0">
                <a:effectLst/>
              </a:rPr>
              <a:t>.</a:t>
            </a:r>
            <a:endParaRPr lang="ru-RU" sz="2000" dirty="0"/>
          </a:p>
          <a:p>
            <a:pPr mar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/>
              <a:t>Фраза </a:t>
            </a:r>
            <a:r>
              <a:rPr lang="en-US" sz="2000" dirty="0"/>
              <a:t>ACCESS PARAMETERS </a:t>
            </a:r>
            <a:r>
              <a:rPr lang="ru-RU" sz="2000" dirty="0"/>
              <a:t>напоминает конструкцию OPTIONS из управляющего файла SQL*</a:t>
            </a:r>
            <a:r>
              <a:rPr lang="ru-RU" sz="2000" dirty="0" err="1"/>
              <a:t>Loader</a:t>
            </a:r>
            <a:r>
              <a:rPr lang="ru-RU" sz="2000" dirty="0"/>
              <a:t>.</a:t>
            </a:r>
            <a:endParaRPr lang="en-US" sz="2000" dirty="0"/>
          </a:p>
          <a:p>
            <a:pPr mar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/>
              <a:t>Фраза </a:t>
            </a:r>
            <a:r>
              <a:rPr lang="en-US" sz="2000" dirty="0"/>
              <a:t>ACCESS PARAMETERS </a:t>
            </a:r>
            <a:r>
              <a:rPr lang="ru-RU" sz="2000" dirty="0"/>
              <a:t>обязательна. В ней устанавливается ограничитель строки (в примере </a:t>
            </a:r>
            <a:r>
              <a:rPr lang="en-US" sz="2000" dirty="0"/>
              <a:t>RECORDS DELIMITED BY NEWLINE</a:t>
            </a:r>
            <a:r>
              <a:rPr lang="ru-RU" sz="2000" dirty="0"/>
              <a:t>), разделитель полей (в примере </a:t>
            </a:r>
            <a:r>
              <a:rPr lang="en-US" sz="2000" dirty="0"/>
              <a:t>FIELDS TERMINATED BY ‘,’</a:t>
            </a:r>
            <a:r>
              <a:rPr lang="ru-RU" sz="2000" dirty="0"/>
              <a:t>) и указание на то, как записывается  отсутствующее значение (у нас </a:t>
            </a:r>
            <a:r>
              <a:rPr lang="en-US" sz="2000" dirty="0"/>
              <a:t>MISSING FIELD VALUES ARE NULL</a:t>
            </a:r>
            <a:r>
              <a:rPr lang="ru-RU" sz="2000" dirty="0"/>
              <a:t>).</a:t>
            </a:r>
            <a:endParaRPr lang="en-US" sz="2000" dirty="0"/>
          </a:p>
          <a:p>
            <a:pPr mar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/>
              <a:t>Фраза </a:t>
            </a:r>
            <a:r>
              <a:rPr lang="en-US" sz="2000" dirty="0"/>
              <a:t>PARALLEL 5</a:t>
            </a:r>
            <a:r>
              <a:rPr lang="ru-RU" sz="2000" dirty="0"/>
              <a:t> в примере, вообще, не нужна. Её цель – потребовать ускорение процессов выгрузки в 5 файлов. Может быть реализована только в варианте </a:t>
            </a:r>
            <a:r>
              <a:rPr lang="en-US" sz="2000" b="0" dirty="0">
                <a:effectLst/>
              </a:rPr>
              <a:t>ORACLE_DATAPUMP</a:t>
            </a:r>
            <a:r>
              <a:rPr lang="ru-RU" sz="2000" b="0" dirty="0">
                <a:effectLst/>
              </a:rPr>
              <a:t>. </a:t>
            </a:r>
          </a:p>
          <a:p>
            <a:pPr mar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0" dirty="0">
                <a:effectLst/>
              </a:rPr>
              <a:t>Например, так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PARALLEL </a:t>
            </a:r>
            <a:r>
              <a:rPr lang="ru-RU" sz="2000" dirty="0"/>
              <a:t>3</a:t>
            </a:r>
            <a:r>
              <a:rPr lang="en-US" sz="2000" dirty="0"/>
              <a:t> REJECT LIMIT UNLIMITED AS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SELECT </a:t>
            </a:r>
            <a:r>
              <a:rPr lang="en-US" sz="2000" dirty="0" err="1"/>
              <a:t>co.country_name</a:t>
            </a:r>
            <a:r>
              <a:rPr lang="en-US" sz="2000" dirty="0"/>
              <a:t>, </a:t>
            </a:r>
            <a:r>
              <a:rPr lang="en-US" sz="2000" dirty="0" err="1"/>
              <a:t>co.country_subregion</a:t>
            </a:r>
            <a:r>
              <a:rPr lang="en-US" sz="2000" dirty="0"/>
              <a:t>, </a:t>
            </a:r>
            <a:r>
              <a:rPr lang="en-US" sz="2000" dirty="0" err="1"/>
              <a:t>co.country_region</a:t>
            </a: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FROM customers c, countries co where </a:t>
            </a:r>
            <a:r>
              <a:rPr lang="en-US" sz="2000" dirty="0" err="1"/>
              <a:t>co.country_id</a:t>
            </a:r>
            <a:r>
              <a:rPr lang="en-US" sz="2000" dirty="0"/>
              <a:t>=</a:t>
            </a:r>
            <a:r>
              <a:rPr lang="en-US" sz="2000" dirty="0" err="1"/>
              <a:t>c.country_id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357393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EF49E3-B368-4190-AFC4-E212401A9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868713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Создаём внешние таблицы </a:t>
            </a:r>
            <a:r>
              <a:rPr lang="en-US" sz="3200" dirty="0">
                <a:solidFill>
                  <a:srgbClr val="FF0000"/>
                </a:solidFill>
              </a:rPr>
              <a:t>3</a:t>
            </a:r>
            <a:r>
              <a:rPr lang="ru-RU" sz="3200" dirty="0">
                <a:solidFill>
                  <a:srgbClr val="FF0000"/>
                </a:solidFill>
              </a:rPr>
              <a:t>/3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9950F8-1ED3-4EB3-B52E-11DC513D0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328" y="886968"/>
            <a:ext cx="10515600" cy="4366451"/>
          </a:xfrm>
        </p:spPr>
        <p:txBody>
          <a:bodyPr>
            <a:normAutofit/>
          </a:bodyPr>
          <a:lstStyle/>
          <a:p>
            <a:pPr marL="0" indent="457200">
              <a:lnSpc>
                <a:spcPct val="100000"/>
              </a:lnSpc>
              <a:buNone/>
            </a:pPr>
            <a:r>
              <a:rPr lang="ru-RU" sz="2000" dirty="0"/>
              <a:t>Пишем запросы</a:t>
            </a:r>
          </a:p>
          <a:p>
            <a:pPr marL="0" indent="0">
              <a:buNone/>
            </a:pPr>
            <a:r>
              <a:rPr lang="en-US" sz="2000" dirty="0"/>
              <a:t>SQL&gt; SELECT * FROM </a:t>
            </a:r>
            <a:r>
              <a:rPr lang="en-US" sz="2000" dirty="0" err="1"/>
              <a:t>man_ext</a:t>
            </a:r>
            <a:r>
              <a:rPr lang="en-US" sz="2000" dirty="0"/>
              <a:t>;</a:t>
            </a:r>
            <a:endParaRPr lang="ru-RU" sz="2000" dirty="0"/>
          </a:p>
          <a:p>
            <a:pPr marL="0" indent="0">
              <a:buNone/>
            </a:pPr>
            <a:r>
              <a:rPr lang="en-US" sz="2000" dirty="0"/>
              <a:t>SQL&gt; SELECT * FROM </a:t>
            </a:r>
            <a:r>
              <a:rPr lang="en-US" sz="2000" dirty="0" err="1"/>
              <a:t>man_ext</a:t>
            </a:r>
            <a:r>
              <a:rPr lang="en-US" sz="2000" dirty="0"/>
              <a:t> INNER JOIN </a:t>
            </a:r>
            <a:r>
              <a:rPr lang="en-US" sz="2000" dirty="0" err="1"/>
              <a:t>city_ext</a:t>
            </a:r>
            <a:r>
              <a:rPr lang="en-US" sz="2000" dirty="0"/>
              <a:t> ON </a:t>
            </a:r>
            <a:r>
              <a:rPr lang="en-US" sz="2000" dirty="0" err="1"/>
              <a:t>man_ext.citycode</a:t>
            </a:r>
            <a:r>
              <a:rPr lang="en-US" sz="2000" dirty="0"/>
              <a:t> = </a:t>
            </a:r>
            <a:r>
              <a:rPr lang="en-US" sz="2000" dirty="0" err="1"/>
              <a:t>city_ext.citycode</a:t>
            </a:r>
            <a:r>
              <a:rPr lang="en-US" sz="2000" dirty="0"/>
              <a:t>;</a:t>
            </a:r>
          </a:p>
          <a:p>
            <a:pPr marL="0" indent="0">
              <a:buNone/>
            </a:pPr>
            <a:endParaRPr lang="en-US" sz="2000" dirty="0"/>
          </a:p>
          <a:p>
            <a:pPr marL="0" indent="457200">
              <a:buNone/>
            </a:pPr>
            <a:r>
              <a:rPr lang="ru-RU" sz="2000" dirty="0"/>
              <a:t>В запросе можно соединять внешнюю и обычную таблицу.</a:t>
            </a:r>
          </a:p>
        </p:txBody>
      </p:sp>
    </p:spTree>
    <p:extLst>
      <p:ext uri="{BB962C8B-B14F-4D97-AF65-F5344CB8AC3E}">
        <p14:creationId xmlns:p14="http://schemas.microsoft.com/office/powerpoint/2010/main" val="12532020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38662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dirty="0">
                <a:solidFill>
                  <a:srgbClr val="FF0000"/>
                </a:solidFill>
                <a:latin typeface="Calibri" panose="020F0502020204030204"/>
                <a:ea typeface="Times New Roman" panose="02020603050405020304" pitchFamily="18" charset="0"/>
              </a:rPr>
              <a:t>Сведения о внешних таблицах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5409" y="386625"/>
            <a:ext cx="10678391" cy="6327684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3600" dirty="0">
                <a:solidFill>
                  <a:srgbClr val="212529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Как увидеть все внешние таблицы 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600" dirty="0">
                <a:solidFill>
                  <a:srgbClr val="000088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6666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000088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all_external_tables</a:t>
            </a:r>
            <a:r>
              <a:rPr lang="en-US" sz="3600" dirty="0">
                <a:solidFill>
                  <a:srgbClr val="6666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3600" dirty="0">
                <a:solidFill>
                  <a:srgbClr val="212529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Внешние таблицы для конкретной схемы/пользователя:</a:t>
            </a:r>
            <a:endParaRPr lang="ru-RU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75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dirty="0">
                <a:solidFill>
                  <a:srgbClr val="000088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6666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000088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all_external_tables</a:t>
            </a:r>
            <a:r>
              <a:rPr 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000088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owner </a:t>
            </a:r>
            <a:r>
              <a:rPr lang="en-US" sz="3600" dirty="0">
                <a:solidFill>
                  <a:srgbClr val="6666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a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ru-RU" sz="36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имя_пользователя</a:t>
            </a:r>
            <a:r>
              <a:rPr lang="en-US" sz="3600" dirty="0">
                <a:ea typeface="Times New Roman" panose="02020603050405020304" pitchFamily="18" charset="0"/>
                <a:cs typeface="Times New Roman" panose="02020603050405020304" pitchFamily="18" charset="0"/>
              </a:rPr>
              <a:t>'; </a:t>
            </a:r>
            <a:endParaRPr lang="ru-RU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3600" dirty="0">
                <a:solidFill>
                  <a:srgbClr val="212529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Внешние таблицы текущего пользователя:</a:t>
            </a:r>
            <a:endParaRPr lang="ru-RU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75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dirty="0">
                <a:solidFill>
                  <a:srgbClr val="000088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6666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000088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user_external_tables</a:t>
            </a:r>
            <a:r>
              <a:rPr lang="en-US" sz="3600" dirty="0">
                <a:solidFill>
                  <a:srgbClr val="6666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3600" dirty="0">
                <a:solidFill>
                  <a:srgbClr val="212529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Таблицы пользователя, которые 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3600" dirty="0">
                <a:solidFill>
                  <a:srgbClr val="212529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   не являются внешними:</a:t>
            </a:r>
            <a:endParaRPr lang="ru-RU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75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dirty="0">
                <a:solidFill>
                  <a:srgbClr val="000088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ut</a:t>
            </a:r>
            <a:r>
              <a:rPr lang="en-US" sz="3600" dirty="0" err="1">
                <a:solidFill>
                  <a:srgbClr val="6666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3600" dirty="0" err="1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75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dirty="0">
                <a:solidFill>
                  <a:srgbClr val="000088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user_tables</a:t>
            </a:r>
            <a:r>
              <a:rPr 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ut</a:t>
            </a:r>
            <a:r>
              <a:rPr 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75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dirty="0">
                <a:solidFill>
                  <a:srgbClr val="000088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000088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exists </a:t>
            </a:r>
            <a:r>
              <a:rPr lang="en-US" sz="3600" dirty="0">
                <a:solidFill>
                  <a:srgbClr val="6666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 dirty="0">
                <a:solidFill>
                  <a:srgbClr val="000088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006666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r>
              <a:rPr 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75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600" dirty="0">
                <a:solidFill>
                  <a:srgbClr val="000088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user_external_tables</a:t>
            </a:r>
            <a:r>
              <a:rPr 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uet</a:t>
            </a:r>
            <a:r>
              <a:rPr 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latinLnBrk="1">
              <a:lnSpc>
                <a:spcPct val="107000"/>
              </a:lnSpc>
              <a:spcAft>
                <a:spcPts val="75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600" dirty="0">
                <a:solidFill>
                  <a:srgbClr val="000088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uet</a:t>
            </a:r>
            <a:r>
              <a:rPr lang="en-US" sz="3600" dirty="0" err="1">
                <a:solidFill>
                  <a:srgbClr val="6666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3600" dirty="0" err="1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6666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ut</a:t>
            </a:r>
            <a:r>
              <a:rPr lang="en-US" sz="3600" dirty="0" err="1">
                <a:solidFill>
                  <a:srgbClr val="6666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3600" dirty="0" err="1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lang="en-US" sz="3600" dirty="0">
                <a:solidFill>
                  <a:srgbClr val="6666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126" y="2693538"/>
            <a:ext cx="6550120" cy="393972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699944" y="3244334"/>
            <a:ext cx="27921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FFFFFF"/>
                </a:solidFill>
                <a:latin typeface="Helvetica Neue"/>
              </a:rPr>
              <a:t>Привет! Всё нормально.</a:t>
            </a:r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8221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33939" y="1967188"/>
            <a:ext cx="9144000" cy="1456714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rgbClr val="FF0000"/>
                </a:solidFill>
                <a:latin typeface="+mn-lt"/>
              </a:rPr>
              <a:t>Метаданные.</a:t>
            </a:r>
            <a:br>
              <a:rPr lang="ru-RU" sz="3600" dirty="0">
                <a:solidFill>
                  <a:srgbClr val="FF0000"/>
                </a:solidFill>
                <a:latin typeface="+mn-lt"/>
              </a:rPr>
            </a:br>
            <a:r>
              <a:rPr lang="ru-RU" sz="3600" dirty="0">
                <a:solidFill>
                  <a:srgbClr val="FF0000"/>
                </a:solidFill>
                <a:latin typeface="+mn-lt"/>
              </a:rPr>
              <a:t>Пакет </a:t>
            </a:r>
            <a:r>
              <a:rPr lang="en-US" sz="3600" dirty="0">
                <a:solidFill>
                  <a:srgbClr val="FF0000"/>
                </a:solidFill>
                <a:latin typeface="+mn-lt"/>
              </a:rPr>
              <a:t>DBMS_METADATA</a:t>
            </a:r>
            <a:endParaRPr lang="ru-RU" sz="36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16283" y="4556194"/>
            <a:ext cx="10987841" cy="1655762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06415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98516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solidFill>
                  <a:srgbClr val="FF0000"/>
                </a:solidFill>
                <a:latin typeface="+mn-lt"/>
              </a:rPr>
              <a:t>Пакет </a:t>
            </a:r>
            <a:r>
              <a:rPr lang="en-US" sz="3600" dirty="0">
                <a:solidFill>
                  <a:srgbClr val="FF0000"/>
                </a:solidFill>
                <a:latin typeface="+mn-lt"/>
              </a:rPr>
              <a:t>DBMS_METADATA</a:t>
            </a:r>
            <a:endParaRPr lang="ru-RU" sz="3600" dirty="0"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98517"/>
            <a:ext cx="10515600" cy="5578446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ru-RU" sz="2000" dirty="0">
                <a:solidFill>
                  <a:prstClr val="black"/>
                </a:solidFill>
              </a:rPr>
              <a:t>      </a:t>
            </a:r>
            <a:r>
              <a:rPr lang="en-US" sz="2000" dirty="0">
                <a:solidFill>
                  <a:prstClr val="black"/>
                </a:solidFill>
              </a:rPr>
              <a:t>DBMS_METADATA </a:t>
            </a:r>
            <a:r>
              <a:rPr lang="ru-RU" sz="2000" dirty="0">
                <a:solidFill>
                  <a:prstClr val="black"/>
                </a:solidFill>
              </a:rPr>
              <a:t>это пакет предназначенный для поиска метаданных в словаре в виде текста XML или скрипта DDL и отправки XML для повторного создания исследуемого объекта.</a:t>
            </a:r>
          </a:p>
          <a:p>
            <a:pPr marL="0" indent="0" algn="ctr">
              <a:buNone/>
            </a:pPr>
            <a:r>
              <a:rPr lang="ru-RU" sz="3600" dirty="0">
                <a:solidFill>
                  <a:srgbClr val="FF0000"/>
                </a:solidFill>
                <a:latin typeface="Calibri Light" panose="020F0302020204030204"/>
                <a:ea typeface="+mj-ea"/>
                <a:cs typeface="+mj-cs"/>
              </a:rPr>
              <a:t>Функции </a:t>
            </a:r>
            <a:r>
              <a:rPr lang="en-US" sz="3600" dirty="0" err="1">
                <a:solidFill>
                  <a:srgbClr val="FF0000"/>
                </a:solidFill>
                <a:latin typeface="Calibri Light" panose="020F0302020204030204"/>
                <a:ea typeface="+mj-ea"/>
                <a:cs typeface="+mj-cs"/>
              </a:rPr>
              <a:t>get_ddl</a:t>
            </a:r>
            <a:r>
              <a:rPr lang="en-US" sz="3600" dirty="0">
                <a:solidFill>
                  <a:srgbClr val="FF0000"/>
                </a:solidFill>
                <a:latin typeface="Calibri Light" panose="020F0302020204030204"/>
                <a:ea typeface="+mj-ea"/>
                <a:cs typeface="+mj-cs"/>
              </a:rPr>
              <a:t> </a:t>
            </a:r>
            <a:r>
              <a:rPr lang="ru-RU" sz="3600" dirty="0">
                <a:solidFill>
                  <a:srgbClr val="FF0000"/>
                </a:solidFill>
                <a:latin typeface="Calibri Light" panose="020F0302020204030204"/>
                <a:ea typeface="+mj-ea"/>
                <a:cs typeface="+mj-cs"/>
              </a:rPr>
              <a:t>и </a:t>
            </a:r>
            <a:r>
              <a:rPr lang="en-US" sz="3600" dirty="0" err="1">
                <a:solidFill>
                  <a:srgbClr val="FF0000"/>
                </a:solidFill>
                <a:latin typeface="Calibri Light" panose="020F0302020204030204"/>
                <a:ea typeface="+mj-ea"/>
                <a:cs typeface="+mj-cs"/>
              </a:rPr>
              <a:t>get_xml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Функции </a:t>
            </a:r>
            <a:r>
              <a:rPr lang="en-US" sz="2000" dirty="0" err="1"/>
              <a:t>get_ddl</a:t>
            </a:r>
            <a:r>
              <a:rPr lang="en-US" sz="2000" dirty="0"/>
              <a:t> </a:t>
            </a:r>
            <a:r>
              <a:rPr lang="ru-RU" sz="2000" dirty="0"/>
              <a:t>и </a:t>
            </a:r>
            <a:r>
              <a:rPr lang="en-US" sz="2000" dirty="0" err="1"/>
              <a:t>get_xml</a:t>
            </a:r>
            <a:r>
              <a:rPr lang="ru-RU" sz="2000" dirty="0"/>
              <a:t> отличаются только форматом выводимых данных.</a:t>
            </a:r>
            <a:endParaRPr lang="en-US" sz="2000" dirty="0"/>
          </a:p>
          <a:p>
            <a:pPr marL="0" indent="0">
              <a:buNone/>
            </a:pPr>
            <a:r>
              <a:rPr lang="ru-RU" sz="2000" dirty="0"/>
              <a:t>Синтаксис функции</a:t>
            </a:r>
            <a:r>
              <a:rPr lang="en-US" sz="2000" dirty="0"/>
              <a:t> </a:t>
            </a:r>
            <a:r>
              <a:rPr lang="en-US" sz="2000" b="1" dirty="0"/>
              <a:t>.</a:t>
            </a:r>
            <a:r>
              <a:rPr lang="en-US" sz="2000" b="1" dirty="0" err="1"/>
              <a:t>get_ddl</a:t>
            </a:r>
            <a:br>
              <a:rPr lang="ru-RU" sz="2000" dirty="0"/>
            </a:br>
            <a:r>
              <a:rPr lang="en-US" sz="2000" b="1" dirty="0"/>
              <a:t>DBMS_METADATA.get_ddl</a:t>
            </a:r>
            <a:r>
              <a:rPr lang="en-US" sz="2000" dirty="0"/>
              <a:t>(</a:t>
            </a:r>
            <a:r>
              <a:rPr lang="ru-RU" sz="2000" b="1" dirty="0" err="1"/>
              <a:t>ТипОбъекта</a:t>
            </a:r>
            <a:r>
              <a:rPr lang="ru-RU" sz="2000" b="1" dirty="0"/>
              <a:t> </a:t>
            </a:r>
            <a:r>
              <a:rPr lang="en-US" sz="2000" dirty="0"/>
              <a:t>IN VARCHAR2,</a:t>
            </a:r>
            <a:br>
              <a:rPr lang="en-US" sz="2000" dirty="0"/>
            </a:br>
            <a:r>
              <a:rPr lang="en-US" sz="2000" b="1" dirty="0"/>
              <a:t>                                                    </a:t>
            </a:r>
            <a:r>
              <a:rPr lang="ru-RU" sz="2000" b="1" dirty="0" err="1"/>
              <a:t>НазваниеОбъекта</a:t>
            </a:r>
            <a:r>
              <a:rPr lang="ru-RU" sz="2000" b="1" dirty="0"/>
              <a:t> </a:t>
            </a:r>
            <a:r>
              <a:rPr lang="en-US" sz="2000" dirty="0"/>
              <a:t>IN VARCHAR2,</a:t>
            </a:r>
            <a:br>
              <a:rPr lang="en-US" sz="2000" dirty="0"/>
            </a:br>
            <a:r>
              <a:rPr lang="en-US" sz="2000" dirty="0"/>
              <a:t>                                                    </a:t>
            </a:r>
            <a:r>
              <a:rPr lang="ru-RU" sz="2000" b="1" dirty="0" err="1"/>
              <a:t>НазваниеСхемы</a:t>
            </a:r>
            <a:r>
              <a:rPr lang="ru-RU" sz="2000" b="1" dirty="0"/>
              <a:t> </a:t>
            </a:r>
            <a:r>
              <a:rPr lang="en-US" sz="2000" dirty="0"/>
              <a:t>IN VARCHAR2)</a:t>
            </a:r>
            <a:r>
              <a:rPr lang="ru-RU" sz="2000" dirty="0"/>
              <a:t>;</a:t>
            </a:r>
          </a:p>
          <a:p>
            <a:pPr marL="0" indent="0">
              <a:buNone/>
            </a:pPr>
            <a:endParaRPr lang="ru-RU" sz="2000" b="1" dirty="0"/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5042091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498763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Пакет </a:t>
            </a:r>
            <a:r>
              <a:rPr lang="en-US" sz="3200" dirty="0">
                <a:solidFill>
                  <a:srgbClr val="FF0000"/>
                </a:solidFill>
              </a:rPr>
              <a:t>DBMS_METADATA</a:t>
            </a:r>
            <a:endParaRPr lang="ru-RU" sz="32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4402030"/>
              </p:ext>
            </p:extLst>
          </p:nvPr>
        </p:nvGraphicFramePr>
        <p:xfrm>
          <a:off x="603265" y="715835"/>
          <a:ext cx="10590414" cy="5779968"/>
        </p:xfrm>
        <a:graphic>
          <a:graphicData uri="http://schemas.openxmlformats.org/drawingml/2006/table">
            <a:tbl>
              <a:tblPr/>
              <a:tblGrid>
                <a:gridCol w="4194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6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84082">
                <a:tc>
                  <a:txBody>
                    <a:bodyPr/>
                    <a:lstStyle/>
                    <a:p>
                      <a:pPr algn="l" rtl="0"/>
                      <a:r>
                        <a:rPr lang="en-US" sz="2000" dirty="0">
                          <a:solidFill>
                            <a:schemeClr val="tx1"/>
                          </a:solidFill>
                          <a:hlinkClick r:id="rId2"/>
                        </a:rPr>
                        <a:t>OPEN Procedure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21070" marR="21070" marT="21070" marB="210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2000" dirty="0"/>
                        <a:t>Указывает тип возвращаемого объекта, версию его метаданных и объектную модель.</a:t>
                      </a:r>
                      <a:endParaRPr lang="en-US" sz="2000" dirty="0"/>
                    </a:p>
                  </a:txBody>
                  <a:tcPr marL="21070" marR="21070" marT="21070" marB="210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4082">
                <a:tc>
                  <a:txBody>
                    <a:bodyPr/>
                    <a:lstStyle/>
                    <a:p>
                      <a:pPr algn="l" rtl="0"/>
                      <a:r>
                        <a:rPr lang="en-US" sz="2000">
                          <a:hlinkClick r:id="rId3"/>
                        </a:rPr>
                        <a:t>SET_FILTER Procedure</a:t>
                      </a:r>
                      <a:endParaRPr lang="en-US" sz="2000"/>
                    </a:p>
                  </a:txBody>
                  <a:tcPr marL="21070" marR="21070" marT="21070" marB="210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dirty="0"/>
                        <a:t>Specifies restrictions on the objects to be retrieved, for example, the object name or schema.</a:t>
                      </a:r>
                    </a:p>
                  </a:txBody>
                  <a:tcPr marL="21070" marR="21070" marT="21070" marB="210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4082">
                <a:tc>
                  <a:txBody>
                    <a:bodyPr/>
                    <a:lstStyle/>
                    <a:p>
                      <a:pPr algn="l" rtl="0"/>
                      <a:r>
                        <a:rPr lang="en-US" sz="2000">
                          <a:hlinkClick r:id="rId4"/>
                        </a:rPr>
                        <a:t>SET_COUNT Procedure</a:t>
                      </a:r>
                      <a:endParaRPr lang="en-US" sz="2000"/>
                    </a:p>
                  </a:txBody>
                  <a:tcPr marL="21070" marR="21070" marT="21070" marB="210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2000" dirty="0"/>
                        <a:t>Указывает максимальное количество объектов, которые должны быть получены в одном вызове </a:t>
                      </a:r>
                      <a:r>
                        <a:rPr lang="ru-RU" sz="2000" dirty="0" err="1"/>
                        <a:t>FETCH_xxx</a:t>
                      </a:r>
                      <a:r>
                        <a:rPr lang="ru-RU" sz="2000" dirty="0"/>
                        <a:t>.</a:t>
                      </a:r>
                      <a:endParaRPr lang="en-US" sz="2000" dirty="0"/>
                    </a:p>
                  </a:txBody>
                  <a:tcPr marL="21070" marR="21070" marT="21070" marB="210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4082">
                <a:tc>
                  <a:txBody>
                    <a:bodyPr/>
                    <a:lstStyle/>
                    <a:p>
                      <a:pPr algn="l" rtl="0"/>
                      <a:r>
                        <a:rPr lang="en-US" sz="2000">
                          <a:hlinkClick r:id="rId5"/>
                        </a:rPr>
                        <a:t>GET_QUERY Procedure</a:t>
                      </a:r>
                      <a:endParaRPr lang="en-US" sz="2000"/>
                    </a:p>
                  </a:txBody>
                  <a:tcPr marL="21070" marR="21070" marT="21070" marB="210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2000" dirty="0"/>
                        <a:t>Возвращает текст запросов, которые используются </a:t>
                      </a:r>
                      <a:r>
                        <a:rPr lang="ru-RU" sz="2000" dirty="0" err="1"/>
                        <a:t>FETCH_xxx</a:t>
                      </a:r>
                      <a:r>
                        <a:rPr lang="ru-RU" sz="2000" dirty="0"/>
                        <a:t>.</a:t>
                      </a:r>
                      <a:endParaRPr lang="en-US" sz="2000" dirty="0"/>
                    </a:p>
                  </a:txBody>
                  <a:tcPr marL="21070" marR="21070" marT="21070" marB="210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4082">
                <a:tc>
                  <a:txBody>
                    <a:bodyPr/>
                    <a:lstStyle/>
                    <a:p>
                      <a:pPr algn="l" rtl="0"/>
                      <a:r>
                        <a:rPr lang="en-US" sz="2000" dirty="0">
                          <a:hlinkClick r:id="rId6"/>
                        </a:rPr>
                        <a:t>SET_PARSE_ITEM Procedure</a:t>
                      </a:r>
                      <a:endParaRPr lang="en-US" sz="2000" dirty="0"/>
                    </a:p>
                  </a:txBody>
                  <a:tcPr marL="21070" marR="21070" marT="21070" marB="210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2000" dirty="0"/>
                        <a:t>Включает синтаксический анализ вывода, указав атрибут объекта, который нужно разобрать и вернуть.</a:t>
                      </a:r>
                      <a:endParaRPr lang="en-US" sz="2000" dirty="0"/>
                    </a:p>
                  </a:txBody>
                  <a:tcPr marL="21070" marR="21070" marT="21070" marB="210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9558">
                <a:tc>
                  <a:txBody>
                    <a:bodyPr/>
                    <a:lstStyle/>
                    <a:p>
                      <a:pPr algn="l" rtl="0"/>
                      <a:r>
                        <a:rPr lang="en-US" sz="2000" dirty="0">
                          <a:hlinkClick r:id="rId7"/>
                        </a:rPr>
                        <a:t>ADD_TRANSFORM Procedure</a:t>
                      </a:r>
                      <a:endParaRPr lang="en-US" sz="2000" dirty="0"/>
                    </a:p>
                  </a:txBody>
                  <a:tcPr marL="21070" marR="21070" marT="21070" marB="210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2000" dirty="0"/>
                        <a:t>Задает преобразование, которое </a:t>
                      </a:r>
                      <a:r>
                        <a:rPr lang="ru-RU" sz="2000" dirty="0" err="1"/>
                        <a:t>FETCH_xxx</a:t>
                      </a:r>
                      <a:r>
                        <a:rPr lang="ru-RU" sz="2000" dirty="0"/>
                        <a:t> применяется к XML-представлению извлеченных объектов.</a:t>
                      </a:r>
                      <a:endParaRPr lang="en-US" sz="2000" dirty="0"/>
                    </a:p>
                  </a:txBody>
                  <a:tcPr marL="21070" marR="21070" marT="21070" marB="210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5658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66948" y="1"/>
            <a:ext cx="10515600" cy="736270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solidFill>
                  <a:srgbClr val="FF0000"/>
                </a:solidFill>
              </a:rPr>
              <a:t>Пакет </a:t>
            </a:r>
            <a:r>
              <a:rPr lang="en-US" sz="3600" dirty="0">
                <a:solidFill>
                  <a:srgbClr val="FF0000"/>
                </a:solidFill>
              </a:rPr>
              <a:t>DBMS_METADATA</a:t>
            </a:r>
            <a:endParaRPr lang="ru-RU" sz="36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</p:nvPr>
        </p:nvGraphicFramePr>
        <p:xfrm>
          <a:off x="873826" y="736271"/>
          <a:ext cx="10182101" cy="6020789"/>
        </p:xfrm>
        <a:graphic>
          <a:graphicData uri="http://schemas.openxmlformats.org/drawingml/2006/table">
            <a:tbl>
              <a:tblPr/>
              <a:tblGrid>
                <a:gridCol w="4160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1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0962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u="sng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SET_TRANSFORM_PARAM Procedure</a:t>
                      </a:r>
                    </a:p>
                    <a:p>
                      <a:pPr algn="l" rtl="0"/>
                      <a:endParaRPr lang="en-US" sz="2000" dirty="0">
                        <a:hlinkClick r:id="" action="ppaction://noaction"/>
                      </a:endParaRPr>
                    </a:p>
                    <a:p>
                      <a:pPr algn="l" rtl="0"/>
                      <a:endParaRPr lang="en-US" sz="2000" dirty="0">
                        <a:hlinkClick r:id="" action="ppaction://noaction"/>
                      </a:endParaRPr>
                    </a:p>
                    <a:p>
                      <a:pPr algn="l" rtl="0"/>
                      <a:r>
                        <a:rPr lang="en-US" sz="2000" dirty="0" err="1">
                          <a:hlinkClick r:id="rId2"/>
                        </a:rPr>
                        <a:t>FETCH_xxx</a:t>
                      </a:r>
                      <a:r>
                        <a:rPr lang="en-US" sz="2000" dirty="0">
                          <a:hlinkClick r:id="rId2"/>
                        </a:rPr>
                        <a:t> Procedure</a:t>
                      </a:r>
                      <a:endParaRPr lang="en-US" sz="2000" dirty="0"/>
                    </a:p>
                  </a:txBody>
                  <a:tcPr marL="16482" marR="16482" marT="16482" marB="1648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/>
                        <a:t>Указывает параметры таблицы стилей XSLT, идентифицированных командой </a:t>
                      </a:r>
                      <a:r>
                        <a:rPr lang="ru-RU" sz="2000" dirty="0" err="1"/>
                        <a:t>transform_handle</a:t>
                      </a:r>
                      <a:r>
                        <a:rPr lang="ru-RU" sz="2000" dirty="0"/>
                        <a:t>.</a:t>
                      </a:r>
                      <a:endParaRPr lang="en-US" sz="2000" dirty="0"/>
                    </a:p>
                    <a:p>
                      <a:pPr algn="l" rtl="0"/>
                      <a:endParaRPr lang="en-US" sz="2000" dirty="0"/>
                    </a:p>
                    <a:p>
                      <a:pPr algn="l" rtl="0"/>
                      <a:r>
                        <a:rPr lang="ru-RU" sz="2000" dirty="0"/>
                        <a:t>Возвращает метаданные для объектов, удовлетворяющих критериям, установленным OPEN, SET_FILTER, SET_COUNT, ADD_TRANSFORM и т. Д.</a:t>
                      </a:r>
                      <a:endParaRPr lang="en-US" sz="2000" dirty="0"/>
                    </a:p>
                  </a:txBody>
                  <a:tcPr marL="16482" marR="16482" marT="16482" marB="1648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6188">
                <a:tc>
                  <a:txBody>
                    <a:bodyPr/>
                    <a:lstStyle/>
                    <a:p>
                      <a:pPr algn="l" rtl="0"/>
                      <a:r>
                        <a:rPr lang="en-US" sz="2000">
                          <a:hlinkClick r:id="rId3"/>
                        </a:rPr>
                        <a:t>CLOSE Procedure</a:t>
                      </a:r>
                      <a:endParaRPr lang="en-US" sz="2000"/>
                    </a:p>
                  </a:txBody>
                  <a:tcPr marL="16482" marR="16482" marT="16482" marB="1648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2000" dirty="0"/>
                        <a:t>Недействительный дескриптор, возвращаемый OPEN, и очищает связанное состояние.</a:t>
                      </a:r>
                      <a:endParaRPr lang="en-US" sz="2000" dirty="0"/>
                    </a:p>
                  </a:txBody>
                  <a:tcPr marL="16482" marR="16482" marT="16482" marB="1648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6188">
                <a:tc>
                  <a:txBody>
                    <a:bodyPr/>
                    <a:lstStyle/>
                    <a:p>
                      <a:pPr algn="l" rtl="0"/>
                      <a:r>
                        <a:rPr lang="en-US" sz="2000">
                          <a:hlinkClick r:id="rId4"/>
                        </a:rPr>
                        <a:t>GET_XML and GET_DDL Functions</a:t>
                      </a:r>
                      <a:endParaRPr lang="en-US" sz="2000"/>
                    </a:p>
                  </a:txBody>
                  <a:tcPr marL="16482" marR="16482" marT="16482" marB="1648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2000" dirty="0"/>
                        <a:t>Возвращает метаданные для указанного объекта как XML или DDL.</a:t>
                      </a:r>
                      <a:endParaRPr lang="en-US" sz="2000" dirty="0"/>
                    </a:p>
                  </a:txBody>
                  <a:tcPr marL="16482" marR="16482" marT="16482" marB="1648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6188">
                <a:tc>
                  <a:txBody>
                    <a:bodyPr/>
                    <a:lstStyle/>
                    <a:p>
                      <a:pPr algn="l" rtl="0"/>
                      <a:r>
                        <a:rPr lang="en-US" sz="2000" dirty="0">
                          <a:hlinkClick r:id="rId5"/>
                        </a:rPr>
                        <a:t>GET_DEPENDENT_XML and GET_DEPENDENT_DDL Functions</a:t>
                      </a:r>
                      <a:endParaRPr lang="en-US" sz="2000" dirty="0"/>
                    </a:p>
                  </a:txBody>
                  <a:tcPr marL="16482" marR="16482" marT="16482" marB="1648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2000" dirty="0"/>
                        <a:t>Возвращает метаданные для одного или нескольких зависимых объектов, указанных как XML или DDL.</a:t>
                      </a:r>
                      <a:r>
                        <a:rPr lang="en-US" sz="2000" dirty="0"/>
                        <a:t>.</a:t>
                      </a:r>
                    </a:p>
                  </a:txBody>
                  <a:tcPr marL="16482" marR="16482" marT="16482" marB="1648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602">
                <a:tc>
                  <a:txBody>
                    <a:bodyPr/>
                    <a:lstStyle/>
                    <a:p>
                      <a:pPr algn="l" rtl="0"/>
                      <a:r>
                        <a:rPr lang="en-US" sz="2000" dirty="0">
                          <a:hlinkClick r:id="rId6"/>
                        </a:rPr>
                        <a:t>GET_GRANTED_XML and GET_GRANTED_DDL Functions</a:t>
                      </a:r>
                      <a:endParaRPr lang="en-US" sz="2000" dirty="0"/>
                    </a:p>
                    <a:p>
                      <a:pPr algn="l" rtl="0"/>
                      <a:endParaRPr lang="en-US" sz="2000" dirty="0"/>
                    </a:p>
                  </a:txBody>
                  <a:tcPr marL="16482" marR="16482" marT="16482" marB="1648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2000" dirty="0"/>
                        <a:t>Возвращает метаданные для одного или нескольких объектов, указанных как XML или DDL</a:t>
                      </a:r>
                      <a:endParaRPr lang="en-US" sz="2000" dirty="0"/>
                    </a:p>
                  </a:txBody>
                  <a:tcPr marL="16482" marR="16482" marT="16482" marB="1648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71118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04850" y="266701"/>
            <a:ext cx="10515600" cy="685800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  <a:latin typeface="+mn-lt"/>
              </a:rPr>
              <a:t>Функции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GET_DDL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 и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GET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_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DEPENDENT_DDL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28700" y="952501"/>
            <a:ext cx="10515600" cy="1219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Функция </a:t>
            </a:r>
            <a:r>
              <a:rPr lang="en-US" sz="2000" dirty="0" err="1"/>
              <a:t>get_ddl</a:t>
            </a:r>
            <a:r>
              <a:rPr lang="en-US" sz="2000" dirty="0"/>
              <a:t> </a:t>
            </a:r>
            <a:r>
              <a:rPr lang="ru-RU" sz="2000" dirty="0"/>
              <a:t>предназначена для получения инструкции </a:t>
            </a:r>
            <a:r>
              <a:rPr lang="en-US" sz="2000" dirty="0"/>
              <a:t>DDL </a:t>
            </a:r>
            <a:r>
              <a:rPr lang="ru-RU" sz="2000" dirty="0"/>
              <a:t>объектов базы – таблиц, представлений, пакетов, табличных пространств и пр.</a:t>
            </a:r>
          </a:p>
          <a:p>
            <a:pPr marL="0" indent="0">
              <a:buNone/>
            </a:pPr>
            <a:r>
              <a:rPr lang="ru-RU" sz="2000" dirty="0"/>
              <a:t>Функция </a:t>
            </a:r>
            <a:r>
              <a:rPr lang="en-US" sz="2000" dirty="0" err="1">
                <a:solidFill>
                  <a:srgbClr val="222222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get_dependent_ddl</a:t>
            </a:r>
            <a:r>
              <a:rPr lang="en-US" sz="2000" dirty="0">
                <a:solidFill>
                  <a:srgbClr val="222222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ru-RU" sz="2000" dirty="0">
                <a:solidFill>
                  <a:srgbClr val="222222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возвращает </a:t>
            </a:r>
            <a:r>
              <a:rPr lang="en-US" sz="2000" dirty="0">
                <a:solidFill>
                  <a:srgbClr val="222222"/>
                </a:solidFill>
                <a:cs typeface="Courier New" panose="02070309020205020404" pitchFamily="49" charset="0"/>
              </a:rPr>
              <a:t>DDL </a:t>
            </a:r>
            <a:r>
              <a:rPr lang="ru-RU" sz="2000" dirty="0">
                <a:solidFill>
                  <a:srgbClr val="222222"/>
                </a:solidFill>
                <a:cs typeface="Courier New" panose="02070309020205020404" pitchFamily="49" charset="0"/>
              </a:rPr>
              <a:t>зависимых объектов</a:t>
            </a:r>
            <a:endParaRPr lang="en-US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81000" y="2171700"/>
            <a:ext cx="5571392" cy="3611245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ru-RU" sz="2000" dirty="0">
                <a:solidFill>
                  <a:prstClr val="black"/>
                </a:solidFill>
              </a:rPr>
              <a:t>Формат </a:t>
            </a:r>
            <a:r>
              <a:rPr lang="en-US" sz="2000" dirty="0" err="1">
                <a:solidFill>
                  <a:prstClr val="black"/>
                </a:solidFill>
              </a:rPr>
              <a:t>get_ddl</a:t>
            </a:r>
            <a:r>
              <a:rPr lang="ru-RU" sz="2000" dirty="0">
                <a:solidFill>
                  <a:prstClr val="black"/>
                </a:solidFill>
              </a:rPr>
              <a:t>:</a:t>
            </a:r>
            <a:endParaRPr lang="en-US" sz="2000" dirty="0">
              <a:solidFill>
                <a:prstClr val="black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 err="1">
                <a:solidFill>
                  <a:prstClr val="black"/>
                </a:solidFill>
              </a:rPr>
              <a:t>dbms_metadata.get_ddl</a:t>
            </a:r>
            <a:r>
              <a:rPr lang="en-US" sz="2000" dirty="0">
                <a:solidFill>
                  <a:prstClr val="black"/>
                </a:solidFill>
              </a:rPr>
              <a:t> (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prstClr val="black"/>
                </a:solidFill>
              </a:rPr>
              <a:t>  </a:t>
            </a:r>
            <a:r>
              <a:rPr lang="en-US" sz="2000" dirty="0" err="1">
                <a:solidFill>
                  <a:prstClr val="black"/>
                </a:solidFill>
              </a:rPr>
              <a:t>object_type</a:t>
            </a:r>
            <a:r>
              <a:rPr lang="en-US" sz="2000" dirty="0">
                <a:solidFill>
                  <a:prstClr val="black"/>
                </a:solidFill>
              </a:rPr>
              <a:t> IN  VARCHAR2,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prstClr val="black"/>
                </a:solidFill>
              </a:rPr>
              <a:t>  name         </a:t>
            </a:r>
            <a:r>
              <a:rPr lang="ru-RU" sz="2000" dirty="0">
                <a:solidFill>
                  <a:prstClr val="black"/>
                </a:solidFill>
              </a:rPr>
              <a:t>  </a:t>
            </a:r>
            <a:r>
              <a:rPr lang="en-US" sz="2000" dirty="0">
                <a:solidFill>
                  <a:prstClr val="black"/>
                </a:solidFill>
              </a:rPr>
              <a:t>IN  VARCHAR2,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prstClr val="black"/>
                </a:solidFill>
              </a:rPr>
              <a:t>  [schema      IN  VARCHAR2 DEFAULT NULL],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prstClr val="black"/>
                </a:solidFill>
              </a:rPr>
              <a:t>  [version      </a:t>
            </a:r>
            <a:r>
              <a:rPr lang="ru-RU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IN VARCHAR2 DEFAULT 'COMPATIBLE‘],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prstClr val="black"/>
                </a:solidFill>
              </a:rPr>
              <a:t>  [model        </a:t>
            </a:r>
            <a:r>
              <a:rPr lang="ru-RU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IN  VARCHAR2 DEFAULT 'ORACLE‘],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prstClr val="black"/>
                </a:solidFill>
              </a:rPr>
              <a:t>  [transform </a:t>
            </a:r>
            <a:r>
              <a:rPr lang="ru-RU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IN  VARCHAR2 DEFAULT 'DLL‘]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prstClr val="black"/>
                </a:solidFill>
              </a:rPr>
              <a:t>) [RETURN CLOB];</a:t>
            </a:r>
            <a:endParaRPr lang="ru-RU" sz="2000" dirty="0">
              <a:solidFill>
                <a:prstClr val="black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112119" y="2171700"/>
            <a:ext cx="5775081" cy="4016484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ru-RU" sz="2000" dirty="0">
                <a:solidFill>
                  <a:prstClr val="black"/>
                </a:solidFill>
              </a:rPr>
              <a:t>Формат </a:t>
            </a:r>
            <a:r>
              <a:rPr lang="en-US" sz="2000" dirty="0" err="1">
                <a:solidFill>
                  <a:prstClr val="black"/>
                </a:solidFill>
              </a:rPr>
              <a:t>get_dependent_ddl</a:t>
            </a:r>
            <a:r>
              <a:rPr lang="ru-RU" sz="2000" dirty="0">
                <a:solidFill>
                  <a:prstClr val="black"/>
                </a:solidFill>
              </a:rPr>
              <a:t>:</a:t>
            </a:r>
            <a:endParaRPr lang="en-US" sz="2000" dirty="0">
              <a:solidFill>
                <a:prstClr val="black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 err="1">
                <a:solidFill>
                  <a:prstClr val="black"/>
                </a:solidFill>
              </a:rPr>
              <a:t>dbms_metadata.get_dependent_ddl</a:t>
            </a:r>
            <a:r>
              <a:rPr lang="en-US" sz="2000" dirty="0">
                <a:solidFill>
                  <a:prstClr val="black"/>
                </a:solidFill>
              </a:rPr>
              <a:t> (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prstClr val="black"/>
                </a:solidFill>
              </a:rPr>
              <a:t>  </a:t>
            </a:r>
            <a:r>
              <a:rPr lang="en-US" sz="2000" dirty="0" err="1">
                <a:solidFill>
                  <a:prstClr val="black"/>
                </a:solidFill>
              </a:rPr>
              <a:t>object_type</a:t>
            </a:r>
            <a:r>
              <a:rPr lang="en-US" sz="2000" dirty="0">
                <a:solidFill>
                  <a:prstClr val="black"/>
                </a:solidFill>
              </a:rPr>
              <a:t>        </a:t>
            </a:r>
            <a:r>
              <a:rPr lang="ru-RU" sz="2000" dirty="0">
                <a:solidFill>
                  <a:prstClr val="black"/>
                </a:solidFill>
              </a:rPr>
              <a:t>         </a:t>
            </a:r>
            <a:r>
              <a:rPr lang="en-US" sz="2000" dirty="0">
                <a:solidFill>
                  <a:prstClr val="black"/>
                </a:solidFill>
              </a:rPr>
              <a:t> IN VARCHAR2,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prstClr val="black"/>
                </a:solidFill>
              </a:rPr>
              <a:t>  </a:t>
            </a:r>
            <a:r>
              <a:rPr lang="en-US" sz="2000" dirty="0" err="1">
                <a:solidFill>
                  <a:prstClr val="black"/>
                </a:solidFill>
              </a:rPr>
              <a:t>base_object_name</a:t>
            </a:r>
            <a:r>
              <a:rPr lang="en-US" sz="2000" dirty="0">
                <a:solidFill>
                  <a:prstClr val="black"/>
                </a:solidFill>
              </a:rPr>
              <a:t>   </a:t>
            </a:r>
            <a:r>
              <a:rPr lang="ru-RU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IN VARCHAR2,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prstClr val="black"/>
                </a:solidFill>
              </a:rPr>
              <a:t>  </a:t>
            </a:r>
            <a:r>
              <a:rPr lang="en-US" sz="2000" dirty="0" err="1">
                <a:solidFill>
                  <a:prstClr val="black"/>
                </a:solidFill>
              </a:rPr>
              <a:t>base_object_schema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ru-RU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IN VARCHAR2 DEFAULT NULL,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prstClr val="black"/>
                </a:solidFill>
              </a:rPr>
              <a:t>  [version          IN VARCHAR2 DEFAULT 'COMPATIBLE‘],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prstClr val="black"/>
                </a:solidFill>
              </a:rPr>
              <a:t>  [model            IN VARCHAR2 DEFAULT 'ORACLE‘],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prstClr val="black"/>
                </a:solidFill>
              </a:rPr>
              <a:t>  [transform      IN VARCHAR2 DEFAULT 'DDL‘],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>
                <a:solidFill>
                  <a:prstClr val="black"/>
                </a:solidFill>
              </a:rPr>
              <a:t>  [</a:t>
            </a:r>
            <a:r>
              <a:rPr lang="en-US" sz="2000" dirty="0" err="1">
                <a:solidFill>
                  <a:prstClr val="black"/>
                </a:solidFill>
              </a:rPr>
              <a:t>object_count</a:t>
            </a:r>
            <a:r>
              <a:rPr lang="en-US" sz="2000" dirty="0">
                <a:solidFill>
                  <a:prstClr val="black"/>
                </a:solidFill>
              </a:rPr>
              <a:t>   IN NUMBER   DEFAULT 10000]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prstClr val="black"/>
                </a:solidFill>
              </a:rPr>
              <a:t>) [RETURN CLOB];</a:t>
            </a:r>
          </a:p>
        </p:txBody>
      </p:sp>
    </p:spTree>
    <p:extLst>
      <p:ext uri="{BB962C8B-B14F-4D97-AF65-F5344CB8AC3E}">
        <p14:creationId xmlns:p14="http://schemas.microsoft.com/office/powerpoint/2010/main" val="30924364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55785" y="279670"/>
            <a:ext cx="10515600" cy="854075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rgbClr val="FF0000"/>
                </a:solidFill>
                <a:latin typeface="+mn-lt"/>
              </a:rPr>
              <a:t>Функция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GET_GRANTED_DDL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 </a:t>
            </a:r>
            <a:endParaRPr lang="ru-RU" dirty="0"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5800" y="1590945"/>
            <a:ext cx="5676900" cy="4351338"/>
          </a:xfrm>
          <a:ln w="1905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Функция </a:t>
            </a:r>
            <a:r>
              <a:rPr lang="en-US" sz="2000" dirty="0" err="1">
                <a:solidFill>
                  <a:prstClr val="black"/>
                </a:solidFill>
              </a:rPr>
              <a:t>get_granted_ddl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ru-RU" sz="2000" dirty="0">
                <a:solidFill>
                  <a:prstClr val="black"/>
                </a:solidFill>
              </a:rPr>
              <a:t>возвращает </a:t>
            </a:r>
            <a:r>
              <a:rPr lang="en-US" sz="2000" dirty="0">
                <a:solidFill>
                  <a:prstClr val="black"/>
                </a:solidFill>
              </a:rPr>
              <a:t>DDL </a:t>
            </a:r>
            <a:r>
              <a:rPr lang="ru-RU" sz="2000" dirty="0">
                <a:solidFill>
                  <a:prstClr val="black"/>
                </a:solidFill>
              </a:rPr>
              <a:t>для </a:t>
            </a:r>
          </a:p>
          <a:p>
            <a:pPr marL="0" indent="0">
              <a:buNone/>
            </a:pPr>
            <a:r>
              <a:rPr lang="ru-RU" sz="2000" dirty="0">
                <a:solidFill>
                  <a:prstClr val="black"/>
                </a:solidFill>
              </a:rPr>
              <a:t>назначения системных привилегий и ролей для пользователей или ролей:</a:t>
            </a:r>
            <a:endParaRPr lang="ru-RU" sz="2000" dirty="0"/>
          </a:p>
          <a:p>
            <a:pPr marL="0" indent="0">
              <a:buNone/>
            </a:pPr>
            <a:r>
              <a:rPr lang="en-US" sz="2000" dirty="0" err="1"/>
              <a:t>dbms_metadata.get_granted_ddl</a:t>
            </a:r>
            <a:r>
              <a:rPr lang="en-US" sz="2000" dirty="0"/>
              <a:t> (</a:t>
            </a:r>
          </a:p>
          <a:p>
            <a:pPr marL="0" indent="0">
              <a:buNone/>
            </a:pPr>
            <a:r>
              <a:rPr lang="en-US" sz="2000" dirty="0"/>
              <a:t>  </a:t>
            </a:r>
            <a:r>
              <a:rPr lang="en-US" sz="2000" dirty="0" err="1"/>
              <a:t>object_type</a:t>
            </a:r>
            <a:r>
              <a:rPr lang="en-US" sz="2000" dirty="0"/>
              <a:t>  IN VARCHAR2,</a:t>
            </a:r>
          </a:p>
          <a:p>
            <a:pPr marL="0" indent="0">
              <a:buNone/>
            </a:pPr>
            <a:r>
              <a:rPr lang="en-US" sz="2000" dirty="0"/>
              <a:t>  grantee      </a:t>
            </a:r>
            <a:r>
              <a:rPr lang="ru-RU" sz="2000" dirty="0"/>
              <a:t>    </a:t>
            </a:r>
            <a:r>
              <a:rPr lang="en-US" sz="2000" dirty="0"/>
              <a:t>IN VARCHAR2 DEFAULT NULL],</a:t>
            </a:r>
          </a:p>
          <a:p>
            <a:pPr marL="0" indent="0">
              <a:buNone/>
            </a:pPr>
            <a:r>
              <a:rPr lang="en-US" sz="2000" dirty="0"/>
              <a:t>  [version      </a:t>
            </a:r>
            <a:r>
              <a:rPr lang="ru-RU" sz="2000" dirty="0"/>
              <a:t>    </a:t>
            </a:r>
            <a:r>
              <a:rPr lang="en-US" sz="2000" dirty="0"/>
              <a:t>IN VARCHAR2 DEFAULT 'COMPATIBLE',</a:t>
            </a:r>
          </a:p>
          <a:p>
            <a:pPr marL="0" indent="0">
              <a:buNone/>
            </a:pPr>
            <a:r>
              <a:rPr lang="en-US" sz="2000" dirty="0"/>
              <a:t>  [model       </a:t>
            </a:r>
            <a:r>
              <a:rPr lang="ru-RU" sz="2000" dirty="0"/>
              <a:t>    </a:t>
            </a:r>
            <a:r>
              <a:rPr lang="en-US" sz="2000" dirty="0"/>
              <a:t> IN VARCHAR2 DEFAULT 'ORACLE‘],</a:t>
            </a:r>
          </a:p>
          <a:p>
            <a:pPr marL="0" indent="0">
              <a:buNone/>
            </a:pPr>
            <a:r>
              <a:rPr lang="en-US" sz="2000" dirty="0"/>
              <a:t>  [transform  </a:t>
            </a:r>
            <a:r>
              <a:rPr lang="ru-RU" sz="2000" dirty="0"/>
              <a:t> </a:t>
            </a:r>
            <a:r>
              <a:rPr lang="en-US" sz="2000" dirty="0"/>
              <a:t>  IN VARCHAR2 DEFAULT 'DDL‘],</a:t>
            </a:r>
          </a:p>
          <a:p>
            <a:pPr marL="0" indent="0">
              <a:buNone/>
            </a:pPr>
            <a:r>
              <a:rPr lang="en-US" sz="2000" dirty="0"/>
              <a:t>  [</a:t>
            </a:r>
            <a:r>
              <a:rPr lang="en-US" sz="2000" dirty="0" err="1"/>
              <a:t>object_count</a:t>
            </a:r>
            <a:r>
              <a:rPr lang="en-US" sz="2000" dirty="0"/>
              <a:t> </a:t>
            </a:r>
            <a:r>
              <a:rPr lang="ru-RU" sz="2000" dirty="0"/>
              <a:t>    </a:t>
            </a:r>
            <a:r>
              <a:rPr lang="en-US" sz="2000" dirty="0"/>
              <a:t>IN NUMBER   DEFAULT 10000]</a:t>
            </a:r>
          </a:p>
          <a:p>
            <a:pPr marL="0" indent="0">
              <a:buNone/>
            </a:pPr>
            <a:r>
              <a:rPr lang="en-US" sz="2000" dirty="0"/>
              <a:t>) [RETURN CLOB];</a:t>
            </a:r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6541477" y="1570969"/>
            <a:ext cx="4991100" cy="4351338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000" u="sng" dirty="0">
                <a:solidFill>
                  <a:prstClr val="black"/>
                </a:solidFill>
              </a:rPr>
              <a:t>Замечание</a:t>
            </a:r>
            <a:r>
              <a:rPr lang="ru-RU" sz="2000" dirty="0">
                <a:solidFill>
                  <a:prstClr val="black"/>
                </a:solidFill>
              </a:rPr>
              <a:t>: Если вы работаете в </a:t>
            </a:r>
            <a:r>
              <a:rPr lang="en-US" sz="2000" dirty="0">
                <a:solidFill>
                  <a:prstClr val="black"/>
                </a:solidFill>
              </a:rPr>
              <a:t>SQL*Plus, </a:t>
            </a:r>
            <a:r>
              <a:rPr lang="ru-RU" sz="2000" dirty="0">
                <a:solidFill>
                  <a:prstClr val="black"/>
                </a:solidFill>
              </a:rPr>
              <a:t>установите </a:t>
            </a:r>
            <a:r>
              <a:rPr lang="en-US" sz="2000" dirty="0">
                <a:solidFill>
                  <a:prstClr val="black"/>
                </a:solidFill>
              </a:rPr>
              <a:t>PAGESIZE </a:t>
            </a:r>
            <a:r>
              <a:rPr lang="ru-RU" sz="2000" dirty="0">
                <a:solidFill>
                  <a:prstClr val="black"/>
                </a:solidFill>
              </a:rPr>
              <a:t>в </a:t>
            </a:r>
            <a:r>
              <a:rPr lang="en-US" sz="2000" dirty="0">
                <a:solidFill>
                  <a:prstClr val="black"/>
                </a:solidFill>
              </a:rPr>
              <a:t>0</a:t>
            </a:r>
            <a:r>
              <a:rPr lang="ru-RU" sz="2000" dirty="0">
                <a:solidFill>
                  <a:prstClr val="black"/>
                </a:solidFill>
              </a:rPr>
              <a:t>, а </a:t>
            </a:r>
            <a:r>
              <a:rPr lang="en-US" sz="2000" dirty="0">
                <a:solidFill>
                  <a:prstClr val="black"/>
                </a:solidFill>
              </a:rPr>
              <a:t>LONG</a:t>
            </a:r>
            <a:r>
              <a:rPr lang="ru-RU" sz="2000" dirty="0">
                <a:solidFill>
                  <a:prstClr val="black"/>
                </a:solidFill>
              </a:rPr>
              <a:t>, например,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ru-RU" sz="2000" dirty="0">
                <a:solidFill>
                  <a:prstClr val="black"/>
                </a:solidFill>
              </a:rPr>
              <a:t>в</a:t>
            </a:r>
            <a:r>
              <a:rPr lang="en-US" sz="2000" dirty="0">
                <a:solidFill>
                  <a:prstClr val="black"/>
                </a:solidFill>
              </a:rPr>
              <a:t> 2000000, </a:t>
            </a:r>
            <a:r>
              <a:rPr lang="ru-RU" sz="2000" dirty="0">
                <a:solidFill>
                  <a:prstClr val="black"/>
                </a:solidFill>
              </a:rPr>
              <a:t>иначе не будет выдан полный ответ</a:t>
            </a:r>
            <a:r>
              <a:rPr lang="en-US" sz="2000" dirty="0">
                <a:solidFill>
                  <a:prstClr val="black"/>
                </a:solidFill>
              </a:rPr>
              <a:t>.</a:t>
            </a:r>
            <a:r>
              <a:rPr lang="ru-RU" sz="2000" dirty="0">
                <a:solidFill>
                  <a:prstClr val="black"/>
                </a:solidFill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000" dirty="0">
                <a:solidFill>
                  <a:prstClr val="black"/>
                </a:solidFill>
              </a:rPr>
              <a:t>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000" u="sng" dirty="0">
                <a:solidFill>
                  <a:prstClr val="black"/>
                </a:solidFill>
              </a:rPr>
              <a:t>Пример </a:t>
            </a:r>
            <a:r>
              <a:rPr lang="ru-RU" sz="2000" dirty="0">
                <a:solidFill>
                  <a:prstClr val="black"/>
                </a:solidFill>
              </a:rPr>
              <a:t>установок:</a:t>
            </a: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endParaRPr lang="ru-RU" sz="2000" dirty="0">
              <a:solidFill>
                <a:prstClr val="black"/>
              </a:solidFill>
            </a:endParaRPr>
          </a:p>
          <a:p>
            <a:pPr marL="0" indent="0" fontAlgn="base">
              <a:lnSpc>
                <a:spcPct val="60000"/>
              </a:lnSpc>
              <a:spcAft>
                <a:spcPts val="1800"/>
              </a:spcAft>
              <a:buFont typeface="Arial" panose="020B0604020202020204" pitchFamily="34" charset="0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dirty="0">
                <a:solidFill>
                  <a:prstClr val="black"/>
                </a:solidFill>
              </a:rPr>
              <a:t>SET PAGESIZE 0</a:t>
            </a:r>
            <a:endParaRPr lang="ru-RU" sz="2000" dirty="0">
              <a:solidFill>
                <a:prstClr val="black"/>
              </a:solidFill>
            </a:endParaRPr>
          </a:p>
          <a:p>
            <a:pPr marL="0" indent="0" fontAlgn="base">
              <a:lnSpc>
                <a:spcPct val="60000"/>
              </a:lnSpc>
              <a:spcAft>
                <a:spcPts val="1800"/>
              </a:spcAft>
              <a:buFont typeface="Arial" panose="020B0604020202020204" pitchFamily="34" charset="0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dirty="0">
                <a:solidFill>
                  <a:prstClr val="black"/>
                </a:solidFill>
              </a:rPr>
              <a:t>SET LONG 2000000</a:t>
            </a:r>
            <a:endParaRPr lang="ru-RU" sz="2000" dirty="0">
              <a:solidFill>
                <a:prstClr val="black"/>
              </a:solidFill>
            </a:endParaRPr>
          </a:p>
          <a:p>
            <a:pPr marL="0" indent="0" fontAlgn="base">
              <a:lnSpc>
                <a:spcPct val="60000"/>
              </a:lnSpc>
              <a:spcAft>
                <a:spcPts val="1800"/>
              </a:spcAft>
              <a:buFont typeface="Arial" panose="020B0604020202020204" pitchFamily="34" charset="0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dirty="0">
                <a:solidFill>
                  <a:prstClr val="black"/>
                </a:solidFill>
              </a:rPr>
              <a:t>SET LONGCHUNKSIZE 10000</a:t>
            </a:r>
            <a:endParaRPr lang="ru-RU" sz="2000" dirty="0">
              <a:solidFill>
                <a:prstClr val="black"/>
              </a:solidFill>
            </a:endParaRPr>
          </a:p>
          <a:p>
            <a:pPr marL="0" indent="0" fontAlgn="base">
              <a:lnSpc>
                <a:spcPct val="60000"/>
              </a:lnSpc>
              <a:spcAft>
                <a:spcPts val="1800"/>
              </a:spcAft>
              <a:buFont typeface="Arial" panose="020B0604020202020204" pitchFamily="34" charset="0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dirty="0">
                <a:solidFill>
                  <a:prstClr val="black"/>
                </a:solidFill>
              </a:rPr>
              <a:t>SET LINESIZE 1000</a:t>
            </a:r>
            <a:endParaRPr lang="ru-RU" sz="2000" dirty="0">
              <a:solidFill>
                <a:prstClr val="black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2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10533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1435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  <a:latin typeface="+mn-lt"/>
              </a:rPr>
              <a:t>Примеры 1/4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128" y="591037"/>
            <a:ext cx="9462413" cy="578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2693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721968" y="365125"/>
            <a:ext cx="3089031" cy="1325563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rgbClr val="FF0000"/>
                </a:solidFill>
                <a:latin typeface="+mn-lt"/>
              </a:rPr>
              <a:t>Примеры 2/4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96400" y="4114799"/>
            <a:ext cx="2057400" cy="2062163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62" y="0"/>
            <a:ext cx="77685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499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66750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  <a:latin typeface="+mn-lt"/>
              </a:rPr>
              <a:t>Примеры 3/4</a:t>
            </a:r>
            <a:endParaRPr lang="ru-RU" sz="3200" dirty="0">
              <a:latin typeface="+mn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05" y="666751"/>
            <a:ext cx="9905152" cy="5013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7432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20800" y="0"/>
            <a:ext cx="10515600" cy="625475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  <a:latin typeface="+mn-lt"/>
              </a:rPr>
              <a:t>Примеры 4/4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69" y="677862"/>
            <a:ext cx="10026700" cy="5075767"/>
          </a:xfrm>
          <a:prstGeom prst="rect">
            <a:avLst/>
          </a:prstGeom>
        </p:spPr>
      </p:pic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422399" y="5957556"/>
            <a:ext cx="675140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1000" dirty="0">
                <a:solidFill>
                  <a:srgbClr val="5555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lang="ru-RU" altLang="ru-RU" sz="2000" dirty="0">
                <a:solidFill>
                  <a:srgbClr val="555555"/>
                </a:solidFill>
                <a:latin typeface="Calibri" panose="020F0502020204030204"/>
                <a:cs typeface="Consolas" panose="020B0609020204030204" pitchFamily="49" charset="0"/>
              </a:rPr>
              <a:t>А что делает инструкция</a:t>
            </a:r>
            <a:endParaRPr lang="en-US" altLang="ru-RU" sz="2000" dirty="0">
              <a:solidFill>
                <a:srgbClr val="555555"/>
              </a:solidFill>
              <a:latin typeface="Calibri" panose="020F0502020204030204"/>
              <a:cs typeface="Consolas" panose="020B0609020204030204" pitchFamily="49" charset="0"/>
            </a:endParaRPr>
          </a:p>
          <a:p>
            <a:r>
              <a:rPr lang="ru-RU" altLang="ru-RU" sz="2000" dirty="0">
                <a:solidFill>
                  <a:prstClr val="black"/>
                </a:solidFill>
                <a:latin typeface="Calibri" panose="020F0502020204030204"/>
                <a:cs typeface="Consolas" panose="020B0609020204030204" pitchFamily="49" charset="0"/>
              </a:rPr>
              <a:t>GRANT </a:t>
            </a:r>
            <a:r>
              <a:rPr lang="ru-RU" altLang="ru-RU" sz="2000" dirty="0" err="1">
                <a:solidFill>
                  <a:prstClr val="black"/>
                </a:solidFill>
                <a:latin typeface="Calibri" panose="020F0502020204030204"/>
                <a:cs typeface="Consolas" panose="020B0609020204030204" pitchFamily="49" charset="0"/>
              </a:rPr>
              <a:t>delete</a:t>
            </a:r>
            <a:r>
              <a:rPr lang="ru-RU" altLang="ru-RU" sz="2000" dirty="0">
                <a:solidFill>
                  <a:prstClr val="black"/>
                </a:solidFill>
                <a:latin typeface="Calibri" panose="020F0502020204030204"/>
                <a:cs typeface="Consolas" panose="020B0609020204030204" pitchFamily="49" charset="0"/>
              </a:rPr>
              <a:t>, </a:t>
            </a:r>
            <a:r>
              <a:rPr lang="ru-RU" altLang="ru-RU" sz="2000" dirty="0" err="1">
                <a:solidFill>
                  <a:prstClr val="black"/>
                </a:solidFill>
                <a:latin typeface="Calibri" panose="020F0502020204030204"/>
                <a:cs typeface="Consolas" panose="020B0609020204030204" pitchFamily="49" charset="0"/>
              </a:rPr>
              <a:t>insert</a:t>
            </a:r>
            <a:r>
              <a:rPr lang="ru-RU" altLang="ru-RU" sz="2000" dirty="0">
                <a:solidFill>
                  <a:prstClr val="black"/>
                </a:solidFill>
                <a:latin typeface="Calibri" panose="020F0502020204030204"/>
                <a:cs typeface="Consolas" panose="020B0609020204030204" pitchFamily="49" charset="0"/>
              </a:rPr>
              <a:t>, </a:t>
            </a:r>
            <a:r>
              <a:rPr lang="ru-RU" altLang="ru-RU" sz="2000" dirty="0" err="1">
                <a:solidFill>
                  <a:prstClr val="black"/>
                </a:solidFill>
                <a:latin typeface="Calibri" panose="020F0502020204030204"/>
                <a:cs typeface="Consolas" panose="020B0609020204030204" pitchFamily="49" charset="0"/>
              </a:rPr>
              <a:t>select</a:t>
            </a:r>
            <a:r>
              <a:rPr lang="ru-RU" altLang="ru-RU" sz="2000" dirty="0">
                <a:solidFill>
                  <a:prstClr val="black"/>
                </a:solidFill>
                <a:latin typeface="Calibri" panose="020F0502020204030204"/>
                <a:cs typeface="Consolas" panose="020B0609020204030204" pitchFamily="49" charset="0"/>
              </a:rPr>
              <a:t>, </a:t>
            </a:r>
            <a:r>
              <a:rPr lang="ru-RU" altLang="ru-RU" sz="2000" dirty="0" err="1">
                <a:solidFill>
                  <a:prstClr val="black"/>
                </a:solidFill>
                <a:latin typeface="Calibri" panose="020F0502020204030204"/>
                <a:cs typeface="Consolas" panose="020B0609020204030204" pitchFamily="49" charset="0"/>
              </a:rPr>
              <a:t>update</a:t>
            </a:r>
            <a:r>
              <a:rPr lang="ru-RU" altLang="ru-RU" sz="2000" dirty="0">
                <a:solidFill>
                  <a:prstClr val="black"/>
                </a:solidFill>
                <a:latin typeface="Calibri" panose="020F0502020204030204"/>
                <a:cs typeface="Consolas" panose="020B0609020204030204" pitchFamily="49" charset="0"/>
              </a:rPr>
              <a:t> ON "</a:t>
            </a:r>
            <a:r>
              <a:rPr lang="en-US" altLang="ru-RU" sz="2000" dirty="0">
                <a:solidFill>
                  <a:prstClr val="black"/>
                </a:solidFill>
                <a:latin typeface="Calibri" panose="020F0502020204030204"/>
                <a:cs typeface="Consolas" panose="020B0609020204030204" pitchFamily="49" charset="0"/>
              </a:rPr>
              <a:t>HR</a:t>
            </a:r>
            <a:r>
              <a:rPr lang="ru-RU" altLang="ru-RU" sz="2000" dirty="0">
                <a:solidFill>
                  <a:prstClr val="black"/>
                </a:solidFill>
                <a:latin typeface="Calibri" panose="020F0502020204030204"/>
                <a:cs typeface="Consolas" panose="020B0609020204030204" pitchFamily="49" charset="0"/>
              </a:rPr>
              <a:t>"."EMP" TO </a:t>
            </a:r>
            <a:r>
              <a:rPr lang="ru-RU" altLang="ru-RU" sz="2000" dirty="0" err="1">
                <a:solidFill>
                  <a:prstClr val="black"/>
                </a:solidFill>
                <a:latin typeface="Calibri" panose="020F0502020204030204"/>
                <a:cs typeface="Consolas" panose="020B0609020204030204" pitchFamily="49" charset="0"/>
              </a:rPr>
              <a:t>public</a:t>
            </a:r>
            <a:r>
              <a:rPr lang="ru-RU" altLang="ru-RU" sz="2000" dirty="0">
                <a:solidFill>
                  <a:prstClr val="black"/>
                </a:solidFill>
                <a:latin typeface="Calibri" panose="020F0502020204030204"/>
                <a:cs typeface="Consolas" panose="020B0609020204030204" pitchFamily="49" charset="0"/>
              </a:rPr>
              <a:t>;</a:t>
            </a:r>
            <a:r>
              <a:rPr lang="ru-RU" altLang="ru-RU" sz="2000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880534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71500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  <a:latin typeface="+mn-lt"/>
              </a:rPr>
              <a:t>Разбираем скрипт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0292" y="668215"/>
            <a:ext cx="11034346" cy="61897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SELECT </a:t>
            </a:r>
            <a:r>
              <a:rPr lang="en-US" sz="2000" dirty="0" err="1"/>
              <a:t>dbms_metadata.get_ddl</a:t>
            </a:r>
            <a:r>
              <a:rPr lang="en-US" sz="2000" dirty="0"/>
              <a:t>('USER', USERNAME) || '/' DDL</a:t>
            </a:r>
          </a:p>
          <a:p>
            <a:pPr marL="0" indent="0">
              <a:buNone/>
            </a:pPr>
            <a:r>
              <a:rPr lang="en-US" sz="2000" dirty="0"/>
              <a:t>FROM </a:t>
            </a:r>
            <a:r>
              <a:rPr lang="en-US" sz="2000" dirty="0" err="1"/>
              <a:t>dba_users</a:t>
            </a:r>
            <a:r>
              <a:rPr lang="en-US" sz="2000" dirty="0"/>
              <a:t> where username = 'HR'</a:t>
            </a:r>
          </a:p>
          <a:p>
            <a:pPr marL="0" indent="0">
              <a:buNone/>
            </a:pPr>
            <a:r>
              <a:rPr lang="en-US" sz="2000" dirty="0"/>
              <a:t>UNION ALL</a:t>
            </a:r>
          </a:p>
          <a:p>
            <a:pPr marL="0" indent="0">
              <a:buNone/>
            </a:pPr>
            <a:r>
              <a:rPr lang="en-US" sz="2000" dirty="0"/>
              <a:t>SELECT </a:t>
            </a:r>
            <a:r>
              <a:rPr lang="en-US" sz="2000" dirty="0" err="1"/>
              <a:t>dbms_metadata.get_granted_ddl</a:t>
            </a:r>
            <a:r>
              <a:rPr lang="en-US" sz="2000" dirty="0"/>
              <a:t>('TABLESPACE_QUOTA', USERNAME) || '/' DDL</a:t>
            </a:r>
          </a:p>
          <a:p>
            <a:pPr marL="0" indent="0">
              <a:buNone/>
            </a:pPr>
            <a:r>
              <a:rPr lang="en-US" sz="2000" dirty="0"/>
              <a:t>FROM </a:t>
            </a:r>
            <a:r>
              <a:rPr lang="en-US" sz="2000" dirty="0" err="1"/>
              <a:t>dba_users</a:t>
            </a:r>
            <a:r>
              <a:rPr lang="en-US" sz="2000" dirty="0"/>
              <a:t> WHERE username IN (SELECT username FROM </a:t>
            </a:r>
            <a:r>
              <a:rPr lang="en-US" sz="2000" dirty="0" err="1"/>
              <a:t>dba_ts_quotas</a:t>
            </a:r>
            <a:r>
              <a:rPr lang="en-US" sz="2000" dirty="0"/>
              <a:t> WHERE username = 'HR')</a:t>
            </a:r>
          </a:p>
          <a:p>
            <a:pPr marL="0" indent="0">
              <a:buNone/>
            </a:pPr>
            <a:r>
              <a:rPr lang="en-US" sz="2000" dirty="0"/>
              <a:t>UNION ALL</a:t>
            </a:r>
          </a:p>
          <a:p>
            <a:pPr marL="0" indent="0">
              <a:buNone/>
            </a:pPr>
            <a:r>
              <a:rPr lang="en-US" sz="2000" dirty="0"/>
              <a:t>SELECT </a:t>
            </a:r>
            <a:r>
              <a:rPr lang="en-US" sz="2000" dirty="0" err="1"/>
              <a:t>dbms_metadata.get_granted_ddl</a:t>
            </a:r>
            <a:r>
              <a:rPr lang="en-US" sz="2000" dirty="0"/>
              <a:t>('ROLE_GRANT', USERNAME) || '/' DDL</a:t>
            </a:r>
          </a:p>
          <a:p>
            <a:pPr marL="0" indent="0">
              <a:buNone/>
            </a:pPr>
            <a:r>
              <a:rPr lang="en-US" sz="2000" dirty="0"/>
              <a:t>FROM </a:t>
            </a:r>
            <a:r>
              <a:rPr lang="en-US" sz="2000" dirty="0" err="1"/>
              <a:t>dba_users</a:t>
            </a:r>
            <a:r>
              <a:rPr lang="en-US" sz="2000" dirty="0"/>
              <a:t> WHERE username IN (select grantee from </a:t>
            </a:r>
            <a:r>
              <a:rPr lang="en-US" sz="2000" dirty="0" err="1"/>
              <a:t>dba_role_privs</a:t>
            </a:r>
            <a:r>
              <a:rPr lang="en-US" sz="2000" dirty="0"/>
              <a:t> where grantee = 'HR') </a:t>
            </a:r>
          </a:p>
          <a:p>
            <a:pPr marL="0" indent="0">
              <a:buNone/>
            </a:pPr>
            <a:r>
              <a:rPr lang="en-US" sz="2000" dirty="0"/>
              <a:t>UNION ALL</a:t>
            </a:r>
          </a:p>
          <a:p>
            <a:pPr marL="0" indent="0">
              <a:buNone/>
            </a:pPr>
            <a:r>
              <a:rPr lang="en-US" sz="2000" dirty="0"/>
              <a:t>SELECT </a:t>
            </a:r>
            <a:r>
              <a:rPr lang="en-US" sz="2000" dirty="0" err="1"/>
              <a:t>dbms_metadata.get_granted_ddl</a:t>
            </a:r>
            <a:r>
              <a:rPr lang="en-US" sz="2000" dirty="0"/>
              <a:t>('SYSTEM_GRANT', USERNAME) || '/' DDL</a:t>
            </a:r>
          </a:p>
          <a:p>
            <a:pPr marL="0" indent="0">
              <a:buNone/>
            </a:pPr>
            <a:r>
              <a:rPr lang="en-US" sz="2000" dirty="0"/>
              <a:t>FROM </a:t>
            </a:r>
            <a:r>
              <a:rPr lang="en-US" sz="2000" dirty="0" err="1"/>
              <a:t>dba_users</a:t>
            </a:r>
            <a:r>
              <a:rPr lang="en-US" sz="2000" dirty="0"/>
              <a:t> WHERE username IN (select grantee from </a:t>
            </a:r>
            <a:r>
              <a:rPr lang="en-US" sz="2000" dirty="0" err="1"/>
              <a:t>dba_sys_privs</a:t>
            </a:r>
            <a:r>
              <a:rPr lang="en-US" sz="2000" dirty="0"/>
              <a:t> where grantee = 'HR' ) </a:t>
            </a:r>
          </a:p>
          <a:p>
            <a:pPr marL="0" indent="0">
              <a:buNone/>
            </a:pPr>
            <a:r>
              <a:rPr lang="en-US" sz="2000" dirty="0"/>
              <a:t>UNION ALL</a:t>
            </a:r>
          </a:p>
          <a:p>
            <a:pPr marL="0" indent="0">
              <a:buNone/>
            </a:pPr>
            <a:r>
              <a:rPr lang="en-US" sz="2000" dirty="0"/>
              <a:t>SELECT </a:t>
            </a:r>
            <a:r>
              <a:rPr lang="en-US" sz="2000" dirty="0" err="1"/>
              <a:t>dbms_metadata.get_granted_ddl</a:t>
            </a:r>
            <a:r>
              <a:rPr lang="en-US" sz="2000" dirty="0"/>
              <a:t>('OBJECT_GRANT', USERNAME) || '/' DDL</a:t>
            </a:r>
          </a:p>
          <a:p>
            <a:pPr marL="0" indent="0">
              <a:buNone/>
            </a:pPr>
            <a:r>
              <a:rPr lang="en-US" sz="2000" dirty="0"/>
              <a:t>FROM </a:t>
            </a:r>
            <a:r>
              <a:rPr lang="en-US" sz="2000" dirty="0" err="1"/>
              <a:t>dba_users</a:t>
            </a:r>
            <a:r>
              <a:rPr lang="en-US" sz="2000" dirty="0"/>
              <a:t> WHERE username IN (select grantee from </a:t>
            </a:r>
            <a:r>
              <a:rPr lang="en-US" sz="2000" dirty="0" err="1"/>
              <a:t>dba_tab_privs</a:t>
            </a:r>
            <a:r>
              <a:rPr lang="en-US" sz="2000" dirty="0"/>
              <a:t> where grantee = 'HR');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Результат исполнения на следующем слайде.</a:t>
            </a:r>
            <a:endParaRPr lang="en-US" sz="2000" dirty="0"/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43415172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962900" y="3276601"/>
            <a:ext cx="3390900" cy="29003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 err="1"/>
              <a:t>йй</a:t>
            </a:r>
            <a:endParaRPr lang="ru-RU" sz="2000" dirty="0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0" y="-19049"/>
            <a:ext cx="12192000" cy="700086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  <a:latin typeface="+mn-lt"/>
              </a:rPr>
              <a:t>Результат исполнения скрипта на предыдущем слайде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7" y="725297"/>
            <a:ext cx="9997783" cy="613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35722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5391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  <a:latin typeface="+mn-lt"/>
              </a:rPr>
              <a:t>Примеры </a:t>
            </a:r>
            <a:r>
              <a:rPr lang="en-US" sz="3200" dirty="0" err="1">
                <a:solidFill>
                  <a:srgbClr val="FF0000"/>
                </a:solidFill>
                <a:latin typeface="+mn-lt"/>
              </a:rPr>
              <a:t>get_ddl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53914"/>
            <a:ext cx="10515600" cy="630408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dirty="0"/>
              <a:t>SELECT </a:t>
            </a:r>
            <a:r>
              <a:rPr lang="en-US" sz="2200" dirty="0" err="1"/>
              <a:t>dbms_metadata.get_ddl</a:t>
            </a:r>
            <a:r>
              <a:rPr lang="en-US" sz="2200" dirty="0"/>
              <a:t>('TYPE', ‘</a:t>
            </a:r>
            <a:r>
              <a:rPr lang="ru-RU" sz="2200" dirty="0" err="1"/>
              <a:t>имя_типа</a:t>
            </a:r>
            <a:r>
              <a:rPr lang="en-US" sz="2200" dirty="0"/>
              <a:t>') FROM dual</a:t>
            </a:r>
            <a:r>
              <a:rPr lang="ru-RU" sz="2200" dirty="0"/>
              <a:t>;</a:t>
            </a:r>
          </a:p>
          <a:p>
            <a:pPr marL="0" indent="0">
              <a:buNone/>
            </a:pPr>
            <a:r>
              <a:rPr lang="en-US" sz="2200" dirty="0"/>
              <a:t>SELECT </a:t>
            </a:r>
            <a:r>
              <a:rPr lang="en-US" sz="2200" dirty="0" err="1"/>
              <a:t>dbms_metadata.get_ddl</a:t>
            </a:r>
            <a:r>
              <a:rPr lang="en-US" sz="2200" dirty="0"/>
              <a:t>('ROLE', role) FROM </a:t>
            </a:r>
            <a:r>
              <a:rPr lang="en-US" sz="2200" dirty="0" err="1"/>
              <a:t>dba_roles</a:t>
            </a:r>
            <a:r>
              <a:rPr lang="en-US" sz="2200" dirty="0"/>
              <a:t>;</a:t>
            </a:r>
          </a:p>
          <a:p>
            <a:pPr marL="0" indent="0">
              <a:buNone/>
            </a:pPr>
            <a:r>
              <a:rPr lang="en-US" sz="2200" dirty="0"/>
              <a:t>SELECT </a:t>
            </a:r>
            <a:r>
              <a:rPr lang="en-US" sz="2200" dirty="0" err="1"/>
              <a:t>dbms_metadata.get_granted_ddl</a:t>
            </a:r>
            <a:r>
              <a:rPr lang="en-US" sz="2200" dirty="0"/>
              <a:t>('ROLE_GRANT',  '&amp;&amp;</a:t>
            </a:r>
            <a:r>
              <a:rPr lang="en-US" sz="2200" dirty="0" err="1"/>
              <a:t>your_role_name</a:t>
            </a:r>
            <a:r>
              <a:rPr lang="en-US" sz="2200" dirty="0"/>
              <a:t>') FROM dual;</a:t>
            </a:r>
          </a:p>
          <a:p>
            <a:pPr marL="0" indent="0">
              <a:buNone/>
            </a:pPr>
            <a:r>
              <a:rPr lang="en-US" sz="2200" dirty="0"/>
              <a:t>SELECT </a:t>
            </a:r>
            <a:r>
              <a:rPr lang="en-US" sz="2200" dirty="0" err="1"/>
              <a:t>dbms_metadata.get_granted_ddl</a:t>
            </a:r>
            <a:r>
              <a:rPr lang="en-US" sz="2200" dirty="0"/>
              <a:t>('SYSTEM_GRANT','&amp;&amp;</a:t>
            </a:r>
            <a:r>
              <a:rPr lang="en-US" sz="2200" dirty="0" err="1"/>
              <a:t>your_role_name</a:t>
            </a:r>
            <a:r>
              <a:rPr lang="en-US" sz="2200" dirty="0"/>
              <a:t>') FROM dual;</a:t>
            </a:r>
          </a:p>
          <a:p>
            <a:pPr marL="0" indent="0">
              <a:buNone/>
            </a:pPr>
            <a:r>
              <a:rPr lang="en-US" sz="2200" dirty="0"/>
              <a:t>SELECT </a:t>
            </a:r>
            <a:r>
              <a:rPr lang="en-US" sz="2200" dirty="0" err="1"/>
              <a:t>dbms_metadata.get_granted_ddl</a:t>
            </a:r>
            <a:r>
              <a:rPr lang="en-US" sz="2200" dirty="0"/>
              <a:t>('OBJECT_GRANT','&amp;&amp;</a:t>
            </a:r>
            <a:r>
              <a:rPr lang="en-US" sz="2200" dirty="0" err="1"/>
              <a:t>your_role_name</a:t>
            </a:r>
            <a:r>
              <a:rPr lang="en-US" sz="2200" dirty="0"/>
              <a:t>') FROM dual;</a:t>
            </a:r>
            <a:endParaRPr lang="ru-RU" sz="2200" dirty="0"/>
          </a:p>
          <a:p>
            <a:pPr marL="0" indent="0">
              <a:buNone/>
            </a:pPr>
            <a:r>
              <a:rPr lang="en-US" sz="2200" dirty="0"/>
              <a:t>SELECT </a:t>
            </a:r>
            <a:r>
              <a:rPr lang="en-US" sz="2200" dirty="0" err="1"/>
              <a:t>dbms_metadata.get_ddl</a:t>
            </a:r>
            <a:r>
              <a:rPr lang="en-US" sz="2200" dirty="0"/>
              <a:t>('TRIGGER', ‘</a:t>
            </a:r>
            <a:r>
              <a:rPr lang="ru-RU" sz="2200" dirty="0" err="1"/>
              <a:t>имя_триггера</a:t>
            </a:r>
            <a:r>
              <a:rPr lang="en-US" sz="2200" dirty="0"/>
              <a:t>', ‘</a:t>
            </a:r>
            <a:r>
              <a:rPr lang="ru-RU" sz="2200" dirty="0" err="1"/>
              <a:t>имя_схемы</a:t>
            </a:r>
            <a:r>
              <a:rPr lang="en-US" sz="2200" dirty="0"/>
              <a:t>') FROM dual;</a:t>
            </a:r>
          </a:p>
          <a:p>
            <a:pPr marL="0" indent="0">
              <a:buNone/>
            </a:pPr>
            <a:r>
              <a:rPr lang="en-US" sz="2200" dirty="0"/>
              <a:t>SELECT </a:t>
            </a:r>
            <a:r>
              <a:rPr lang="en-US" sz="2200" dirty="0" err="1"/>
              <a:t>dbms_metadata.get_ddl</a:t>
            </a:r>
            <a:r>
              <a:rPr lang="en-US" sz="2200" dirty="0"/>
              <a:t>('DB_LINK', </a:t>
            </a:r>
            <a:r>
              <a:rPr lang="en-US" sz="2200" dirty="0" err="1"/>
              <a:t>a.db_link</a:t>
            </a:r>
            <a:r>
              <a:rPr lang="en-US" sz="2200" dirty="0"/>
              <a:t>, </a:t>
            </a:r>
            <a:r>
              <a:rPr lang="en-US" sz="2200" dirty="0" err="1"/>
              <a:t>a.owner</a:t>
            </a:r>
            <a:r>
              <a:rPr lang="en-US" sz="2200" dirty="0"/>
              <a:t>) || '/' FROM </a:t>
            </a:r>
            <a:r>
              <a:rPr lang="en-US" sz="2200" dirty="0" err="1"/>
              <a:t>dba_db_links</a:t>
            </a:r>
            <a:r>
              <a:rPr lang="en-US" sz="2200" dirty="0"/>
              <a:t> a;</a:t>
            </a:r>
            <a:endParaRPr lang="ru-RU" sz="2200" dirty="0"/>
          </a:p>
          <a:p>
            <a:pPr marL="0" indent="0">
              <a:buNone/>
            </a:pPr>
            <a:r>
              <a:rPr lang="ru-RU" sz="2200" dirty="0"/>
              <a:t>      Изменение свойств выдаваемого результата.</a:t>
            </a:r>
          </a:p>
          <a:p>
            <a:pPr marL="0" indent="0">
              <a:buNone/>
            </a:pPr>
            <a:r>
              <a:rPr lang="ru-RU" sz="2200" dirty="0"/>
              <a:t>      Контрольный запрос:</a:t>
            </a:r>
          </a:p>
          <a:p>
            <a:pPr marL="0" indent="0">
              <a:buNone/>
            </a:pPr>
            <a:r>
              <a:rPr lang="en-US" sz="2200" dirty="0"/>
              <a:t>set </a:t>
            </a:r>
            <a:r>
              <a:rPr lang="en-US" sz="2200" dirty="0" err="1"/>
              <a:t>pagesize</a:t>
            </a:r>
            <a:r>
              <a:rPr lang="en-US" sz="2200" dirty="0"/>
              <a:t> 0</a:t>
            </a:r>
            <a:r>
              <a:rPr lang="ru-RU" sz="2200" dirty="0"/>
              <a:t>  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set long 90000</a:t>
            </a:r>
          </a:p>
          <a:p>
            <a:pPr marL="0" indent="0">
              <a:buNone/>
            </a:pPr>
            <a:r>
              <a:rPr lang="en-US" sz="2200" dirty="0"/>
              <a:t>SELECT </a:t>
            </a:r>
            <a:r>
              <a:rPr lang="en-US" sz="2200" dirty="0" err="1"/>
              <a:t>dbms_metadata.get_ddl</a:t>
            </a:r>
            <a:r>
              <a:rPr lang="en-US" sz="2200" dirty="0"/>
              <a:t>('TABLE','EMP','HR') FROM dual;</a:t>
            </a:r>
          </a:p>
          <a:p>
            <a:pPr marL="0" indent="0">
              <a:buNone/>
            </a:pPr>
            <a:r>
              <a:rPr lang="ru-RU" sz="2200" dirty="0"/>
              <a:t>      Запрещаем вывод распределения памяти (</a:t>
            </a:r>
            <a:r>
              <a:rPr lang="en-US" sz="2200" dirty="0"/>
              <a:t>storage clauses) </a:t>
            </a:r>
            <a:r>
              <a:rPr lang="ru-RU" sz="2200" dirty="0"/>
              <a:t>в выдаваемом </a:t>
            </a:r>
            <a:r>
              <a:rPr lang="en-US" sz="2200" dirty="0"/>
              <a:t>SQL DDL</a:t>
            </a:r>
            <a:r>
              <a:rPr lang="ru-RU" sz="2200" dirty="0"/>
              <a:t>:</a:t>
            </a:r>
          </a:p>
          <a:p>
            <a:pPr marL="0" indent="0">
              <a:buNone/>
            </a:pPr>
            <a:r>
              <a:rPr lang="en-US" sz="2200" dirty="0"/>
              <a:t>EXECUTE </a:t>
            </a:r>
            <a:r>
              <a:rPr lang="en-US" sz="2200" dirty="0" err="1"/>
              <a:t>dbms_metadata.set_transform_param</a:t>
            </a:r>
            <a:r>
              <a:rPr lang="en-US" sz="2200" dirty="0"/>
              <a:t>(</a:t>
            </a:r>
            <a:r>
              <a:rPr lang="en-US" sz="2200" dirty="0" err="1"/>
              <a:t>dbms_metadata.session_transform,'STORAGE',false</a:t>
            </a:r>
            <a:r>
              <a:rPr lang="en-US" sz="2200" dirty="0"/>
              <a:t>);</a:t>
            </a:r>
            <a:endParaRPr lang="ru-RU" sz="2200" dirty="0"/>
          </a:p>
          <a:p>
            <a:pPr marL="0" lvl="0" indent="0">
              <a:buNone/>
            </a:pPr>
            <a:r>
              <a:rPr lang="ru-RU" sz="2200" dirty="0">
                <a:solidFill>
                  <a:prstClr val="black"/>
                </a:solidFill>
              </a:rPr>
              <a:t>      Повторяем запрос.    </a:t>
            </a:r>
          </a:p>
          <a:p>
            <a:pPr marL="0" indent="0">
              <a:buNone/>
            </a:pPr>
            <a:r>
              <a:rPr lang="ru-RU" sz="2200" dirty="0"/>
              <a:t>      Возвращаем параметры по умолчанию:</a:t>
            </a:r>
          </a:p>
          <a:p>
            <a:pPr marL="0" indent="0">
              <a:buNone/>
            </a:pPr>
            <a:r>
              <a:rPr lang="en-US" sz="2200" dirty="0"/>
              <a:t>EXECUTE </a:t>
            </a:r>
            <a:r>
              <a:rPr lang="en-US" sz="2200" dirty="0" err="1"/>
              <a:t>dbms_metadata.set_transform_param</a:t>
            </a:r>
            <a:r>
              <a:rPr lang="en-US" sz="2200" dirty="0"/>
              <a:t>(</a:t>
            </a:r>
            <a:r>
              <a:rPr lang="en-US" sz="2200" dirty="0" err="1"/>
              <a:t>dbms_metadata.session_transform,'DEFAULT</a:t>
            </a:r>
            <a:r>
              <a:rPr lang="en-US" sz="2200" dirty="0"/>
              <a:t>');</a:t>
            </a: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11850055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33238" y="3423652"/>
            <a:ext cx="9868407" cy="34470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Исправьте текст – кодировки</a:t>
            </a:r>
            <a:endParaRPr lang="en-US"/>
          </a:p>
          <a:p>
            <a:endParaRPr lang="en-US" dirty="0"/>
          </a:p>
          <a:p>
            <a:r>
              <a:rPr lang="en-US" sz="1400" dirty="0"/>
              <a:t>SELECT OWNER, </a:t>
            </a:r>
          </a:p>
          <a:p>
            <a:r>
              <a:rPr lang="en-US" sz="1400" dirty="0"/>
              <a:t>  CASE </a:t>
            </a:r>
          </a:p>
          <a:p>
            <a:r>
              <a:rPr lang="en-US" sz="1400" dirty="0"/>
              <a:t>    WHEN (S.BYTES / 1024 / 1024 / 1024 / 1024) &gt; 1 THEN TO_CHAR(S.BYTES / 1024 / 1024 / 1024 / 1024) || ' PB' --Petabytes</a:t>
            </a:r>
          </a:p>
          <a:p>
            <a:r>
              <a:rPr lang="en-US" sz="1400" dirty="0"/>
              <a:t>	WHEN (S.BYTES / 1024 / 1024 / 1024 / 1024) &gt; 1 THEN TO_CHAR(S.BYTES / 1024 / 1024 / 1024 / 1024) || ' TB' --Terabyte</a:t>
            </a:r>
          </a:p>
          <a:p>
            <a:r>
              <a:rPr lang="en-US" sz="1400" dirty="0"/>
              <a:t>	WHEN (S.BYTES / 1024 / 1024 / 1024) &gt; 1 THEN TO_CHAR(S.BYTES / 1024 / 1024 / 1024) || ' GB' --Gigabyte </a:t>
            </a:r>
          </a:p>
          <a:p>
            <a:r>
              <a:rPr lang="en-US" sz="1400" dirty="0"/>
              <a:t>	WHEN (S.BYTES / 1024 / 1024) &gt; 1 THEN TO_CHAR(S.BYTES / 1024 / 1024) || ' MB' --Megabyte</a:t>
            </a:r>
          </a:p>
          <a:p>
            <a:r>
              <a:rPr lang="en-US" sz="1400" dirty="0"/>
              <a:t>	WHEN (S.BYTES / 1024) &gt; 1 THEN TO_CHAR(S.BYTES / 1024) || ' KB' --Kilobyte</a:t>
            </a:r>
          </a:p>
          <a:p>
            <a:r>
              <a:rPr lang="en-US" sz="1400" dirty="0"/>
              <a:t>	ELSE TO_CHAR(S.BYTES) || ' B' --Byte</a:t>
            </a:r>
          </a:p>
          <a:p>
            <a:r>
              <a:rPr lang="en-US" sz="1400" dirty="0"/>
              <a:t>	  END CASE</a:t>
            </a:r>
          </a:p>
          <a:p>
            <a:r>
              <a:rPr lang="en-US" sz="1400" dirty="0"/>
              <a:t>	FROM (SELECT OWNER, SUM(BYTES) AS BYTES</a:t>
            </a:r>
          </a:p>
          <a:p>
            <a:r>
              <a:rPr lang="en-US" sz="1400" dirty="0"/>
              <a:t>	FROM DBA_SEGMENTS</a:t>
            </a:r>
          </a:p>
          <a:p>
            <a:r>
              <a:rPr lang="en-US" sz="1400" dirty="0"/>
              <a:t>	GROUP BY OWNER) S</a:t>
            </a:r>
          </a:p>
          <a:p>
            <a:r>
              <a:rPr lang="en-US" sz="1400" dirty="0"/>
              <a:t>	ORDER BY S.BYTES DESC;</a:t>
            </a:r>
            <a:endParaRPr lang="ru-RU" sz="1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72278" y="1022995"/>
            <a:ext cx="7464951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rgbClr val="993333"/>
                </a:solidFill>
                <a:latin typeface="Andale Mono"/>
              </a:rPr>
              <a:t>SELECT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br>
              <a:rPr lang="en-US" sz="1000" dirty="0">
                <a:solidFill>
                  <a:prstClr val="black"/>
                </a:solidFill>
              </a:rPr>
            </a:br>
            <a:r>
              <a:rPr lang="en-US" sz="1000" dirty="0">
                <a:solidFill>
                  <a:srgbClr val="444444"/>
                </a:solidFill>
                <a:latin typeface="Andale Mono"/>
              </a:rPr>
              <a:t>  OWNER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,</a:t>
            </a:r>
            <a:br>
              <a:rPr lang="en-US" sz="1000" dirty="0">
                <a:solidFill>
                  <a:prstClr val="black"/>
                </a:solidFill>
              </a:rPr>
            </a:br>
            <a:r>
              <a:rPr lang="en-US" sz="1000" dirty="0">
                <a:solidFill>
                  <a:srgbClr val="444444"/>
                </a:solidFill>
                <a:latin typeface="Andale Mono"/>
              </a:rPr>
              <a:t>  </a:t>
            </a:r>
            <a:r>
              <a:rPr lang="en-US" sz="1000" b="1" dirty="0">
                <a:solidFill>
                  <a:srgbClr val="993333"/>
                </a:solidFill>
                <a:latin typeface="Andale Mono"/>
              </a:rPr>
              <a:t>CASE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br>
              <a:rPr lang="en-US" sz="1000" dirty="0">
                <a:solidFill>
                  <a:prstClr val="black"/>
                </a:solidFill>
              </a:rPr>
            </a:br>
            <a:r>
              <a:rPr lang="en-US" sz="1000" dirty="0">
                <a:solidFill>
                  <a:srgbClr val="444444"/>
                </a:solidFill>
                <a:latin typeface="Andale Mono"/>
              </a:rPr>
              <a:t>    </a:t>
            </a:r>
            <a:r>
              <a:rPr lang="en-US" sz="1000" b="1" dirty="0">
                <a:solidFill>
                  <a:srgbClr val="993333"/>
                </a:solidFill>
                <a:latin typeface="Andale Mono"/>
              </a:rPr>
              <a:t>WHEN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(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S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.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BYTES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/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1024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/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1024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/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1024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/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1024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)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&gt;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b="1" dirty="0">
                <a:solidFill>
                  <a:srgbClr val="993333"/>
                </a:solidFill>
                <a:latin typeface="Andale Mono"/>
              </a:rPr>
              <a:t>THEN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TO_CHAR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(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S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.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BYTES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/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1024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/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1024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/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1024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/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1024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)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||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FF0000"/>
                </a:solidFill>
                <a:latin typeface="Andale Mono"/>
              </a:rPr>
              <a:t>' PB'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-</a:t>
            </a:r>
            <a:r>
              <a:rPr lang="en-US" sz="1000" i="1" dirty="0">
                <a:solidFill>
                  <a:srgbClr val="808080"/>
                </a:solidFill>
                <a:latin typeface="Andale Mono"/>
              </a:rPr>
              <a:t>-Petabytes</a:t>
            </a:r>
            <a:br>
              <a:rPr lang="en-US" sz="1000" dirty="0">
                <a:solidFill>
                  <a:prstClr val="black"/>
                </a:solidFill>
              </a:rPr>
            </a:br>
            <a:r>
              <a:rPr lang="en-US" sz="1000" dirty="0">
                <a:solidFill>
                  <a:srgbClr val="444444"/>
                </a:solidFill>
                <a:latin typeface="Andale Mono"/>
              </a:rPr>
              <a:t>    </a:t>
            </a:r>
            <a:r>
              <a:rPr lang="en-US" sz="1000" b="1" dirty="0">
                <a:solidFill>
                  <a:srgbClr val="993333"/>
                </a:solidFill>
                <a:latin typeface="Andale Mono"/>
              </a:rPr>
              <a:t>WHEN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(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S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.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BYTES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/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1024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/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1024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/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1024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/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1024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)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&gt;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b="1" dirty="0">
                <a:solidFill>
                  <a:srgbClr val="993333"/>
                </a:solidFill>
                <a:latin typeface="Andale Mono"/>
              </a:rPr>
              <a:t>THEN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TO_CHAR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(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S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.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BYTES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/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1024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/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1024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/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1024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/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1024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)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||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FF0000"/>
                </a:solidFill>
                <a:latin typeface="Andale Mono"/>
              </a:rPr>
              <a:t>' TB'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i="1" dirty="0">
                <a:solidFill>
                  <a:srgbClr val="808080"/>
                </a:solidFill>
                <a:latin typeface="Andale Mono"/>
              </a:rPr>
              <a:t>--Terabyte</a:t>
            </a:r>
            <a:br>
              <a:rPr lang="en-US" sz="1000" dirty="0">
                <a:solidFill>
                  <a:prstClr val="black"/>
                </a:solidFill>
              </a:rPr>
            </a:br>
            <a:r>
              <a:rPr lang="en-US" sz="1000" dirty="0">
                <a:solidFill>
                  <a:srgbClr val="444444"/>
                </a:solidFill>
                <a:latin typeface="Andale Mono"/>
              </a:rPr>
              <a:t>    </a:t>
            </a:r>
            <a:r>
              <a:rPr lang="en-US" sz="1000" b="1" dirty="0">
                <a:solidFill>
                  <a:srgbClr val="993333"/>
                </a:solidFill>
                <a:latin typeface="Andale Mono"/>
              </a:rPr>
              <a:t>WHEN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(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S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.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BYTES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/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1024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/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1024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/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1024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)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&gt;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b="1" dirty="0">
                <a:solidFill>
                  <a:srgbClr val="993333"/>
                </a:solidFill>
                <a:latin typeface="Andale Mono"/>
              </a:rPr>
              <a:t>THEN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TO_CHAR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(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S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.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BYTES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/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1024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/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1024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/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1024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)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||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FF0000"/>
                </a:solidFill>
                <a:latin typeface="Andale Mono"/>
              </a:rPr>
              <a:t>' GB'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i="1" dirty="0">
                <a:solidFill>
                  <a:srgbClr val="808080"/>
                </a:solidFill>
                <a:latin typeface="Andale Mono"/>
              </a:rPr>
              <a:t>--Gigabyte</a:t>
            </a:r>
            <a:br>
              <a:rPr lang="en-US" sz="1000" dirty="0">
                <a:solidFill>
                  <a:prstClr val="black"/>
                </a:solidFill>
              </a:rPr>
            </a:br>
            <a:r>
              <a:rPr lang="en-US" sz="1000" dirty="0">
                <a:solidFill>
                  <a:srgbClr val="444444"/>
                </a:solidFill>
                <a:latin typeface="Andale Mono"/>
              </a:rPr>
              <a:t>    </a:t>
            </a:r>
            <a:r>
              <a:rPr lang="en-US" sz="1000" b="1" dirty="0">
                <a:solidFill>
                  <a:srgbClr val="993333"/>
                </a:solidFill>
                <a:latin typeface="Andale Mono"/>
              </a:rPr>
              <a:t>WHEN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(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S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.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BYTES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/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1024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/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1024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)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&gt;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b="1" dirty="0">
                <a:solidFill>
                  <a:srgbClr val="993333"/>
                </a:solidFill>
                <a:latin typeface="Andale Mono"/>
              </a:rPr>
              <a:t>THEN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TO_CHAR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(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S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.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BYTES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/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1024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/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1024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)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||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FF0000"/>
                </a:solidFill>
                <a:latin typeface="Andale Mono"/>
              </a:rPr>
              <a:t>' MB'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i="1" dirty="0">
                <a:solidFill>
                  <a:srgbClr val="808080"/>
                </a:solidFill>
                <a:latin typeface="Andale Mono"/>
              </a:rPr>
              <a:t>--Megabyte</a:t>
            </a:r>
            <a:br>
              <a:rPr lang="en-US" sz="1000" dirty="0">
                <a:solidFill>
                  <a:prstClr val="black"/>
                </a:solidFill>
              </a:rPr>
            </a:br>
            <a:r>
              <a:rPr lang="en-US" sz="1000" dirty="0">
                <a:solidFill>
                  <a:srgbClr val="444444"/>
                </a:solidFill>
                <a:latin typeface="Andale Mono"/>
              </a:rPr>
              <a:t>    </a:t>
            </a:r>
            <a:r>
              <a:rPr lang="en-US" sz="1000" b="1" dirty="0">
                <a:solidFill>
                  <a:srgbClr val="993333"/>
                </a:solidFill>
                <a:latin typeface="Andale Mono"/>
              </a:rPr>
              <a:t>WHEN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(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S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.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BYTES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/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1024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)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&gt;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b="1" dirty="0">
                <a:solidFill>
                  <a:srgbClr val="993333"/>
                </a:solidFill>
                <a:latin typeface="Andale Mono"/>
              </a:rPr>
              <a:t>THEN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TO_CHAR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(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S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.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BYTES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/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CC66CC"/>
                </a:solidFill>
                <a:latin typeface="Andale Mono"/>
              </a:rPr>
              <a:t>1024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)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||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FF0000"/>
                </a:solidFill>
                <a:latin typeface="Andale Mono"/>
              </a:rPr>
              <a:t>' KB'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i="1" dirty="0">
                <a:solidFill>
                  <a:srgbClr val="808080"/>
                </a:solidFill>
                <a:latin typeface="Andale Mono"/>
              </a:rPr>
              <a:t>--Kilobyte</a:t>
            </a:r>
            <a:br>
              <a:rPr lang="en-US" sz="1000" dirty="0">
                <a:solidFill>
                  <a:prstClr val="black"/>
                </a:solidFill>
              </a:rPr>
            </a:br>
            <a:r>
              <a:rPr lang="en-US" sz="1000" dirty="0">
                <a:solidFill>
                  <a:srgbClr val="444444"/>
                </a:solidFill>
                <a:latin typeface="Andale Mono"/>
              </a:rPr>
              <a:t>   </a:t>
            </a:r>
            <a:r>
              <a:rPr lang="en-US" sz="1000" b="1" dirty="0">
                <a:solidFill>
                  <a:srgbClr val="993333"/>
                </a:solidFill>
                <a:latin typeface="Andale Mono"/>
              </a:rPr>
              <a:t>ELSE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TO_CHAR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(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S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.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BYTES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)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||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FF0000"/>
                </a:solidFill>
                <a:latin typeface="Andale Mono"/>
              </a:rPr>
              <a:t>' B'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i="1" dirty="0">
                <a:solidFill>
                  <a:srgbClr val="808080"/>
                </a:solidFill>
                <a:latin typeface="Andale Mono"/>
              </a:rPr>
              <a:t>--Byte</a:t>
            </a:r>
            <a:br>
              <a:rPr lang="en-US" sz="1000" dirty="0">
                <a:solidFill>
                  <a:prstClr val="black"/>
                </a:solidFill>
              </a:rPr>
            </a:br>
            <a:r>
              <a:rPr lang="en-US" sz="1000" dirty="0">
                <a:solidFill>
                  <a:srgbClr val="444444"/>
                </a:solidFill>
                <a:latin typeface="Andale Mono"/>
              </a:rPr>
              <a:t>  </a:t>
            </a:r>
            <a:r>
              <a:rPr lang="en-US" sz="1000" b="1" dirty="0">
                <a:solidFill>
                  <a:srgbClr val="993333"/>
                </a:solidFill>
                <a:latin typeface="Andale Mono"/>
              </a:rPr>
              <a:t>END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b="1" dirty="0">
                <a:solidFill>
                  <a:srgbClr val="993333"/>
                </a:solidFill>
                <a:latin typeface="Andale Mono"/>
              </a:rPr>
              <a:t>CASE</a:t>
            </a:r>
            <a:br>
              <a:rPr lang="en-US" sz="1000" dirty="0">
                <a:solidFill>
                  <a:prstClr val="black"/>
                </a:solidFill>
              </a:rPr>
            </a:br>
            <a:r>
              <a:rPr lang="en-US" sz="1000" dirty="0">
                <a:solidFill>
                  <a:srgbClr val="444444"/>
                </a:solidFill>
                <a:latin typeface="Andale Mono"/>
              </a:rPr>
              <a:t>  </a:t>
            </a:r>
            <a:r>
              <a:rPr lang="en-US" sz="1000" b="1" dirty="0">
                <a:solidFill>
                  <a:srgbClr val="993333"/>
                </a:solidFill>
                <a:latin typeface="Andale Mono"/>
              </a:rPr>
              <a:t>FROM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(</a:t>
            </a:r>
            <a:r>
              <a:rPr lang="en-US" sz="1000" b="1" dirty="0">
                <a:solidFill>
                  <a:srgbClr val="993333"/>
                </a:solidFill>
                <a:latin typeface="Andale Mono"/>
              </a:rPr>
              <a:t>SELECT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OWNER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,</a:t>
            </a:r>
            <a:br>
              <a:rPr lang="en-US" sz="1000" dirty="0">
                <a:solidFill>
                  <a:prstClr val="black"/>
                </a:solidFill>
              </a:rPr>
            </a:br>
            <a:r>
              <a:rPr lang="en-US" sz="1000" dirty="0">
                <a:solidFill>
                  <a:srgbClr val="444444"/>
                </a:solidFill>
                <a:latin typeface="Andale Mono"/>
              </a:rPr>
              <a:t>               </a:t>
            </a:r>
            <a:r>
              <a:rPr lang="en-US" sz="1000" b="1" dirty="0">
                <a:solidFill>
                  <a:srgbClr val="993333"/>
                </a:solidFill>
                <a:latin typeface="Andale Mono"/>
              </a:rPr>
              <a:t>SUM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(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BYTES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)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b="1" dirty="0">
                <a:solidFill>
                  <a:srgbClr val="993333"/>
                </a:solidFill>
                <a:latin typeface="Andale Mono"/>
              </a:rPr>
              <a:t>AS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BYTES</a:t>
            </a:r>
            <a:br>
              <a:rPr lang="en-US" sz="1000" dirty="0">
                <a:solidFill>
                  <a:prstClr val="black"/>
                </a:solidFill>
              </a:rPr>
            </a:br>
            <a:r>
              <a:rPr lang="en-US" sz="1000" dirty="0">
                <a:solidFill>
                  <a:srgbClr val="444444"/>
                </a:solidFill>
                <a:latin typeface="Andale Mono"/>
              </a:rPr>
              <a:t>      </a:t>
            </a:r>
            <a:r>
              <a:rPr lang="en-US" sz="1000" b="1" dirty="0">
                <a:solidFill>
                  <a:srgbClr val="993333"/>
                </a:solidFill>
                <a:latin typeface="Andale Mono"/>
              </a:rPr>
              <a:t>FROM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DBA_SEGMENTS</a:t>
            </a:r>
            <a:br>
              <a:rPr lang="en-US" sz="1000" dirty="0">
                <a:solidFill>
                  <a:prstClr val="black"/>
                </a:solidFill>
              </a:rPr>
            </a:br>
            <a:r>
              <a:rPr lang="en-US" sz="1000" dirty="0">
                <a:solidFill>
                  <a:srgbClr val="444444"/>
                </a:solidFill>
                <a:latin typeface="Andale Mono"/>
              </a:rPr>
              <a:t>      </a:t>
            </a:r>
            <a:r>
              <a:rPr lang="en-US" sz="1000" b="1" dirty="0">
                <a:solidFill>
                  <a:srgbClr val="993333"/>
                </a:solidFill>
                <a:latin typeface="Andale Mono"/>
              </a:rPr>
              <a:t>GROUP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b="1" dirty="0">
                <a:solidFill>
                  <a:srgbClr val="993333"/>
                </a:solidFill>
                <a:latin typeface="Andale Mono"/>
              </a:rPr>
              <a:t>BY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OWNER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)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S</a:t>
            </a:r>
            <a:br>
              <a:rPr lang="en-US" sz="1000" dirty="0">
                <a:solidFill>
                  <a:prstClr val="black"/>
                </a:solidFill>
              </a:rPr>
            </a:br>
            <a:r>
              <a:rPr lang="en-US" sz="1000" dirty="0">
                <a:solidFill>
                  <a:srgbClr val="444444"/>
                </a:solidFill>
                <a:latin typeface="Andale Mono"/>
              </a:rPr>
              <a:t>  </a:t>
            </a:r>
            <a:r>
              <a:rPr lang="en-US" sz="1000" b="1" dirty="0">
                <a:solidFill>
                  <a:srgbClr val="993333"/>
                </a:solidFill>
                <a:latin typeface="Andale Mono"/>
              </a:rPr>
              <a:t>ORDER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</a:t>
            </a:r>
            <a:r>
              <a:rPr lang="en-US" sz="1000" b="1" dirty="0">
                <a:solidFill>
                  <a:srgbClr val="993333"/>
                </a:solidFill>
                <a:latin typeface="Andale Mono"/>
              </a:rPr>
              <a:t>BY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 S</a:t>
            </a:r>
            <a:r>
              <a:rPr lang="en-US" sz="1000" dirty="0">
                <a:solidFill>
                  <a:srgbClr val="66CC66"/>
                </a:solidFill>
                <a:latin typeface="Andale Mono"/>
              </a:rPr>
              <a:t>.</a:t>
            </a:r>
            <a:r>
              <a:rPr lang="en-US" sz="1000" dirty="0">
                <a:solidFill>
                  <a:srgbClr val="444444"/>
                </a:solidFill>
                <a:latin typeface="Andale Mono"/>
              </a:rPr>
              <a:t>BYTES </a:t>
            </a:r>
            <a:r>
              <a:rPr lang="en-US" sz="1000" b="1" dirty="0">
                <a:solidFill>
                  <a:srgbClr val="993333"/>
                </a:solidFill>
                <a:latin typeface="Andale Mono"/>
              </a:rPr>
              <a:t>DESC</a:t>
            </a:r>
            <a:endParaRPr lang="ru-RU" sz="1000" dirty="0">
              <a:solidFill>
                <a:prstClr val="black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2278" y="166343"/>
            <a:ext cx="4242968" cy="83514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Сколько места занимает база данных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7100" y="66863"/>
            <a:ext cx="7442621" cy="690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89003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135083"/>
            <a:ext cx="10515600" cy="556346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Маски форматов даты – времени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323" y="847291"/>
            <a:ext cx="10055353" cy="550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10182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00829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solidFill>
                  <a:srgbClr val="FF0000"/>
                </a:solidFill>
              </a:rPr>
              <a:t>Представления </a:t>
            </a:r>
            <a:br>
              <a:rPr lang="ru-RU" sz="3600" dirty="0">
                <a:solidFill>
                  <a:srgbClr val="FF0000"/>
                </a:solidFill>
              </a:rPr>
            </a:br>
            <a:endParaRPr lang="ru-RU" sz="36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4413871"/>
            <a:ext cx="10515600" cy="1763092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79455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39392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Инструкция создания представления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639393"/>
            <a:ext cx="10515600" cy="60707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Синтаксис инструкции создания представления:</a:t>
            </a:r>
          </a:p>
          <a:p>
            <a:pPr marL="0" indent="0">
              <a:buNone/>
            </a:pPr>
            <a:endParaRPr lang="ru-RU" sz="2000" dirty="0"/>
          </a:p>
          <a:p>
            <a:endParaRPr lang="ru-RU" sz="2000" dirty="0"/>
          </a:p>
          <a:p>
            <a:endParaRPr lang="ru-RU" sz="2000" dirty="0"/>
          </a:p>
          <a:p>
            <a:endParaRPr lang="ru-RU" sz="2000" dirty="0"/>
          </a:p>
          <a:p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dirty="0" err="1"/>
              <a:t>subquery_restriction_clause</a:t>
            </a:r>
            <a:r>
              <a:rPr lang="ru-RU" sz="2000" dirty="0"/>
              <a:t> ::=</a:t>
            </a:r>
          </a:p>
          <a:p>
            <a:pPr marL="0" indent="0">
              <a:buNone/>
            </a:pP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01" y="980367"/>
            <a:ext cx="10560263" cy="401102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01" y="5496959"/>
            <a:ext cx="6787493" cy="121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71560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488137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Пояснения к инструкции создания представления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625642"/>
            <a:ext cx="10515600" cy="6008913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ru-RU" sz="2000" dirty="0"/>
              <a:t>Опция FORCE означает, что представление создается независимо от того, существует ли базовая таблица и имеет ли пользователь, создающий представление, привилегии на базовых таблицах, представлениях или функциях, указанных в представлении. </a:t>
            </a:r>
          </a:p>
          <a:p>
            <a:pPr>
              <a:lnSpc>
                <a:spcPct val="100000"/>
              </a:lnSpc>
            </a:pPr>
            <a:r>
              <a:rPr lang="ru-RU" sz="2000" dirty="0"/>
              <a:t>Опция [NO] FORCE означает, что представление создается только в том случае, если существуют базовые таблицы и соответствующие привилегии.</a:t>
            </a:r>
          </a:p>
          <a:p>
            <a:pPr>
              <a:lnSpc>
                <a:spcPct val="100000"/>
              </a:lnSpc>
            </a:pPr>
            <a:r>
              <a:rPr lang="ru-RU" sz="2000" dirty="0"/>
              <a:t>Опция WITH READ ONLY означает, что представление будет использоваться только для извлечения данных, но не для их модификации.</a:t>
            </a:r>
          </a:p>
          <a:p>
            <a:pPr>
              <a:lnSpc>
                <a:spcPct val="100000"/>
              </a:lnSpc>
            </a:pPr>
            <a:r>
              <a:rPr lang="ru-RU" sz="2000" dirty="0"/>
              <a:t>Опция WITH CHECK OPTION [CONSTRAINT </a:t>
            </a:r>
            <a:r>
              <a:rPr lang="ru-RU" sz="2000" dirty="0" err="1"/>
              <a:t>имя_ограничения</a:t>
            </a:r>
            <a:r>
              <a:rPr lang="ru-RU" sz="2000" dirty="0"/>
              <a:t>] означает, что представление будет принимать только те вставленные или обновленные данные, которые можно вернуть при помощи инструкции SELECT заданной к представлению. В качестве альтернативы можно указать одно предложение “CHECK OPTION имя ограничения”, существующее в базовой таблице, соблюдение которого вы хотите обеспечить. </a:t>
            </a:r>
          </a:p>
          <a:p>
            <a:pPr marL="0" indent="360000">
              <a:lnSpc>
                <a:spcPct val="110000"/>
              </a:lnSpc>
              <a:buNone/>
            </a:pPr>
            <a:r>
              <a:rPr lang="ru-RU" sz="2000" dirty="0"/>
              <a:t>Опции, связанные с объектно-реляционной моделью и с </a:t>
            </a:r>
            <a:r>
              <a:rPr lang="en-US" sz="2000" dirty="0"/>
              <a:t>XML</a:t>
            </a:r>
            <a:r>
              <a:rPr lang="ru-RU" sz="2000" dirty="0"/>
              <a:t> не рассматриваем</a:t>
            </a:r>
            <a:r>
              <a:rPr lang="en-US" sz="2000" dirty="0"/>
              <a:t>.</a:t>
            </a:r>
          </a:p>
          <a:p>
            <a:pPr marL="0" indent="360000">
              <a:buNone/>
            </a:pPr>
            <a:r>
              <a:rPr lang="ru-RU" sz="2000" dirty="0"/>
              <a:t>Иногда выделяют:</a:t>
            </a:r>
          </a:p>
          <a:p>
            <a:pPr lvl="0"/>
            <a:r>
              <a:rPr lang="ru-RU" sz="2000" dirty="0"/>
              <a:t>Горизонтальные представления, которые ограничивают доступ к строкам. </a:t>
            </a:r>
          </a:p>
          <a:p>
            <a:pPr lvl="0"/>
            <a:r>
              <a:rPr lang="ru-RU" sz="2000" dirty="0"/>
              <a:t>Вертикальные представления, ограничивающие доступ к столбцам. </a:t>
            </a:r>
          </a:p>
          <a:p>
            <a:pPr marL="0" indent="360000">
              <a:buNone/>
            </a:pPr>
            <a:r>
              <a:rPr lang="ru-RU" sz="2000" dirty="0"/>
              <a:t>Оба варианта могут сосуществовать в одном представлении.</a:t>
            </a: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15829937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653" y="1730867"/>
            <a:ext cx="8232654" cy="2935548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-54261"/>
            <a:ext cx="10515600" cy="597402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Изменение и удаление представлений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43141"/>
            <a:ext cx="10515600" cy="6084540"/>
          </a:xfrm>
        </p:spPr>
        <p:txBody>
          <a:bodyPr>
            <a:normAutofit/>
          </a:bodyPr>
          <a:lstStyle/>
          <a:p>
            <a:pPr marL="0" indent="360000">
              <a:buNone/>
            </a:pPr>
            <a:r>
              <a:rPr lang="ru-RU" sz="2000" dirty="0"/>
              <a:t>Команда ALTER VIEW обеспечивает добавление, удаление и изменение ограничений. Кроме того, при исполнении ALTER VIEW перекомпилируется недействующее представление, что позволяет выявить ошибки до выполнения. Перекомпиляция позволяет выявить возможные отрицательные эффекты изменений, внесенных в базовую таблицу, на зависящие от нее представления.</a:t>
            </a:r>
          </a:p>
          <a:p>
            <a:pPr marL="0" indent="360000">
              <a:buNone/>
            </a:pPr>
            <a:endParaRPr lang="ru-RU" sz="2000" dirty="0"/>
          </a:p>
          <a:p>
            <a:pPr marL="0" indent="360000">
              <a:buNone/>
            </a:pPr>
            <a:endParaRPr lang="ru-RU" sz="2000" dirty="0"/>
          </a:p>
          <a:p>
            <a:pPr marL="0" indent="360000">
              <a:buNone/>
            </a:pPr>
            <a:endParaRPr lang="ru-RU" sz="2000" dirty="0"/>
          </a:p>
          <a:p>
            <a:pPr marL="0" indent="360000">
              <a:buNone/>
            </a:pPr>
            <a:endParaRPr lang="ru-RU" sz="2000" dirty="0"/>
          </a:p>
          <a:p>
            <a:pPr marL="0" indent="360000">
              <a:buNone/>
            </a:pPr>
            <a:endParaRPr lang="ru-RU" sz="2000" dirty="0"/>
          </a:p>
          <a:p>
            <a:pPr marL="0" indent="360000">
              <a:buNone/>
            </a:pPr>
            <a:endParaRPr lang="ru-RU" sz="2000" dirty="0"/>
          </a:p>
          <a:p>
            <a:pPr marL="0" indent="360000">
              <a:buNone/>
            </a:pPr>
            <a:r>
              <a:rPr lang="ru-RU" sz="2000" dirty="0"/>
              <a:t>Команда</a:t>
            </a:r>
            <a:r>
              <a:rPr lang="en-US" sz="2000" dirty="0"/>
              <a:t> DROP VIEW </a:t>
            </a:r>
            <a:r>
              <a:rPr lang="ru-RU" sz="2000" dirty="0"/>
              <a:t>удаляет представление</a:t>
            </a:r>
          </a:p>
          <a:p>
            <a:pPr marL="0" indent="360000">
              <a:buNone/>
            </a:pPr>
            <a:endParaRPr lang="ru-RU" sz="2000" dirty="0"/>
          </a:p>
          <a:p>
            <a:pPr marL="0" indent="36000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dirty="0"/>
              <a:t>Перекомпилирование представления выполняет инструкция:</a:t>
            </a:r>
          </a:p>
          <a:p>
            <a:pPr marL="0" indent="0">
              <a:buNone/>
            </a:pPr>
            <a:r>
              <a:rPr lang="en-US" sz="2000" dirty="0"/>
              <a:t>ALTER VIEW [schema.]view</a:t>
            </a:r>
            <a:r>
              <a:rPr lang="ru-RU" sz="2000" dirty="0"/>
              <a:t>_</a:t>
            </a:r>
            <a:r>
              <a:rPr lang="en-US" sz="2000" dirty="0"/>
              <a:t>name COMPILE</a:t>
            </a:r>
            <a:endParaRPr lang="ru-RU" sz="2000" dirty="0"/>
          </a:p>
          <a:p>
            <a:pPr marL="0" indent="36000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864" y="4865764"/>
            <a:ext cx="7571507" cy="79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0986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36265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Метаданные представлений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36265"/>
            <a:ext cx="10815244" cy="61464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Метаданные представлений хранятся в представлениях словаря </a:t>
            </a:r>
            <a:r>
              <a:rPr lang="en-US" sz="2000" dirty="0"/>
              <a:t>USER</a:t>
            </a:r>
            <a:r>
              <a:rPr lang="ru-RU" sz="2000" dirty="0"/>
              <a:t>_</a:t>
            </a:r>
            <a:r>
              <a:rPr lang="en-US" sz="2000" dirty="0"/>
              <a:t>VIEWS</a:t>
            </a:r>
            <a:r>
              <a:rPr lang="ru-RU" sz="2000" dirty="0"/>
              <a:t> и </a:t>
            </a:r>
            <a:r>
              <a:rPr lang="en-US" sz="2000" dirty="0"/>
              <a:t>DBMS</a:t>
            </a:r>
            <a:r>
              <a:rPr lang="ru-RU" sz="2000" dirty="0"/>
              <a:t>_</a:t>
            </a:r>
            <a:r>
              <a:rPr lang="en-US" sz="2000" dirty="0"/>
              <a:t>METADATA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dirty="0"/>
              <a:t>Для чтения метаданных можно использовать функцию </a:t>
            </a:r>
            <a:r>
              <a:rPr lang="ru-RU" sz="2000" dirty="0" err="1"/>
              <a:t>get_ddl</a:t>
            </a:r>
            <a:r>
              <a:rPr lang="ru-RU" sz="2000" dirty="0"/>
              <a:t> пакета </a:t>
            </a:r>
            <a:r>
              <a:rPr lang="ru-RU" sz="2000" dirty="0" err="1"/>
              <a:t>dbms_metadata</a:t>
            </a:r>
            <a:r>
              <a:rPr lang="ru-RU" sz="2000" dirty="0"/>
              <a:t>. 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38" y="874054"/>
            <a:ext cx="8202670" cy="492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96324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5643" y="1"/>
            <a:ext cx="10952174" cy="935026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Ограничения на манипулирование данными через представления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880024"/>
            <a:ext cx="10515600" cy="52969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Команды INSERT, UPDATE  </a:t>
            </a:r>
          </a:p>
          <a:p>
            <a:pPr marL="0" indent="0">
              <a:buNone/>
            </a:pPr>
            <a:r>
              <a:rPr lang="ru-RU" sz="2000" dirty="0"/>
              <a:t>или DELETE нельзя выполнять </a:t>
            </a:r>
          </a:p>
          <a:p>
            <a:pPr marL="0" indent="0">
              <a:buNone/>
            </a:pPr>
            <a:r>
              <a:rPr lang="ru-RU" sz="2000" dirty="0"/>
              <a:t>через сложные представления, </a:t>
            </a:r>
          </a:p>
          <a:p>
            <a:pPr marL="0" indent="0">
              <a:buNone/>
            </a:pPr>
            <a:r>
              <a:rPr lang="ru-RU" sz="2000" dirty="0"/>
              <a:t>которые могут использовать </a:t>
            </a:r>
          </a:p>
          <a:p>
            <a:pPr marL="0" indent="0">
              <a:buNone/>
            </a:pPr>
            <a:r>
              <a:rPr lang="ru-RU" sz="2000" dirty="0"/>
              <a:t>объединения, функции </a:t>
            </a:r>
          </a:p>
          <a:p>
            <a:pPr marL="0" indent="0">
              <a:buNone/>
            </a:pPr>
            <a:r>
              <a:rPr lang="ru-RU" sz="2000" dirty="0"/>
              <a:t>и агрегацию. Для выполнения </a:t>
            </a:r>
          </a:p>
          <a:p>
            <a:pPr marL="0" indent="0">
              <a:buNone/>
            </a:pPr>
            <a:r>
              <a:rPr lang="ru-RU" sz="2000" dirty="0"/>
              <a:t>DML операций соотношение </a:t>
            </a:r>
          </a:p>
          <a:p>
            <a:pPr marL="0" indent="0">
              <a:buNone/>
            </a:pPr>
            <a:r>
              <a:rPr lang="ru-RU" sz="2000" dirty="0"/>
              <a:t>строк в представлении к строкам </a:t>
            </a:r>
          </a:p>
          <a:p>
            <a:pPr marL="0" indent="0">
              <a:buNone/>
            </a:pPr>
            <a:r>
              <a:rPr lang="ru-RU" sz="2000" dirty="0"/>
              <a:t>исходной таблицы должно быть</a:t>
            </a:r>
          </a:p>
          <a:p>
            <a:pPr marL="0" indent="0">
              <a:buNone/>
            </a:pPr>
            <a:r>
              <a:rPr lang="ru-RU" sz="2000" dirty="0"/>
              <a:t>один-к-одному.</a:t>
            </a:r>
          </a:p>
          <a:p>
            <a:pPr marL="0" indent="0">
              <a:buNone/>
            </a:pPr>
            <a:r>
              <a:rPr lang="ru-RU" sz="2000" u="sng" dirty="0"/>
              <a:t>Пример</a:t>
            </a:r>
            <a:r>
              <a:rPr lang="ru-RU" sz="2000" dirty="0"/>
              <a:t>: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417" y="880024"/>
            <a:ext cx="7254522" cy="597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00513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092D01-C692-4DE8-980B-C3ADC96C4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81" y="210343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Понятие </a:t>
            </a:r>
            <a:r>
              <a:rPr lang="ru-RU" sz="3200">
                <a:solidFill>
                  <a:srgbClr val="FF0000"/>
                </a:solidFill>
              </a:rPr>
              <a:t>о материализованных представлениях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1C9E39-2331-4294-999E-923248E8A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71335"/>
            <a:ext cx="10515600" cy="670014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035289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E0F4EF-6070-441E-A50D-F3D83E469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  <a:latin typeface="+mn-lt"/>
              </a:rPr>
              <a:t>Понятие </a:t>
            </a:r>
            <a:r>
              <a:rPr lang="en-US" sz="3200" dirty="0" err="1">
                <a:solidFill>
                  <a:srgbClr val="FF0000"/>
                </a:solidFill>
                <a:latin typeface="+mn-lt"/>
              </a:rPr>
              <a:t>MView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3BFB45-0579-44F0-AB36-20A12C4FE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871" y="575353"/>
            <a:ext cx="11435136" cy="4839128"/>
          </a:xfrm>
        </p:spPr>
        <p:txBody>
          <a:bodyPr>
            <a:noAutofit/>
          </a:bodyPr>
          <a:lstStyle/>
          <a:p>
            <a:pPr marL="0" indent="457200" algn="l">
              <a:lnSpc>
                <a:spcPct val="100000"/>
              </a:lnSpc>
              <a:buNone/>
            </a:pPr>
            <a:r>
              <a:rPr lang="ru-RU" sz="1800" b="1" i="0" dirty="0">
                <a:solidFill>
                  <a:srgbClr val="212529"/>
                </a:solidFill>
                <a:effectLst/>
                <a:latin typeface="-apple-system"/>
              </a:rPr>
              <a:t>Представление</a:t>
            </a:r>
            <a:r>
              <a:rPr lang="ru-RU" sz="1800" b="0" i="0" dirty="0">
                <a:solidFill>
                  <a:srgbClr val="212529"/>
                </a:solidFill>
                <a:effectLst/>
                <a:latin typeface="-apple-system"/>
              </a:rPr>
              <a:t> (View)  по сути дела именованный запрос. В нем ничего не хранится. </a:t>
            </a:r>
          </a:p>
          <a:p>
            <a:pPr marL="0" indent="457200" algn="l">
              <a:lnSpc>
                <a:spcPct val="100000"/>
              </a:lnSpc>
              <a:buNone/>
            </a:pPr>
            <a:r>
              <a:rPr lang="ru-RU" sz="1800" b="1" i="0" dirty="0">
                <a:solidFill>
                  <a:srgbClr val="212529"/>
                </a:solidFill>
                <a:effectLst/>
                <a:latin typeface="-apple-system"/>
              </a:rPr>
              <a:t>Материализованное представление </a:t>
            </a:r>
            <a:r>
              <a:rPr lang="ru-RU" sz="1800" i="0" dirty="0">
                <a:solidFill>
                  <a:srgbClr val="212529"/>
                </a:solidFill>
                <a:effectLst/>
                <a:latin typeface="-apple-system"/>
              </a:rPr>
              <a:t>()</a:t>
            </a:r>
            <a:r>
              <a:rPr lang="ru-RU" sz="1800" b="1" i="0" dirty="0">
                <a:solidFill>
                  <a:srgbClr val="212529"/>
                </a:solidFill>
                <a:effectLst/>
                <a:latin typeface="-apple-system"/>
              </a:rPr>
              <a:t> х</a:t>
            </a:r>
            <a:r>
              <a:rPr lang="ru-RU" sz="1800" b="0" i="0" dirty="0">
                <a:solidFill>
                  <a:srgbClr val="212529"/>
                </a:solidFill>
                <a:effectLst/>
                <a:latin typeface="-apple-system"/>
              </a:rPr>
              <a:t>ранит данные и  может периодически обновляться. При запросе выдает свои данные.</a:t>
            </a:r>
          </a:p>
          <a:p>
            <a:pPr marL="0" indent="0" algn="l">
              <a:buNone/>
            </a:pPr>
            <a:r>
              <a:rPr lang="en-US" sz="1800" b="0" i="0" dirty="0">
                <a:solidFill>
                  <a:srgbClr val="212529"/>
                </a:solidFill>
                <a:effectLst/>
                <a:latin typeface="-apple-system"/>
              </a:rPr>
              <a:t>SQL&gt; CREATE MATERIALIZED VIEW MV</a:t>
            </a:r>
          </a:p>
          <a:p>
            <a:pPr marL="0" indent="0" algn="l">
              <a:buNone/>
            </a:pPr>
            <a:r>
              <a:rPr lang="en-US" sz="1800" b="0" i="0" dirty="0">
                <a:solidFill>
                  <a:srgbClr val="212529"/>
                </a:solidFill>
                <a:effectLst/>
                <a:latin typeface="-apple-system"/>
              </a:rPr>
              <a:t>  2  REFRESH COMPLETE ON DEMAND NEXT SYSDATE + NUMTODSINTERVAL(2, 'MINUTE') WITH PRIMARY KEY </a:t>
            </a:r>
          </a:p>
          <a:p>
            <a:pPr marL="0" indent="0" algn="l">
              <a:buNone/>
            </a:pPr>
            <a:r>
              <a:rPr lang="en-US" sz="1800" dirty="0">
                <a:solidFill>
                  <a:srgbClr val="212529"/>
                </a:solidFill>
                <a:latin typeface="-apple-system"/>
              </a:rPr>
              <a:t>  3  </a:t>
            </a:r>
            <a:r>
              <a:rPr lang="en-US" sz="1800" b="0" i="0" dirty="0">
                <a:solidFill>
                  <a:srgbClr val="212529"/>
                </a:solidFill>
                <a:effectLst/>
                <a:latin typeface="-apple-system"/>
              </a:rPr>
              <a:t>AS SELECT * FROM QQ;</a:t>
            </a:r>
          </a:p>
          <a:p>
            <a:pPr marL="0" indent="457200" algn="l">
              <a:buNone/>
            </a:pPr>
            <a:r>
              <a:rPr lang="ru-RU" sz="1800" dirty="0">
                <a:solidFill>
                  <a:srgbClr val="212529"/>
                </a:solidFill>
                <a:latin typeface="-apple-system"/>
              </a:rPr>
              <a:t>С</a:t>
            </a:r>
            <a:r>
              <a:rPr lang="ru-RU" sz="1800" b="0" i="0" dirty="0">
                <a:solidFill>
                  <a:srgbClr val="212529"/>
                </a:solidFill>
                <a:effectLst/>
                <a:latin typeface="-apple-system"/>
              </a:rPr>
              <a:t>оздавая материализованное </a:t>
            </a:r>
            <a:r>
              <a:rPr lang="ru-RU" sz="1800" b="0" i="0" dirty="0" err="1">
                <a:solidFill>
                  <a:srgbClr val="212529"/>
                </a:solidFill>
                <a:effectLst/>
                <a:latin typeface="-apple-system"/>
              </a:rPr>
              <a:t>view</a:t>
            </a:r>
            <a:r>
              <a:rPr lang="ru-RU" sz="1800" b="0" i="0" dirty="0">
                <a:solidFill>
                  <a:srgbClr val="212529"/>
                </a:solidFill>
                <a:effectLst/>
                <a:latin typeface="-apple-system"/>
              </a:rPr>
              <a:t> обнаруживаем , что Oracle кроме </a:t>
            </a:r>
            <a:r>
              <a:rPr lang="ru-RU" sz="1800" b="0" i="0" dirty="0" err="1">
                <a:solidFill>
                  <a:srgbClr val="212529"/>
                </a:solidFill>
                <a:effectLst/>
                <a:latin typeface="-apple-system"/>
              </a:rPr>
              <a:t>mview</a:t>
            </a:r>
            <a:r>
              <a:rPr lang="ru-RU" sz="1800" b="0" i="0" dirty="0">
                <a:solidFill>
                  <a:srgbClr val="212529"/>
                </a:solidFill>
                <a:effectLst/>
                <a:latin typeface="-apple-system"/>
              </a:rPr>
              <a:t> создал </a:t>
            </a:r>
            <a:r>
              <a:rPr lang="ru-RU" sz="1800" b="1" i="0" dirty="0">
                <a:solidFill>
                  <a:srgbClr val="212529"/>
                </a:solidFill>
                <a:effectLst/>
                <a:latin typeface="-apple-system"/>
              </a:rPr>
              <a:t>таблицу с тем же именем</a:t>
            </a:r>
            <a:r>
              <a:rPr lang="ru-RU" sz="1800" b="0" i="0" dirty="0">
                <a:solidFill>
                  <a:srgbClr val="212529"/>
                </a:solidFill>
                <a:effectLst/>
                <a:latin typeface="-apple-system"/>
              </a:rPr>
              <a:t>.</a:t>
            </a:r>
            <a:endParaRPr lang="en-US" sz="18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indent="0" algn="l">
              <a:buNone/>
            </a:pPr>
            <a:r>
              <a:rPr lang="en-US" sz="1800" b="0" i="0" dirty="0">
                <a:solidFill>
                  <a:srgbClr val="212529"/>
                </a:solidFill>
                <a:effectLst/>
                <a:latin typeface="-apple-system"/>
              </a:rPr>
              <a:t>SQL&gt; COLUMN </a:t>
            </a:r>
            <a:r>
              <a:rPr lang="en-US" sz="1800" b="0" i="0" dirty="0" err="1">
                <a:solidFill>
                  <a:srgbClr val="212529"/>
                </a:solidFill>
                <a:effectLst/>
                <a:latin typeface="-apple-system"/>
              </a:rPr>
              <a:t>object_name</a:t>
            </a:r>
            <a:r>
              <a:rPr lang="en-US" sz="1800" b="0" i="0" dirty="0">
                <a:solidFill>
                  <a:srgbClr val="212529"/>
                </a:solidFill>
                <a:effectLst/>
                <a:latin typeface="-apple-system"/>
              </a:rPr>
              <a:t> FORMAT A30</a:t>
            </a:r>
          </a:p>
          <a:p>
            <a:pPr marL="0" indent="0" algn="l">
              <a:buNone/>
            </a:pPr>
            <a:r>
              <a:rPr lang="en-US" sz="1800" b="0" i="0" dirty="0">
                <a:solidFill>
                  <a:srgbClr val="212529"/>
                </a:solidFill>
                <a:effectLst/>
                <a:latin typeface="-apple-system"/>
              </a:rPr>
              <a:t>SQL&gt; SELECT owner, </a:t>
            </a:r>
            <a:r>
              <a:rPr lang="en-US" sz="1800" b="0" i="0" dirty="0" err="1">
                <a:solidFill>
                  <a:srgbClr val="212529"/>
                </a:solidFill>
                <a:effectLst/>
                <a:latin typeface="-apple-system"/>
              </a:rPr>
              <a:t>object_type</a:t>
            </a:r>
            <a:r>
              <a:rPr lang="en-US" sz="1800" b="0" i="0" dirty="0">
                <a:solidFill>
                  <a:srgbClr val="212529"/>
                </a:solidFill>
                <a:effectLst/>
                <a:latin typeface="-apple-system"/>
              </a:rPr>
              <a:t>, </a:t>
            </a:r>
            <a:r>
              <a:rPr lang="en-US" sz="1800" b="0" i="0" dirty="0" err="1">
                <a:solidFill>
                  <a:srgbClr val="212529"/>
                </a:solidFill>
                <a:effectLst/>
                <a:latin typeface="-apple-system"/>
              </a:rPr>
              <a:t>object_name</a:t>
            </a:r>
            <a:r>
              <a:rPr lang="en-US" sz="1800" b="0" i="0" dirty="0">
                <a:solidFill>
                  <a:srgbClr val="212529"/>
                </a:solidFill>
                <a:effectLst/>
                <a:latin typeface="-apple-system"/>
              </a:rPr>
              <a:t> FROM </a:t>
            </a:r>
            <a:r>
              <a:rPr lang="en-US" sz="1800" b="0" i="0" dirty="0" err="1">
                <a:solidFill>
                  <a:srgbClr val="212529"/>
                </a:solidFill>
                <a:effectLst/>
                <a:latin typeface="-apple-system"/>
              </a:rPr>
              <a:t>all_objects</a:t>
            </a:r>
            <a:r>
              <a:rPr lang="en-US" sz="1800" b="0" i="0" dirty="0">
                <a:solidFill>
                  <a:srgbClr val="212529"/>
                </a:solidFill>
                <a:effectLst/>
                <a:latin typeface="-apple-system"/>
              </a:rPr>
              <a:t> WHERE </a:t>
            </a:r>
            <a:r>
              <a:rPr lang="en-US" sz="1800" b="0" i="0" dirty="0" err="1">
                <a:solidFill>
                  <a:srgbClr val="212529"/>
                </a:solidFill>
                <a:effectLst/>
                <a:latin typeface="-apple-system"/>
              </a:rPr>
              <a:t>object_name</a:t>
            </a:r>
            <a:r>
              <a:rPr lang="en-US" sz="1800" b="0" i="0" dirty="0">
                <a:solidFill>
                  <a:srgbClr val="212529"/>
                </a:solidFill>
                <a:effectLst/>
                <a:latin typeface="-apple-system"/>
              </a:rPr>
              <a:t> = 'MV';</a:t>
            </a:r>
          </a:p>
          <a:p>
            <a:pPr marL="0" indent="0" algn="l">
              <a:lnSpc>
                <a:spcPct val="80000"/>
              </a:lnSpc>
              <a:buNone/>
            </a:pPr>
            <a:r>
              <a:rPr lang="en-US" sz="1800" b="0" i="0" dirty="0">
                <a:solidFill>
                  <a:srgbClr val="212529"/>
                </a:solidFill>
                <a:effectLst/>
                <a:latin typeface="-apple-system"/>
              </a:rPr>
              <a:t>OWNER                OBJECT_TYPE             OBJECT_NAME</a:t>
            </a:r>
          </a:p>
          <a:p>
            <a:pPr marL="0" indent="0" algn="l">
              <a:lnSpc>
                <a:spcPct val="80000"/>
              </a:lnSpc>
              <a:buNone/>
            </a:pPr>
            <a:r>
              <a:rPr lang="en-US" sz="1800" b="0" i="0" dirty="0">
                <a:solidFill>
                  <a:srgbClr val="212529"/>
                </a:solidFill>
                <a:effectLst/>
                <a:latin typeface="-apple-system"/>
              </a:rPr>
              <a:t>-------------------- ----------------------- --------------------------</a:t>
            </a:r>
          </a:p>
          <a:p>
            <a:pPr marL="0" indent="0" algn="l">
              <a:lnSpc>
                <a:spcPct val="80000"/>
              </a:lnSpc>
              <a:buNone/>
            </a:pPr>
            <a:r>
              <a:rPr lang="en-US" sz="1800" b="0" i="0" dirty="0">
                <a:solidFill>
                  <a:srgbClr val="212529"/>
                </a:solidFill>
                <a:effectLst/>
                <a:latin typeface="-apple-system"/>
              </a:rPr>
              <a:t>SYSTEM               TABLE                            MV</a:t>
            </a:r>
          </a:p>
          <a:p>
            <a:pPr marL="0" indent="0" algn="l">
              <a:lnSpc>
                <a:spcPct val="80000"/>
              </a:lnSpc>
              <a:buNone/>
            </a:pPr>
            <a:r>
              <a:rPr lang="en-US" sz="1800" b="0" i="0" dirty="0">
                <a:solidFill>
                  <a:srgbClr val="212529"/>
                </a:solidFill>
                <a:effectLst/>
                <a:latin typeface="-apple-system"/>
              </a:rPr>
              <a:t>SYSTEM               MATERIALIZED VIEW  MV</a:t>
            </a:r>
          </a:p>
          <a:p>
            <a:pPr marL="0" indent="0" algn="l">
              <a:buNone/>
            </a:pPr>
            <a:r>
              <a:rPr lang="en-US" sz="1800" b="0" i="0" dirty="0">
                <a:solidFill>
                  <a:srgbClr val="212529"/>
                </a:solidFill>
                <a:effectLst/>
                <a:latin typeface="-apple-system"/>
              </a:rPr>
              <a:t>SQL&gt;</a:t>
            </a:r>
            <a:endParaRPr lang="en-US" sz="1800" dirty="0">
              <a:solidFill>
                <a:srgbClr val="212529"/>
              </a:solidFill>
              <a:latin typeface="-apple-syste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F24102-AE4C-4F09-B4CA-2F6F258E0A78}"/>
              </a:ext>
            </a:extLst>
          </p:cNvPr>
          <p:cNvSpPr txBox="1"/>
          <p:nvPr/>
        </p:nvSpPr>
        <p:spPr>
          <a:xfrm>
            <a:off x="5724417" y="4121819"/>
            <a:ext cx="5629383" cy="258532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ru-RU" dirty="0"/>
              <a:t>Метаданные:</a:t>
            </a:r>
          </a:p>
          <a:p>
            <a:r>
              <a:rPr lang="en-US" dirty="0"/>
              <a:t>SQL&gt; COLUMN owner FORMAT A20</a:t>
            </a:r>
          </a:p>
          <a:p>
            <a:r>
              <a:rPr lang="en-US" dirty="0"/>
              <a:t>SQL&gt; COLUMN query FORMAT A40</a:t>
            </a:r>
          </a:p>
          <a:p>
            <a:r>
              <a:rPr lang="en-US" dirty="0"/>
              <a:t>SQL&gt; select owner, query, </a:t>
            </a:r>
            <a:r>
              <a:rPr lang="en-US" dirty="0" err="1"/>
              <a:t>query_len</a:t>
            </a:r>
            <a:endParaRPr lang="en-US" dirty="0"/>
          </a:p>
          <a:p>
            <a:r>
              <a:rPr lang="en-US" dirty="0"/>
              <a:t>  2  from </a:t>
            </a:r>
            <a:r>
              <a:rPr lang="en-US" dirty="0" err="1"/>
              <a:t>dba_mviews</a:t>
            </a:r>
            <a:r>
              <a:rPr lang="en-US" dirty="0"/>
              <a:t>;</a:t>
            </a:r>
          </a:p>
          <a:p>
            <a:r>
              <a:rPr lang="en-US" dirty="0"/>
              <a:t>OWNER                QUERY                                     QUERY_LEN</a:t>
            </a:r>
          </a:p>
          <a:p>
            <a:r>
              <a:rPr lang="en-US" dirty="0"/>
              <a:t>-------------------- -------------------------------------- ---------------</a:t>
            </a:r>
          </a:p>
          <a:p>
            <a:r>
              <a:rPr lang="en-US" dirty="0"/>
              <a:t>SYSTEM               SELECT * FROM QQ                                 16</a:t>
            </a:r>
          </a:p>
          <a:p>
            <a:r>
              <a:rPr lang="en-US" dirty="0"/>
              <a:t>Materialized view created.</a:t>
            </a:r>
          </a:p>
        </p:txBody>
      </p:sp>
    </p:spTree>
    <p:extLst>
      <p:ext uri="{BB962C8B-B14F-4D97-AF65-F5344CB8AC3E}">
        <p14:creationId xmlns:p14="http://schemas.microsoft.com/office/powerpoint/2010/main" val="288683982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65189A-BA75-45F2-8D2B-C023AD210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Чем отличаются </a:t>
            </a:r>
            <a:r>
              <a:rPr lang="en-US" sz="3200" dirty="0">
                <a:solidFill>
                  <a:srgbClr val="FF0000"/>
                </a:solidFill>
              </a:rPr>
              <a:t>view </a:t>
            </a:r>
            <a:r>
              <a:rPr lang="ru-RU" sz="3200" dirty="0">
                <a:solidFill>
                  <a:srgbClr val="FF0000"/>
                </a:solidFill>
              </a:rPr>
              <a:t>и </a:t>
            </a:r>
            <a:r>
              <a:rPr lang="en-US" sz="3200" dirty="0">
                <a:solidFill>
                  <a:srgbClr val="FF0000"/>
                </a:solidFill>
              </a:rPr>
              <a:t>mview 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4EF2DC-B1BF-4941-A7F0-651234664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View и </a:t>
            </a:r>
            <a:r>
              <a:rPr lang="ru-RU" sz="2000" dirty="0" err="1"/>
              <a:t>mview</a:t>
            </a:r>
            <a:r>
              <a:rPr lang="ru-RU" sz="2000" dirty="0"/>
              <a:t>  отличаются тем, что обращаясь к View мы всегда получаем последние данные, а для материализованного представления  сначала необходимо его обновить . </a:t>
            </a:r>
            <a:r>
              <a:rPr lang="ru-RU" sz="2000" dirty="0" err="1"/>
              <a:t>Mview</a:t>
            </a:r>
            <a:r>
              <a:rPr lang="ru-RU" sz="2000" dirty="0"/>
              <a:t> могут регулярно обновляться либо с помощью триггеров, либо с помощью опции ON COMMIT REFRESH .</a:t>
            </a:r>
          </a:p>
          <a:p>
            <a:pPr marL="0" indent="0">
              <a:buNone/>
            </a:pPr>
            <a:r>
              <a:rPr lang="ru-RU" sz="2000" dirty="0"/>
              <a:t>Производительность материализованного </a:t>
            </a:r>
            <a:r>
              <a:rPr lang="ru-RU" sz="2000" dirty="0" err="1"/>
              <a:t>view</a:t>
            </a:r>
            <a:r>
              <a:rPr lang="ru-RU" sz="2000" dirty="0"/>
              <a:t> лучше, чем обычного View, потому что данные материализованного </a:t>
            </a:r>
            <a:r>
              <a:rPr lang="ru-RU" sz="2000" dirty="0" err="1"/>
              <a:t>view</a:t>
            </a:r>
            <a:r>
              <a:rPr lang="ru-RU" sz="2000" dirty="0"/>
              <a:t> будут храниться в таблице, и таблица может быть проиндексирована так быстрее для присоединения, а также присоединение выполняется во время обновления материализованных представлений, поэтому нет необходимости каждый раз запускать оператор </a:t>
            </a:r>
            <a:r>
              <a:rPr lang="ru-RU" sz="2000" dirty="0" err="1"/>
              <a:t>join</a:t>
            </a:r>
            <a:r>
              <a:rPr lang="ru-RU" sz="2000" dirty="0"/>
              <a:t>, как в случае </a:t>
            </a:r>
            <a:r>
              <a:rPr lang="ru-RU" sz="2000" dirty="0" err="1"/>
              <a:t>view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65350972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ABD052-36C9-43BD-99CD-1EC8D4151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9129" y="18256"/>
            <a:ext cx="6514672" cy="803678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Заполнение </a:t>
            </a:r>
            <a:r>
              <a:rPr lang="en-US" sz="3200" dirty="0">
                <a:solidFill>
                  <a:srgbClr val="FF0000"/>
                </a:solidFill>
              </a:rPr>
              <a:t>mview </a:t>
            </a:r>
            <a:r>
              <a:rPr lang="ru-RU" sz="3200" dirty="0">
                <a:solidFill>
                  <a:srgbClr val="FF0000"/>
                </a:solidFill>
              </a:rPr>
              <a:t>через </a:t>
            </a:r>
            <a:r>
              <a:rPr lang="en-US" sz="3200" dirty="0">
                <a:solidFill>
                  <a:srgbClr val="FF0000"/>
                </a:solidFill>
              </a:rPr>
              <a:t>commit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C9710F-A8B1-4C64-9C16-9A24D7996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"/>
            <a:ext cx="6744128" cy="683974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lnSpc>
                <a:spcPct val="80000"/>
              </a:lnSpc>
              <a:buNone/>
            </a:pPr>
            <a:r>
              <a:rPr lang="en-US" sz="7200" dirty="0"/>
              <a:t>SQL&gt; CREATE TABLE QQ(c1 CHAR(5));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7200" dirty="0"/>
              <a:t>Table created.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7200" dirty="0"/>
              <a:t>SQL&gt; CREATE MATERIALIZED VIEW MV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7200" dirty="0"/>
              <a:t>      2  REFRESH COMPLETE ON DEMAND NEXT SYSDATE +    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7200" dirty="0"/>
              <a:t>        NUMTODSINTERVAL(2, 'MINUTE') WITH PRIMARY KEY AS SELECT 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7200" dirty="0"/>
              <a:t>        * FROM QQ;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7200" dirty="0"/>
              <a:t>Materialized view created.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7200" dirty="0"/>
              <a:t>SQL&gt; INSERT INTO QQ VALUES('A');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7200" dirty="0"/>
              <a:t>1 row created.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7200" dirty="0"/>
              <a:t>SQL&gt; SELECT * FROM QQ;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7200" dirty="0"/>
              <a:t>C1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7200" dirty="0"/>
              <a:t>-----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7200" dirty="0"/>
              <a:t>A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7200" dirty="0"/>
              <a:t>SQL&gt; SELECT * FROM MV;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7200" dirty="0"/>
              <a:t>no rows selected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7200" dirty="0"/>
              <a:t>SQL&gt; COMMIT;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7200" dirty="0"/>
              <a:t>Commit complete.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7200" dirty="0"/>
              <a:t>SQL&gt; SELECT * FROM MV;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7200" dirty="0"/>
              <a:t>no rows selected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7200" dirty="0"/>
              <a:t>SQL&gt; INSERT INTO QQ VALUES ('B');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7200" dirty="0"/>
              <a:t>1 row created.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7200" dirty="0"/>
              <a:t>SQL&gt; COMMIT;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7200" dirty="0"/>
              <a:t>Commit complete.</a:t>
            </a:r>
            <a:endParaRPr lang="ru-RU" sz="7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FEE8DA-8E0C-4B59-BD64-10B322F724C6}"/>
              </a:ext>
            </a:extLst>
          </p:cNvPr>
          <p:cNvSpPr txBox="1"/>
          <p:nvPr/>
        </p:nvSpPr>
        <p:spPr>
          <a:xfrm>
            <a:off x="6096000" y="1996250"/>
            <a:ext cx="5226549" cy="458523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endParaRPr lang="en-US" dirty="0"/>
          </a:p>
          <a:p>
            <a:pPr>
              <a:lnSpc>
                <a:spcPct val="80000"/>
              </a:lnSpc>
            </a:pPr>
            <a:r>
              <a:rPr lang="en-US" dirty="0"/>
              <a:t>SQL&gt; SELECT * FROM MV;</a:t>
            </a:r>
          </a:p>
          <a:p>
            <a:pPr>
              <a:lnSpc>
                <a:spcPct val="80000"/>
              </a:lnSpc>
            </a:pPr>
            <a:r>
              <a:rPr lang="en-US" dirty="0"/>
              <a:t>C1</a:t>
            </a:r>
          </a:p>
          <a:p>
            <a:pPr>
              <a:lnSpc>
                <a:spcPct val="80000"/>
              </a:lnSpc>
            </a:pPr>
            <a:r>
              <a:rPr lang="en-US" dirty="0"/>
              <a:t>-----</a:t>
            </a:r>
          </a:p>
          <a:p>
            <a:pPr>
              <a:lnSpc>
                <a:spcPct val="80000"/>
              </a:lnSpc>
            </a:pPr>
            <a:r>
              <a:rPr lang="en-US" dirty="0"/>
              <a:t>A</a:t>
            </a:r>
          </a:p>
          <a:p>
            <a:pPr>
              <a:lnSpc>
                <a:spcPct val="80000"/>
              </a:lnSpc>
            </a:pPr>
            <a:r>
              <a:rPr lang="en-US" dirty="0"/>
              <a:t>SQL&gt; COMMIT;</a:t>
            </a:r>
          </a:p>
          <a:p>
            <a:pPr>
              <a:lnSpc>
                <a:spcPct val="80000"/>
              </a:lnSpc>
            </a:pPr>
            <a:r>
              <a:rPr lang="en-US" dirty="0"/>
              <a:t>Commit complete.</a:t>
            </a:r>
          </a:p>
          <a:p>
            <a:pPr>
              <a:lnSpc>
                <a:spcPct val="80000"/>
              </a:lnSpc>
            </a:pPr>
            <a:r>
              <a:rPr lang="en-US" dirty="0"/>
              <a:t>SQL&gt; SELECT * FROM MV;</a:t>
            </a:r>
          </a:p>
          <a:p>
            <a:pPr>
              <a:lnSpc>
                <a:spcPct val="80000"/>
              </a:lnSpc>
            </a:pPr>
            <a:r>
              <a:rPr lang="en-US" dirty="0"/>
              <a:t>C1</a:t>
            </a:r>
          </a:p>
          <a:p>
            <a:pPr>
              <a:lnSpc>
                <a:spcPct val="80000"/>
              </a:lnSpc>
            </a:pPr>
            <a:r>
              <a:rPr lang="en-US" dirty="0"/>
              <a:t>-----</a:t>
            </a:r>
          </a:p>
          <a:p>
            <a:pPr>
              <a:lnSpc>
                <a:spcPct val="80000"/>
              </a:lnSpc>
            </a:pPr>
            <a:r>
              <a:rPr lang="en-US" dirty="0"/>
              <a:t>A</a:t>
            </a:r>
          </a:p>
          <a:p>
            <a:pPr>
              <a:lnSpc>
                <a:spcPct val="80000"/>
              </a:lnSpc>
            </a:pPr>
            <a:r>
              <a:rPr lang="en-US" dirty="0"/>
              <a:t>SQL&gt; INSERT INTO QQ VALUES('C');</a:t>
            </a:r>
          </a:p>
          <a:p>
            <a:pPr>
              <a:lnSpc>
                <a:spcPct val="80000"/>
              </a:lnSpc>
            </a:pPr>
            <a:r>
              <a:rPr lang="en-US" dirty="0"/>
              <a:t>1 row created.</a:t>
            </a:r>
          </a:p>
          <a:p>
            <a:pPr>
              <a:lnSpc>
                <a:spcPct val="80000"/>
              </a:lnSpc>
            </a:pPr>
            <a:r>
              <a:rPr lang="en-US" dirty="0"/>
              <a:t>SQL&gt; COMMIT;</a:t>
            </a:r>
          </a:p>
          <a:p>
            <a:pPr>
              <a:lnSpc>
                <a:spcPct val="80000"/>
              </a:lnSpc>
            </a:pPr>
            <a:r>
              <a:rPr lang="en-US" dirty="0"/>
              <a:t>Commit complete.</a:t>
            </a:r>
          </a:p>
          <a:p>
            <a:pPr>
              <a:lnSpc>
                <a:spcPct val="80000"/>
              </a:lnSpc>
            </a:pPr>
            <a:r>
              <a:rPr lang="en-US" dirty="0"/>
              <a:t>SQL&gt; SELECT * FROM MV;</a:t>
            </a:r>
          </a:p>
          <a:p>
            <a:pPr>
              <a:lnSpc>
                <a:spcPct val="80000"/>
              </a:lnSpc>
            </a:pPr>
            <a:r>
              <a:rPr lang="en-US" dirty="0"/>
              <a:t>C1</a:t>
            </a:r>
          </a:p>
          <a:p>
            <a:pPr>
              <a:lnSpc>
                <a:spcPct val="80000"/>
              </a:lnSpc>
            </a:pPr>
            <a:r>
              <a:rPr lang="en-US" dirty="0"/>
              <a:t>-----</a:t>
            </a:r>
          </a:p>
          <a:p>
            <a:pPr>
              <a:lnSpc>
                <a:spcPct val="80000"/>
              </a:lnSpc>
            </a:pPr>
            <a:r>
              <a:rPr lang="en-US" dirty="0"/>
              <a:t>A</a:t>
            </a:r>
          </a:p>
          <a:p>
            <a:pPr>
              <a:lnSpc>
                <a:spcPct val="80000"/>
              </a:lnSpc>
            </a:pPr>
            <a:r>
              <a:rPr lang="en-US" dirty="0"/>
              <a:t>B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1601846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C35212-0CCA-455D-9A0E-38A0DF85C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8BA9E5-F1C5-4637-A78C-3D284F587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ru-RU" sz="1400" b="0" i="0" dirty="0">
                <a:solidFill>
                  <a:srgbClr val="212529"/>
                </a:solidFill>
                <a:effectLst/>
                <a:latin typeface="-apple-system"/>
              </a:rPr>
              <a:t>Материализованные представления можно настроить на обновление вручную, по заданному расписанию или на </a:t>
            </a:r>
            <a:r>
              <a:rPr lang="ru-RU" sz="1400" b="1" i="1" dirty="0">
                <a:solidFill>
                  <a:srgbClr val="212529"/>
                </a:solidFill>
                <a:effectLst/>
                <a:latin typeface="-apple-system"/>
              </a:rPr>
              <a:t>основе базы данных, обнаруживающей изменение данных из одной из базовых таблиц</a:t>
            </a:r>
            <a:r>
              <a:rPr lang="ru-RU" sz="1400" b="0" i="0" dirty="0">
                <a:solidFill>
                  <a:srgbClr val="212529"/>
                </a:solidFill>
                <a:effectLst/>
                <a:latin typeface="-apple-system"/>
              </a:rPr>
              <a:t> . Материализованные представления можно постепенно обновлять, объединяя их с материализованными журналами view, которые </a:t>
            </a:r>
            <a:r>
              <a:rPr lang="ru-RU" sz="1400" b="1" i="0" dirty="0">
                <a:solidFill>
                  <a:srgbClr val="212529"/>
                </a:solidFill>
                <a:effectLst/>
                <a:latin typeface="-apple-system"/>
              </a:rPr>
              <a:t>действуют как источники сбора данных об изменениях</a:t>
            </a:r>
            <a:r>
              <a:rPr lang="ru-RU" sz="1400" b="0" i="0" dirty="0">
                <a:solidFill>
                  <a:srgbClr val="212529"/>
                </a:solidFill>
                <a:effectLst/>
                <a:latin typeface="-apple-system"/>
              </a:rPr>
              <a:t> в базовых таблицах.</a:t>
            </a:r>
          </a:p>
          <a:p>
            <a:pPr algn="l"/>
            <a:r>
              <a:rPr lang="ru-RU" sz="1400" b="0" i="0" dirty="0">
                <a:solidFill>
                  <a:srgbClr val="212529"/>
                </a:solidFill>
                <a:effectLst/>
                <a:latin typeface="-apple-system"/>
              </a:rPr>
              <a:t>Материализованные представления чаще всего используются в приложениях хранилища данных / бизнес-аналитики, где запрос больших таблиц фактов с тысячами миллионов строк приведет к увеличению времени ответа на запрос, что приведет к непригодности приложения.</a:t>
            </a: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2988684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12570</TotalTime>
  <Words>8248</Words>
  <Application>Microsoft Office PowerPoint</Application>
  <PresentationFormat>Широкоэкранный</PresentationFormat>
  <Paragraphs>903</Paragraphs>
  <Slides>76</Slides>
  <Notes>1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76</vt:i4>
      </vt:variant>
    </vt:vector>
  </HeadingPairs>
  <TitlesOfParts>
    <vt:vector size="89" baseType="lpstr">
      <vt:lpstr>Andale Mono</vt:lpstr>
      <vt:lpstr>-apple-system</vt:lpstr>
      <vt:lpstr>Arial</vt:lpstr>
      <vt:lpstr>Calibri</vt:lpstr>
      <vt:lpstr>Calibri Light</vt:lpstr>
      <vt:lpstr>Consolas</vt:lpstr>
      <vt:lpstr>Helvetica Neue</vt:lpstr>
      <vt:lpstr>Symbol</vt:lpstr>
      <vt:lpstr>Tahoma</vt:lpstr>
      <vt:lpstr>Times New Roman</vt:lpstr>
      <vt:lpstr>Times New Roman CYR</vt:lpstr>
      <vt:lpstr>Тема Office</vt:lpstr>
      <vt:lpstr>1_Тема Office</vt:lpstr>
      <vt:lpstr>Тема 3. SQL. Типы данных и таблицы. </vt:lpstr>
      <vt:lpstr>Оглавление</vt:lpstr>
      <vt:lpstr>Создание и изменение таблиц</vt:lpstr>
      <vt:lpstr>Виды таблиц</vt:lpstr>
      <vt:lpstr>Создание таблицы (часть полной версии) 1/3</vt:lpstr>
      <vt:lpstr>Создание таблицы (часть полной версии) 2/3</vt:lpstr>
      <vt:lpstr>Создание таблицы (часть полной версии)   3/3</vt:lpstr>
      <vt:lpstr>Создание heap-таблицы и  врѐменной таблицы уровня сессии (упрощённые версии) </vt:lpstr>
      <vt:lpstr>CREATE TABLE. Примеры для heap-таблицы</vt:lpstr>
      <vt:lpstr>Что можно изменять в таблице</vt:lpstr>
      <vt:lpstr>Команда ALTER TABLE </vt:lpstr>
      <vt:lpstr>Примеры изменений таблицы 1/2</vt:lpstr>
      <vt:lpstr>Примеры изменений таблицы 2/2</vt:lpstr>
      <vt:lpstr>Восстановление удаленной таблицы</vt:lpstr>
      <vt:lpstr>Типы данных</vt:lpstr>
      <vt:lpstr>Встроенные типы данных в Oracle 11g</vt:lpstr>
      <vt:lpstr>Числовые типы</vt:lpstr>
      <vt:lpstr>Что задаётся на самом деле</vt:lpstr>
      <vt:lpstr>К чему приводит отсутствие правильного задания числового типа</vt:lpstr>
      <vt:lpstr>Символьные типы. Хранение текстовых строк в SQL</vt:lpstr>
      <vt:lpstr>Большие символьные типы и PL/SQL</vt:lpstr>
      <vt:lpstr>Сравнение CHAR и VARCHAR</vt:lpstr>
      <vt:lpstr>Типы даты -- времени </vt:lpstr>
      <vt:lpstr>ROWID и UROWID</vt:lpstr>
      <vt:lpstr>ROWID     </vt:lpstr>
      <vt:lpstr> Количество блоков занятых таблицей </vt:lpstr>
      <vt:lpstr>Пример неправильного использования ROWID</vt:lpstr>
      <vt:lpstr>Имитация типа BOOLEAN</vt:lpstr>
      <vt:lpstr>Комментарии</vt:lpstr>
      <vt:lpstr>Комментарии к таблицам, столбцам, представлениям или моментальным снимкам </vt:lpstr>
      <vt:lpstr>Комментарии</vt:lpstr>
      <vt:lpstr>Запрос описания столбцов с комментариями</vt:lpstr>
      <vt:lpstr>Врéменные таблицы</vt:lpstr>
      <vt:lpstr> Врéменные таблицы 1/2 </vt:lpstr>
      <vt:lpstr>Врéменные таблицы 2/2</vt:lpstr>
      <vt:lpstr>Ограничения на использование врéменных таблиц ??</vt:lpstr>
      <vt:lpstr>Как работают врéменные таблицы</vt:lpstr>
      <vt:lpstr>Примеры врéменных таблиц</vt:lpstr>
      <vt:lpstr>Индексно-организованные таблицы</vt:lpstr>
      <vt:lpstr>Индексно-организованная таблица 1/2</vt:lpstr>
      <vt:lpstr>Индексно-организованная таблица 2/2</vt:lpstr>
      <vt:lpstr>Сведения о таблицах и связанных с ними объектах через представления словаря</vt:lpstr>
      <vt:lpstr>Сведения об объектах базы</vt:lpstr>
      <vt:lpstr>Внешние таблицы</vt:lpstr>
      <vt:lpstr>Создаём внешние таблицы 1/3</vt:lpstr>
      <vt:lpstr>Вариант файлов с кириллицей</vt:lpstr>
      <vt:lpstr>Создаём внешние таблицы 2/3</vt:lpstr>
      <vt:lpstr>Инструкция создания внешних таблиц  CREATE TABLE … ORGANIZATION EXTERNAL </vt:lpstr>
      <vt:lpstr>Создаём внешние таблицы 3/3</vt:lpstr>
      <vt:lpstr>Сведения о внешних таблицах</vt:lpstr>
      <vt:lpstr>Метаданные. Пакет DBMS_METADATA</vt:lpstr>
      <vt:lpstr>Пакет DBMS_METADATA</vt:lpstr>
      <vt:lpstr>Пакет DBMS_METADATA</vt:lpstr>
      <vt:lpstr>Пакет DBMS_METADATA</vt:lpstr>
      <vt:lpstr>Функции GET_DDL и GET_DEPENDENT_DDL </vt:lpstr>
      <vt:lpstr>Функция GET_GRANTED_DDL </vt:lpstr>
      <vt:lpstr>Примеры 1/4</vt:lpstr>
      <vt:lpstr>Примеры 2/4</vt:lpstr>
      <vt:lpstr>Примеры 3/4</vt:lpstr>
      <vt:lpstr>Примеры 4/4</vt:lpstr>
      <vt:lpstr>Разбираем скрипт</vt:lpstr>
      <vt:lpstr>Результат исполнения скрипта на предыдущем слайде</vt:lpstr>
      <vt:lpstr>Примеры get_ddl</vt:lpstr>
      <vt:lpstr>Сколько места занимает база данных</vt:lpstr>
      <vt:lpstr>Маски форматов даты – времени </vt:lpstr>
      <vt:lpstr>Представления  </vt:lpstr>
      <vt:lpstr>Инструкция создания представления</vt:lpstr>
      <vt:lpstr>Пояснения к инструкции создания представления</vt:lpstr>
      <vt:lpstr>Изменение и удаление представлений</vt:lpstr>
      <vt:lpstr>Метаданные представлений </vt:lpstr>
      <vt:lpstr>Ограничения на манипулирование данными через представления</vt:lpstr>
      <vt:lpstr>Понятие о материализованных представлениях</vt:lpstr>
      <vt:lpstr>Понятие MView</vt:lpstr>
      <vt:lpstr>Чем отличаются view и mview </vt:lpstr>
      <vt:lpstr>Заполнение mview через commit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2. SQL. Типы данных. Инструкции DML. Запросы.</dc:title>
  <dc:creator>Bessarabov</dc:creator>
  <cp:lastModifiedBy>Nikolay Bessarabov</cp:lastModifiedBy>
  <cp:revision>286</cp:revision>
  <dcterms:created xsi:type="dcterms:W3CDTF">2018-08-07T18:22:06Z</dcterms:created>
  <dcterms:modified xsi:type="dcterms:W3CDTF">2021-10-21T07:59:08Z</dcterms:modified>
</cp:coreProperties>
</file>