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</p:sldMasterIdLst>
  <p:notesMasterIdLst>
    <p:notesMasterId r:id="rId33"/>
  </p:notesMasterIdLst>
  <p:sldIdLst>
    <p:sldId id="256" r:id="rId4"/>
    <p:sldId id="270" r:id="rId5"/>
    <p:sldId id="257" r:id="rId6"/>
    <p:sldId id="258" r:id="rId7"/>
    <p:sldId id="259" r:id="rId8"/>
    <p:sldId id="260" r:id="rId9"/>
    <p:sldId id="261" r:id="rId10"/>
    <p:sldId id="289" r:id="rId11"/>
    <p:sldId id="290" r:id="rId12"/>
    <p:sldId id="291" r:id="rId13"/>
    <p:sldId id="292" r:id="rId14"/>
    <p:sldId id="268" r:id="rId15"/>
    <p:sldId id="269" r:id="rId16"/>
    <p:sldId id="267" r:id="rId17"/>
    <p:sldId id="277" r:id="rId18"/>
    <p:sldId id="278" r:id="rId19"/>
    <p:sldId id="262" r:id="rId20"/>
    <p:sldId id="263" r:id="rId21"/>
    <p:sldId id="264" r:id="rId22"/>
    <p:sldId id="265" r:id="rId23"/>
    <p:sldId id="266" r:id="rId24"/>
    <p:sldId id="273" r:id="rId25"/>
    <p:sldId id="271" r:id="rId26"/>
    <p:sldId id="272" r:id="rId27"/>
    <p:sldId id="276" r:id="rId28"/>
    <p:sldId id="274" r:id="rId29"/>
    <p:sldId id="275" r:id="rId30"/>
    <p:sldId id="279" r:id="rId31"/>
    <p:sldId id="282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BEE0E-151B-42B9-865C-6CAFA4FD6466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3F356-96D1-4351-BD32-144CBBC465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580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765611-858B-4251-8F58-23FC518E7E51}" type="slidenum">
              <a:rPr lang="ru-RU">
                <a:solidFill>
                  <a:prstClr val="black"/>
                </a:solidFill>
              </a:rPr>
              <a:pPr/>
              <a:t>3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293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3F356-96D1-4351-BD32-144CBBC4653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932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BBE1FC-B68D-4FC5-9206-FFA3E4B8C6AE}" type="slidenum">
              <a:rPr lang="ru-RU">
                <a:solidFill>
                  <a:prstClr val="black"/>
                </a:solidFill>
              </a:rPr>
              <a:pPr/>
              <a:t>17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6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49A16A-A4F7-43B0-A302-FA963590BFD9}" type="slidenum">
              <a:rPr lang="ru-RU">
                <a:solidFill>
                  <a:prstClr val="black"/>
                </a:solidFill>
              </a:rPr>
              <a:pPr/>
              <a:t>18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356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7CADEE-4179-47A5-99C1-629B75A0DA0F}" type="slidenum">
              <a:rPr lang="ru-RU">
                <a:solidFill>
                  <a:prstClr val="black"/>
                </a:solidFill>
              </a:rPr>
              <a:pPr/>
              <a:t>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363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D7D152-F9D7-4D6B-9FF1-6E4B3F333869}" type="slidenum">
              <a:rPr lang="ru-RU">
                <a:solidFill>
                  <a:prstClr val="black"/>
                </a:solidFill>
              </a:rPr>
              <a:pPr/>
              <a:t>20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573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D9FB5E-526A-4CDA-A272-E2712569F87D}" type="slidenum">
              <a:rPr lang="ru-RU">
                <a:solidFill>
                  <a:prstClr val="black"/>
                </a:solidFill>
              </a:rPr>
              <a:pPr/>
              <a:t>21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95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34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48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98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31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2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80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44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45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6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10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487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ECEE50-D3B8-4EBA-BAB2-199D96AA3DCB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33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E58E2-9027-4DFD-915E-DDB40D7DEEA4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04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E4BEF8-AC2E-4582-BCDB-F0CFCDB6DFEB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119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93FF0-170D-4568-8A9E-9BBA8971D37A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80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091294-5A31-429B-BAC7-C1959B801F19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242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4B8347-5DF5-4610-B91C-892310AC32E1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349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A6872-0FD5-4B4D-B44D-CC126EAA7D14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481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E9F21C-DEF1-487D-B900-FCF9ECAAAD29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698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CB7A04-AC5E-47F6-B561-1D80866D9C3F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661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A66CEA-2147-47E3-A7E6-165AEDC69DD5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95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7BCA9C-EE6B-4866-8341-FAB03FEDAE69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551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A52C1E4-5D08-4C2B-90CA-50ED0A3778D8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4995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07D4926-1A9E-40A8-BF1E-D4ABA180DB3A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651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5359143-8EA1-4643-B31C-FA493C599D5A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3130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859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4248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9207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1909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637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3128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091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10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998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81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88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1F3D4-EF8D-4BF5-86AB-16D51093759C}" type="datetimeFigureOut">
              <a:rPr lang="ru-RU" smtClean="0"/>
              <a:t>27.10.2023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85B4-7E73-4F07-A1CC-37607E410F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84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8E2DB1-5654-4C13-B49A-62B361D55DF2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02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27.10.2023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91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2376264"/>
          </a:xfrm>
        </p:spPr>
        <p:txBody>
          <a:bodyPr>
            <a:normAutofit/>
          </a:bodyPr>
          <a:lstStyle/>
          <a:p>
            <a:pPr lvl="0">
              <a:spcBef>
                <a:spcPct val="20000"/>
              </a:spcBef>
            </a:pPr>
            <a:r>
              <a:rPr lang="ru-RU" dirty="0"/>
              <a:t>Планы исполнения</a:t>
            </a:r>
            <a:br>
              <a:rPr lang="en-US" dirty="0"/>
            </a:br>
            <a:r>
              <a:rPr lang="ru-RU" sz="3200" dirty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t>Введение</a:t>
            </a:r>
            <a:br>
              <a:rPr lang="ru-RU" sz="3200" dirty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2018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886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rmAutofit/>
          </a:bodyPr>
          <a:lstStyle/>
          <a:p>
            <a:r>
              <a:rPr lang="ru-RU" sz="3200" kern="0" dirty="0">
                <a:solidFill>
                  <a:srgbClr val="CE2816"/>
                </a:solidFill>
                <a:latin typeface="Arial"/>
              </a:rPr>
              <a:t>Измерение времени выполнения запроса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764704"/>
            <a:ext cx="8640960" cy="5760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/>
              <a:t>      Измерить время выполнения запроса в </a:t>
            </a:r>
            <a:r>
              <a:rPr lang="ru-RU" sz="2000" dirty="0" err="1"/>
              <a:t>sqlplus</a:t>
            </a:r>
            <a:r>
              <a:rPr lang="ru-RU" sz="2000" dirty="0"/>
              <a:t> можно скриптом:</a:t>
            </a:r>
          </a:p>
          <a:p>
            <a:pPr marL="0" indent="0">
              <a:buNone/>
            </a:pPr>
            <a:r>
              <a:rPr lang="en-US" sz="2000" dirty="0"/>
              <a:t>set timing on;</a:t>
            </a:r>
            <a:br>
              <a:rPr lang="en-US" sz="2000" dirty="0"/>
            </a:br>
            <a:r>
              <a:rPr lang="en-US" sz="2000" dirty="0"/>
              <a:t>set </a:t>
            </a:r>
            <a:r>
              <a:rPr lang="en-US" sz="2000" dirty="0" err="1"/>
              <a:t>linesize</a:t>
            </a:r>
            <a:r>
              <a:rPr lang="en-US" sz="2000" dirty="0"/>
              <a:t> 1000;</a:t>
            </a:r>
            <a:br>
              <a:rPr lang="en-US" sz="2000" dirty="0"/>
            </a:br>
            <a:r>
              <a:rPr lang="en-US" sz="2000" dirty="0"/>
              <a:t>set </a:t>
            </a:r>
            <a:r>
              <a:rPr lang="en-US" sz="2000" dirty="0" err="1"/>
              <a:t>pagesize</a:t>
            </a:r>
            <a:r>
              <a:rPr lang="en-US" sz="2000" dirty="0"/>
              <a:t> 1000;</a:t>
            </a:r>
            <a:br>
              <a:rPr lang="en-US" sz="2000" dirty="0"/>
            </a:br>
            <a:r>
              <a:rPr lang="en-US" sz="2000" dirty="0"/>
              <a:t>&lt;SQL statement&gt;;</a:t>
            </a:r>
            <a:br>
              <a:rPr lang="en-US" sz="2000" dirty="0"/>
            </a:br>
            <a:r>
              <a:rPr lang="ru-RU" sz="2000" dirty="0"/>
              <a:t>      Результаты запроса выдаются в виде</a:t>
            </a:r>
            <a:r>
              <a:rPr lang="en-US" sz="2000" dirty="0"/>
              <a:t>: 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Elapsed: 00:00:02.71.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После точки сотые доли секунды.</a:t>
            </a:r>
          </a:p>
          <a:p>
            <a:pPr marL="0" indent="0">
              <a:buNone/>
            </a:pPr>
            <a:r>
              <a:rPr lang="ru-RU" sz="2000" dirty="0"/>
              <a:t>      В этом варианте результаты запроса выводятся не на экран, а в файл:</a:t>
            </a:r>
          </a:p>
          <a:p>
            <a:pPr marL="0" indent="0">
              <a:buNone/>
            </a:pPr>
            <a:r>
              <a:rPr lang="en-US" sz="2000" dirty="0"/>
              <a:t>set timing on;</a:t>
            </a:r>
            <a:br>
              <a:rPr lang="en-US" sz="2000" dirty="0"/>
            </a:br>
            <a:r>
              <a:rPr lang="en-US" sz="2000" dirty="0"/>
              <a:t>set </a:t>
            </a:r>
            <a:r>
              <a:rPr lang="en-US" sz="2000" dirty="0" err="1"/>
              <a:t>linesize</a:t>
            </a:r>
            <a:r>
              <a:rPr lang="en-US" sz="2000" dirty="0"/>
              <a:t> 1000;</a:t>
            </a:r>
            <a:br>
              <a:rPr lang="en-US" sz="2000" dirty="0"/>
            </a:br>
            <a:r>
              <a:rPr lang="en-US" sz="2000" dirty="0"/>
              <a:t>set </a:t>
            </a:r>
            <a:r>
              <a:rPr lang="en-US" sz="2000" dirty="0" err="1"/>
              <a:t>pagesize</a:t>
            </a:r>
            <a:r>
              <a:rPr lang="en-US" sz="2000" dirty="0"/>
              <a:t> 1000;</a:t>
            </a:r>
            <a:br>
              <a:rPr lang="en-US" sz="2000" dirty="0"/>
            </a:br>
            <a:r>
              <a:rPr lang="en-US" sz="2000" dirty="0"/>
              <a:t>set term off;</a:t>
            </a:r>
            <a:br>
              <a:rPr lang="en-US" sz="2000" dirty="0"/>
            </a:br>
            <a:r>
              <a:rPr lang="en-US" sz="2000" dirty="0"/>
              <a:t>spool </a:t>
            </a:r>
            <a:r>
              <a:rPr lang="en-US" sz="2000" dirty="0" err="1"/>
              <a:t>tmp.out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>&lt;SQL statement&gt;;</a:t>
            </a:r>
            <a:br>
              <a:rPr lang="en-US" sz="2000" dirty="0"/>
            </a:br>
            <a:r>
              <a:rPr lang="en-US" sz="2000" dirty="0"/>
              <a:t>spool off;</a:t>
            </a:r>
            <a:br>
              <a:rPr lang="en-US" sz="2000" dirty="0"/>
            </a:b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Сравните время выполнения одного запроса в этих вариантах и в </a:t>
            </a:r>
            <a:r>
              <a:rPr lang="en-US" sz="2000" dirty="0"/>
              <a:t>SQL Developer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r>
              <a:rPr lang="ru-RU" sz="2000" dirty="0"/>
              <a:t>     				 Выводы?</a:t>
            </a:r>
          </a:p>
        </p:txBody>
      </p:sp>
    </p:spTree>
    <p:extLst>
      <p:ext uri="{BB962C8B-B14F-4D97-AF65-F5344CB8AC3E}">
        <p14:creationId xmlns:p14="http://schemas.microsoft.com/office/powerpoint/2010/main" val="389005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633413"/>
          </a:xfrm>
        </p:spPr>
        <p:txBody>
          <a:bodyPr/>
          <a:lstStyle/>
          <a:p>
            <a:r>
              <a:rPr lang="ru-RU" sz="4000" dirty="0">
                <a:solidFill>
                  <a:srgbClr val="CE2816"/>
                </a:solidFill>
              </a:rPr>
              <a:t>Планы исполнения</a:t>
            </a:r>
            <a:r>
              <a:rPr lang="en-US" sz="4000" dirty="0">
                <a:solidFill>
                  <a:srgbClr val="CE2816"/>
                </a:solidFill>
              </a:rPr>
              <a:t> </a:t>
            </a: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507413" cy="58324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Создавая запрос </a:t>
            </a:r>
            <a:r>
              <a:rPr lang="en-US" sz="2000" dirty="0"/>
              <a:t>SQL</a:t>
            </a:r>
            <a:r>
              <a:rPr lang="ru-RU" sz="2000" dirty="0"/>
              <a:t> пользователь указывает какими свойствами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обладают нужные ему данные, но ничего не говорит о том, как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именно они получаются. Это облегчает жизнь программиста, но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ровно до тех пор, пока производительность запроса остаётся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удовлетворительной.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План исполнения (выполнения) описывает алгоритм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используемый при выполнении запроса. В частности, определяются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пути доступа (использование индексов, их объединение или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игнорирование) и порядок соединений (в каком порядке обращаются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к таблицам). Для оптимизации запроса важно определить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селективность условий, то есть установить, какую долю записей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определяет соответствующий предикат.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Выбирается план исполнения либо администратором вручную,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либо одним из встроенных оптимизаторов автоматически.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Настройка (</a:t>
            </a:r>
            <a:r>
              <a:rPr lang="en-US" sz="2000" dirty="0"/>
              <a:t>tuning</a:t>
            </a:r>
            <a:r>
              <a:rPr lang="ru-RU" sz="2000" dirty="0"/>
              <a:t>)</a:t>
            </a:r>
            <a:r>
              <a:rPr lang="en-US" sz="2000" dirty="0"/>
              <a:t> SQL</a:t>
            </a:r>
            <a:r>
              <a:rPr lang="ru-RU" sz="2000" dirty="0"/>
              <a:t> это ещё один слой знаний, умений и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навыков, которым должны владеть квалифицированный разработчик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и администратор баз данных. </a:t>
            </a: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3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097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52" y="-609"/>
            <a:ext cx="9108504" cy="1053345"/>
          </a:xfrm>
        </p:spPr>
        <p:txBody>
          <a:bodyPr/>
          <a:lstStyle/>
          <a:p>
            <a:r>
              <a:rPr lang="ru-RU" sz="3600" dirty="0">
                <a:solidFill>
                  <a:srgbClr val="CE2816"/>
                </a:solidFill>
              </a:rPr>
              <a:t>Оптимизация по правилам и по стоимости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12776"/>
            <a:ext cx="9036496" cy="4785395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ru-RU" sz="2000" dirty="0"/>
              <a:t>      Два основных способа:</a:t>
            </a:r>
          </a:p>
          <a:p>
            <a:pPr>
              <a:lnSpc>
                <a:spcPct val="90000"/>
              </a:lnSpc>
            </a:pPr>
            <a:r>
              <a:rPr lang="ru-RU" sz="2000" dirty="0"/>
              <a:t>Оптимизация по правилам (RULE BASED). Учитываются только способы доступа к данным. </a:t>
            </a:r>
            <a:r>
              <a:rPr lang="ru-RU" sz="2000" dirty="0">
                <a:solidFill>
                  <a:srgbClr val="000000"/>
                </a:solidFill>
              </a:rPr>
              <a:t>Ранги  эффективности доступа</a:t>
            </a:r>
            <a:r>
              <a:rPr lang="ru-RU" sz="2000" dirty="0"/>
              <a:t> установлены заранее и не учитывают особенности действующей ситуации. Опытный администратор часто создаёт лучшие планы.</a:t>
            </a:r>
          </a:p>
          <a:p>
            <a:pPr>
              <a:lnSpc>
                <a:spcPct val="90000"/>
              </a:lnSpc>
            </a:pPr>
            <a:r>
              <a:rPr lang="ru-RU" sz="2000" dirty="0"/>
              <a:t>Оптимизация по стоимости (COST BASED). Учитываются и способы доступа к данным, и статистика размещения данных и ресурсов.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lucida grande"/>
              </a:rPr>
              <a:t>      </a:t>
            </a:r>
            <a:r>
              <a:rPr lang="ru-RU" sz="2000" dirty="0">
                <a:latin typeface="lucida grande"/>
              </a:rPr>
              <a:t>Выбор режима работы оптимизатора определяет параметр </a:t>
            </a:r>
            <a:r>
              <a:rPr lang="ru-RU" sz="2000" dirty="0">
                <a:latin typeface="Courier New"/>
              </a:rPr>
              <a:t>optimizer_mode</a:t>
            </a:r>
            <a:r>
              <a:rPr lang="ru-RU" sz="2000" dirty="0">
                <a:latin typeface="lucida grande"/>
              </a:rPr>
              <a:t>, который в </a:t>
            </a:r>
            <a:r>
              <a:rPr lang="en-US" sz="2000" dirty="0">
                <a:latin typeface="lucida grande"/>
              </a:rPr>
              <a:t>Oracle </a:t>
            </a:r>
            <a:r>
              <a:rPr lang="ru-RU" sz="2000" dirty="0">
                <a:latin typeface="lucida grande"/>
              </a:rPr>
              <a:t>может иметь значения:</a:t>
            </a:r>
          </a:p>
          <a:p>
            <a:r>
              <a:rPr lang="ru-RU" sz="2000" dirty="0">
                <a:latin typeface="Courier New"/>
              </a:rPr>
              <a:t>optimizer_mode = </a:t>
            </a:r>
            <a:r>
              <a:rPr lang="ru-RU" sz="2000" i="1" dirty="0" err="1">
                <a:latin typeface="Courier New"/>
              </a:rPr>
              <a:t>rule</a:t>
            </a:r>
            <a:r>
              <a:rPr lang="ru-RU" sz="2000" dirty="0">
                <a:latin typeface="Courier New"/>
              </a:rPr>
              <a:t> - RBO;</a:t>
            </a:r>
            <a:endParaRPr lang="ru-RU" sz="2000" dirty="0">
              <a:latin typeface="lucida grande"/>
            </a:endParaRPr>
          </a:p>
          <a:p>
            <a:r>
              <a:rPr lang="ru-RU" sz="2000" dirty="0">
                <a:latin typeface="Courier New"/>
              </a:rPr>
              <a:t>optimizer_mode = </a:t>
            </a:r>
            <a:r>
              <a:rPr lang="ru-RU" sz="2000" dirty="0" err="1">
                <a:latin typeface="Courier New"/>
              </a:rPr>
              <a:t>all_rows</a:t>
            </a:r>
            <a:r>
              <a:rPr lang="ru-RU" sz="2000" dirty="0">
                <a:latin typeface="Courier New"/>
              </a:rPr>
              <a:t> - CBO</a:t>
            </a:r>
            <a:r>
              <a:rPr lang="ru-RU" sz="2000" dirty="0">
                <a:latin typeface="lucida grande"/>
              </a:rPr>
              <a:t>, установлен по умолчанию.</a:t>
            </a:r>
          </a:p>
          <a:p>
            <a:r>
              <a:rPr lang="ru-RU" sz="2000" dirty="0">
                <a:latin typeface="Courier New"/>
              </a:rPr>
              <a:t>optimizer_mode = </a:t>
            </a:r>
            <a:r>
              <a:rPr lang="ru-RU" sz="2000" dirty="0" err="1">
                <a:latin typeface="Courier New"/>
              </a:rPr>
              <a:t>first_rows</a:t>
            </a:r>
            <a:r>
              <a:rPr lang="ru-RU" sz="2000" dirty="0">
                <a:latin typeface="Courier New"/>
              </a:rPr>
              <a:t> - CBO</a:t>
            </a:r>
            <a:r>
              <a:rPr lang="ru-RU" sz="2000" dirty="0">
                <a:latin typeface="lucida grande"/>
              </a:rPr>
              <a:t>, пытается выбрать план, который наиболее быстро возвращает первые строки.</a:t>
            </a:r>
          </a:p>
          <a:p>
            <a:pPr marL="0" indent="0">
              <a:buNone/>
            </a:pPr>
            <a:r>
              <a:rPr lang="ru-RU" sz="2000" dirty="0">
                <a:latin typeface="lucida grande"/>
              </a:rPr>
              <a:t>      Существуют другие варианты.</a:t>
            </a:r>
            <a:endParaRPr lang="en-US" sz="2000" dirty="0">
              <a:latin typeface="lucida grande"/>
            </a:endParaRPr>
          </a:p>
          <a:p>
            <a:pPr marL="0" indent="0">
              <a:buNone/>
            </a:pPr>
            <a:endParaRPr lang="en-US" sz="2000" dirty="0">
              <a:latin typeface="lucida grande"/>
            </a:endParaRPr>
          </a:p>
          <a:p>
            <a:pPr marL="0" indent="0">
              <a:buNone/>
            </a:pPr>
            <a:endParaRPr lang="ru-RU" sz="2000" dirty="0">
              <a:latin typeface="lucida grande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4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51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48680"/>
          </a:xfrm>
        </p:spPr>
        <p:txBody>
          <a:bodyPr/>
          <a:lstStyle/>
          <a:p>
            <a:r>
              <a:rPr lang="ru-RU" sz="4000" dirty="0">
                <a:solidFill>
                  <a:srgbClr val="CE2816"/>
                </a:solidFill>
              </a:rPr>
              <a:t>Ранжирование методов доступа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840366"/>
              </p:ext>
            </p:extLst>
          </p:nvPr>
        </p:nvGraphicFramePr>
        <p:xfrm>
          <a:off x="755576" y="836712"/>
          <a:ext cx="7992888" cy="54864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678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0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Ранг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Метод доступа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одна строка по ее идентификатору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одна строка по объединению  кластеров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одна строка по хеш-ключу кластера с уникальным или первичным  ключом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одна строка по уникальному или первичному ключу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объединение кластеров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хеш-ключ кластера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индекс кластера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составной индекс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индекс на основе одного столбца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ограниченный диапазон поиска по индексированным столбцам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неограниченный диапазон поиска по индексированным столбцам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объединение с сортировкой и слиянием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поиск минимального или максимального значения по  индексированным столбцам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упорядочение по индексированным столбцам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полное сканирование таблицы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180975" y="662463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Бессарабов Н.В.</a:t>
            </a:r>
            <a:r>
              <a:rPr lang="en-US" sz="1600" dirty="0">
                <a:solidFill>
                  <a:srgbClr val="000000"/>
                </a:solidFill>
              </a:rPr>
              <a:t>2014</a:t>
            </a: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5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06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1162"/>
            <a:ext cx="8229600" cy="1031574"/>
          </a:xfrm>
        </p:spPr>
        <p:txBody>
          <a:bodyPr/>
          <a:lstStyle/>
          <a:p>
            <a:r>
              <a:rPr lang="ru-RU" sz="3600" dirty="0">
                <a:solidFill>
                  <a:srgbClr val="CE2816"/>
                </a:solidFill>
              </a:rPr>
              <a:t>Статистики для оптимизатора по стоимости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908720"/>
            <a:ext cx="8712968" cy="5688632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      </a:t>
            </a:r>
            <a:r>
              <a:rPr lang="en-US" sz="2000" dirty="0"/>
              <a:t>CBO-</a:t>
            </a:r>
            <a:r>
              <a:rPr lang="ru-RU" sz="2000" dirty="0"/>
              <a:t>оптимизатор использует </a:t>
            </a:r>
            <a:r>
              <a:rPr lang="ru-RU" sz="2000" i="1" dirty="0"/>
              <a:t>статистики </a:t>
            </a:r>
            <a:r>
              <a:rPr lang="ru-RU" sz="2000" dirty="0"/>
              <a:t>для определения стоимости </a:t>
            </a:r>
            <a:r>
              <a:rPr lang="ru-RU" sz="2000" i="1" dirty="0"/>
              <a:t>пути доступа</a:t>
            </a:r>
            <a:r>
              <a:rPr lang="en-US" sz="2000" i="1" dirty="0"/>
              <a:t> </a:t>
            </a:r>
            <a:r>
              <a:rPr lang="ru-RU" sz="2000" i="1" dirty="0"/>
              <a:t>это --</a:t>
            </a:r>
            <a:r>
              <a:rPr lang="ru-RU" sz="2000" dirty="0"/>
              <a:t> число элементов таблицы, число возможных значений столбца и распределение данных.     </a:t>
            </a:r>
          </a:p>
          <a:p>
            <a:pPr marL="0" indent="0">
              <a:buNone/>
            </a:pPr>
            <a:r>
              <a:rPr lang="ru-RU" sz="2000" dirty="0"/>
              <a:t>      Стоимость является мерой того, сколько памяти, ресурсов процессора и каналов ввода-вывода потребуется для выполнения запроса. </a:t>
            </a:r>
          </a:p>
          <a:p>
            <a:pPr marL="0" indent="0">
              <a:buNone/>
            </a:pPr>
            <a:r>
              <a:rPr lang="ru-RU" sz="2000" dirty="0"/>
              <a:t>      Сначала необходимо собрать статистику числа элементов (</a:t>
            </a:r>
            <a:r>
              <a:rPr lang="ru-RU" sz="2000" dirty="0" err="1"/>
              <a:t>cardinality</a:t>
            </a:r>
            <a:r>
              <a:rPr lang="ru-RU" sz="2000" dirty="0"/>
              <a:t>) и распределения данных для используемых в запросе  таблиц, индексов и материализованных представлений. </a:t>
            </a:r>
          </a:p>
          <a:p>
            <a:pPr marL="0" indent="0">
              <a:buNone/>
            </a:pPr>
            <a:r>
              <a:rPr lang="ru-RU" sz="2000" dirty="0"/>
              <a:t>      В </a:t>
            </a:r>
            <a:r>
              <a:rPr lang="en-US" sz="2000" dirty="0"/>
              <a:t>Oracle c</a:t>
            </a:r>
            <a:r>
              <a:rPr lang="ru-RU" sz="2000" dirty="0" err="1"/>
              <a:t>татистика</a:t>
            </a:r>
            <a:r>
              <a:rPr lang="ru-RU" sz="2000" dirty="0"/>
              <a:t> собирается пакетом DBMS_STATS. В нём имеются процедуры для сбора статистики уровня базы данных, схемы или таблицы, а также раздела таблицы.</a:t>
            </a:r>
          </a:p>
          <a:p>
            <a:pPr marL="0" indent="0">
              <a:buNone/>
            </a:pPr>
            <a:r>
              <a:rPr lang="ru-RU" sz="2000" dirty="0"/>
              <a:t>      Пример команды сбора статистики:</a:t>
            </a:r>
          </a:p>
          <a:p>
            <a:pPr marL="0" indent="0">
              <a:buNone/>
            </a:pPr>
            <a:r>
              <a:rPr lang="en-US" sz="2000" dirty="0"/>
              <a:t>ANALYSE TABLE employees COMPUTE STATISTICS </a:t>
            </a:r>
          </a:p>
          <a:p>
            <a:pPr marL="0" indent="0">
              <a:buNone/>
            </a:pPr>
            <a:r>
              <a:rPr lang="en-US" sz="2000" dirty="0"/>
              <a:t>         FOR TABLE FOR ALL INDEXES FOR ALL INDEXED COLUMNS;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ru-RU" sz="2000" dirty="0"/>
              <a:t>  </a:t>
            </a:r>
            <a:r>
              <a:rPr lang="en-US" sz="2000" dirty="0"/>
              <a:t>C</a:t>
            </a:r>
            <a:r>
              <a:rPr lang="ru-RU" sz="2000" dirty="0" err="1"/>
              <a:t>татистики</a:t>
            </a:r>
            <a:r>
              <a:rPr lang="ru-RU" sz="2000" dirty="0"/>
              <a:t> таблиц хранятся в представлении USER_TABLES.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6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31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5517"/>
            <a:ext cx="8229600" cy="595171"/>
          </a:xfrm>
        </p:spPr>
        <p:txBody>
          <a:bodyPr/>
          <a:lstStyle/>
          <a:p>
            <a:r>
              <a:rPr lang="ru-RU" sz="3600" dirty="0">
                <a:solidFill>
                  <a:srgbClr val="CE2816"/>
                </a:solidFill>
              </a:rPr>
              <a:t>Подсказки</a:t>
            </a:r>
            <a:r>
              <a:rPr lang="en-US" sz="3600" dirty="0">
                <a:solidFill>
                  <a:srgbClr val="CE2816"/>
                </a:solidFill>
              </a:rPr>
              <a:t> 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764704"/>
            <a:ext cx="8568952" cy="5361459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ru-RU" sz="2000" dirty="0"/>
              <a:t>      Управлять планом исполнения можно размещая после слова 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/>
              <a:t>SELECT </a:t>
            </a:r>
            <a:r>
              <a:rPr lang="ru-RU" sz="2000" dirty="0"/>
              <a:t>подсказки в виде комментариев специального вида (</a:t>
            </a:r>
            <a:r>
              <a:rPr lang="en-US" sz="2000" dirty="0"/>
              <a:t>hints</a:t>
            </a:r>
            <a:r>
              <a:rPr lang="ru-RU" sz="2000" dirty="0"/>
              <a:t>). Например, подсказка в запросе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/>
              <a:t>SELECT</a:t>
            </a:r>
            <a:r>
              <a:rPr lang="ru-RU" sz="2000"/>
              <a:t> /*+ </a:t>
            </a:r>
            <a:r>
              <a:rPr lang="en-US" sz="2000"/>
              <a:t>INDEX</a:t>
            </a:r>
            <a:r>
              <a:rPr lang="ru-RU" sz="2000" dirty="0"/>
              <a:t>*/ </a:t>
            </a:r>
            <a:r>
              <a:rPr lang="en-US" sz="2000" dirty="0" err="1"/>
              <a:t>empno</a:t>
            </a:r>
            <a:r>
              <a:rPr lang="en-US" sz="2000" dirty="0"/>
              <a:t> FROM </a:t>
            </a:r>
            <a:r>
              <a:rPr lang="en-US" sz="2000" dirty="0" err="1"/>
              <a:t>emp</a:t>
            </a:r>
            <a:r>
              <a:rPr lang="en-US" sz="2000" dirty="0"/>
              <a:t> WHERE </a:t>
            </a:r>
            <a:r>
              <a:rPr lang="en-US" sz="2000" dirty="0" err="1"/>
              <a:t>empno</a:t>
            </a:r>
            <a:r>
              <a:rPr lang="ru-RU" sz="2000" dirty="0"/>
              <a:t> = 1739;</a:t>
            </a:r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означает требование воспользоваться индексом. Правда </a:t>
            </a:r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оптимизатор может и не выполнить указание. </a:t>
            </a:r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Некоторые подсказки: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20709"/>
              </p:ext>
            </p:extLst>
          </p:nvPr>
        </p:nvGraphicFramePr>
        <p:xfrm>
          <a:off x="539552" y="3212976"/>
          <a:ext cx="7920880" cy="302433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Подсказка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Пояснение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FULL(таблица)               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Выполнение  полного  просмотра  таблицы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CASH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Разместить сканированную таблицу в кэше для  сохранения ее блоков в памяти для  последующего  быстрого  доступа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INDEX (индекс)      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Использовать  указанный  индекс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>
                          <a:effectLst/>
                          <a:latin typeface="Times New Roman"/>
                          <a:ea typeface="Times New Roman"/>
                        </a:rPr>
                        <a:t>USE_NL                          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effectLst/>
                          <a:latin typeface="Times New Roman"/>
                          <a:ea typeface="Times New Roman"/>
                        </a:rPr>
                        <a:t>Использовать  вложенные  циклы  для  объединения  таблиц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180975" y="662463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Бессарабов Н.В.</a:t>
            </a:r>
            <a:r>
              <a:rPr lang="en-US" sz="1600" dirty="0">
                <a:solidFill>
                  <a:srgbClr val="000000"/>
                </a:solidFill>
              </a:rPr>
              <a:t>2014</a:t>
            </a: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7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91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5517"/>
            <a:ext cx="8229600" cy="451155"/>
          </a:xfrm>
        </p:spPr>
        <p:txBody>
          <a:bodyPr/>
          <a:lstStyle/>
          <a:p>
            <a:r>
              <a:rPr lang="ru-RU" sz="3200" dirty="0">
                <a:solidFill>
                  <a:srgbClr val="CE2816"/>
                </a:solidFill>
              </a:rPr>
              <a:t>Подсказки</a:t>
            </a:r>
            <a:r>
              <a:rPr lang="en-US" sz="3200" dirty="0">
                <a:solidFill>
                  <a:srgbClr val="CE2816"/>
                </a:solidFill>
              </a:rPr>
              <a:t>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524" y="665584"/>
            <a:ext cx="8568952" cy="4995664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SQL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pass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instructions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 Database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optimizer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optimizer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choose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execution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unless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some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condition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exists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prevents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optimizer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from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doing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were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introduced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Oracle7,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when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had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little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recourse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optimizer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generated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suboptimal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plans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Now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provides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number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tools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including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SQL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Tuning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Advisor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SQL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management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SQL Performance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Analyzer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help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you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address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performance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problems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not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solved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optimizer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Oracle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strongly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recommends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you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those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tools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rather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than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tools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superior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because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when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ongoing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basis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provide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fresh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solutions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your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data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database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environment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change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should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sparingly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after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you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have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collected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statistics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relevant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tables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evaluated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optimizer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without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EXPLAIN PLAN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Changing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database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conditions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well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query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performance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enhancements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subsequent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releases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have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significant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impact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your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code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affect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performance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180975" y="662463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Бессарабов Н.В.</a:t>
            </a:r>
            <a:r>
              <a:rPr lang="en-US" sz="1600" dirty="0">
                <a:solidFill>
                  <a:srgbClr val="000000"/>
                </a:solidFill>
              </a:rPr>
              <a:t>2020</a:t>
            </a: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8</a:t>
            </a:fld>
            <a:endParaRPr lang="ru-R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7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5517"/>
            <a:ext cx="8229600" cy="451155"/>
          </a:xfrm>
        </p:spPr>
        <p:txBody>
          <a:bodyPr/>
          <a:lstStyle/>
          <a:p>
            <a:r>
              <a:rPr lang="ru-RU" sz="3200" dirty="0">
                <a:solidFill>
                  <a:srgbClr val="CE2816"/>
                </a:solidFill>
              </a:rPr>
              <a:t>Использование подсказок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524" y="665584"/>
            <a:ext cx="8568952" cy="4995664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have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keyword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syntax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diagram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shows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both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styles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supports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within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syntax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immediately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after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keyword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begins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solidFill>
                <a:srgbClr val="1A1816"/>
              </a:solidFill>
              <a:latin typeface="Orac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lang="en-US" altLang="ru-RU" sz="2000" dirty="0">
                <a:solidFill>
                  <a:srgbClr val="1A1816"/>
                </a:solidFill>
                <a:latin typeface="Oracle Sans"/>
              </a:rPr>
              <a:t>:=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180975" y="662463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Бессарабов Н.В.</a:t>
            </a:r>
            <a:r>
              <a:rPr lang="en-US" sz="1600" dirty="0">
                <a:solidFill>
                  <a:srgbClr val="000000"/>
                </a:solidFill>
              </a:rPr>
              <a:t>2020</a:t>
            </a: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9</a:t>
            </a:fld>
            <a:endParaRPr lang="ru-RU" dirty="0">
              <a:solidFill>
                <a:srgbClr val="000000"/>
              </a:solidFill>
            </a:endParaRPr>
          </a:p>
        </p:txBody>
      </p:sp>
      <p:pic>
        <p:nvPicPr>
          <p:cNvPr id="2054" name="Picture 6" descr="Description of hint.eps follows">
            <a:extLst>
              <a:ext uri="{FF2B5EF4-FFF2-40B4-BE49-F238E27FC236}">
                <a16:creationId xmlns:a16="http://schemas.microsoft.com/office/drawing/2014/main" id="{39801332-1DC6-26A0-877A-D30F0467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163416"/>
            <a:ext cx="5716939" cy="226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026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5517"/>
            <a:ext cx="8229600" cy="451155"/>
          </a:xfrm>
        </p:spPr>
        <p:txBody>
          <a:bodyPr/>
          <a:lstStyle/>
          <a:p>
            <a:r>
              <a:rPr lang="ru-RU" sz="3200" dirty="0">
                <a:solidFill>
                  <a:srgbClr val="CE2816"/>
                </a:solidFill>
              </a:rPr>
              <a:t>Использование подсказок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524" y="507887"/>
            <a:ext cx="8568952" cy="5737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have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keyword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syntax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diagram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shows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both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styles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supports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within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syntax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immediately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after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keyword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begins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statement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lang="ru-RU" altLang="ru-RU" sz="2000" dirty="0">
              <a:solidFill>
                <a:srgbClr val="1A1816"/>
              </a:solidFill>
              <a:latin typeface="Orac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lang="en-US" altLang="ru-RU" sz="2000" dirty="0">
                <a:solidFill>
                  <a:srgbClr val="1A1816"/>
                </a:solidFill>
                <a:latin typeface="Oracle Sans"/>
              </a:rPr>
              <a:t>:=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1A1816"/>
              </a:solidFill>
              <a:effectLst/>
              <a:latin typeface="Orac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000" dirty="0">
              <a:solidFill>
                <a:srgbClr val="1A1816"/>
              </a:solidFill>
              <a:latin typeface="Orac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1A1816"/>
              </a:solidFill>
              <a:effectLst/>
              <a:latin typeface="Orac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where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: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plus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sign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(+)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causes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interpret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list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plus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sign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immediately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after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delimiter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No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space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permitted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discussed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section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space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between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plus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sign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optional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multiple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separate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least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space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1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other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text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interspersed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with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lang="en-US" altLang="ru-RU" sz="2000" dirty="0">
              <a:solidFill>
                <a:srgbClr val="1A1816"/>
              </a:solidFill>
              <a:latin typeface="Orac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180975" y="662463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Бессарабов Н.В.</a:t>
            </a:r>
            <a:r>
              <a:rPr lang="en-US" sz="1600" dirty="0">
                <a:solidFill>
                  <a:srgbClr val="000000"/>
                </a:solidFill>
              </a:rPr>
              <a:t>2020</a:t>
            </a: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10</a:t>
            </a:fld>
            <a:endParaRPr lang="ru-RU" dirty="0">
              <a:solidFill>
                <a:srgbClr val="000000"/>
              </a:solidFill>
            </a:endParaRPr>
          </a:p>
        </p:txBody>
      </p:sp>
      <p:pic>
        <p:nvPicPr>
          <p:cNvPr id="2054" name="Picture 6" descr="Description of hint.eps follows">
            <a:extLst>
              <a:ext uri="{FF2B5EF4-FFF2-40B4-BE49-F238E27FC236}">
                <a16:creationId xmlns:a16="http://schemas.microsoft.com/office/drawing/2014/main" id="{39801332-1DC6-26A0-877A-D30F0467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94" y="2363047"/>
            <a:ext cx="3240360" cy="128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13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5517"/>
            <a:ext cx="8229600" cy="451155"/>
          </a:xfrm>
        </p:spPr>
        <p:txBody>
          <a:bodyPr/>
          <a:lstStyle/>
          <a:p>
            <a:r>
              <a:rPr lang="ru-RU" sz="3200" dirty="0">
                <a:solidFill>
                  <a:srgbClr val="CE2816"/>
                </a:solidFill>
              </a:rPr>
              <a:t>Ограничение на использование подсказок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524" y="507887"/>
            <a:ext cx="8568952" cy="5737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--+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syntax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requires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entire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single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line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Oracle Database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ignores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does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not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return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error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under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circumstances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: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>
              <a:spcBef>
                <a:spcPct val="0"/>
              </a:spcBef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misspellings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syntax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errors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However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database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does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consider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other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correctly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specified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same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eaLnBrk="0" hangingPunct="0">
              <a:spcBef>
                <a:spcPct val="0"/>
              </a:spcBef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containing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does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not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follow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keyword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eaLnBrk="0" hangingPunct="0">
              <a:spcBef>
                <a:spcPct val="0"/>
              </a:spcBef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combination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conflict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with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each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other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However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database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does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consider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other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same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eaLnBrk="0" hangingPunct="0">
              <a:spcBef>
                <a:spcPct val="0"/>
              </a:spcBef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database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environment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PL/SQL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version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1,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such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Forms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version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3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triggers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Oracle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Forms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4.5,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Oracle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Reports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2.5.</a:t>
            </a:r>
          </a:p>
          <a:p>
            <a:pPr eaLnBrk="0" hangingPunct="0">
              <a:spcBef>
                <a:spcPct val="0"/>
              </a:spcBef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global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refers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multiple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query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blocks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Refer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Specifying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Multiple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Query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Blocks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Oracle Sans"/>
              </a:rPr>
              <a:t> a Global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more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information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</a:p>
          <a:p>
            <a:pPr eaLnBrk="0" hangingPunct="0">
              <a:spcBef>
                <a:spcPct val="0"/>
              </a:spcBef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With 19c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you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can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DBMS_XPLAN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find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out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whether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hint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not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used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 For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more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information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see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 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effectLst/>
                <a:latin typeface="Oracle Sans"/>
              </a:rPr>
              <a:t>Database SQL </a:t>
            </a:r>
            <a:r>
              <a:rPr kumimoji="0" lang="ru-RU" altLang="ru-RU" sz="2000" b="0" i="1" u="none" strike="noStrike" cap="none" normalizeH="0" baseline="0" dirty="0" err="1">
                <a:ln>
                  <a:noFill/>
                </a:ln>
                <a:effectLst/>
                <a:latin typeface="Oracle Sans"/>
              </a:rPr>
              <a:t>Tuning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effectLst/>
                <a:latin typeface="Oracle Sans"/>
              </a:rPr>
              <a:t> </a:t>
            </a:r>
            <a:r>
              <a:rPr kumimoji="0" lang="ru-RU" altLang="ru-RU" sz="2000" b="0" i="1" u="none" strike="noStrike" cap="none" normalizeH="0" baseline="0">
                <a:ln>
                  <a:noFill/>
                </a:ln>
                <a:effectLst/>
                <a:latin typeface="Oracle Sans"/>
              </a:rPr>
              <a:t>Guide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rgbClr val="1A1816"/>
                </a:solidFill>
                <a:effectLst/>
                <a:latin typeface="Oracle Sans"/>
              </a:rPr>
              <a:t>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180975" y="662463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Бессарабов Н.В.</a:t>
            </a:r>
            <a:r>
              <a:rPr lang="en-US" sz="1600" dirty="0">
                <a:solidFill>
                  <a:srgbClr val="000000"/>
                </a:solidFill>
              </a:rPr>
              <a:t>2020</a:t>
            </a: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11</a:t>
            </a:fld>
            <a:endParaRPr lang="ru-R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28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12</a:t>
            </a:fld>
            <a:endParaRPr lang="ru-RU">
              <a:solidFill>
                <a:srgbClr val="00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89816"/>
            <a:ext cx="8712968" cy="6051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739868" cy="54868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Вариант работы с планом исполнения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1622709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404664"/>
            <a:ext cx="8229600" cy="633670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DELETE FROM </a:t>
            </a:r>
            <a:r>
              <a:rPr lang="en-US" sz="1800" dirty="0" err="1"/>
              <a:t>plan_table</a:t>
            </a:r>
            <a:r>
              <a:rPr lang="en-US" sz="1800" dirty="0"/>
              <a:t> WHERE </a:t>
            </a:r>
            <a:r>
              <a:rPr lang="en-US" sz="1800" dirty="0" err="1"/>
              <a:t>statement_id</a:t>
            </a:r>
            <a:r>
              <a:rPr lang="en-US" sz="1800" dirty="0"/>
              <a:t> = 'P1';</a:t>
            </a:r>
          </a:p>
          <a:p>
            <a:pPr marL="0" indent="0">
              <a:buNone/>
            </a:pPr>
            <a:r>
              <a:rPr lang="en-US" sz="1800" dirty="0"/>
              <a:t>EXPLAIN PLAN SET STATEMENT_ID = 'P1' FOR</a:t>
            </a:r>
          </a:p>
          <a:p>
            <a:pPr marL="0" indent="0">
              <a:buNone/>
            </a:pPr>
            <a:r>
              <a:rPr lang="en-US" sz="1800" dirty="0"/>
              <a:t>SELECT *</a:t>
            </a:r>
          </a:p>
          <a:p>
            <a:pPr marL="0" indent="0">
              <a:buNone/>
            </a:pPr>
            <a:r>
              <a:rPr lang="en-US" sz="1800" dirty="0"/>
              <a:t>  FROM </a:t>
            </a:r>
            <a:r>
              <a:rPr lang="en-US" sz="1800" dirty="0" err="1"/>
              <a:t>scott.emp</a:t>
            </a:r>
            <a:r>
              <a:rPr lang="en-US" sz="1800" dirty="0"/>
              <a:t> e, </a:t>
            </a:r>
            <a:r>
              <a:rPr lang="en-US" sz="1800" dirty="0" err="1"/>
              <a:t>scott.dept</a:t>
            </a:r>
            <a:r>
              <a:rPr lang="en-US" sz="1800" dirty="0"/>
              <a:t> d</a:t>
            </a:r>
          </a:p>
          <a:p>
            <a:pPr marL="0" indent="0">
              <a:buNone/>
            </a:pPr>
            <a:r>
              <a:rPr lang="en-US" sz="1800" dirty="0"/>
              <a:t> WHERE </a:t>
            </a:r>
            <a:r>
              <a:rPr lang="en-US" sz="1800" dirty="0" err="1"/>
              <a:t>e.deptno</a:t>
            </a:r>
            <a:r>
              <a:rPr lang="en-US" sz="1800" dirty="0"/>
              <a:t> = </a:t>
            </a:r>
            <a:r>
              <a:rPr lang="en-US" sz="1800" dirty="0" err="1"/>
              <a:t>d.deptno</a:t>
            </a:r>
            <a:r>
              <a:rPr lang="en-US" sz="1800" dirty="0"/>
              <a:t> AND </a:t>
            </a:r>
            <a:r>
              <a:rPr lang="en-US" sz="1800" dirty="0" err="1"/>
              <a:t>e.ename</a:t>
            </a:r>
            <a:r>
              <a:rPr lang="en-US" sz="1800" dirty="0"/>
              <a:t>='</a:t>
            </a:r>
            <a:r>
              <a:rPr lang="en-US" sz="1800" dirty="0" err="1"/>
              <a:t>benoit</a:t>
            </a:r>
            <a:r>
              <a:rPr lang="en-US" sz="1800" dirty="0"/>
              <a:t>';</a:t>
            </a:r>
          </a:p>
          <a:p>
            <a:pPr marL="0" indent="0">
              <a:buNone/>
            </a:pPr>
            <a:r>
              <a:rPr lang="en-US" sz="1800" dirty="0"/>
              <a:t> /</a:t>
            </a:r>
          </a:p>
          <a:p>
            <a:pPr marL="0" indent="0">
              <a:buNone/>
            </a:pPr>
            <a:r>
              <a:rPr lang="en-US" sz="1800" dirty="0"/>
              <a:t>          SELECT id || ' ' || </a:t>
            </a:r>
            <a:r>
              <a:rPr lang="en-US" sz="1800" dirty="0" err="1"/>
              <a:t>parent_id</a:t>
            </a:r>
            <a:r>
              <a:rPr lang="en-US" sz="1800" dirty="0"/>
              <a:t> || ' ' || LPAD(' ',2 * ( LEVEL - 1 )) ||</a:t>
            </a:r>
          </a:p>
          <a:p>
            <a:pPr marL="0" indent="0">
              <a:buNone/>
            </a:pPr>
            <a:r>
              <a:rPr lang="en-US" sz="1800" dirty="0"/>
              <a:t>                 operation || DECODE(</a:t>
            </a:r>
            <a:r>
              <a:rPr lang="en-US" sz="1800" dirty="0" err="1"/>
              <a:t>other_tag,NULL</a:t>
            </a:r>
            <a:r>
              <a:rPr lang="en-US" sz="1800" dirty="0"/>
              <a:t>,'','*') ||</a:t>
            </a:r>
          </a:p>
          <a:p>
            <a:pPr marL="0" indent="0">
              <a:buNone/>
            </a:pPr>
            <a:r>
              <a:rPr lang="en-US" sz="1800" dirty="0"/>
              <a:t>                 DECODE(options, NULL, '', ' (' || options || ')') ||</a:t>
            </a:r>
          </a:p>
          <a:p>
            <a:pPr marL="0" indent="0">
              <a:buNone/>
            </a:pPr>
            <a:r>
              <a:rPr lang="en-US" sz="1800" dirty="0"/>
              <a:t>                 DECODE(</a:t>
            </a:r>
            <a:r>
              <a:rPr lang="en-US" sz="1800" dirty="0" err="1"/>
              <a:t>object_name</a:t>
            </a:r>
            <a:r>
              <a:rPr lang="en-US" sz="1800" dirty="0"/>
              <a:t>, NULL, '', ' OF ' || </a:t>
            </a:r>
            <a:r>
              <a:rPr lang="en-US" sz="1800" dirty="0" err="1"/>
              <a:t>object_name</a:t>
            </a:r>
            <a:r>
              <a:rPr lang="en-US" sz="1800" dirty="0"/>
              <a:t> || '') ||</a:t>
            </a:r>
          </a:p>
          <a:p>
            <a:pPr marL="0" indent="0">
              <a:buNone/>
            </a:pPr>
            <a:r>
              <a:rPr lang="en-US" sz="1800" dirty="0"/>
              <a:t>                 DECODE(</a:t>
            </a:r>
            <a:r>
              <a:rPr lang="en-US" sz="1800" dirty="0" err="1"/>
              <a:t>object_type</a:t>
            </a:r>
            <a:r>
              <a:rPr lang="en-US" sz="1800" dirty="0"/>
              <a:t>, NULL, '', ' (' || </a:t>
            </a:r>
            <a:r>
              <a:rPr lang="en-US" sz="1800" dirty="0" err="1"/>
              <a:t>object_type</a:t>
            </a:r>
            <a:r>
              <a:rPr lang="en-US" sz="1800" dirty="0"/>
              <a:t> || ')')||</a:t>
            </a:r>
          </a:p>
          <a:p>
            <a:pPr marL="0" indent="0">
              <a:buNone/>
            </a:pPr>
            <a:r>
              <a:rPr lang="en-US" sz="1800" dirty="0"/>
              <a:t>                 DECODE(id, 0, DECODE(optimizer, NULL, '' , ' Optimizer=' || </a:t>
            </a:r>
          </a:p>
          <a:p>
            <a:pPr marL="0" indent="0">
              <a:buNone/>
            </a:pPr>
            <a:r>
              <a:rPr lang="en-US" sz="1800" dirty="0"/>
              <a:t>                 optimizer)) ||  DECODE(cost, NULL, '', ' (Cost=' || cost ||</a:t>
            </a:r>
          </a:p>
          <a:p>
            <a:pPr marL="0" indent="0">
              <a:buNone/>
            </a:pPr>
            <a:r>
              <a:rPr lang="en-US" sz="1800" dirty="0"/>
              <a:t>                 DECODE(cardinality, NULL, '', ' Card=' || cardinality) ||</a:t>
            </a:r>
          </a:p>
          <a:p>
            <a:pPr marL="0" indent="0">
              <a:buNone/>
            </a:pPr>
            <a:r>
              <a:rPr lang="en-US" sz="1800" dirty="0"/>
              <a:t>                 DECODE(bytes, NULL, '', ' Bytes=' || bytes) || ')')</a:t>
            </a:r>
          </a:p>
          <a:p>
            <a:pPr marL="0" indent="0">
              <a:buNone/>
            </a:pPr>
            <a:r>
              <a:rPr lang="en-US" sz="1800" dirty="0"/>
              <a:t>            FROM </a:t>
            </a:r>
            <a:r>
              <a:rPr lang="en-US" sz="1800" dirty="0" err="1"/>
              <a:t>plan_table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START WITH id=0 AND </a:t>
            </a:r>
            <a:r>
              <a:rPr lang="en-US" sz="1800" dirty="0" err="1"/>
              <a:t>statement_id</a:t>
            </a:r>
            <a:r>
              <a:rPr lang="en-US" sz="1800" dirty="0"/>
              <a:t> = 'P1'</a:t>
            </a:r>
          </a:p>
          <a:p>
            <a:pPr marL="0" indent="0">
              <a:buNone/>
            </a:pPr>
            <a:r>
              <a:rPr lang="en-US" sz="1800" dirty="0"/>
              <a:t>CONNECT BY PRIOR id=</a:t>
            </a:r>
            <a:r>
              <a:rPr lang="en-US" sz="1800" dirty="0" err="1"/>
              <a:t>parent_id</a:t>
            </a:r>
            <a:r>
              <a:rPr lang="en-US" sz="1800" dirty="0"/>
              <a:t> AND </a:t>
            </a:r>
            <a:r>
              <a:rPr lang="en-US" sz="1800" dirty="0" err="1"/>
              <a:t>statement_id</a:t>
            </a:r>
            <a:r>
              <a:rPr lang="en-US" sz="1800" dirty="0"/>
              <a:t> = 'P1'</a:t>
            </a:r>
          </a:p>
          <a:p>
            <a:pPr marL="0" indent="0">
              <a:buNone/>
            </a:pPr>
            <a:r>
              <a:rPr lang="en-US" sz="1800" dirty="0"/>
              <a:t>     ORDER BY id, position</a:t>
            </a:r>
            <a:r>
              <a:rPr lang="ru-RU" sz="1800" dirty="0"/>
              <a:t>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13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7704" y="0"/>
            <a:ext cx="5133256" cy="54868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Текст к слайду </a:t>
            </a:r>
            <a:r>
              <a:rPr lang="en-US" sz="3200" dirty="0">
                <a:solidFill>
                  <a:srgbClr val="FF0000"/>
                </a:solidFill>
              </a:rPr>
              <a:t>12</a:t>
            </a:r>
            <a:endParaRPr lang="ru-R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832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1960" y="0"/>
            <a:ext cx="4830464" cy="90872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Работа с планом исполнения в </a:t>
            </a:r>
            <a:r>
              <a:rPr lang="en-US" sz="3200" dirty="0" err="1">
                <a:solidFill>
                  <a:srgbClr val="FF0000"/>
                </a:solidFill>
              </a:rPr>
              <a:t>SQLPlus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332656"/>
            <a:ext cx="8579296" cy="6525344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ru-RU" sz="2000" dirty="0">
                <a:latin typeface="Calibri"/>
                <a:ea typeface="Calibri"/>
                <a:cs typeface="Times New Roman"/>
              </a:rPr>
              <a:t>    </a:t>
            </a:r>
            <a:r>
              <a:rPr lang="ru-RU" sz="2000" dirty="0"/>
              <a:t>Формируем план исполнения:</a:t>
            </a:r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EXPLAIN PLAN FOR</a:t>
            </a:r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    </a:t>
            </a:r>
            <a:r>
              <a:rPr lang="en-US" sz="2000" dirty="0"/>
              <a:t>SELECT E.EMPNO,  E.ENAME,</a:t>
            </a:r>
            <a:r>
              <a:rPr lang="ru-RU" sz="2000" dirty="0"/>
              <a:t> </a:t>
            </a:r>
            <a:r>
              <a:rPr lang="en-US" sz="2000" dirty="0"/>
              <a:t> D.DNAME</a:t>
            </a:r>
            <a:r>
              <a:rPr lang="ru-RU" sz="2000" dirty="0"/>
              <a:t> </a:t>
            </a:r>
            <a:r>
              <a:rPr lang="en-US" sz="2000" dirty="0"/>
              <a:t>FROM EMP E,  DEPT D</a:t>
            </a:r>
            <a:endParaRPr lang="ru-RU" sz="2000" dirty="0"/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    </a:t>
            </a:r>
            <a:r>
              <a:rPr lang="en-US" sz="2000" dirty="0"/>
              <a:t>WHERE </a:t>
            </a:r>
            <a:r>
              <a:rPr lang="ru-RU" sz="2000" dirty="0"/>
              <a:t> </a:t>
            </a:r>
            <a:r>
              <a:rPr lang="en-US" sz="2000" dirty="0"/>
              <a:t>E.DEPTNO = D.DEPTNO </a:t>
            </a:r>
            <a:r>
              <a:rPr lang="ru-RU" sz="2000" dirty="0"/>
              <a:t> </a:t>
            </a:r>
            <a:r>
              <a:rPr lang="en-US" sz="2000" dirty="0"/>
              <a:t>AND E.DEPTNO = 10;</a:t>
            </a:r>
            <a:endParaRPr lang="ru-RU" sz="2000" dirty="0"/>
          </a:p>
          <a:p>
            <a:pPr>
              <a:lnSpc>
                <a:spcPct val="90000"/>
              </a:lnSpc>
              <a:buNone/>
            </a:pPr>
            <a:r>
              <a:rPr lang="ru-RU" sz="2000" dirty="0"/>
              <a:t>и  читаем его с помощью пакета </a:t>
            </a:r>
            <a:r>
              <a:rPr lang="en-US" sz="2000" dirty="0" err="1"/>
              <a:t>DBMS_xplan</a:t>
            </a:r>
            <a:r>
              <a:rPr lang="ru-RU" sz="2000" dirty="0"/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/>
              <a:t>SELECT * FROM TABLE(</a:t>
            </a:r>
            <a:r>
              <a:rPr lang="en-US" sz="2000" dirty="0" err="1"/>
              <a:t>dbms_xplan.display</a:t>
            </a:r>
            <a:r>
              <a:rPr lang="en-US" sz="2000" dirty="0"/>
              <a:t>(</a:t>
            </a:r>
            <a:r>
              <a:rPr lang="en-US" sz="2000" dirty="0" err="1"/>
              <a:t>null,null,'basic</a:t>
            </a:r>
            <a:r>
              <a:rPr lang="en-US" sz="2000" dirty="0"/>
              <a:t>'));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Получаем: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Можно просто установить атрибут</a:t>
            </a:r>
            <a:r>
              <a:rPr lang="en-US" sz="2000" dirty="0"/>
              <a:t> </a:t>
            </a:r>
            <a:r>
              <a:rPr lang="en-US" sz="2000" dirty="0" err="1"/>
              <a:t>autotrace</a:t>
            </a:r>
            <a:r>
              <a:rPr lang="en-US" sz="2000" dirty="0"/>
              <a:t> </a:t>
            </a:r>
            <a:r>
              <a:rPr lang="ru-RU" sz="2000" dirty="0"/>
              <a:t>в  состояние</a:t>
            </a:r>
            <a:r>
              <a:rPr lang="en-US" sz="2000" dirty="0"/>
              <a:t> ON</a:t>
            </a:r>
            <a:r>
              <a:rPr lang="ru-RU" sz="2000" dirty="0"/>
              <a:t> командой </a:t>
            </a:r>
            <a:r>
              <a:rPr lang="en-US" sz="2000" dirty="0"/>
              <a:t>“SET </a:t>
            </a:r>
            <a:r>
              <a:rPr lang="en-US" sz="2000" dirty="0" err="1"/>
              <a:t>autotrace</a:t>
            </a:r>
            <a:r>
              <a:rPr lang="en-US" sz="2000" dirty="0"/>
              <a:t> ON”</a:t>
            </a:r>
            <a:r>
              <a:rPr lang="ru-RU" sz="2000" dirty="0"/>
              <a:t> и читать планы исполнения.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14</a:t>
            </a:fld>
            <a:endParaRPr lang="ru-RU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984" y="2315029"/>
            <a:ext cx="6342632" cy="3930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534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695417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ru-RU" sz="2000" u="sng" dirty="0"/>
              <a:t>Составляем план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EXPLAIN PLAN FOR</a:t>
            </a:r>
          </a:p>
          <a:p>
            <a:pPr marL="0" indent="0">
              <a:buNone/>
            </a:pPr>
            <a:r>
              <a:rPr lang="en-US" sz="2000" dirty="0"/>
              <a:t>  SELECT E.EMPNO, E.ENAME,</a:t>
            </a:r>
            <a:r>
              <a:rPr lang="ru-RU" sz="2000" dirty="0"/>
              <a:t> </a:t>
            </a:r>
            <a:r>
              <a:rPr lang="en-US" sz="2000" dirty="0"/>
              <a:t>D.DNAME</a:t>
            </a:r>
          </a:p>
          <a:p>
            <a:pPr marL="0" indent="0">
              <a:buNone/>
            </a:pPr>
            <a:r>
              <a:rPr lang="en-US" sz="2000" dirty="0"/>
              <a:t>  FROM EMP E, DEPT D</a:t>
            </a:r>
          </a:p>
          <a:p>
            <a:pPr marL="0" indent="0">
              <a:buNone/>
            </a:pPr>
            <a:r>
              <a:rPr lang="en-US" sz="2000" dirty="0"/>
              <a:t>  WHERE E.DEPTNO = D.DEPTNO AND E.DEPTNO = 10;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1000" u="sng" dirty="0"/>
          </a:p>
          <a:p>
            <a:pPr marL="0" indent="0">
              <a:buNone/>
            </a:pPr>
            <a:r>
              <a:rPr lang="ru-RU" sz="2000" u="sng" dirty="0"/>
              <a:t>Читаем план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SELECT * FROM TABLE(</a:t>
            </a:r>
            <a:r>
              <a:rPr lang="en-US" sz="2000" dirty="0" err="1"/>
              <a:t>dbms_xplan.display</a:t>
            </a:r>
            <a:r>
              <a:rPr lang="en-US" sz="2000" dirty="0"/>
              <a:t>(</a:t>
            </a:r>
            <a:r>
              <a:rPr lang="en-US" sz="2000" dirty="0" err="1"/>
              <a:t>null,null,'basic</a:t>
            </a:r>
            <a:r>
              <a:rPr lang="en-US" sz="2000" dirty="0"/>
              <a:t>'));</a:t>
            </a:r>
            <a:r>
              <a:rPr lang="ru-RU" sz="2000" dirty="0"/>
              <a:t> </a:t>
            </a:r>
          </a:p>
          <a:p>
            <a:pPr marL="0" lvl="0" indent="0">
              <a:buNone/>
            </a:pPr>
            <a:r>
              <a:rPr lang="ru-RU" sz="2000" u="sng" dirty="0">
                <a:solidFill>
                  <a:srgbClr val="000000"/>
                </a:solidFill>
              </a:rPr>
              <a:t>План исполнения это дерево</a:t>
            </a:r>
            <a:r>
              <a:rPr lang="ru-RU" sz="2000" dirty="0">
                <a:solidFill>
                  <a:srgbClr val="000000"/>
                </a:solidFill>
              </a:rPr>
              <a:t>!</a:t>
            </a:r>
          </a:p>
          <a:p>
            <a:pPr marL="0" indent="0">
              <a:buNone/>
            </a:pPr>
            <a:r>
              <a:rPr lang="ru-RU" sz="2000" dirty="0"/>
              <a:t>На следующем слайде план для той же таблицы без индекса и с установленным </a:t>
            </a:r>
            <a:r>
              <a:rPr lang="ru-RU" sz="2000" dirty="0" err="1"/>
              <a:t>пераметром</a:t>
            </a:r>
            <a:r>
              <a:rPr lang="ru-RU" sz="2000" dirty="0"/>
              <a:t> </a:t>
            </a:r>
            <a:r>
              <a:rPr lang="en-US" sz="2000" dirty="0"/>
              <a:t>AUTORACE: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1920" y="0"/>
            <a:ext cx="5148572" cy="692696"/>
          </a:xfrm>
          <a:solidFill>
            <a:schemeClr val="bg1"/>
          </a:solidFill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План для запроса к </a:t>
            </a:r>
            <a:r>
              <a:rPr lang="en-US" sz="3200" dirty="0" err="1">
                <a:solidFill>
                  <a:srgbClr val="FF0000"/>
                </a:solidFill>
              </a:rPr>
              <a:t>emp</a:t>
            </a:r>
            <a:r>
              <a:rPr lang="ru-RU" sz="3200" dirty="0">
                <a:solidFill>
                  <a:srgbClr val="FF0000"/>
                </a:solidFill>
              </a:rPr>
              <a:t> с индексом </a:t>
            </a:r>
            <a:r>
              <a:rPr lang="en-US" sz="3200" dirty="0" err="1">
                <a:solidFill>
                  <a:srgbClr val="FF0000"/>
                </a:solidFill>
              </a:rPr>
              <a:t>pk_dept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15</a:t>
            </a:fld>
            <a:endParaRPr lang="ru-RU">
              <a:solidFill>
                <a:srgbClr val="0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006" y="1849980"/>
            <a:ext cx="6768762" cy="34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98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8920" y="0"/>
            <a:ext cx="8229600" cy="836712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  <a:ea typeface="+mn-ea"/>
                <a:cs typeface="+mn-cs"/>
              </a:rPr>
              <a:t>План для той же таблицы, но без индекса и с установкой </a:t>
            </a:r>
            <a:r>
              <a:rPr lang="en-US" sz="3200" dirty="0">
                <a:solidFill>
                  <a:srgbClr val="FF0000"/>
                </a:solidFill>
                <a:ea typeface="+mn-ea"/>
                <a:cs typeface="+mn-cs"/>
              </a:rPr>
              <a:t>AUTORACE</a:t>
            </a:r>
            <a:endParaRPr lang="ru-RU" sz="3200" dirty="0">
              <a:solidFill>
                <a:srgbClr val="FF0000"/>
              </a:solidFill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247" y="1052736"/>
            <a:ext cx="8273639" cy="5639043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16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6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06438"/>
          </a:xfrm>
        </p:spPr>
        <p:txBody>
          <a:bodyPr/>
          <a:lstStyle/>
          <a:p>
            <a:r>
              <a:rPr lang="ru-RU" sz="4000">
                <a:solidFill>
                  <a:srgbClr val="CE2816"/>
                </a:solidFill>
              </a:rPr>
              <a:t>Примеры планов исполнения</a:t>
            </a:r>
            <a:r>
              <a:rPr lang="en-US" sz="4000">
                <a:solidFill>
                  <a:srgbClr val="CE2816"/>
                </a:solidFill>
              </a:rPr>
              <a:t> (1/</a:t>
            </a:r>
            <a:r>
              <a:rPr lang="ru-RU" sz="4000">
                <a:solidFill>
                  <a:srgbClr val="CE2816"/>
                </a:solidFill>
              </a:rPr>
              <a:t>5</a:t>
            </a:r>
            <a:r>
              <a:rPr lang="en-US" sz="4000">
                <a:solidFill>
                  <a:srgbClr val="CE2816"/>
                </a:solidFill>
              </a:rPr>
              <a:t>)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507413" cy="616585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	 Освоение </a:t>
            </a:r>
            <a:r>
              <a:rPr lang="en-US" sz="2000" dirty="0"/>
              <a:t>SQL-</a:t>
            </a:r>
            <a:r>
              <a:rPr lang="ru-RU" sz="2000" dirty="0"/>
              <a:t>настройки требует знания массы сведений об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используемой СУБД, её физической организации и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конфигурационных файлах.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	Трудность ещё и в том, что в современных СУБД, таких как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 dirty="0"/>
              <a:t>Oracle</a:t>
            </a:r>
            <a:r>
              <a:rPr lang="ru-RU" sz="2000" dirty="0"/>
              <a:t>, этот аспект может за один – два года существенно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измениться. Усовершенствуются оптимизаторы, в них вводятся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системы искусственного интеллекта и т.д.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	Из-за ограниченности времени в нашем курсе мы можем только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показать несколько примеров планов, дав минимальные пояснения.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Искусство управления планами, работа с оптимизаторами, сбор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статистики остаются за кадром.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	Примеры планов приведенные на последующих слайдах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получены в СУБД </a:t>
            </a:r>
            <a:r>
              <a:rPr lang="en-US" sz="2000" dirty="0"/>
              <a:t>Oracle</a:t>
            </a:r>
            <a:r>
              <a:rPr lang="ru-RU" sz="2000" dirty="0"/>
              <a:t>. Их следует читать из глубины вверх.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Помните, что выбор плана исполнения сильно зависит от настройки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СУБД и её версии, так что при самостоятельной работе Вы можете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получить совсем другие результаты. Как писал один из авторов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 dirty="0"/>
              <a:t>хорошей книги по тюнингу, </a:t>
            </a:r>
            <a:r>
              <a:rPr lang="en-US" sz="2000" dirty="0"/>
              <a:t>“</a:t>
            </a:r>
            <a:r>
              <a:rPr lang="ru-RU" sz="2000" dirty="0"/>
              <a:t>не верь тому, что здесь написано</a:t>
            </a:r>
            <a:r>
              <a:rPr lang="en-US" sz="2000" dirty="0"/>
              <a:t>”</a:t>
            </a:r>
            <a:r>
              <a:rPr lang="ru-RU" sz="2000" dirty="0"/>
              <a:t> .</a:t>
            </a:r>
          </a:p>
        </p:txBody>
      </p:sp>
      <p:sp>
        <p:nvSpPr>
          <p:cNvPr id="224260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17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427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06438"/>
          </a:xfrm>
        </p:spPr>
        <p:txBody>
          <a:bodyPr/>
          <a:lstStyle/>
          <a:p>
            <a:r>
              <a:rPr lang="ru-RU" sz="4000">
                <a:solidFill>
                  <a:srgbClr val="CE2816"/>
                </a:solidFill>
              </a:rPr>
              <a:t>Примеры планов исполнения</a:t>
            </a:r>
            <a:r>
              <a:rPr lang="en-US" sz="4000">
                <a:solidFill>
                  <a:srgbClr val="CE2816"/>
                </a:solidFill>
              </a:rPr>
              <a:t> (</a:t>
            </a:r>
            <a:r>
              <a:rPr lang="ru-RU" sz="4000">
                <a:solidFill>
                  <a:srgbClr val="CE2816"/>
                </a:solidFill>
              </a:rPr>
              <a:t>2</a:t>
            </a:r>
            <a:r>
              <a:rPr lang="en-US" sz="4000">
                <a:solidFill>
                  <a:srgbClr val="CE2816"/>
                </a:solidFill>
              </a:rPr>
              <a:t>/</a:t>
            </a:r>
            <a:r>
              <a:rPr lang="ru-RU" sz="4000">
                <a:solidFill>
                  <a:srgbClr val="CE2816"/>
                </a:solidFill>
              </a:rPr>
              <a:t>5</a:t>
            </a:r>
            <a:r>
              <a:rPr lang="en-US" sz="4000">
                <a:solidFill>
                  <a:srgbClr val="CE2816"/>
                </a:solidFill>
              </a:rPr>
              <a:t>)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507413" cy="5688012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Примеры планов: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1. Простейший запрос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	</a:t>
            </a:r>
            <a:r>
              <a:rPr lang="en-US" sz="2000"/>
              <a:t>SELECT * FROM emp;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	План исполнения: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	</a:t>
            </a:r>
            <a:r>
              <a:rPr lang="en-US" sz="2000"/>
              <a:t>SELECT STATEMENT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	    TABLE ACCESS full emp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2.</a:t>
            </a:r>
            <a:r>
              <a:rPr lang="ru-RU" sz="2000"/>
              <a:t> Запрос с фразой </a:t>
            </a:r>
            <a:r>
              <a:rPr lang="en-US" sz="2000"/>
              <a:t>WHERE </a:t>
            </a:r>
            <a:r>
              <a:rPr lang="ru-RU" sz="2000"/>
              <a:t>и по-прежнему без индексов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	</a:t>
            </a:r>
            <a:r>
              <a:rPr lang="en-US" sz="2000"/>
              <a:t>SELECT * FROM emp</a:t>
            </a:r>
            <a:r>
              <a:rPr lang="ru-RU" sz="2000"/>
              <a:t> </a:t>
            </a:r>
            <a:r>
              <a:rPr lang="en-US" sz="2000"/>
              <a:t>WHERE sal&gt;1000;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	</a:t>
            </a:r>
            <a:r>
              <a:rPr lang="ru-RU" sz="2000"/>
              <a:t>План исполнения</a:t>
            </a:r>
            <a:r>
              <a:rPr lang="en-US" sz="2000"/>
              <a:t> </a:t>
            </a:r>
            <a:r>
              <a:rPr lang="ru-RU" sz="2000"/>
              <a:t>тот же, хотя после извлечения данных работает фильтр, определённый фразой </a:t>
            </a:r>
            <a:r>
              <a:rPr lang="en-US" sz="2000"/>
              <a:t>WHERE</a:t>
            </a:r>
            <a:r>
              <a:rPr lang="ru-RU" sz="2000"/>
              <a:t>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3. Запрос</a:t>
            </a:r>
            <a:endParaRPr lang="en-US" sz="200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	</a:t>
            </a:r>
            <a:r>
              <a:rPr lang="en-US" sz="2000"/>
              <a:t>SELECT * FROM emp</a:t>
            </a:r>
            <a:r>
              <a:rPr lang="ru-RU" sz="2000"/>
              <a:t> </a:t>
            </a:r>
            <a:r>
              <a:rPr lang="en-US" sz="2000"/>
              <a:t>ORDER BY ename;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	 </a:t>
            </a:r>
            <a:r>
              <a:rPr lang="ru-RU" sz="2000"/>
              <a:t>План исполнения</a:t>
            </a:r>
            <a:r>
              <a:rPr lang="en-US" sz="2000"/>
              <a:t>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	SELECT STATEMENT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	    SORT order by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000"/>
              <a:t>	        TABLE ACCESS full emp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000"/>
              <a:t>	Добавилась сортировка в памяти, а может быть и на диске.</a:t>
            </a:r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18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865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0"/>
            <a:ext cx="8713788" cy="633413"/>
          </a:xfrm>
        </p:spPr>
        <p:txBody>
          <a:bodyPr/>
          <a:lstStyle/>
          <a:p>
            <a:r>
              <a:rPr lang="ru-RU" sz="4000">
                <a:solidFill>
                  <a:srgbClr val="CE2816"/>
                </a:solidFill>
              </a:rPr>
              <a:t>Примеры планов исполнения</a:t>
            </a:r>
            <a:r>
              <a:rPr lang="en-US" sz="4000">
                <a:solidFill>
                  <a:srgbClr val="CE2816"/>
                </a:solidFill>
              </a:rPr>
              <a:t> (</a:t>
            </a:r>
            <a:r>
              <a:rPr lang="ru-RU" sz="4000">
                <a:solidFill>
                  <a:srgbClr val="CE2816"/>
                </a:solidFill>
              </a:rPr>
              <a:t>3</a:t>
            </a:r>
            <a:r>
              <a:rPr lang="en-US" sz="4000">
                <a:solidFill>
                  <a:srgbClr val="CE2816"/>
                </a:solidFill>
              </a:rPr>
              <a:t>/</a:t>
            </a:r>
            <a:r>
              <a:rPr lang="ru-RU" sz="4000">
                <a:solidFill>
                  <a:srgbClr val="CE2816"/>
                </a:solidFill>
              </a:rPr>
              <a:t>5</a:t>
            </a:r>
            <a:r>
              <a:rPr lang="en-US" sz="4000">
                <a:solidFill>
                  <a:srgbClr val="CE2816"/>
                </a:solidFill>
              </a:rPr>
              <a:t>)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9055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4. Тот же запрос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   </a:t>
            </a:r>
            <a:r>
              <a:rPr lang="en-US" sz="2000" dirty="0"/>
              <a:t>SELECT * FROM </a:t>
            </a:r>
            <a:r>
              <a:rPr lang="en-US" sz="2000" dirty="0" err="1"/>
              <a:t>emp</a:t>
            </a:r>
            <a:r>
              <a:rPr lang="ru-RU" sz="2000" dirty="0"/>
              <a:t> </a:t>
            </a:r>
            <a:r>
              <a:rPr lang="en-US" sz="2000" dirty="0"/>
              <a:t>ORDER BY </a:t>
            </a:r>
            <a:r>
              <a:rPr lang="en-US" sz="2000" dirty="0" err="1"/>
              <a:t>ename</a:t>
            </a:r>
            <a:r>
              <a:rPr lang="en-US" sz="2000" dirty="0"/>
              <a:t>;</a:t>
            </a:r>
          </a:p>
          <a:p>
            <a:pPr lvl="0">
              <a:lnSpc>
                <a:spcPct val="90000"/>
              </a:lnSpc>
              <a:buNone/>
            </a:pPr>
            <a:r>
              <a:rPr lang="ru-RU" sz="2000" dirty="0"/>
              <a:t>     но существует индекс на столбец </a:t>
            </a:r>
            <a:r>
              <a:rPr lang="en-US" sz="2000" dirty="0" err="1"/>
              <a:t>ename</a:t>
            </a:r>
            <a:r>
              <a:rPr lang="ru-RU" sz="2000" dirty="0"/>
              <a:t>. Имя индекса </a:t>
            </a:r>
            <a:r>
              <a:rPr lang="en-US" sz="2000" dirty="0" err="1">
                <a:solidFill>
                  <a:srgbClr val="000000"/>
                </a:solidFill>
              </a:rPr>
              <a:t>i_emp_ename</a:t>
            </a:r>
            <a:r>
              <a:rPr lang="ru-RU" sz="2000" dirty="0">
                <a:solidFill>
                  <a:srgbClr val="000000"/>
                </a:solidFill>
              </a:rPr>
              <a:t>.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</a:t>
            </a:r>
            <a:r>
              <a:rPr lang="ru-RU" sz="2000" dirty="0"/>
              <a:t>План исполнения: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   </a:t>
            </a:r>
            <a:r>
              <a:rPr lang="en-US" sz="2000" dirty="0"/>
              <a:t>SELECT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         TABLE ACCESS full </a:t>
            </a:r>
            <a:r>
              <a:rPr lang="en-US" sz="2000" dirty="0" err="1"/>
              <a:t>emp</a:t>
            </a:r>
            <a:endParaRPr lang="ru-RU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	      </a:t>
            </a:r>
            <a:r>
              <a:rPr lang="en-US" sz="2000" dirty="0"/>
              <a:t>INDEX full scan </a:t>
            </a:r>
            <a:r>
              <a:rPr lang="en-US" sz="2000" dirty="0" err="1"/>
              <a:t>i_emp_ename</a:t>
            </a: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</a:t>
            </a:r>
            <a:r>
              <a:rPr lang="ru-RU" sz="2000" dirty="0"/>
              <a:t>Поскольку используется индекс, сортировка не нужна.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5. Запрос</a:t>
            </a:r>
            <a:r>
              <a:rPr lang="en-US" sz="20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    </a:t>
            </a:r>
            <a:r>
              <a:rPr lang="en-US" sz="2000" dirty="0"/>
              <a:t>SELECT job, sum(</a:t>
            </a:r>
            <a:r>
              <a:rPr lang="en-US" sz="2000" dirty="0" err="1"/>
              <a:t>sal</a:t>
            </a:r>
            <a:r>
              <a:rPr lang="en-US" sz="2000" dirty="0"/>
              <a:t>) FROM </a:t>
            </a:r>
            <a:r>
              <a:rPr lang="en-US" sz="2000" dirty="0" err="1"/>
              <a:t>emp</a:t>
            </a:r>
            <a:r>
              <a:rPr lang="ru-RU" sz="2000" dirty="0"/>
              <a:t> </a:t>
            </a:r>
            <a:r>
              <a:rPr lang="en-US" sz="2000" dirty="0"/>
              <a:t>GROUP BY job </a:t>
            </a:r>
            <a:endParaRPr lang="ru-RU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	</a:t>
            </a:r>
            <a:r>
              <a:rPr lang="en-US" sz="2000" dirty="0"/>
              <a:t>HAVING sum(</a:t>
            </a:r>
            <a:r>
              <a:rPr lang="en-US" sz="2000" dirty="0" err="1"/>
              <a:t>sal</a:t>
            </a:r>
            <a:r>
              <a:rPr lang="en-US" sz="2000" dirty="0"/>
              <a:t>)&gt; 100000;</a:t>
            </a:r>
            <a:endParaRPr lang="ru-RU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    Индекс не существует.</a:t>
            </a: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    План исполнения: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    </a:t>
            </a:r>
            <a:r>
              <a:rPr lang="en-US" sz="2000" dirty="0"/>
              <a:t>SELECT STATEMENT</a:t>
            </a:r>
            <a:endParaRPr lang="ru-RU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/>
              <a:t>		</a:t>
            </a:r>
            <a:r>
              <a:rPr lang="en-US" sz="2000" dirty="0"/>
              <a:t>FILTER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    SORT group by	    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        TABLE ACCESS full </a:t>
            </a:r>
            <a:r>
              <a:rPr lang="en-US" sz="2000" dirty="0" err="1"/>
              <a:t>emp</a:t>
            </a:r>
            <a:endParaRPr lang="ru-RU" sz="2000" dirty="0"/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endParaRPr lang="ru-RU" sz="2000" dirty="0"/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19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265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7875"/>
          </a:xfrm>
        </p:spPr>
        <p:txBody>
          <a:bodyPr/>
          <a:lstStyle/>
          <a:p>
            <a:r>
              <a:rPr lang="ru-RU" sz="4000" dirty="0">
                <a:solidFill>
                  <a:srgbClr val="CE2816"/>
                </a:solidFill>
              </a:rPr>
              <a:t>Примеры планов исполнения</a:t>
            </a:r>
            <a:r>
              <a:rPr lang="en-US" sz="4000" dirty="0">
                <a:solidFill>
                  <a:srgbClr val="CE2816"/>
                </a:solidFill>
              </a:rPr>
              <a:t> (</a:t>
            </a:r>
            <a:r>
              <a:rPr lang="ru-RU" sz="4000" dirty="0">
                <a:solidFill>
                  <a:srgbClr val="CE2816"/>
                </a:solidFill>
              </a:rPr>
              <a:t>4</a:t>
            </a:r>
            <a:r>
              <a:rPr lang="en-US" sz="4000" dirty="0">
                <a:solidFill>
                  <a:srgbClr val="CE2816"/>
                </a:solidFill>
              </a:rPr>
              <a:t>/</a:t>
            </a:r>
            <a:r>
              <a:rPr lang="ru-RU" sz="4000" dirty="0">
                <a:solidFill>
                  <a:srgbClr val="CE2816"/>
                </a:solidFill>
              </a:rPr>
              <a:t>5</a:t>
            </a:r>
            <a:r>
              <a:rPr lang="en-US" sz="4000" dirty="0">
                <a:solidFill>
                  <a:srgbClr val="CE2816"/>
                </a:solidFill>
              </a:rPr>
              <a:t>)</a:t>
            </a: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507413" cy="5218113"/>
          </a:xfrm>
        </p:spPr>
        <p:txBody>
          <a:bodyPr/>
          <a:lstStyle/>
          <a:p>
            <a:pPr>
              <a:buFontTx/>
              <a:buNone/>
            </a:pPr>
            <a:r>
              <a:rPr lang="ru-RU" sz="2000"/>
              <a:t>6. Доступ по значению </a:t>
            </a:r>
            <a:r>
              <a:rPr lang="en-US" sz="2000"/>
              <a:t>ROWID</a:t>
            </a:r>
            <a:r>
              <a:rPr lang="ru-RU" sz="2000"/>
              <a:t>. Запрос:</a:t>
            </a:r>
          </a:p>
          <a:p>
            <a:pPr>
              <a:buFontTx/>
              <a:buNone/>
            </a:pPr>
            <a:r>
              <a:rPr lang="ru-RU" sz="2000"/>
              <a:t>	 </a:t>
            </a:r>
            <a:r>
              <a:rPr lang="en-US" sz="2000"/>
              <a:t>  SELECT * FROM emp</a:t>
            </a:r>
            <a:r>
              <a:rPr lang="ru-RU" sz="2000"/>
              <a:t> </a:t>
            </a:r>
            <a:r>
              <a:rPr lang="en-US" sz="2000"/>
              <a:t>WHERE rowid=‘00004F2A00A2000C’;</a:t>
            </a:r>
          </a:p>
          <a:p>
            <a:pPr>
              <a:buFontTx/>
              <a:buNone/>
            </a:pPr>
            <a:r>
              <a:rPr lang="en-US" sz="2000"/>
              <a:t>	   </a:t>
            </a:r>
            <a:r>
              <a:rPr lang="ru-RU" sz="2000"/>
              <a:t>Самый быстрый план исполнения:</a:t>
            </a:r>
          </a:p>
          <a:p>
            <a:pPr>
              <a:buFontTx/>
              <a:buNone/>
            </a:pPr>
            <a:r>
              <a:rPr lang="ru-RU" sz="2000"/>
              <a:t>	   </a:t>
            </a:r>
            <a:r>
              <a:rPr lang="en-US" sz="2000"/>
              <a:t>SELECT STATEMENT</a:t>
            </a:r>
          </a:p>
          <a:p>
            <a:pPr>
              <a:buFontTx/>
              <a:buNone/>
            </a:pPr>
            <a:r>
              <a:rPr lang="en-US" sz="2000"/>
              <a:t>	         TABLE ACCESS by rowid emp</a:t>
            </a:r>
            <a:endParaRPr lang="ru-RU" sz="2000"/>
          </a:p>
          <a:p>
            <a:pPr>
              <a:buFontTx/>
              <a:buNone/>
            </a:pPr>
            <a:r>
              <a:rPr lang="ru-RU" sz="2000"/>
              <a:t>7. Соединение с вложенными циклами</a:t>
            </a:r>
          </a:p>
          <a:p>
            <a:pPr>
              <a:buFontTx/>
              <a:buNone/>
            </a:pPr>
            <a:r>
              <a:rPr lang="ru-RU" sz="2000"/>
              <a:t>	</a:t>
            </a:r>
            <a:r>
              <a:rPr lang="en-US" sz="2000"/>
              <a:t>  </a:t>
            </a:r>
            <a:r>
              <a:rPr lang="ru-RU" sz="2000"/>
              <a:t> </a:t>
            </a:r>
            <a:r>
              <a:rPr lang="en-US" sz="2000"/>
              <a:t>SELECT * FROM emp, dept;</a:t>
            </a:r>
          </a:p>
          <a:p>
            <a:pPr>
              <a:buFontTx/>
              <a:buNone/>
            </a:pPr>
            <a:r>
              <a:rPr lang="en-US" sz="2000"/>
              <a:t>	   </a:t>
            </a:r>
            <a:r>
              <a:rPr lang="ru-RU" sz="2000"/>
              <a:t>План исполнения:</a:t>
            </a:r>
          </a:p>
          <a:p>
            <a:pPr>
              <a:buFontTx/>
              <a:buNone/>
            </a:pPr>
            <a:r>
              <a:rPr lang="ru-RU" sz="2000"/>
              <a:t>	   </a:t>
            </a:r>
            <a:r>
              <a:rPr lang="en-US" sz="2000"/>
              <a:t>SELECT STATEMENT</a:t>
            </a:r>
          </a:p>
          <a:p>
            <a:pPr>
              <a:buFontTx/>
              <a:buNone/>
            </a:pPr>
            <a:r>
              <a:rPr lang="ru-RU" sz="2000"/>
              <a:t>	        </a:t>
            </a:r>
            <a:r>
              <a:rPr lang="en-US" sz="2000"/>
              <a:t>NESTED LOOPS	   </a:t>
            </a:r>
            <a:endParaRPr lang="ru-RU" sz="2000"/>
          </a:p>
          <a:p>
            <a:pPr>
              <a:buFontTx/>
              <a:buNone/>
            </a:pPr>
            <a:r>
              <a:rPr lang="en-US" sz="2000"/>
              <a:t>      	    TABLE ACCESS full dept </a:t>
            </a:r>
          </a:p>
          <a:p>
            <a:pPr>
              <a:buFontTx/>
              <a:buNone/>
            </a:pPr>
            <a:r>
              <a:rPr lang="en-US" sz="2000"/>
              <a:t>	    	    TABLE ACCESS full emp </a:t>
            </a:r>
          </a:p>
          <a:p>
            <a:pPr>
              <a:buFontTx/>
              <a:buNone/>
            </a:pPr>
            <a:r>
              <a:rPr lang="en-US" sz="2000"/>
              <a:t>8. </a:t>
            </a:r>
            <a:r>
              <a:rPr lang="ru-RU" sz="2000"/>
              <a:t>Запрет на использование индекса</a:t>
            </a:r>
          </a:p>
          <a:p>
            <a:pPr>
              <a:buFontTx/>
              <a:buNone/>
            </a:pPr>
            <a:r>
              <a:rPr lang="ru-RU" sz="2000"/>
              <a:t>	 </a:t>
            </a:r>
            <a:r>
              <a:rPr lang="en-US" sz="2000"/>
              <a:t>SELECT ename FROM emp</a:t>
            </a:r>
            <a:r>
              <a:rPr lang="ru-RU" sz="2000"/>
              <a:t> </a:t>
            </a:r>
            <a:r>
              <a:rPr lang="en-US" sz="2000"/>
              <a:t>WHERE job=‘MANAGER’||””; </a:t>
            </a:r>
            <a:endParaRPr lang="ru-RU" sz="2000"/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20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151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90538"/>
          </a:xfrm>
        </p:spPr>
        <p:txBody>
          <a:bodyPr/>
          <a:lstStyle/>
          <a:p>
            <a:r>
              <a:rPr lang="ru-RU" sz="4000">
                <a:solidFill>
                  <a:srgbClr val="CE2816"/>
                </a:solidFill>
              </a:rPr>
              <a:t>Примеры планов исполнения</a:t>
            </a:r>
            <a:r>
              <a:rPr lang="en-US" sz="4000">
                <a:solidFill>
                  <a:srgbClr val="CE2816"/>
                </a:solidFill>
              </a:rPr>
              <a:t> (</a:t>
            </a:r>
            <a:r>
              <a:rPr lang="ru-RU" sz="4000">
                <a:solidFill>
                  <a:srgbClr val="CE2816"/>
                </a:solidFill>
              </a:rPr>
              <a:t>5</a:t>
            </a:r>
            <a:r>
              <a:rPr lang="en-US" sz="4000">
                <a:solidFill>
                  <a:srgbClr val="CE2816"/>
                </a:solidFill>
              </a:rPr>
              <a:t>/</a:t>
            </a:r>
            <a:r>
              <a:rPr lang="ru-RU" sz="4000">
                <a:solidFill>
                  <a:srgbClr val="CE2816"/>
                </a:solidFill>
              </a:rPr>
              <a:t>5</a:t>
            </a:r>
            <a:r>
              <a:rPr lang="en-US" sz="4000">
                <a:solidFill>
                  <a:srgbClr val="CE2816"/>
                </a:solidFill>
              </a:rPr>
              <a:t>)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7610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9. </a:t>
            </a:r>
            <a:r>
              <a:rPr lang="ru-RU" sz="2000"/>
              <a:t> Сортировка слиянием</a:t>
            </a:r>
            <a:endParaRPr 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/>
              <a:t>	   </a:t>
            </a:r>
            <a:r>
              <a:rPr lang="en-US" sz="2000"/>
              <a:t>SELECT * FROM emp, dept</a:t>
            </a:r>
            <a:r>
              <a:rPr lang="ru-RU" sz="2000"/>
              <a:t> </a:t>
            </a:r>
            <a:r>
              <a:rPr lang="en-US" sz="2000"/>
              <a:t>WHERE emp.deptno=dept.deptno;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   </a:t>
            </a:r>
            <a:r>
              <a:rPr lang="ru-RU" sz="2000"/>
              <a:t>План исполнения: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/>
              <a:t>	   </a:t>
            </a:r>
            <a:r>
              <a:rPr lang="en-US" sz="2000"/>
              <a:t>SELECT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/>
              <a:t>	        </a:t>
            </a:r>
            <a:r>
              <a:rPr lang="en-US" sz="2000"/>
              <a:t>MERGE JOIN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    SORT JOIN   </a:t>
            </a:r>
            <a:endParaRPr lang="ru-RU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      	        TABLE ACCESS full emp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    SORT JOIN   </a:t>
            </a:r>
            <a:endParaRPr lang="ru-RU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      	        TABLE ACCESS full emp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10. </a:t>
            </a:r>
            <a:r>
              <a:rPr lang="ru-RU" sz="2000"/>
              <a:t>Тот же запрос, но существует индекс на столбец </a:t>
            </a:r>
            <a:r>
              <a:rPr lang="en-US" sz="2000"/>
              <a:t>deptno </a:t>
            </a:r>
            <a:r>
              <a:rPr lang="ru-RU" sz="2000"/>
              <a:t>играющий роль внешнего ключа в </a:t>
            </a:r>
            <a:r>
              <a:rPr lang="en-US" sz="2000"/>
              <a:t>emp</a:t>
            </a:r>
            <a:r>
              <a:rPr lang="ru-RU" sz="200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/>
              <a:t>	     План исполнения:</a:t>
            </a:r>
            <a:endParaRPr 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 </a:t>
            </a:r>
            <a:r>
              <a:rPr lang="ru-RU" sz="2000"/>
              <a:t>		  </a:t>
            </a:r>
            <a:r>
              <a:rPr lang="en-US" sz="2000"/>
              <a:t>SELECT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/>
              <a:t>	              </a:t>
            </a:r>
            <a:r>
              <a:rPr lang="en-US" sz="2000"/>
              <a:t>NESTED LOOPS	   </a:t>
            </a:r>
            <a:endParaRPr lang="ru-RU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      	    </a:t>
            </a:r>
            <a:r>
              <a:rPr lang="ru-RU" sz="2000"/>
              <a:t>     </a:t>
            </a:r>
            <a:r>
              <a:rPr lang="en-US" sz="2000"/>
              <a:t>TABLE ACCESS full dept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    	    </a:t>
            </a:r>
            <a:r>
              <a:rPr lang="ru-RU" sz="2000"/>
              <a:t>     </a:t>
            </a:r>
            <a:r>
              <a:rPr lang="en-US" sz="2000"/>
              <a:t>TABLE ACCESS by rowid emp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	INDEX range scan idx_fk_emp_deptno</a:t>
            </a:r>
            <a:endParaRPr lang="ru-RU" sz="2000"/>
          </a:p>
          <a:p>
            <a:pPr>
              <a:lnSpc>
                <a:spcPct val="90000"/>
              </a:lnSpc>
              <a:buFontTx/>
              <a:buNone/>
            </a:pPr>
            <a:endParaRPr lang="ru-RU" sz="2000"/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-323850" y="6669088"/>
            <a:ext cx="2700338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6FB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2000" b="1" dirty="0">
                <a:solidFill>
                  <a:srgbClr val="808080"/>
                </a:solidFill>
                <a:sym typeface="Symbol" pitchFamily="18" charset="2"/>
              </a:rPr>
              <a:t>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Бессарабов Н.В.</a:t>
            </a:r>
            <a:r>
              <a:rPr lang="en-US" sz="1400" dirty="0">
                <a:solidFill>
                  <a:srgbClr val="000000"/>
                </a:solidFill>
              </a:rPr>
              <a:t>2014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21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655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6075" y="0"/>
            <a:ext cx="8229600" cy="633309"/>
          </a:xfrm>
        </p:spPr>
        <p:txBody>
          <a:bodyPr/>
          <a:lstStyle/>
          <a:p>
            <a:r>
              <a:rPr lang="ru-RU" sz="3600" kern="1200" dirty="0">
                <a:solidFill>
                  <a:srgbClr val="FF0000"/>
                </a:solidFill>
                <a:latin typeface="Calibri Light" panose="020F0302020204030204"/>
              </a:rPr>
              <a:t>Невидимые (</a:t>
            </a:r>
            <a:r>
              <a:rPr lang="en-US" sz="3600" kern="1200" dirty="0">
                <a:solidFill>
                  <a:srgbClr val="FF0000"/>
                </a:solidFill>
                <a:latin typeface="Calibri Light" panose="020F0302020204030204"/>
              </a:rPr>
              <a:t>invisible</a:t>
            </a:r>
            <a:r>
              <a:rPr lang="ru-RU" sz="3600" kern="1200" dirty="0">
                <a:solidFill>
                  <a:srgbClr val="FF0000"/>
                </a:solidFill>
                <a:latin typeface="Calibri Light" panose="020F0302020204030204"/>
              </a:rPr>
              <a:t>) индексы 1/3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0396" y="633309"/>
            <a:ext cx="8640959" cy="6224691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      Индекс считается невидимым (</a:t>
            </a:r>
            <a:r>
              <a:rPr lang="en-US" sz="2000" dirty="0"/>
              <a:t>invisible</a:t>
            </a:r>
            <a:r>
              <a:rPr lang="ru-RU" sz="2000" dirty="0"/>
              <a:t>) если он не учитывается оптимизатором.</a:t>
            </a:r>
          </a:p>
          <a:p>
            <a:pPr marL="0" indent="0">
              <a:buNone/>
            </a:pPr>
            <a:r>
              <a:rPr lang="ru-RU" sz="2000" dirty="0"/>
              <a:t>      Создание </a:t>
            </a:r>
            <a:r>
              <a:rPr lang="ru-RU" sz="2000" dirty="0">
                <a:solidFill>
                  <a:srgbClr val="000000"/>
                </a:solidFill>
              </a:rPr>
              <a:t>индекса с атрибутом невидимости (по умолчанию </a:t>
            </a:r>
            <a:r>
              <a:rPr lang="en-US" sz="2000" dirty="0">
                <a:solidFill>
                  <a:srgbClr val="000000"/>
                </a:solidFill>
              </a:rPr>
              <a:t>VISIBLE</a:t>
            </a:r>
            <a:r>
              <a:rPr lang="ru-RU" sz="2000" dirty="0">
                <a:solidFill>
                  <a:srgbClr val="000000"/>
                </a:solidFill>
              </a:rPr>
              <a:t>) </a:t>
            </a:r>
            <a:r>
              <a:rPr lang="ru-RU" sz="2000" dirty="0"/>
              <a:t>и изменение видимости: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INDEX </a:t>
            </a:r>
            <a:r>
              <a:rPr lang="en-US" sz="2000" dirty="0" err="1"/>
              <a:t>index_name</a:t>
            </a:r>
            <a:r>
              <a:rPr lang="en-US" sz="2000" dirty="0"/>
              <a:t> ON </a:t>
            </a:r>
            <a:r>
              <a:rPr lang="en-US" sz="2000" dirty="0" err="1"/>
              <a:t>table_name</a:t>
            </a:r>
            <a:r>
              <a:rPr lang="en-US" sz="2000" dirty="0"/>
              <a:t>(</a:t>
            </a:r>
            <a:r>
              <a:rPr lang="en-US" sz="2000" dirty="0" err="1"/>
              <a:t>column_name</a:t>
            </a:r>
            <a:r>
              <a:rPr lang="en-US" sz="2000" dirty="0"/>
              <a:t>) INVISIBLE;</a:t>
            </a:r>
          </a:p>
          <a:p>
            <a:pPr marL="0" indent="0">
              <a:buNone/>
            </a:pPr>
            <a:r>
              <a:rPr lang="en-US" sz="2000" dirty="0"/>
              <a:t>ALTER INDEX </a:t>
            </a:r>
            <a:r>
              <a:rPr lang="en-US" sz="2000" dirty="0" err="1"/>
              <a:t>index_name</a:t>
            </a:r>
            <a:r>
              <a:rPr lang="en-US" sz="2000" dirty="0"/>
              <a:t> INVISIBLE;</a:t>
            </a:r>
          </a:p>
          <a:p>
            <a:pPr marL="0" indent="0">
              <a:buNone/>
            </a:pPr>
            <a:r>
              <a:rPr lang="en-US" sz="2000" dirty="0"/>
              <a:t>ALTER INDEX </a:t>
            </a:r>
            <a:r>
              <a:rPr lang="en-US" sz="2000" dirty="0" err="1"/>
              <a:t>index_name</a:t>
            </a:r>
            <a:r>
              <a:rPr lang="en-US" sz="2000" dirty="0"/>
              <a:t> VISIBLE;</a:t>
            </a:r>
            <a:endParaRPr lang="ru-RU" sz="2000" dirty="0"/>
          </a:p>
          <a:p>
            <a:pPr marL="0" indent="0">
              <a:buNone/>
            </a:pPr>
            <a:r>
              <a:rPr lang="ru-RU" sz="2000" dirty="0">
                <a:solidFill>
                  <a:srgbClr val="5A5959"/>
                </a:solidFill>
                <a:latin typeface="Arial" panose="020B0604020202020204" pitchFamily="34" charset="0"/>
              </a:rPr>
              <a:t> </a:t>
            </a:r>
            <a:r>
              <a:rPr lang="ru-RU" sz="2000" dirty="0">
                <a:latin typeface="Arial" panose="020B0604020202020204" pitchFamily="34" charset="0"/>
              </a:rPr>
              <a:t>    Убедиться, действительно ли индекс полезен для запросов  пользователей можно переключая видимость. Учтите, что индекс  может быть полезен для одного пользователя, но вреден для другого.</a:t>
            </a: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</a:rPr>
              <a:t>      Для включения индекса в конкретный запрос можно использовать </a:t>
            </a:r>
            <a:r>
              <a:rPr lang="ru-RU" sz="2000" dirty="0" err="1">
                <a:latin typeface="Arial" panose="020B0604020202020204" pitchFamily="34" charset="0"/>
              </a:rPr>
              <a:t>хинты</a:t>
            </a:r>
            <a:r>
              <a:rPr lang="ru-RU" sz="2000" dirty="0">
                <a:latin typeface="Arial" panose="020B0604020202020204" pitchFamily="34" charset="0"/>
              </a:rPr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/*+ INDEX (</a:t>
            </a:r>
            <a:r>
              <a:rPr lang="ru-RU" sz="2000" dirty="0" err="1"/>
              <a:t>имя_таблицы</a:t>
            </a:r>
            <a:r>
              <a:rPr lang="en-US" sz="2000" dirty="0"/>
              <a:t> </a:t>
            </a:r>
            <a:r>
              <a:rPr lang="ru-RU" sz="2000" dirty="0" err="1"/>
              <a:t>имя_индекса</a:t>
            </a:r>
            <a:r>
              <a:rPr lang="en-US" sz="2000" dirty="0"/>
              <a:t>) */</a:t>
            </a:r>
            <a:r>
              <a:rPr lang="ru-RU" sz="2000" dirty="0"/>
              <a:t>…</a:t>
            </a:r>
            <a:r>
              <a:rPr lang="en-US" sz="2000" dirty="0"/>
              <a:t> from </a:t>
            </a:r>
            <a:r>
              <a:rPr lang="ru-RU" sz="2000" dirty="0"/>
              <a:t>…</a:t>
            </a:r>
            <a:r>
              <a:rPr lang="en-US" sz="2000" dirty="0"/>
              <a:t> where</a:t>
            </a:r>
            <a:r>
              <a:rPr lang="ru-RU" sz="2000" dirty="0"/>
              <a:t> …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Можно включить невидимые индексы на уровне сессии. Это удобно для чужих приложений когда нет доступа к коду:</a:t>
            </a:r>
          </a:p>
          <a:p>
            <a:pPr marL="0" indent="0">
              <a:buNone/>
            </a:pPr>
            <a:r>
              <a:rPr lang="en-US" sz="2000" dirty="0"/>
              <a:t>alter session set </a:t>
            </a:r>
            <a:r>
              <a:rPr lang="en-US" sz="2000" dirty="0" err="1"/>
              <a:t>optimizer_use_invisible_indexes</a:t>
            </a:r>
            <a:r>
              <a:rPr lang="en-US" sz="2000" dirty="0"/>
              <a:t> = true;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u="sng" dirty="0"/>
              <a:t>Замечание</a:t>
            </a:r>
            <a:r>
              <a:rPr lang="ru-RU" sz="2000" dirty="0"/>
              <a:t>: не путайте невидимые и виртуальные индексы.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58E2-9027-4DFD-915E-DDB40D7DEEA4}" type="slidenum">
              <a:rPr lang="ru-RU" smtClean="0">
                <a:solidFill>
                  <a:srgbClr val="000000"/>
                </a:solidFill>
              </a:rPr>
              <a:pPr/>
              <a:t>22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54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14" y="222859"/>
            <a:ext cx="7886700" cy="82987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Невидимые (</a:t>
            </a:r>
            <a:r>
              <a:rPr lang="en-US" sz="3200" dirty="0">
                <a:solidFill>
                  <a:srgbClr val="FF0000"/>
                </a:solidFill>
              </a:rPr>
              <a:t>invisible</a:t>
            </a:r>
            <a:r>
              <a:rPr lang="ru-RU" sz="3200" dirty="0">
                <a:solidFill>
                  <a:srgbClr val="FF0000"/>
                </a:solidFill>
              </a:rPr>
              <a:t>) индексы 2/3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0214" y="5517232"/>
            <a:ext cx="7886700" cy="1091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      Здесь создаётся и заполняется таблица </a:t>
            </a:r>
            <a:r>
              <a:rPr lang="en-US" sz="2000" dirty="0" err="1"/>
              <a:t>ii_tab</a:t>
            </a:r>
            <a:r>
              <a:rPr lang="ru-RU" sz="2000" dirty="0"/>
              <a:t>. На её единственный столбец создаётся невидимый индекс </a:t>
            </a:r>
            <a:r>
              <a:rPr lang="en-US" sz="2000" dirty="0" err="1"/>
              <a:t>ii_tab_id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ru-RU" sz="2000" dirty="0"/>
              <a:t>      Затем собирается статистика на эту таблицу.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7" y="1124744"/>
            <a:ext cx="8282065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79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-66919"/>
            <a:ext cx="7886700" cy="47158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Невидимые (</a:t>
            </a:r>
            <a:r>
              <a:rPr lang="en-US" sz="3200" dirty="0">
                <a:solidFill>
                  <a:srgbClr val="FF0000"/>
                </a:solidFill>
              </a:rPr>
              <a:t>invisible</a:t>
            </a:r>
            <a:r>
              <a:rPr lang="ru-RU" sz="3200" dirty="0">
                <a:solidFill>
                  <a:srgbClr val="FF0000"/>
                </a:solidFill>
              </a:rPr>
              <a:t>) индексы 3/3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3366146"/>
            <a:ext cx="7886700" cy="3182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dirty="0"/>
              <a:t>В плане индекс не использован. А теперь: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65" y="340194"/>
            <a:ext cx="7271735" cy="29671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64" y="3573016"/>
            <a:ext cx="7329975" cy="32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71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54868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FF0000"/>
                </a:solidFill>
                <a:latin typeface="+mn-lt"/>
              </a:rPr>
            </a:br>
            <a:r>
              <a:rPr lang="ru-RU" sz="3600" dirty="0">
                <a:solidFill>
                  <a:srgbClr val="FF0000"/>
                </a:solidFill>
                <a:latin typeface="+mn-lt"/>
              </a:rPr>
              <a:t>Оценка размера индекса</a:t>
            </a:r>
            <a:br>
              <a:rPr lang="ru-RU" b="1" dirty="0">
                <a:solidFill>
                  <a:srgbClr val="000000"/>
                </a:solidFill>
                <a:latin typeface="Helvetica" panose="020B0604020202020204" pitchFamily="34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548680"/>
            <a:ext cx="7886700" cy="6192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SET SERVEROUTPUT ON</a:t>
            </a:r>
          </a:p>
          <a:p>
            <a:pPr marL="0" indent="0">
              <a:buNone/>
            </a:pPr>
            <a:r>
              <a:rPr lang="en-US" sz="2000" dirty="0"/>
              <a:t>DECLARE</a:t>
            </a:r>
          </a:p>
          <a:p>
            <a:pPr marL="0" indent="0">
              <a:buNone/>
            </a:pPr>
            <a:r>
              <a:rPr lang="en-US" sz="2000" dirty="0" err="1"/>
              <a:t>l_index_ddl</a:t>
            </a:r>
            <a:r>
              <a:rPr lang="en-US" sz="2000" dirty="0"/>
              <a:t> varchar2(1000);</a:t>
            </a:r>
          </a:p>
          <a:p>
            <a:pPr marL="0" indent="0">
              <a:buNone/>
            </a:pPr>
            <a:r>
              <a:rPr lang="en-US" sz="2000" dirty="0" err="1"/>
              <a:t>l_used_bytes</a:t>
            </a:r>
            <a:r>
              <a:rPr lang="en-US" sz="2000" dirty="0"/>
              <a:t> NUMBER;</a:t>
            </a:r>
          </a:p>
          <a:p>
            <a:pPr marL="0" indent="0">
              <a:buNone/>
            </a:pPr>
            <a:r>
              <a:rPr lang="en-US" sz="2000" dirty="0" err="1"/>
              <a:t>l_allocated_bytes</a:t>
            </a:r>
            <a:r>
              <a:rPr lang="en-US" sz="2000" dirty="0"/>
              <a:t> NUMBER;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 err="1"/>
              <a:t>DBMS_SPACE.create_index_cost</a:t>
            </a:r>
            <a:r>
              <a:rPr lang="en-US" sz="2000" dirty="0"/>
              <a:t> (</a:t>
            </a:r>
          </a:p>
          <a:p>
            <a:pPr marL="0" indent="0">
              <a:buNone/>
            </a:pPr>
            <a:r>
              <a:rPr lang="en-US" sz="2000" dirty="0" err="1"/>
              <a:t>ddl</a:t>
            </a:r>
            <a:r>
              <a:rPr lang="en-US" sz="2000" dirty="0"/>
              <a:t> =&gt; 'create index </a:t>
            </a:r>
            <a:r>
              <a:rPr lang="en-US" sz="2000" dirty="0" err="1"/>
              <a:t>repsons_idx</a:t>
            </a:r>
            <a:r>
              <a:rPr lang="en-US" sz="2000" dirty="0"/>
              <a:t> on EMP(ENAME)',</a:t>
            </a:r>
          </a:p>
          <a:p>
            <a:pPr marL="0" indent="0">
              <a:buNone/>
            </a:pPr>
            <a:r>
              <a:rPr lang="en-US" sz="2000" dirty="0" err="1"/>
              <a:t>used_bytes</a:t>
            </a:r>
            <a:r>
              <a:rPr lang="en-US" sz="2000" dirty="0"/>
              <a:t> =&gt; </a:t>
            </a:r>
            <a:r>
              <a:rPr lang="en-US" sz="2000" dirty="0" err="1"/>
              <a:t>l_used_bytes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 err="1"/>
              <a:t>alloc_bytes</a:t>
            </a:r>
            <a:r>
              <a:rPr lang="en-US" sz="2000" dirty="0"/>
              <a:t> =&gt; </a:t>
            </a:r>
            <a:r>
              <a:rPr lang="en-US" sz="2000" dirty="0" err="1"/>
              <a:t>l_allocated_bytes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DBMS_OUTPUT.PUT_LINE ('RESULT:');</a:t>
            </a:r>
          </a:p>
          <a:p>
            <a:pPr marL="0" indent="0">
              <a:buNone/>
            </a:pPr>
            <a:r>
              <a:rPr lang="en-US" sz="2000" dirty="0"/>
              <a:t>DBMS_OUTPUT.PUT_LINE ('</a:t>
            </a:r>
            <a:r>
              <a:rPr lang="en-US" sz="2000" dirty="0" err="1"/>
              <a:t>used_bytes</a:t>
            </a:r>
            <a:r>
              <a:rPr lang="en-US" sz="2000" dirty="0"/>
              <a:t> = ' || </a:t>
            </a:r>
            <a:r>
              <a:rPr lang="en-US" sz="2000" dirty="0" err="1"/>
              <a:t>l_used_bytes</a:t>
            </a:r>
            <a:r>
              <a:rPr lang="en-US" sz="2000" dirty="0"/>
              <a:t> || ' byte');</a:t>
            </a:r>
          </a:p>
          <a:p>
            <a:pPr marL="0" indent="0">
              <a:buNone/>
            </a:pPr>
            <a:r>
              <a:rPr lang="en-US" sz="2000" dirty="0"/>
              <a:t>DBMS_OUTPUT.PUT_LINE ('</a:t>
            </a:r>
            <a:r>
              <a:rPr lang="en-US" sz="2000" dirty="0" err="1"/>
              <a:t>alloc_bytes</a:t>
            </a:r>
            <a:r>
              <a:rPr lang="en-US" sz="2000" dirty="0"/>
              <a:t> = ' || </a:t>
            </a:r>
            <a:r>
              <a:rPr lang="en-US" sz="2000" dirty="0" err="1"/>
              <a:t>l_allocated_bytes</a:t>
            </a:r>
            <a:r>
              <a:rPr lang="en-US" sz="2000" dirty="0"/>
              <a:t> || ' byte');</a:t>
            </a:r>
          </a:p>
          <a:p>
            <a:pPr marL="0" indent="0">
              <a:buNone/>
            </a:pPr>
            <a:r>
              <a:rPr lang="en-US" sz="2000" dirty="0"/>
              <a:t>END;</a:t>
            </a:r>
          </a:p>
          <a:p>
            <a:r>
              <a:rPr lang="ru-RU" sz="2000" dirty="0" err="1">
                <a:solidFill>
                  <a:srgbClr val="111111"/>
                </a:solidFill>
                <a:latin typeface="Helvetica" panose="020B0604020202020204" pitchFamily="34" charset="0"/>
              </a:rPr>
              <a:t>Used_bytes</a:t>
            </a:r>
            <a:r>
              <a:rPr lang="ru-RU" sz="2000" dirty="0">
                <a:solidFill>
                  <a:srgbClr val="111111"/>
                </a:solidFill>
                <a:latin typeface="Helvetica" panose="020B0604020202020204" pitchFamily="34" charset="0"/>
              </a:rPr>
              <a:t> количество байт представляющих данные индекса;</a:t>
            </a:r>
          </a:p>
          <a:p>
            <a:r>
              <a:rPr lang="ru-RU" sz="2000" dirty="0" err="1">
                <a:solidFill>
                  <a:srgbClr val="111111"/>
                </a:solidFill>
                <a:latin typeface="Helvetica" panose="020B0604020202020204" pitchFamily="34" charset="0"/>
              </a:rPr>
              <a:t>Alloc_bytes</a:t>
            </a:r>
            <a:r>
              <a:rPr lang="ru-RU" sz="2000" dirty="0">
                <a:solidFill>
                  <a:srgbClr val="111111"/>
                </a:solidFill>
                <a:latin typeface="Helvetica" panose="020B0604020202020204" pitchFamily="34" charset="0"/>
              </a:rPr>
              <a:t> показывает количество байт, которое займет индекс после его создания.</a:t>
            </a:r>
            <a:endParaRPr lang="ru-RU" sz="2000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74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681038"/>
            <a:ext cx="7886700" cy="836712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Виртуальные столбцы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204863"/>
            <a:ext cx="7886700" cy="3972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Виртуальные столбцы (</a:t>
            </a:r>
            <a:r>
              <a:rPr lang="ru-RU" sz="2000" dirty="0" err="1"/>
              <a:t>Virtual</a:t>
            </a:r>
            <a:r>
              <a:rPr lang="ru-RU" sz="2000" dirty="0"/>
              <a:t> </a:t>
            </a:r>
            <a:r>
              <a:rPr lang="ru-RU" sz="2000" dirty="0" err="1"/>
              <a:t>columns</a:t>
            </a:r>
            <a:r>
              <a:rPr lang="ru-RU" sz="2000" dirty="0"/>
              <a:t>). Виртуальные колонки представляют из себя функции. Индексы по таким столбцам это   индексы над функциями. В выражениях могут использоваться: столбцы этой таблицы, константы, SQL-функции или функции, созданные пользователем. Поддерживается также секционирование (не в </a:t>
            </a:r>
            <a:r>
              <a:rPr lang="en-US" sz="2000" dirty="0"/>
              <a:t>XE</a:t>
            </a:r>
            <a:r>
              <a:rPr lang="ru-RU" sz="2000" dirty="0"/>
              <a:t> 11). Виртуальные колонки не могут использоваться в индексно-организованных (</a:t>
            </a:r>
            <a:r>
              <a:rPr lang="ru-RU" sz="2000" dirty="0" err="1"/>
              <a:t>index</a:t>
            </a:r>
            <a:r>
              <a:rPr lang="ru-RU" sz="2000" dirty="0"/>
              <a:t> </a:t>
            </a:r>
            <a:r>
              <a:rPr lang="ru-RU" sz="2000" dirty="0" err="1"/>
              <a:t>organized</a:t>
            </a:r>
            <a:r>
              <a:rPr lang="ru-RU" sz="2000" dirty="0"/>
              <a:t>) или внешних (</a:t>
            </a:r>
            <a:r>
              <a:rPr lang="ru-RU" sz="2000" dirty="0" err="1"/>
              <a:t>external</a:t>
            </a:r>
            <a:r>
              <a:rPr lang="ru-RU" sz="2000" dirty="0"/>
              <a:t>) таблицах. Прямая запись в такие колонки не возможна.</a:t>
            </a:r>
          </a:p>
        </p:txBody>
      </p:sp>
    </p:spTree>
    <p:extLst>
      <p:ext uri="{BB962C8B-B14F-4D97-AF65-F5344CB8AC3E}">
        <p14:creationId xmlns:p14="http://schemas.microsoft.com/office/powerpoint/2010/main" val="1770537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488" y="0"/>
            <a:ext cx="7886700" cy="56440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Индекс порождает виртуальный столбец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6093296"/>
            <a:ext cx="7786612" cy="5157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dirty="0"/>
              <a:t>Индекс порождает виртуальный столбец </a:t>
            </a:r>
            <a:r>
              <a:rPr lang="en-US" sz="2000" dirty="0"/>
              <a:t>SYS_NC00002$, </a:t>
            </a:r>
            <a:r>
              <a:rPr lang="ru-RU" sz="2000" dirty="0"/>
              <a:t>который не видит </a:t>
            </a:r>
            <a:r>
              <a:rPr lang="en-US" sz="2000" dirty="0"/>
              <a:t>DESCRIBE.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83" y="569235"/>
            <a:ext cx="7633100" cy="5366847"/>
          </a:xfrm>
          <a:prstGeom prst="rect">
            <a:avLst/>
          </a:prstGeom>
        </p:spPr>
      </p:pic>
      <p:sp>
        <p:nvSpPr>
          <p:cNvPr id="5" name="Скругленная прямоугольная выноска 4"/>
          <p:cNvSpPr/>
          <p:nvPr/>
        </p:nvSpPr>
        <p:spPr>
          <a:xfrm>
            <a:off x="5178514" y="2636912"/>
            <a:ext cx="2232248" cy="494215"/>
          </a:xfrm>
          <a:prstGeom prst="wedgeRoundRectCallout">
            <a:avLst>
              <a:gd name="adj1" fmla="val -72555"/>
              <a:gd name="adj2" fmla="val 62500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Вычисляемое значение (функция)</a:t>
            </a:r>
          </a:p>
        </p:txBody>
      </p:sp>
    </p:spTree>
    <p:extLst>
      <p:ext uri="{BB962C8B-B14F-4D97-AF65-F5344CB8AC3E}">
        <p14:creationId xmlns:p14="http://schemas.microsoft.com/office/powerpoint/2010/main" val="407160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Варианты установки </a:t>
            </a:r>
            <a:r>
              <a:rPr lang="en-US" sz="3200" dirty="0">
                <a:solidFill>
                  <a:srgbClr val="FF0000"/>
                </a:solidFill>
              </a:rPr>
              <a:t>AUTOTRACE</a:t>
            </a:r>
            <a:endParaRPr lang="ru-RU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850580"/>
              </p:ext>
            </p:extLst>
          </p:nvPr>
        </p:nvGraphicFramePr>
        <p:xfrm>
          <a:off x="755576" y="1556792"/>
          <a:ext cx="7920880" cy="3581400"/>
        </p:xfrm>
        <a:graphic>
          <a:graphicData uri="http://schemas.openxmlformats.org/drawingml/2006/table">
            <a:tbl>
              <a:tblPr/>
              <a:tblGrid>
                <a:gridCol w="4001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9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SET AUTOTRACE OFF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No AUTOTRACE report is generated. This is the default.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SET AUTOTRACE ON EXPLAIN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The AUTOTRACE report shows only the optimizer execution path.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SET AUTOTRACE ON STATISTICS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The AUTOTRACE report shows only the SQL statement execution statistics.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SET AUTOTRACE ON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The AUTOTRACE report includes both the optimizer execution path and the SQL statement execution statistics.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SET AUTOTRACE TRACEONLY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605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Приложение 1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280326"/>
              </p:ext>
            </p:extLst>
          </p:nvPr>
        </p:nvGraphicFramePr>
        <p:xfrm>
          <a:off x="621810" y="1916832"/>
          <a:ext cx="7886700" cy="2971800"/>
        </p:xfrm>
        <a:graphic>
          <a:graphicData uri="http://schemas.openxmlformats.org/drawingml/2006/table">
            <a:tbl>
              <a:tblPr/>
              <a:tblGrid>
                <a:gridCol w="2942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>
                          <a:latin typeface="Arial, Helvetica, sans-serif"/>
                        </a:rPr>
                        <a:t>Column Name</a:t>
                      </a:r>
                      <a:endParaRPr lang="en-US" sz="2000"/>
                    </a:p>
                  </a:txBody>
                  <a:tcPr marL="22860" marR="22860" marT="22860" marB="228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>
                          <a:latin typeface="Arial, Helvetica, sans-serif"/>
                        </a:rPr>
                        <a:t>Description</a:t>
                      </a:r>
                      <a:endParaRPr lang="en-US" sz="2000"/>
                    </a:p>
                  </a:txBody>
                  <a:tcPr marL="22860" marR="22860" marT="22860" marB="228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ID_PLUS_EXP 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>
                          <a:effectLst/>
                        </a:rPr>
                        <a:t>Номер строки каждого шага выполнения.</a:t>
                      </a:r>
                      <a:endParaRPr lang="ru-RU" sz="2000" dirty="0"/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PARENT_ID_PLUS_EXP 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Отношения между каждым шагом и его родителем. Столбец полезен для больших отчетов.</a:t>
                      </a:r>
                      <a:endParaRPr lang="en-US" sz="2000" dirty="0"/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PLAN_PLUS_EXP 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Показывает каждый шаг отчета</a:t>
                      </a:r>
                      <a:endParaRPr lang="en-US" sz="2000" dirty="0"/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OBJECT_NODE_PLUS_EXP </a:t>
                      </a:r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>
                          <a:effectLst/>
                        </a:rPr>
                        <a:t>Показывает ссылки на базу данных или используемые параллельные серверы запросов</a:t>
                      </a:r>
                      <a:endParaRPr lang="ru-RU" sz="2000" dirty="0"/>
                    </a:p>
                  </a:txBody>
                  <a:tcPr marL="22860" marR="2286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5540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4000" b="0" i="0" u="none" strike="noStrike" cap="none" normalizeH="0" baseline="0" smtClean="0">
            <a:ln>
              <a:noFill/>
            </a:ln>
            <a:solidFill>
              <a:srgbClr val="CE281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4000" b="0" i="0" u="none" strike="noStrike" cap="none" normalizeH="0" baseline="0" smtClean="0">
            <a:ln>
              <a:noFill/>
            </a:ln>
            <a:solidFill>
              <a:srgbClr val="CE281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3160</TotalTime>
  <Words>3186</Words>
  <Application>Microsoft Office PowerPoint</Application>
  <PresentationFormat>Экран (4:3)</PresentationFormat>
  <Paragraphs>373</Paragraphs>
  <Slides>29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29</vt:i4>
      </vt:variant>
    </vt:vector>
  </HeadingPairs>
  <TitlesOfParts>
    <vt:vector size="41" baseType="lpstr">
      <vt:lpstr>Arial</vt:lpstr>
      <vt:lpstr>Arial, Helvetica, sans-serif</vt:lpstr>
      <vt:lpstr>Calibri</vt:lpstr>
      <vt:lpstr>Calibri Light</vt:lpstr>
      <vt:lpstr>Courier New</vt:lpstr>
      <vt:lpstr>Helvetica</vt:lpstr>
      <vt:lpstr>lucida grande</vt:lpstr>
      <vt:lpstr>Oracle Sans</vt:lpstr>
      <vt:lpstr>Times New Roman</vt:lpstr>
      <vt:lpstr>Тема Office</vt:lpstr>
      <vt:lpstr>3_Оформление по умолчанию</vt:lpstr>
      <vt:lpstr>1_Тема Office</vt:lpstr>
      <vt:lpstr>Планы исполнения Введение </vt:lpstr>
      <vt:lpstr>Измерение времени выполнения запроса</vt:lpstr>
      <vt:lpstr>Планы исполнения </vt:lpstr>
      <vt:lpstr>Оптимизация по правилам и по стоимости</vt:lpstr>
      <vt:lpstr>Ранжирование методов доступа</vt:lpstr>
      <vt:lpstr>Статистики для оптимизатора по стоимости</vt:lpstr>
      <vt:lpstr>Подсказки </vt:lpstr>
      <vt:lpstr>Подсказки </vt:lpstr>
      <vt:lpstr>Использование подсказок</vt:lpstr>
      <vt:lpstr>Использование подсказок</vt:lpstr>
      <vt:lpstr>Ограничение на использование подсказок</vt:lpstr>
      <vt:lpstr>Вариант работы с планом исполнения</vt:lpstr>
      <vt:lpstr>Текст к слайду 12</vt:lpstr>
      <vt:lpstr>Работа с планом исполнения в SQLPlus</vt:lpstr>
      <vt:lpstr>План для запроса к emp с индексом pk_dept</vt:lpstr>
      <vt:lpstr>План для той же таблицы, но без индекса и с установкой AUTORACE</vt:lpstr>
      <vt:lpstr>Примеры планов исполнения (1/5)</vt:lpstr>
      <vt:lpstr>Примеры планов исполнения (2/5)</vt:lpstr>
      <vt:lpstr>Примеры планов исполнения (3/5)</vt:lpstr>
      <vt:lpstr>Примеры планов исполнения (4/5)</vt:lpstr>
      <vt:lpstr>Примеры планов исполнения (5/5)</vt:lpstr>
      <vt:lpstr>Невидимые (invisible) индексы 1/3</vt:lpstr>
      <vt:lpstr>Невидимые (invisible) индексы 2/3</vt:lpstr>
      <vt:lpstr>Невидимые (invisible) индексы 3/3</vt:lpstr>
      <vt:lpstr> Оценка размера индекса </vt:lpstr>
      <vt:lpstr>Виртуальные столбцы</vt:lpstr>
      <vt:lpstr>Индекс порождает виртуальный столбец</vt:lpstr>
      <vt:lpstr>Варианты установки AUTOTRACE</vt:lpstr>
      <vt:lpstr>Приложение 1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Планы исполнения</dc:title>
  <dc:creator>Bessarabov</dc:creator>
  <cp:lastModifiedBy>Александр Александрович Евдокимов</cp:lastModifiedBy>
  <cp:revision>46</cp:revision>
  <dcterms:created xsi:type="dcterms:W3CDTF">2016-10-11T17:42:17Z</dcterms:created>
  <dcterms:modified xsi:type="dcterms:W3CDTF">2023-10-27T02:17:26Z</dcterms:modified>
</cp:coreProperties>
</file>