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3" r:id="rId9"/>
    <p:sldId id="262" r:id="rId10"/>
    <p:sldId id="276" r:id="rId11"/>
    <p:sldId id="264" r:id="rId12"/>
    <p:sldId id="277" r:id="rId13"/>
    <p:sldId id="268" r:id="rId14"/>
    <p:sldId id="266" r:id="rId15"/>
    <p:sldId id="269" r:id="rId16"/>
    <p:sldId id="274" r:id="rId17"/>
    <p:sldId id="275" r:id="rId18"/>
    <p:sldId id="265" r:id="rId19"/>
    <p:sldId id="270" r:id="rId20"/>
    <p:sldId id="271" r:id="rId21"/>
    <p:sldId id="272" r:id="rId22"/>
    <p:sldId id="278" r:id="rId23"/>
    <p:sldId id="273" r:id="rId24"/>
    <p:sldId id="281" r:id="rId25"/>
    <p:sldId id="282" r:id="rId26"/>
    <p:sldId id="279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3" autoAdjust="0"/>
    <p:restoredTop sz="95232" autoAdjust="0"/>
  </p:normalViewPr>
  <p:slideViewPr>
    <p:cSldViewPr>
      <p:cViewPr varScale="1">
        <p:scale>
          <a:sx n="102" d="100"/>
          <a:sy n="102" d="100"/>
        </p:scale>
        <p:origin x="148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C88FA-FC35-4D29-9AE5-16AFD738E144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EA05D-EB85-4095-9D62-1A20C2EDD7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87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EA05D-EB85-4095-9D62-1A20C2EDD74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911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FF17B9-885E-4375-A70F-1AC097F0008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91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54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4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066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03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17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04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287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48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31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90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FF465-515F-4D1C-83C2-D48469D181DD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FD825-6F72-4DA3-B900-1DD0A6A3A5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50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6440" y="404664"/>
            <a:ext cx="7772400" cy="1470025"/>
          </a:xfrm>
        </p:spPr>
        <p:txBody>
          <a:bodyPr>
            <a:normAutofit/>
          </a:bodyPr>
          <a:lstStyle/>
          <a:p>
            <a:r>
              <a:rPr lang="ru-RU" dirty="0"/>
              <a:t>Ошибки и </a:t>
            </a:r>
            <a:br>
              <a:rPr lang="ru-RU" dirty="0"/>
            </a:br>
            <a:r>
              <a:rPr lang="ru-RU" dirty="0"/>
              <a:t>исключительные ситуации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97960" y="2420888"/>
            <a:ext cx="7920880" cy="3468807"/>
          </a:xfrm>
        </p:spPr>
        <p:txBody>
          <a:bodyPr>
            <a:noAutofit/>
          </a:bodyPr>
          <a:lstStyle/>
          <a:p>
            <a:pPr algn="l"/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Ошибка компиляции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2400" dirty="0">
                <a:solidFill>
                  <a:srgbClr val="000000"/>
                </a:solidFill>
                <a:latin typeface="Times New Roman"/>
              </a:rPr>
              <a:t>компилятор сообщает об 	ошибках, которые пользователь должен исправить.</a:t>
            </a:r>
          </a:p>
          <a:p>
            <a:pPr algn="l"/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Ошибка времени исполнения</a:t>
            </a:r>
            <a:r>
              <a:rPr lang="ru-RU" sz="2400" dirty="0">
                <a:solidFill>
                  <a:srgbClr val="000000"/>
                </a:solidFill>
                <a:latin typeface="Times New Roman"/>
              </a:rPr>
              <a:t>: генерируется 		исключительная ситуация, которая инициируется и 	перехватывается обработчиками исключительных 	ситуаций.</a:t>
            </a:r>
          </a:p>
          <a:p>
            <a:pPr algn="l"/>
            <a:r>
              <a:rPr lang="ru-RU" sz="2400" b="1" dirty="0">
                <a:solidFill>
                  <a:srgbClr val="000000"/>
                </a:solidFill>
                <a:latin typeface="Times New Roman"/>
              </a:rPr>
              <a:t>Исключительные ситуации </a:t>
            </a:r>
            <a:r>
              <a:rPr lang="ru-RU" sz="2400" dirty="0">
                <a:solidFill>
                  <a:srgbClr val="000000"/>
                </a:solidFill>
                <a:latin typeface="Times New Roman"/>
              </a:rPr>
              <a:t>– это ситуации, но не обязательно ошибки.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61654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Ошибки времени компиляции (1/3)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764704"/>
            <a:ext cx="8892480" cy="60932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     Три типа сообщений об ошибках времени компиляции:</a:t>
            </a:r>
          </a:p>
          <a:p>
            <a:pPr marL="0" indent="0">
              <a:buNone/>
            </a:pPr>
            <a:r>
              <a:rPr lang="ru-RU" sz="2000" b="1" dirty="0"/>
              <a:t>1. </a:t>
            </a:r>
            <a:r>
              <a:rPr lang="en-US" sz="2000" b="1" dirty="0"/>
              <a:t>Prior line</a:t>
            </a:r>
            <a:r>
              <a:rPr lang="ru-RU" sz="2000" b="1" dirty="0"/>
              <a:t>. </a:t>
            </a:r>
            <a:r>
              <a:rPr lang="ru-RU" sz="2000" dirty="0"/>
              <a:t>Указывает на строку перед которой обнаружена ошибка. Часто это отсутствующее завершение строки.</a:t>
            </a:r>
          </a:p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SQL&gt; BEGIN</a:t>
            </a:r>
          </a:p>
          <a:p>
            <a:pPr marL="0" indent="0">
              <a:buNone/>
            </a:pPr>
            <a:r>
              <a:rPr lang="en-US" sz="2000" dirty="0"/>
              <a:t>  2  </a:t>
            </a:r>
            <a:r>
              <a:rPr lang="en-US" sz="2000" dirty="0" err="1"/>
              <a:t>dbms_output.put_line</a:t>
            </a:r>
            <a:r>
              <a:rPr lang="en-US" sz="2000" dirty="0"/>
              <a:t>('</a:t>
            </a:r>
            <a:r>
              <a:rPr lang="en-US" sz="2000" dirty="0" err="1"/>
              <a:t>Ошибочка</a:t>
            </a:r>
            <a:r>
              <a:rPr lang="en-US" sz="2000" dirty="0"/>
              <a:t>!')</a:t>
            </a:r>
          </a:p>
          <a:p>
            <a:pPr marL="0" indent="0">
              <a:buNone/>
            </a:pPr>
            <a:r>
              <a:rPr lang="en-US" sz="2000" dirty="0"/>
              <a:t>  3  END;</a:t>
            </a:r>
          </a:p>
          <a:p>
            <a:pPr marL="0" indent="0">
              <a:buNone/>
            </a:pPr>
            <a:r>
              <a:rPr lang="en-US" sz="2000" dirty="0"/>
              <a:t>  4  /</a:t>
            </a:r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pPr marL="0" indent="0">
              <a:buNone/>
            </a:pPr>
            <a:r>
              <a:rPr lang="en-US" sz="2000" dirty="0"/>
              <a:t>   *</a:t>
            </a:r>
          </a:p>
          <a:p>
            <a:pPr marL="0" indent="0">
              <a:buNone/>
            </a:pPr>
            <a:r>
              <a:rPr lang="en-US" sz="2000" dirty="0"/>
              <a:t>ERROR at line 3:</a:t>
            </a:r>
          </a:p>
          <a:p>
            <a:pPr marL="0" indent="0">
              <a:buNone/>
            </a:pPr>
            <a:r>
              <a:rPr lang="en-US" sz="2000" dirty="0"/>
              <a:t>ORA-06550: line 3, column 1:</a:t>
            </a:r>
          </a:p>
          <a:p>
            <a:pPr marL="0" indent="0">
              <a:buNone/>
            </a:pPr>
            <a:r>
              <a:rPr lang="en-US" sz="2000" dirty="0"/>
              <a:t>PLS-00103: Encountered the symbol "END" when expecting one of the following:</a:t>
            </a:r>
          </a:p>
          <a:p>
            <a:pPr marL="0" indent="0">
              <a:buNone/>
            </a:pPr>
            <a:r>
              <a:rPr lang="en-US" sz="2000" dirty="0"/>
              <a:t>:= . ( % ;</a:t>
            </a:r>
          </a:p>
          <a:p>
            <a:pPr marL="0" indent="0">
              <a:buNone/>
            </a:pPr>
            <a:r>
              <a:rPr lang="en-US" sz="2000" dirty="0"/>
              <a:t>The symbol ";" was substituted for "END" to continue.</a:t>
            </a:r>
          </a:p>
          <a:p>
            <a:pPr marL="0" indent="0">
              <a:buNone/>
            </a:pPr>
            <a:r>
              <a:rPr lang="en-US" sz="2000" dirty="0"/>
              <a:t>SQL&gt;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3294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856"/>
            <a:ext cx="8229600" cy="520824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Ошибки времени компиляции (2/3)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92696"/>
            <a:ext cx="8712968" cy="6165304"/>
          </a:xfrm>
        </p:spPr>
        <p:txBody>
          <a:bodyPr>
            <a:no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US" sz="2000" b="1" dirty="0">
                <a:solidFill>
                  <a:prstClr val="black"/>
                </a:solidFill>
              </a:rPr>
              <a:t>2. Current line</a:t>
            </a:r>
            <a:r>
              <a:rPr lang="en-US" sz="2000" dirty="0">
                <a:solidFill>
                  <a:prstClr val="black"/>
                </a:solidFill>
              </a:rPr>
              <a:t>. </a:t>
            </a:r>
            <a:r>
              <a:rPr lang="ru-RU" sz="2000" dirty="0">
                <a:solidFill>
                  <a:prstClr val="black"/>
                </a:solidFill>
              </a:rPr>
              <a:t>Указывает на позицию, в которой обнаружена ошибка или следующую за ней позицию.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ru-RU" sz="2000" u="sng" dirty="0">
                <a:solidFill>
                  <a:prstClr val="black"/>
                </a:solidFill>
              </a:rPr>
              <a:t>Пример</a:t>
            </a:r>
            <a:r>
              <a:rPr lang="ru-RU" sz="2000" dirty="0">
                <a:solidFill>
                  <a:prstClr val="black"/>
                </a:solidFill>
              </a:rPr>
              <a:t>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SQL&gt; DECLARE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2    a NUMBER :=1;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3    b NUMBER :=2;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4    c NUMBER;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5  BEGIN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6    c := a   b;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7    </a:t>
            </a:r>
            <a:r>
              <a:rPr lang="en-US" sz="2000" dirty="0" err="1"/>
              <a:t>dbms_output.put_line</a:t>
            </a:r>
            <a:r>
              <a:rPr lang="en-US" sz="2000" dirty="0"/>
              <a:t>('c = ', c);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8  END;</a:t>
            </a:r>
            <a:r>
              <a:rPr lang="ru-RU" sz="2000" dirty="0"/>
              <a:t> /</a:t>
            </a:r>
            <a:endParaRPr lang="en-US" sz="2000" dirty="0"/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c := a   b;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          *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ERROR at line 6: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ORA-06550: line 6, column 12: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PLS-00103: Encountered the symbol "B" when expecting one of the following: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. ( * @ % &amp; = - + ; &lt; / &gt; at in is mod remainder not rem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&lt;an exponent (**)&gt; &lt;&gt; or != or ~= &gt;= &lt;= &lt;&gt; and or like LIKE2_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LIKE4_ LIKEC_ between || multiset member SUBMULTISET_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The symbol "." was substituted for "B" to continue.</a:t>
            </a:r>
          </a:p>
        </p:txBody>
      </p:sp>
    </p:spTree>
    <p:extLst>
      <p:ext uri="{BB962C8B-B14F-4D97-AF65-F5344CB8AC3E}">
        <p14:creationId xmlns:p14="http://schemas.microsoft.com/office/powerpoint/2010/main" val="2772624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Ошибки времени компиляции (3/3)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6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3. </a:t>
            </a:r>
            <a:r>
              <a:rPr lang="en-US" sz="2000" b="1" dirty="0"/>
              <a:t>Declaration errors. </a:t>
            </a:r>
            <a:r>
              <a:rPr lang="ru-RU" sz="2000" dirty="0"/>
              <a:t>Ошибки секции декларирования.</a:t>
            </a:r>
          </a:p>
          <a:p>
            <a:pPr marL="0" indent="0">
              <a:buNone/>
            </a:pPr>
            <a:endParaRPr lang="ru-RU" sz="2000" u="sng" dirty="0"/>
          </a:p>
          <a:p>
            <a:pPr marL="0" indent="0">
              <a:buNone/>
            </a:pPr>
            <a:r>
              <a:rPr lang="ru-RU" sz="2000" u="sng" dirty="0"/>
              <a:t>Пример</a:t>
            </a:r>
            <a:r>
              <a:rPr lang="ru-RU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SQL&gt; DECLARE</a:t>
            </a:r>
          </a:p>
          <a:p>
            <a:pPr marL="0" indent="0">
              <a:buNone/>
            </a:pPr>
            <a:r>
              <a:rPr lang="en-US" sz="2000" dirty="0"/>
              <a:t>  2    a CHAR := 'QWE';</a:t>
            </a:r>
          </a:p>
          <a:p>
            <a:pPr marL="0" indent="0">
              <a:buNone/>
            </a:pPr>
            <a:r>
              <a:rPr lang="en-US" sz="2000" dirty="0"/>
              <a:t>  3  BEGIN</a:t>
            </a:r>
          </a:p>
          <a:p>
            <a:pPr marL="0" indent="0">
              <a:buNone/>
            </a:pPr>
            <a:r>
              <a:rPr lang="en-US" sz="2000" dirty="0"/>
              <a:t>  4      </a:t>
            </a:r>
            <a:r>
              <a:rPr lang="en-US" sz="2000" dirty="0" err="1"/>
              <a:t>dbms_output.put_line</a:t>
            </a:r>
            <a:r>
              <a:rPr lang="en-US" sz="2000" dirty="0"/>
              <a:t>('a = '||a);</a:t>
            </a:r>
          </a:p>
          <a:p>
            <a:pPr marL="0" indent="0">
              <a:buNone/>
            </a:pPr>
            <a:r>
              <a:rPr lang="en-US" sz="2000" dirty="0"/>
              <a:t>  5  END;</a:t>
            </a:r>
          </a:p>
          <a:p>
            <a:pPr marL="0" indent="0">
              <a:buNone/>
            </a:pPr>
            <a:r>
              <a:rPr lang="en-US" sz="2000" dirty="0"/>
              <a:t>  6  /</a:t>
            </a:r>
          </a:p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/>
              <a:t>*</a:t>
            </a:r>
          </a:p>
          <a:p>
            <a:pPr marL="0" indent="0">
              <a:buNone/>
            </a:pPr>
            <a:r>
              <a:rPr lang="en-US" sz="2000" dirty="0"/>
              <a:t>ERROR at line 1:</a:t>
            </a:r>
          </a:p>
          <a:p>
            <a:pPr marL="0" indent="0">
              <a:buNone/>
            </a:pPr>
            <a:r>
              <a:rPr lang="en-US" sz="2000" dirty="0"/>
              <a:t>ORA-06502: PL/SQL: numeric or value error: character string buffer too small</a:t>
            </a:r>
          </a:p>
          <a:p>
            <a:pPr marL="0" indent="0">
              <a:buNone/>
            </a:pPr>
            <a:r>
              <a:rPr lang="en-US" sz="2000" dirty="0"/>
              <a:t>ORA-06512: at line 2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/>
              <a:t>SQL&gt;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069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836712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Команда </a:t>
            </a:r>
            <a:r>
              <a:rPr lang="en-US" sz="3200" dirty="0">
                <a:solidFill>
                  <a:srgbClr val="FF0000"/>
                </a:solidFill>
              </a:rPr>
              <a:t>SHOW ERROR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Команда  "SHOW ERRORS "  позволяет просмотреть ошибки последней компиляции.</a:t>
            </a:r>
          </a:p>
          <a:p>
            <a:pPr marL="0" indent="0">
              <a:buNone/>
            </a:pPr>
            <a:r>
              <a:rPr lang="ru-RU" sz="2000" dirty="0"/>
              <a:t>     Удобно использовать более ограниченные варианты</a:t>
            </a:r>
            <a:r>
              <a:rPr lang="en-US" sz="2000" dirty="0"/>
              <a:t>:</a:t>
            </a:r>
            <a:endParaRPr lang="ru-RU" sz="2000" dirty="0"/>
          </a:p>
          <a:p>
            <a:r>
              <a:rPr lang="ru-RU" sz="2000" dirty="0"/>
              <a:t>для ошибок процедуры</a:t>
            </a:r>
          </a:p>
          <a:p>
            <a:pPr marL="0" indent="0">
              <a:buNone/>
            </a:pPr>
            <a:r>
              <a:rPr lang="en-US" sz="2000" dirty="0"/>
              <a:t>SHOW ERRORS</a:t>
            </a:r>
            <a:r>
              <a:rPr lang="ru-RU" sz="2000" dirty="0"/>
              <a:t> </a:t>
            </a:r>
            <a:r>
              <a:rPr lang="en-US" sz="2000" dirty="0"/>
              <a:t>PROCEDURE</a:t>
            </a:r>
            <a:r>
              <a:rPr lang="ru-RU" sz="2000" dirty="0"/>
              <a:t>  </a:t>
            </a:r>
            <a:r>
              <a:rPr lang="ru-RU" sz="2000" dirty="0" err="1"/>
              <a:t>имя_процедуры</a:t>
            </a:r>
            <a:r>
              <a:rPr lang="ru-RU" sz="2000" dirty="0"/>
              <a:t>; </a:t>
            </a:r>
          </a:p>
          <a:p>
            <a:r>
              <a:rPr lang="ru-RU" sz="2000" dirty="0"/>
              <a:t>для ошибок триггера:</a:t>
            </a:r>
          </a:p>
          <a:p>
            <a:pPr marL="0" indent="0">
              <a:buNone/>
            </a:pPr>
            <a:r>
              <a:rPr lang="en-US" sz="2000" dirty="0"/>
              <a:t>SHOW ERRORS</a:t>
            </a:r>
            <a:r>
              <a:rPr lang="ru-RU" sz="2000" dirty="0"/>
              <a:t> </a:t>
            </a:r>
            <a:r>
              <a:rPr lang="en-US" sz="2000" dirty="0"/>
              <a:t>TRIGGER</a:t>
            </a:r>
            <a:r>
              <a:rPr lang="ru-RU" sz="2000" dirty="0"/>
              <a:t>  </a:t>
            </a:r>
            <a:r>
              <a:rPr lang="ru-RU" sz="2000" dirty="0" err="1"/>
              <a:t>имя_триггера</a:t>
            </a:r>
            <a:r>
              <a:rPr lang="ru-RU" sz="2000" dirty="0"/>
              <a:t>; 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25087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84" y="188640"/>
            <a:ext cx="9144000" cy="605656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Исключительные ситуации времени исполнения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Запоминаем:</a:t>
            </a:r>
          </a:p>
          <a:p>
            <a:pPr marL="457200" indent="-457200">
              <a:buAutoNum type="arabicPeriod"/>
            </a:pPr>
            <a:r>
              <a:rPr lang="ru-RU" sz="2000" dirty="0"/>
              <a:t>Исключительная ситуация (ИС) это не обязательно ошибка.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/>
              <a:t>Обработка ИС  ведётся только в секциях </a:t>
            </a:r>
            <a:r>
              <a:rPr lang="en-US" sz="2000" dirty="0"/>
              <a:t>EXCEPTION.</a:t>
            </a:r>
          </a:p>
          <a:p>
            <a:pPr marL="457200" indent="-457200">
              <a:buAutoNum type="arabicPeriod"/>
            </a:pPr>
            <a:r>
              <a:rPr lang="ru-RU" sz="2000" dirty="0"/>
              <a:t>ИС генерируется в секции исполнения либо в секции </a:t>
            </a:r>
            <a:r>
              <a:rPr lang="en-US" sz="2000" dirty="0">
                <a:solidFill>
                  <a:prstClr val="black"/>
                </a:solidFill>
              </a:rPr>
              <a:t>EXCEPTION.</a:t>
            </a:r>
            <a:endParaRPr lang="ru-RU" sz="2000" dirty="0"/>
          </a:p>
          <a:p>
            <a:pPr marL="457200" indent="-457200">
              <a:buAutoNum type="arabicPeriod"/>
            </a:pPr>
            <a:r>
              <a:rPr lang="ru-RU" sz="2000" dirty="0"/>
              <a:t>Обработать исключительную ситуацию означает -- любым способом прореагировать на неё, не обязательно что-либо изменив или исправив. Можно, например, исполнить инструкцию </a:t>
            </a:r>
            <a:r>
              <a:rPr lang="en-US" sz="2000" dirty="0"/>
              <a:t>NULL</a:t>
            </a:r>
            <a:r>
              <a:rPr lang="ru-RU" sz="2000" dirty="0"/>
              <a:t>, хотя желательно сделать что-то более полезное.</a:t>
            </a:r>
          </a:p>
          <a:p>
            <a:pPr marL="457200" indent="-457200">
              <a:buAutoNum type="arabicPeriod"/>
            </a:pPr>
            <a:r>
              <a:rPr lang="ru-RU" sz="2000" dirty="0"/>
              <a:t>ИС, возникающие в секции исполнения, сначала обрабатываются в секции </a:t>
            </a:r>
            <a:r>
              <a:rPr lang="en-US" sz="2000" dirty="0">
                <a:solidFill>
                  <a:prstClr val="black"/>
                </a:solidFill>
              </a:rPr>
              <a:t>EXCEPTION</a:t>
            </a:r>
            <a:r>
              <a:rPr lang="ru-RU" sz="2000" dirty="0"/>
              <a:t> этого же блока, если этого не произошло, то в секциях исключений блоков содержащих данный блок.</a:t>
            </a:r>
          </a:p>
          <a:p>
            <a:pPr marL="457200" indent="-457200">
              <a:buAutoNum type="arabicPeriod"/>
            </a:pPr>
            <a:r>
              <a:rPr lang="ru-RU" sz="2000" dirty="0"/>
              <a:t>ИС, возникающие в секции</a:t>
            </a:r>
            <a:r>
              <a:rPr lang="en-US" sz="2000" dirty="0">
                <a:solidFill>
                  <a:prstClr val="black"/>
                </a:solidFill>
              </a:rPr>
              <a:t> EXCEPTION</a:t>
            </a:r>
            <a:r>
              <a:rPr lang="ru-RU" sz="2000" dirty="0"/>
              <a:t>, могут обрабатываться только в секции </a:t>
            </a:r>
            <a:r>
              <a:rPr lang="en-US" sz="2000" dirty="0">
                <a:solidFill>
                  <a:prstClr val="black"/>
                </a:solidFill>
              </a:rPr>
              <a:t>EXCEPTION</a:t>
            </a:r>
            <a:r>
              <a:rPr lang="ru-RU" sz="2000" dirty="0"/>
              <a:t> внешнего блока; если же блок не вложен в другой, обработка такой ИС невозможна.</a:t>
            </a:r>
          </a:p>
          <a:p>
            <a:pPr marL="457200" indent="-457200">
              <a:buAutoNum type="arabicPeriod"/>
            </a:pPr>
            <a:r>
              <a:rPr lang="ru-RU" sz="2000" dirty="0"/>
              <a:t>Ошибки секции объявлений не должны перехватываться и обрабатываться в локальном блоке исключений.</a:t>
            </a:r>
          </a:p>
          <a:p>
            <a:pPr marL="457200" indent="-457200">
              <a:buAutoNum type="arabicPeriod"/>
            </a:pPr>
            <a:r>
              <a:rPr lang="en-US" sz="2000" dirty="0"/>
              <a:t>Oracle </a:t>
            </a:r>
            <a:r>
              <a:rPr lang="ru-RU" sz="2000" dirty="0"/>
              <a:t>выделяет ИС нескольких видов, в частности </a:t>
            </a:r>
            <a:r>
              <a:rPr lang="en-US" sz="2000" dirty="0"/>
              <a:t>ORA- </a:t>
            </a:r>
            <a:r>
              <a:rPr lang="ru-RU" sz="2000" dirty="0"/>
              <a:t>это ошибки сервера, </a:t>
            </a:r>
            <a:r>
              <a:rPr lang="en-US" sz="2000" dirty="0"/>
              <a:t>PLS</a:t>
            </a:r>
            <a:r>
              <a:rPr lang="ru-RU" sz="2000" dirty="0"/>
              <a:t>- это ошибки </a:t>
            </a:r>
            <a:r>
              <a:rPr lang="en-US" sz="2000" dirty="0"/>
              <a:t>PL/SQL.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0257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92696"/>
          </a:xfrm>
        </p:spPr>
        <p:txBody>
          <a:bodyPr/>
          <a:lstStyle/>
          <a:p>
            <a:r>
              <a:rPr lang="ru-RU" sz="3600" dirty="0">
                <a:solidFill>
                  <a:srgbClr val="FF0000"/>
                </a:solidFill>
              </a:rPr>
              <a:t>Атрибуты исключительной ситуации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1260" y="778596"/>
            <a:ext cx="2026568" cy="34317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000" dirty="0">
                <a:solidFill>
                  <a:srgbClr val="FF0000"/>
                </a:solidFill>
              </a:rPr>
              <a:t>Особенности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372200" y="1224856"/>
            <a:ext cx="2160240" cy="4827364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Примеры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ZERO_DIVIDE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ORA-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-01476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“</a:t>
            </a:r>
            <a:r>
              <a:rPr lang="ru-RU" dirty="0">
                <a:solidFill>
                  <a:schemeClr val="tx1"/>
                </a:solidFill>
              </a:rPr>
              <a:t>Делитель равен 0</a:t>
            </a:r>
            <a:r>
              <a:rPr lang="en-US" dirty="0">
                <a:solidFill>
                  <a:schemeClr val="tx1"/>
                </a:solidFill>
              </a:rPr>
              <a:t>”</a:t>
            </a:r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347864" y="925588"/>
            <a:ext cx="2592288" cy="5328592"/>
          </a:xfrm>
          <a:prstGeom prst="roundRect">
            <a:avLst>
              <a:gd name="adj" fmla="val 2603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Двойная стрелка влево/вправо 5"/>
          <p:cNvSpPr/>
          <p:nvPr/>
        </p:nvSpPr>
        <p:spPr>
          <a:xfrm>
            <a:off x="3743908" y="772816"/>
            <a:ext cx="1728192" cy="432048"/>
          </a:xfrm>
          <a:prstGeom prst="leftRightArrow">
            <a:avLst>
              <a:gd name="adj1" fmla="val 100000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Exception</a:t>
            </a:r>
            <a:endParaRPr lang="ru-RU" sz="2000" dirty="0">
              <a:solidFill>
                <a:srgbClr val="FF0000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635896" y="1484784"/>
            <a:ext cx="1944216" cy="7920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Имя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639964" y="2708920"/>
            <a:ext cx="1940148" cy="7920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Вид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682876" y="3933056"/>
            <a:ext cx="1897236" cy="7920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Код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673996" y="5157192"/>
            <a:ext cx="1906116" cy="72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Сообщение</a:t>
            </a:r>
          </a:p>
        </p:txBody>
      </p:sp>
      <p:cxnSp>
        <p:nvCxnSpPr>
          <p:cNvPr id="12" name="Прямая со стрелкой 11"/>
          <p:cNvCxnSpPr>
            <a:stCxn id="7" idx="3"/>
          </p:cNvCxnSpPr>
          <p:nvPr/>
        </p:nvCxnSpPr>
        <p:spPr>
          <a:xfrm>
            <a:off x="5580112" y="188082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3"/>
          </p:cNvCxnSpPr>
          <p:nvPr/>
        </p:nvCxnSpPr>
        <p:spPr>
          <a:xfrm flipV="1">
            <a:off x="5580112" y="2996952"/>
            <a:ext cx="792088" cy="1080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9" idx="3"/>
          </p:cNvCxnSpPr>
          <p:nvPr/>
        </p:nvCxnSpPr>
        <p:spPr>
          <a:xfrm>
            <a:off x="5580112" y="4329100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0" idx="3"/>
          </p:cNvCxnSpPr>
          <p:nvPr/>
        </p:nvCxnSpPr>
        <p:spPr>
          <a:xfrm>
            <a:off x="5580112" y="551723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Скругленная прямоугольная выноска 18"/>
          <p:cNvSpPr/>
          <p:nvPr/>
        </p:nvSpPr>
        <p:spPr>
          <a:xfrm>
            <a:off x="179512" y="1224856"/>
            <a:ext cx="2880320" cy="835992"/>
          </a:xfrm>
          <a:prstGeom prst="wedgeRoundRectCallout">
            <a:avLst>
              <a:gd name="adj1" fmla="val 77655"/>
              <a:gd name="adj2" fmla="val 32578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Отсутствует у части</a:t>
            </a: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предопределённых ИС</a:t>
            </a:r>
          </a:p>
        </p:txBody>
      </p:sp>
      <p:sp>
        <p:nvSpPr>
          <p:cNvPr id="20" name="Скругленная прямоугольная выноска 19"/>
          <p:cNvSpPr/>
          <p:nvPr/>
        </p:nvSpPr>
        <p:spPr>
          <a:xfrm>
            <a:off x="224384" y="2578956"/>
            <a:ext cx="2880320" cy="835992"/>
          </a:xfrm>
          <a:prstGeom prst="wedgeRoundRectCallout">
            <a:avLst>
              <a:gd name="adj1" fmla="val 77214"/>
              <a:gd name="adj2" fmla="val 9791"/>
              <a:gd name="adj3" fmla="val 16667"/>
            </a:avLst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Обязательная компонента</a:t>
            </a:r>
          </a:p>
        </p:txBody>
      </p:sp>
      <p:sp>
        <p:nvSpPr>
          <p:cNvPr id="21" name="Скругленная прямоугольная выноска 20"/>
          <p:cNvSpPr/>
          <p:nvPr/>
        </p:nvSpPr>
        <p:spPr>
          <a:xfrm>
            <a:off x="252240" y="3864608"/>
            <a:ext cx="2880320" cy="835992"/>
          </a:xfrm>
          <a:prstGeom prst="wedgeRoundRectCallout">
            <a:avLst>
              <a:gd name="adj1" fmla="val 77214"/>
              <a:gd name="adj2" fmla="val 9791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Обязательная компонента</a:t>
            </a:r>
          </a:p>
        </p:txBody>
      </p:sp>
      <p:sp>
        <p:nvSpPr>
          <p:cNvPr id="22" name="Скругленная прямоугольная выноска 21"/>
          <p:cNvSpPr/>
          <p:nvPr/>
        </p:nvSpPr>
        <p:spPr>
          <a:xfrm>
            <a:off x="252240" y="5099236"/>
            <a:ext cx="2880320" cy="835992"/>
          </a:xfrm>
          <a:prstGeom prst="wedgeRoundRectCallout">
            <a:avLst>
              <a:gd name="adj1" fmla="val 77214"/>
              <a:gd name="adj2" fmla="val 9791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Может добавляться пользователем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252240" y="6381328"/>
            <a:ext cx="8640240" cy="44408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Некоторые виды ИС , в частности </a:t>
            </a:r>
            <a:r>
              <a:rPr lang="en-US" dirty="0">
                <a:solidFill>
                  <a:schemeClr val="tx1"/>
                </a:solidFill>
              </a:rPr>
              <a:t>ORA- </a:t>
            </a:r>
            <a:r>
              <a:rPr lang="ru-RU" dirty="0">
                <a:solidFill>
                  <a:schemeClr val="tx1"/>
                </a:solidFill>
              </a:rPr>
              <a:t>это ошибки сервера, </a:t>
            </a:r>
            <a:r>
              <a:rPr lang="en-US" dirty="0">
                <a:solidFill>
                  <a:schemeClr val="tx1"/>
                </a:solidFill>
              </a:rPr>
              <a:t>PLS</a:t>
            </a:r>
            <a:r>
              <a:rPr lang="ru-RU" dirty="0">
                <a:solidFill>
                  <a:schemeClr val="tx1"/>
                </a:solidFill>
              </a:rPr>
              <a:t>- это ошибки </a:t>
            </a:r>
            <a:r>
              <a:rPr lang="en-US" dirty="0">
                <a:solidFill>
                  <a:schemeClr val="tx1"/>
                </a:solidFill>
              </a:rPr>
              <a:t>PL/SQL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869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648"/>
            <a:ext cx="8229600" cy="614040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Работа с ИС</a:t>
            </a:r>
            <a:endParaRPr lang="ru-RU" sz="36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707904" y="1268760"/>
            <a:ext cx="2160240" cy="11521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 err="1">
                <a:solidFill>
                  <a:schemeClr val="tx1"/>
                </a:solidFill>
              </a:rPr>
              <a:t>Декларирова-ние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707904" y="2996952"/>
            <a:ext cx="2160240" cy="11521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Возбуждение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707904" y="4869160"/>
            <a:ext cx="2160240" cy="11521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Обработка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79512" y="908720"/>
            <a:ext cx="3384376" cy="5400600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084168" y="1004640"/>
            <a:ext cx="2808312" cy="5400600"/>
          </a:xfrm>
          <a:prstGeom prst="round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подготовка 8"/>
          <p:cNvSpPr/>
          <p:nvPr/>
        </p:nvSpPr>
        <p:spPr>
          <a:xfrm>
            <a:off x="612168" y="668784"/>
            <a:ext cx="2376264" cy="527968"/>
          </a:xfrm>
          <a:prstGeom prst="flowChartPreparation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Где находится</a:t>
            </a:r>
          </a:p>
        </p:txBody>
      </p:sp>
      <p:sp>
        <p:nvSpPr>
          <p:cNvPr id="10" name="Блок-схема: подготовка 9"/>
          <p:cNvSpPr/>
          <p:nvPr/>
        </p:nvSpPr>
        <p:spPr>
          <a:xfrm>
            <a:off x="6295876" y="753608"/>
            <a:ext cx="2384896" cy="624160"/>
          </a:xfrm>
          <a:prstGeom prst="flowChartPreparation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6">
                    <a:lumMod val="50000"/>
                  </a:schemeClr>
                </a:solidFill>
              </a:rPr>
              <a:t>Отсутствует</a:t>
            </a:r>
          </a:p>
        </p:txBody>
      </p:sp>
      <p:sp>
        <p:nvSpPr>
          <p:cNvPr id="11" name="Скругленная прямоугольная выноска 10"/>
          <p:cNvSpPr/>
          <p:nvPr/>
        </p:nvSpPr>
        <p:spPr>
          <a:xfrm>
            <a:off x="6348288" y="1628800"/>
            <a:ext cx="2377752" cy="1008112"/>
          </a:xfrm>
          <a:prstGeom prst="wedgeRoundRectCallout">
            <a:avLst>
              <a:gd name="adj1" fmla="val -74486"/>
              <a:gd name="adj2" fmla="val -23165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У предопределён-</a:t>
            </a:r>
            <a:r>
              <a:rPr lang="ru-RU" sz="2000" dirty="0" err="1">
                <a:solidFill>
                  <a:schemeClr val="tx1"/>
                </a:solidFill>
              </a:rPr>
              <a:t>ных</a:t>
            </a:r>
            <a:r>
              <a:rPr lang="ru-RU" sz="2000" dirty="0">
                <a:solidFill>
                  <a:schemeClr val="tx1"/>
                </a:solidFill>
              </a:rPr>
              <a:t> ИС с номером и именем</a:t>
            </a:r>
          </a:p>
        </p:txBody>
      </p:sp>
      <p:sp>
        <p:nvSpPr>
          <p:cNvPr id="12" name="Скругленная прямоугольная выноска 11"/>
          <p:cNvSpPr/>
          <p:nvPr/>
        </p:nvSpPr>
        <p:spPr>
          <a:xfrm>
            <a:off x="6348288" y="3001144"/>
            <a:ext cx="2760216" cy="1008112"/>
          </a:xfrm>
          <a:prstGeom prst="wedgeRoundRectCallout">
            <a:avLst>
              <a:gd name="adj1" fmla="val -83415"/>
              <a:gd name="adj2" fmla="val 7069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В секции исполнения у всех предопределён-</a:t>
            </a:r>
          </a:p>
          <a:p>
            <a:r>
              <a:rPr lang="ru-RU" sz="2000" dirty="0" err="1">
                <a:solidFill>
                  <a:schemeClr val="tx1"/>
                </a:solidFill>
              </a:rPr>
              <a:t>ных</a:t>
            </a:r>
            <a:r>
              <a:rPr lang="ru-RU" sz="2000" dirty="0">
                <a:solidFill>
                  <a:schemeClr val="tx1"/>
                </a:solidFill>
              </a:rPr>
              <a:t> ИС</a:t>
            </a:r>
          </a:p>
        </p:txBody>
      </p:sp>
      <p:sp>
        <p:nvSpPr>
          <p:cNvPr id="13" name="Скругленная прямоугольная выноска 12"/>
          <p:cNvSpPr/>
          <p:nvPr/>
        </p:nvSpPr>
        <p:spPr>
          <a:xfrm>
            <a:off x="6493792" y="4653136"/>
            <a:ext cx="2232248" cy="1368152"/>
          </a:xfrm>
          <a:prstGeom prst="wedgeRoundRectCallout">
            <a:avLst>
              <a:gd name="adj1" fmla="val -83415"/>
              <a:gd name="adj2" fmla="val 7533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Отсутствует, если обработка </a:t>
            </a:r>
            <a:r>
              <a:rPr lang="ru-RU" dirty="0" err="1">
                <a:solidFill>
                  <a:schemeClr val="tx1"/>
                </a:solidFill>
              </a:rPr>
              <a:t>перене</a:t>
            </a:r>
            <a:r>
              <a:rPr lang="ru-RU" dirty="0">
                <a:solidFill>
                  <a:schemeClr val="tx1"/>
                </a:solidFill>
              </a:rPr>
              <a:t>-сена в вызываю-</a:t>
            </a:r>
            <a:r>
              <a:rPr lang="ru-RU" dirty="0" err="1">
                <a:solidFill>
                  <a:schemeClr val="tx1"/>
                </a:solidFill>
              </a:rPr>
              <a:t>щий</a:t>
            </a:r>
            <a:r>
              <a:rPr lang="ru-RU" dirty="0">
                <a:solidFill>
                  <a:schemeClr val="tx1"/>
                </a:solidFill>
              </a:rPr>
              <a:t> модуль</a:t>
            </a:r>
          </a:p>
        </p:txBody>
      </p:sp>
      <p:sp>
        <p:nvSpPr>
          <p:cNvPr id="14" name="Стрелка вниз 13"/>
          <p:cNvSpPr/>
          <p:nvPr/>
        </p:nvSpPr>
        <p:spPr>
          <a:xfrm>
            <a:off x="4677916" y="2420888"/>
            <a:ext cx="28803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4"/>
          <p:cNvSpPr/>
          <p:nvPr/>
        </p:nvSpPr>
        <p:spPr>
          <a:xfrm>
            <a:off x="4677916" y="4149700"/>
            <a:ext cx="288032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ая прямоугольная выноска 15"/>
          <p:cNvSpPr/>
          <p:nvPr/>
        </p:nvSpPr>
        <p:spPr>
          <a:xfrm>
            <a:off x="347068" y="1371468"/>
            <a:ext cx="3000796" cy="977412"/>
          </a:xfrm>
          <a:prstGeom prst="wedgeRoundRectCallout">
            <a:avLst>
              <a:gd name="adj1" fmla="val 65796"/>
              <a:gd name="adj2" fmla="val -8047"/>
              <a:gd name="adj3" fmla="val 16667"/>
            </a:avLst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Всегда в секции деклараций в формате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 err="1">
                <a:solidFill>
                  <a:schemeClr val="tx1"/>
                </a:solidFill>
              </a:rPr>
              <a:t>имя_ИС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EXCEPTION;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7" name="Скругленная прямоугольная выноска 16"/>
          <p:cNvSpPr/>
          <p:nvPr/>
        </p:nvSpPr>
        <p:spPr>
          <a:xfrm>
            <a:off x="323528" y="2615332"/>
            <a:ext cx="3024336" cy="1300336"/>
          </a:xfrm>
          <a:prstGeom prst="wedgeRoundRectCallout">
            <a:avLst>
              <a:gd name="adj1" fmla="val 66282"/>
              <a:gd name="adj2" fmla="val -88966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Для присвоения имени </a:t>
            </a:r>
            <a:r>
              <a:rPr lang="ru-RU" sz="2000" dirty="0" err="1">
                <a:solidFill>
                  <a:schemeClr val="tx1"/>
                </a:solidFill>
              </a:rPr>
              <a:t>предопр</a:t>
            </a:r>
            <a:r>
              <a:rPr lang="ru-RU" sz="2000" dirty="0">
                <a:solidFill>
                  <a:schemeClr val="tx1"/>
                </a:solidFill>
              </a:rPr>
              <a:t>.  ИС добавить:</a:t>
            </a:r>
          </a:p>
          <a:p>
            <a:r>
              <a:rPr lang="en-US" sz="2000" dirty="0">
                <a:solidFill>
                  <a:schemeClr val="tx1"/>
                </a:solidFill>
              </a:rPr>
              <a:t>PRAGMA EXCEPTION_INIT (</a:t>
            </a:r>
            <a:r>
              <a:rPr lang="ru-RU" sz="2000" dirty="0">
                <a:solidFill>
                  <a:schemeClr val="tx1"/>
                </a:solidFill>
              </a:rPr>
              <a:t>ИС, код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8" name="Скругленная прямоугольная выноска 17"/>
          <p:cNvSpPr/>
          <p:nvPr/>
        </p:nvSpPr>
        <p:spPr>
          <a:xfrm>
            <a:off x="276660" y="4149080"/>
            <a:ext cx="3215220" cy="1008112"/>
          </a:xfrm>
          <a:prstGeom prst="wedgeRoundRectCallout">
            <a:avLst>
              <a:gd name="adj1" fmla="val 60367"/>
              <a:gd name="adj2" fmla="val -100011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RAISE </a:t>
            </a:r>
            <a:r>
              <a:rPr lang="ru-RU" sz="2000" dirty="0">
                <a:solidFill>
                  <a:schemeClr val="tx1"/>
                </a:solidFill>
              </a:rPr>
              <a:t>или </a:t>
            </a:r>
          </a:p>
          <a:p>
            <a:r>
              <a:rPr lang="en-US" sz="2000" dirty="0">
                <a:solidFill>
                  <a:schemeClr val="tx1"/>
                </a:solidFill>
              </a:rPr>
              <a:t>RAISE_APPLICATION_ERROR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9" name="Скругленная прямоугольная выноска 18"/>
          <p:cNvSpPr/>
          <p:nvPr/>
        </p:nvSpPr>
        <p:spPr>
          <a:xfrm>
            <a:off x="288132" y="5445224"/>
            <a:ext cx="3024336" cy="576064"/>
          </a:xfrm>
          <a:prstGeom prst="wedgeRoundRectCallout">
            <a:avLst>
              <a:gd name="adj1" fmla="val 68006"/>
              <a:gd name="adj2" fmla="val -43321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WHEN </a:t>
            </a:r>
            <a:r>
              <a:rPr lang="ru-RU" sz="2000" dirty="0" err="1">
                <a:solidFill>
                  <a:schemeClr val="tx1"/>
                </a:solidFill>
              </a:rPr>
              <a:t>имя_ИС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THEN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82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80528" y="0"/>
            <a:ext cx="9505056" cy="836712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Где обрабатываются исключительные ситуации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7624" y="692696"/>
            <a:ext cx="7704856" cy="6165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Для всех типов ИС в секции </a:t>
            </a:r>
            <a:r>
              <a:rPr lang="en-US" sz="2000" dirty="0"/>
              <a:t>EXCEPTION, </a:t>
            </a:r>
            <a:r>
              <a:rPr lang="ru-RU" sz="2000" dirty="0"/>
              <a:t>имеющей формат: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en-US" sz="2000" dirty="0"/>
              <a:t>EXCEPTION</a:t>
            </a:r>
          </a:p>
          <a:p>
            <a:pPr marL="0" indent="0">
              <a:buNone/>
            </a:pPr>
            <a:r>
              <a:rPr lang="ru-RU" sz="2000" dirty="0"/>
              <a:t> </a:t>
            </a:r>
            <a:r>
              <a:rPr lang="en-US" sz="2000" dirty="0"/>
              <a:t>WHEN </a:t>
            </a:r>
            <a:r>
              <a:rPr lang="ru-RU" sz="2000" dirty="0" err="1"/>
              <a:t>имя_искл_ситуации</a:t>
            </a:r>
            <a:r>
              <a:rPr lang="ru-RU" sz="2000" dirty="0"/>
              <a:t> </a:t>
            </a:r>
            <a:r>
              <a:rPr lang="en-US" sz="2000" dirty="0"/>
              <a:t>THEN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утверждение;</a:t>
            </a:r>
          </a:p>
          <a:p>
            <a:pPr marL="0" indent="0">
              <a:buNone/>
            </a:pPr>
            <a:r>
              <a:rPr lang="ru-RU" sz="2000" dirty="0"/>
              <a:t>     ……..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[WHEN </a:t>
            </a:r>
            <a:r>
              <a:rPr lang="ru-RU" sz="2000" dirty="0" err="1">
                <a:solidFill>
                  <a:prstClr val="black"/>
                </a:solidFill>
              </a:rPr>
              <a:t>имя_искл_ситуации</a:t>
            </a:r>
            <a:r>
              <a:rPr lang="ru-RU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THEN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утверждение;</a:t>
            </a:r>
            <a:r>
              <a:rPr lang="en-US" sz="2000" dirty="0">
                <a:solidFill>
                  <a:prstClr val="black"/>
                </a:solidFill>
              </a:rPr>
              <a:t>  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……..</a:t>
            </a:r>
            <a:r>
              <a:rPr lang="en-US" sz="2000" dirty="0">
                <a:solidFill>
                  <a:prstClr val="black"/>
                </a:solidFill>
              </a:rPr>
              <a:t>]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………………………………..</a:t>
            </a:r>
            <a:endParaRPr lang="en-US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[WHEN OTHERS THEN</a:t>
            </a:r>
          </a:p>
          <a:p>
            <a:pPr marL="0" lvl="0" indent="0">
              <a:buNone/>
            </a:pPr>
            <a:r>
              <a:rPr lang="en-US" sz="2000" dirty="0">
                <a:solidFill>
                  <a:prstClr val="black"/>
                </a:solidFill>
              </a:rPr>
              <a:t>      </a:t>
            </a:r>
            <a:r>
              <a:rPr lang="ru-RU" sz="2000" dirty="0">
                <a:solidFill>
                  <a:prstClr val="black"/>
                </a:solidFill>
              </a:rPr>
              <a:t>утверждение;</a:t>
            </a: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     .…….</a:t>
            </a:r>
            <a:r>
              <a:rPr lang="en-US" sz="2000" dirty="0">
                <a:solidFill>
                  <a:prstClr val="black"/>
                </a:solidFill>
              </a:rPr>
              <a:t>]</a:t>
            </a:r>
            <a:endParaRPr lang="ru-RU" sz="20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ru-RU" sz="2000" dirty="0">
                <a:solidFill>
                  <a:prstClr val="black"/>
                </a:solidFill>
              </a:rPr>
              <a:t>Последняя </a:t>
            </a:r>
            <a:r>
              <a:rPr lang="ru-RU" sz="2000" dirty="0" err="1">
                <a:solidFill>
                  <a:prstClr val="black"/>
                </a:solidFill>
              </a:rPr>
              <a:t>подфраза</a:t>
            </a:r>
            <a:r>
              <a:rPr lang="ru-RU" sz="2000" dirty="0">
                <a:solidFill>
                  <a:prstClr val="black"/>
                </a:solidFill>
              </a:rPr>
              <a:t> (</a:t>
            </a:r>
            <a:r>
              <a:rPr lang="en-US" sz="2000" dirty="0">
                <a:solidFill>
                  <a:prstClr val="black"/>
                </a:solidFill>
              </a:rPr>
              <a:t>WHEN OTHERS </a:t>
            </a:r>
            <a:r>
              <a:rPr lang="ru-RU" sz="2000" dirty="0">
                <a:solidFill>
                  <a:prstClr val="black"/>
                </a:solidFill>
              </a:rPr>
              <a:t>) позволяет реагировать на ИС, неучтённые разработчиком, например:</a:t>
            </a:r>
          </a:p>
          <a:p>
            <a:pPr marL="0" lvl="0" indent="0">
              <a:buNone/>
            </a:pPr>
            <a:r>
              <a:rPr lang="en-US" sz="2000" dirty="0"/>
              <a:t>WHEN OTHERS THEN RAISE_APPLICATION_ERROR(-20011,‘</a:t>
            </a:r>
            <a:r>
              <a:rPr lang="ru-RU" sz="2000" dirty="0"/>
              <a:t>Не понятная к</a:t>
            </a:r>
            <a:r>
              <a:rPr lang="en-US" sz="2000" dirty="0" err="1"/>
              <a:t>акая-то</a:t>
            </a:r>
            <a:r>
              <a:rPr lang="en-US" sz="2000" dirty="0"/>
              <a:t> </a:t>
            </a:r>
            <a:r>
              <a:rPr lang="en-US" sz="2000" dirty="0" err="1"/>
              <a:t>ошибка</a:t>
            </a:r>
            <a:r>
              <a:rPr lang="ru-RU" sz="2000" dirty="0"/>
              <a:t> в …</a:t>
            </a:r>
            <a:r>
              <a:rPr lang="en-US" sz="2000" dirty="0"/>
              <a:t>');</a:t>
            </a:r>
            <a:endParaRPr lang="ru-RU" sz="20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971600" y="1196752"/>
            <a:ext cx="4248472" cy="42484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5580112" y="1371204"/>
            <a:ext cx="2736304" cy="576064"/>
          </a:xfrm>
          <a:prstGeom prst="wedgeRoundRectCallout">
            <a:avLst>
              <a:gd name="adj1" fmla="val -75601"/>
              <a:gd name="adj2" fmla="val 58091"/>
              <a:gd name="adj3" fmla="val 16667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Первая ИС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5589612" y="2377976"/>
            <a:ext cx="2736304" cy="576064"/>
          </a:xfrm>
          <a:prstGeom prst="wedgeRoundRectCallout">
            <a:avLst>
              <a:gd name="adj1" fmla="val -74672"/>
              <a:gd name="adj2" fmla="val 64705"/>
              <a:gd name="adj3" fmla="val 16667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Вторая ИС</a:t>
            </a:r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5636344" y="3496816"/>
            <a:ext cx="2736304" cy="576064"/>
          </a:xfrm>
          <a:prstGeom prst="wedgeRoundRectCallout">
            <a:avLst>
              <a:gd name="adj1" fmla="val -124798"/>
              <a:gd name="adj2" fmla="val 73523"/>
              <a:gd name="adj3" fmla="val 16667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Другие ИС</a:t>
            </a:r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5642148" y="4653136"/>
            <a:ext cx="2736304" cy="576064"/>
          </a:xfrm>
          <a:prstGeom prst="wedgeRoundRectCallout">
            <a:avLst>
              <a:gd name="adj1" fmla="val -124798"/>
              <a:gd name="adj2" fmla="val -63163"/>
              <a:gd name="adj3" fmla="val 16667"/>
            </a:avLst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Непредусмотренные ИС</a:t>
            </a:r>
          </a:p>
        </p:txBody>
      </p:sp>
    </p:spTree>
    <p:extLst>
      <p:ext uri="{BB962C8B-B14F-4D97-AF65-F5344CB8AC3E}">
        <p14:creationId xmlns:p14="http://schemas.microsoft.com/office/powerpoint/2010/main" val="241609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5936" y="274638"/>
            <a:ext cx="5040560" cy="2002234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Вариант </a:t>
            </a:r>
            <a:br>
              <a:rPr lang="ru-RU" sz="3200" dirty="0">
                <a:solidFill>
                  <a:srgbClr val="FF0000"/>
                </a:solidFill>
              </a:rPr>
            </a:br>
            <a:r>
              <a:rPr lang="ru-RU" sz="3200" dirty="0">
                <a:solidFill>
                  <a:srgbClr val="FF0000"/>
                </a:solidFill>
              </a:rPr>
              <a:t>секции </a:t>
            </a:r>
            <a:r>
              <a:rPr lang="en-US" sz="3200" dirty="0">
                <a:solidFill>
                  <a:srgbClr val="FF0000"/>
                </a:solidFill>
              </a:rPr>
              <a:t>EXCEPTION</a:t>
            </a:r>
            <a:br>
              <a:rPr lang="ru-RU" sz="3200" dirty="0">
                <a:solidFill>
                  <a:srgbClr val="FF0000"/>
                </a:solidFill>
              </a:rPr>
            </a:br>
            <a:r>
              <a:rPr lang="ru-RU" sz="3200" dirty="0">
                <a:solidFill>
                  <a:srgbClr val="FF0000"/>
                </a:solidFill>
              </a:rPr>
              <a:t> с ИС связанных через </a:t>
            </a:r>
            <a:r>
              <a:rPr lang="en-US" sz="3200" dirty="0">
                <a:solidFill>
                  <a:srgbClr val="FF0000"/>
                </a:solidFill>
              </a:rPr>
              <a:t>OR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60648"/>
            <a:ext cx="4330824" cy="65973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EXCEPTION</a:t>
            </a:r>
          </a:p>
          <a:p>
            <a:pPr marL="0" indent="0">
              <a:buNone/>
            </a:pPr>
            <a:r>
              <a:rPr lang="en-US" sz="2000" dirty="0"/>
              <a:t> WHEN </a:t>
            </a:r>
            <a:r>
              <a:rPr lang="ru-RU" sz="2000" dirty="0" err="1"/>
              <a:t>имя_искл_ситуации</a:t>
            </a:r>
            <a:r>
              <a:rPr lang="ru-RU" sz="2000" dirty="0"/>
              <a:t>_</a:t>
            </a:r>
            <a:r>
              <a:rPr lang="en-US" sz="2000" dirty="0"/>
              <a:t>1</a:t>
            </a:r>
          </a:p>
          <a:p>
            <a:pPr marL="0" indent="0">
              <a:buNone/>
            </a:pPr>
            <a:r>
              <a:rPr lang="en-US" sz="2000" dirty="0"/>
              <a:t> [OR </a:t>
            </a:r>
            <a:r>
              <a:rPr lang="ru-RU" sz="2000" dirty="0" err="1"/>
              <a:t>имя_искл_ситуации</a:t>
            </a:r>
            <a:r>
              <a:rPr lang="ru-RU" sz="2000" dirty="0"/>
              <a:t>_</a:t>
            </a:r>
            <a:r>
              <a:rPr lang="en-US" sz="2000" dirty="0"/>
              <a:t>2 ...]</a:t>
            </a:r>
          </a:p>
          <a:p>
            <a:pPr marL="0" indent="0">
              <a:buNone/>
            </a:pPr>
            <a:r>
              <a:rPr lang="en-US" sz="2000" dirty="0"/>
              <a:t> THEN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</a:t>
            </a:r>
            <a:r>
              <a:rPr lang="en-US" sz="2000" dirty="0"/>
              <a:t>1;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</a:t>
            </a:r>
            <a:r>
              <a:rPr lang="en-US" sz="2000" dirty="0"/>
              <a:t>2;</a:t>
            </a:r>
          </a:p>
          <a:p>
            <a:pPr marL="0" indent="0">
              <a:buNone/>
            </a:pPr>
            <a:r>
              <a:rPr lang="en-US" sz="2000" dirty="0"/>
              <a:t> . . .</a:t>
            </a:r>
          </a:p>
          <a:p>
            <a:pPr marL="0" indent="0">
              <a:buNone/>
            </a:pPr>
            <a:r>
              <a:rPr lang="en-US" sz="2000" dirty="0"/>
              <a:t> WHEN </a:t>
            </a:r>
            <a:r>
              <a:rPr lang="ru-RU" sz="2000" dirty="0" err="1"/>
              <a:t>имя_искл_ситуации</a:t>
            </a:r>
            <a:r>
              <a:rPr lang="ru-RU" sz="2000" dirty="0"/>
              <a:t>_</a:t>
            </a:r>
            <a:r>
              <a:rPr lang="en-US" sz="2000" dirty="0"/>
              <a:t>3</a:t>
            </a:r>
          </a:p>
          <a:p>
            <a:pPr marL="0" indent="0">
              <a:buNone/>
            </a:pPr>
            <a:r>
              <a:rPr lang="en-US" sz="2000" dirty="0"/>
              <a:t> [OR </a:t>
            </a:r>
            <a:r>
              <a:rPr lang="ru-RU" sz="2000" dirty="0" err="1"/>
              <a:t>имя_искл_ситуации</a:t>
            </a:r>
            <a:r>
              <a:rPr lang="ru-RU" sz="2000" dirty="0"/>
              <a:t>_</a:t>
            </a:r>
            <a:r>
              <a:rPr lang="en-US" sz="2000" dirty="0"/>
              <a:t>4 ...]</a:t>
            </a:r>
          </a:p>
          <a:p>
            <a:pPr marL="0" indent="0">
              <a:buNone/>
            </a:pPr>
            <a:r>
              <a:rPr lang="en-US" sz="2000" dirty="0"/>
              <a:t> THEN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утверждение_3;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утверждение_4;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. . .</a:t>
            </a:r>
          </a:p>
          <a:p>
            <a:pPr marL="0" indent="0">
              <a:buNone/>
            </a:pPr>
            <a:r>
              <a:rPr lang="en-US" sz="2000" dirty="0"/>
              <a:t> WHEN OTHERS</a:t>
            </a:r>
          </a:p>
          <a:p>
            <a:pPr marL="0" indent="0">
              <a:buNone/>
            </a:pPr>
            <a:r>
              <a:rPr lang="en-US" sz="2000" dirty="0"/>
              <a:t> THEN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утверждение_5;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ru-RU" sz="2000" dirty="0"/>
              <a:t>утверждение_6;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. . .]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6690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-39426"/>
            <a:ext cx="7452319" cy="620688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Как декларируются и возбуждаются ИС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51520" y="800708"/>
            <a:ext cx="2317922" cy="55806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66365" y="1160748"/>
            <a:ext cx="2088232" cy="1080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Предопределён-</a:t>
            </a:r>
            <a:r>
              <a:rPr lang="ru-RU" dirty="0" err="1">
                <a:solidFill>
                  <a:schemeClr val="tx1"/>
                </a:solidFill>
              </a:rPr>
              <a:t>ные</a:t>
            </a:r>
            <a:r>
              <a:rPr lang="ru-RU" dirty="0">
                <a:solidFill>
                  <a:schemeClr val="tx1"/>
                </a:solidFill>
              </a:rPr>
              <a:t> с номером и именем 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(≈ 20 штук)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66057" y="2469143"/>
            <a:ext cx="2088232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u-RU" dirty="0">
                <a:solidFill>
                  <a:prstClr val="black"/>
                </a:solidFill>
              </a:rPr>
              <a:t>Предопределён-</a:t>
            </a:r>
            <a:r>
              <a:rPr lang="ru-RU" dirty="0" err="1">
                <a:solidFill>
                  <a:prstClr val="black"/>
                </a:solidFill>
              </a:rPr>
              <a:t>ные</a:t>
            </a:r>
            <a:r>
              <a:rPr lang="ru-RU" dirty="0">
                <a:solidFill>
                  <a:prstClr val="black"/>
                </a:solidFill>
              </a:rPr>
              <a:t> с номером, но без имени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(несколько тысяч)</a:t>
            </a: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66365" y="4437112"/>
            <a:ext cx="2088232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ИС пользователя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(может быть до тысячи)</a:t>
            </a:r>
          </a:p>
        </p:txBody>
      </p:sp>
      <p:sp>
        <p:nvSpPr>
          <p:cNvPr id="10" name="Блок-схема: подготовка 9"/>
          <p:cNvSpPr/>
          <p:nvPr/>
        </p:nvSpPr>
        <p:spPr>
          <a:xfrm>
            <a:off x="798105" y="620688"/>
            <a:ext cx="1224136" cy="360040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ИС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915816" y="1268760"/>
            <a:ext cx="2736304" cy="5112568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868144" y="1268760"/>
            <a:ext cx="2448272" cy="5126856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 rot="16200000">
            <a:off x="6192179" y="3212976"/>
            <a:ext cx="5256584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00000"/>
                </a:solidFill>
              </a:rPr>
              <a:t>Секция обработки ИС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2915816" y="620688"/>
            <a:ext cx="5688632" cy="5400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rgbClr val="C00000"/>
                </a:solidFill>
              </a:rPr>
              <a:t>Секция декларирования      Исполняемая секция</a:t>
            </a: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87824" y="1988840"/>
            <a:ext cx="2602630" cy="22322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/*декл. имени ИС*/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Имя_ИС </a:t>
            </a:r>
            <a:r>
              <a:rPr lang="en-US" dirty="0">
                <a:solidFill>
                  <a:schemeClr val="tx1"/>
                </a:solidFill>
              </a:rPr>
              <a:t>EXCEPTION;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/*</a:t>
            </a:r>
            <a:r>
              <a:rPr lang="ru-RU" dirty="0">
                <a:solidFill>
                  <a:schemeClr val="tx1"/>
                </a:solidFill>
              </a:rPr>
              <a:t>связывание имени с предопределённым номером ИС</a:t>
            </a:r>
            <a:r>
              <a:rPr lang="en-US" dirty="0">
                <a:solidFill>
                  <a:schemeClr val="tx1"/>
                </a:solidFill>
              </a:rPr>
              <a:t>*/</a:t>
            </a:r>
          </a:p>
          <a:p>
            <a:r>
              <a:rPr lang="en-US" dirty="0">
                <a:solidFill>
                  <a:schemeClr val="tx1"/>
                </a:solidFill>
              </a:rPr>
              <a:t>PRAGMA EXCEPTION_INIT (</a:t>
            </a:r>
            <a:r>
              <a:rPr lang="ru-RU" dirty="0">
                <a:solidFill>
                  <a:schemeClr val="tx1"/>
                </a:solidFill>
              </a:rPr>
              <a:t>имя_ИС, номер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987824" y="4437112"/>
            <a:ext cx="2602630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</a:rPr>
              <a:t>/*декларирование имени ИС*/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имя_ИС </a:t>
            </a:r>
            <a:r>
              <a:rPr lang="en-US" sz="2000" dirty="0">
                <a:solidFill>
                  <a:schemeClr val="tx1"/>
                </a:solidFill>
              </a:rPr>
              <a:t>EXCEPTION;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20" name="Стрелка вправо 19"/>
          <p:cNvSpPr/>
          <p:nvPr/>
        </p:nvSpPr>
        <p:spPr>
          <a:xfrm>
            <a:off x="5590454" y="3104963"/>
            <a:ext cx="2833973" cy="102261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 flipV="1">
            <a:off x="2508602" y="1592795"/>
            <a:ext cx="5915825" cy="69459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>
            <a:off x="2454289" y="3104964"/>
            <a:ext cx="533535" cy="118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трелка вправо 21"/>
          <p:cNvSpPr/>
          <p:nvPr/>
        </p:nvSpPr>
        <p:spPr>
          <a:xfrm>
            <a:off x="2454597" y="5062047"/>
            <a:ext cx="533535" cy="118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6048164" y="4149080"/>
            <a:ext cx="2124236" cy="201622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/* возбуждение исключительной ситуации*/</a:t>
            </a:r>
          </a:p>
          <a:p>
            <a:r>
              <a:rPr lang="en-US" dirty="0">
                <a:solidFill>
                  <a:schemeClr val="tx1"/>
                </a:solidFill>
              </a:rPr>
              <a:t>BEGIN</a:t>
            </a:r>
          </a:p>
          <a:p>
            <a:r>
              <a:rPr lang="en-US" dirty="0">
                <a:solidFill>
                  <a:schemeClr val="tx1"/>
                </a:solidFill>
              </a:rPr>
              <a:t>……………….</a:t>
            </a:r>
          </a:p>
          <a:p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ru-RU" dirty="0">
                <a:solidFill>
                  <a:schemeClr val="tx1"/>
                </a:solidFill>
              </a:rPr>
              <a:t>условие </a:t>
            </a:r>
            <a:r>
              <a:rPr lang="en-US" dirty="0">
                <a:solidFill>
                  <a:schemeClr val="tx1"/>
                </a:solidFill>
              </a:rPr>
              <a:t>THEN</a:t>
            </a:r>
          </a:p>
          <a:p>
            <a:r>
              <a:rPr lang="en-US" dirty="0">
                <a:solidFill>
                  <a:schemeClr val="tx1"/>
                </a:solidFill>
              </a:rPr>
              <a:t>RAISE </a:t>
            </a:r>
            <a:r>
              <a:rPr lang="ru-RU" dirty="0" err="1">
                <a:solidFill>
                  <a:schemeClr val="tx1"/>
                </a:solidFill>
              </a:rPr>
              <a:t>имя_ИС</a:t>
            </a:r>
            <a:r>
              <a:rPr lang="ru-RU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24" name="Стрелка вправо 23"/>
          <p:cNvSpPr/>
          <p:nvPr/>
        </p:nvSpPr>
        <p:spPr>
          <a:xfrm>
            <a:off x="5590455" y="5096165"/>
            <a:ext cx="457710" cy="118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8172400" y="5112187"/>
            <a:ext cx="252027" cy="102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Скругленная прямоугольная выноска 25"/>
          <p:cNvSpPr/>
          <p:nvPr/>
        </p:nvSpPr>
        <p:spPr>
          <a:xfrm>
            <a:off x="2721364" y="6237312"/>
            <a:ext cx="3434812" cy="432048"/>
          </a:xfrm>
          <a:prstGeom prst="wedgeRoundRectCallout">
            <a:avLst>
              <a:gd name="adj1" fmla="val 51694"/>
              <a:gd name="adj2" fmla="val -10274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Или </a:t>
            </a:r>
            <a:r>
              <a:rPr lang="en-US" dirty="0">
                <a:solidFill>
                  <a:schemeClr val="tx1"/>
                </a:solidFill>
              </a:rPr>
              <a:t>RAISE_APPLICATION_ERROR</a:t>
            </a:r>
            <a:endParaRPr lang="ru-RU" dirty="0">
              <a:solidFill>
                <a:schemeClr val="tx1"/>
              </a:solidFill>
            </a:endParaRP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21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Передача необработанных исключений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08" y="620688"/>
            <a:ext cx="8541327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94191" y="6340573"/>
            <a:ext cx="2973016" cy="493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err="1"/>
              <a:t>Нанда</a:t>
            </a:r>
            <a:r>
              <a:rPr lang="ru-RU" sz="1600" dirty="0"/>
              <a:t>, </a:t>
            </a:r>
            <a:r>
              <a:rPr lang="ru-RU" sz="1600" dirty="0" err="1"/>
              <a:t>Фернстайн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3232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2048"/>
            <a:ext cx="8229600" cy="660648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rgbClr val="FF0000"/>
                </a:solidFill>
              </a:rPr>
              <a:t>SQLCODE, SQLERRM и другие</a:t>
            </a:r>
            <a:br>
              <a:rPr lang="ru-RU" dirty="0">
                <a:solidFill>
                  <a:srgbClr val="FF0000"/>
                </a:solidFill>
              </a:rPr>
            </a:b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80728"/>
            <a:ext cx="8640960" cy="55446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/>
              <a:t>SQLCODE </a:t>
            </a:r>
          </a:p>
          <a:p>
            <a:pPr marL="0" indent="0">
              <a:buNone/>
            </a:pPr>
            <a:r>
              <a:rPr lang="ru-RU" sz="2000" dirty="0"/>
              <a:t>  Функция SQLCODE возвращает код ошибки для последней исключительной ситуации. При отсутствие ошибок и при вызове вне обработчика исключений SQLCODE равен нулю. Функция может быть использована только в разделе обработки исключений.</a:t>
            </a:r>
          </a:p>
          <a:p>
            <a:pPr marL="0" indent="0">
              <a:buNone/>
            </a:pPr>
            <a:r>
              <a:rPr lang="ru-RU" sz="2000" b="1" dirty="0"/>
              <a:t>SQLERRM</a:t>
            </a:r>
          </a:p>
          <a:p>
            <a:pPr marL="0" indent="0">
              <a:buNone/>
            </a:pPr>
            <a:r>
              <a:rPr lang="ru-RU" sz="2000" dirty="0"/>
              <a:t>  Функция SQLERRM  возвращает сообщение об ошибке по её коду. SQLERRM  без указания кода ошибки вернёт сообщение об ошибке  с кодом, который вернется функцией SQLCODE.  Максимальная длина возвращаемой строки 512 байт.</a:t>
            </a:r>
          </a:p>
          <a:p>
            <a:pPr marL="0" indent="0">
              <a:buNone/>
            </a:pPr>
            <a:r>
              <a:rPr lang="ru-RU" sz="2000" b="1" dirty="0"/>
              <a:t>DBMS_UTILITY.FORMAT_ERROR_STACK</a:t>
            </a:r>
          </a:p>
          <a:p>
            <a:pPr marL="0" indent="0">
              <a:buNone/>
            </a:pPr>
            <a:r>
              <a:rPr lang="ru-RU" sz="2000" dirty="0"/>
              <a:t>  Эта функция, как и SQLERRM  возвращает сообщение соответствующее текущей ошибке код которой выдаёт SQLCODE. Максимальная длина сообщения об ошибке составляет 2000 символов.</a:t>
            </a:r>
          </a:p>
          <a:p>
            <a:pPr marL="0" indent="0">
              <a:buNone/>
            </a:pPr>
            <a:r>
              <a:rPr lang="ru-RU" sz="2000" b="1" dirty="0"/>
              <a:t>DBMS_UTILITY.FORMAT_ERRORBACKTRASE</a:t>
            </a:r>
          </a:p>
          <a:p>
            <a:pPr marL="0" indent="0">
              <a:buNone/>
            </a:pPr>
            <a:r>
              <a:rPr lang="ru-RU" sz="2000" dirty="0"/>
              <a:t>  Возвращает форматированную строку, отображающую стек программы и номера строк, ведущие к месту возникновения ошибки.</a:t>
            </a:r>
          </a:p>
        </p:txBody>
      </p:sp>
    </p:spTree>
    <p:extLst>
      <p:ext uri="{BB962C8B-B14F-4D97-AF65-F5344CB8AC3E}">
        <p14:creationId xmlns:p14="http://schemas.microsoft.com/office/powerpoint/2010/main" val="425967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9348"/>
            <a:ext cx="4644008" cy="673348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Использование </a:t>
            </a:r>
            <a:r>
              <a:rPr lang="en-US" sz="3600" dirty="0">
                <a:solidFill>
                  <a:srgbClr val="FF0000"/>
                </a:solidFill>
              </a:rPr>
              <a:t>SQLERRM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4680520" cy="5688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SQL&gt; BEGIN</a:t>
            </a:r>
          </a:p>
          <a:p>
            <a:pPr marL="0" indent="0">
              <a:buNone/>
            </a:pPr>
            <a:r>
              <a:rPr lang="en-US" sz="2000" dirty="0"/>
              <a:t>  2    RAISE ZERO_DIVIDE;</a:t>
            </a:r>
          </a:p>
          <a:p>
            <a:pPr marL="0" indent="0">
              <a:buNone/>
            </a:pPr>
            <a:r>
              <a:rPr lang="en-US" sz="2000" dirty="0"/>
              <a:t>  3  EXCEPTION</a:t>
            </a:r>
          </a:p>
          <a:p>
            <a:pPr marL="0" indent="0">
              <a:buNone/>
            </a:pPr>
            <a:r>
              <a:rPr lang="en-US" sz="2000" dirty="0"/>
              <a:t>  4    WHEN OTHERS</a:t>
            </a:r>
          </a:p>
          <a:p>
            <a:pPr marL="0" indent="0">
              <a:buNone/>
            </a:pPr>
            <a:r>
              <a:rPr lang="en-US" sz="2000" dirty="0"/>
              <a:t>  5      THEN</a:t>
            </a:r>
          </a:p>
          <a:p>
            <a:pPr marL="0" indent="0">
              <a:buNone/>
            </a:pPr>
            <a:r>
              <a:rPr lang="en-US" sz="2000" dirty="0"/>
              <a:t>  6        </a:t>
            </a:r>
            <a:r>
              <a:rPr lang="en-US" sz="2000" dirty="0" err="1"/>
              <a:t>DBMS_OUTPUT.put_line</a:t>
            </a:r>
            <a:r>
              <a:rPr lang="en-US" sz="2000" dirty="0"/>
              <a:t>(SQLERRM);</a:t>
            </a:r>
          </a:p>
          <a:p>
            <a:pPr marL="0" indent="0">
              <a:buNone/>
            </a:pPr>
            <a:r>
              <a:rPr lang="en-US" sz="2000" dirty="0"/>
              <a:t>  7  END;</a:t>
            </a:r>
          </a:p>
          <a:p>
            <a:pPr marL="0" indent="0">
              <a:buNone/>
            </a:pPr>
            <a:r>
              <a:rPr lang="en-US" sz="2000" dirty="0"/>
              <a:t>  8  /</a:t>
            </a:r>
          </a:p>
          <a:p>
            <a:pPr marL="0" indent="0">
              <a:buNone/>
            </a:pPr>
            <a:r>
              <a:rPr lang="en-US" sz="2000" dirty="0"/>
              <a:t>PL/SQL procedure successfully completed.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SQL&gt; SET </a:t>
            </a:r>
            <a:r>
              <a:rPr lang="en-US" sz="2000" dirty="0" err="1"/>
              <a:t>serveroutput</a:t>
            </a:r>
            <a:r>
              <a:rPr lang="en-US" sz="2000" dirty="0"/>
              <a:t> on</a:t>
            </a:r>
          </a:p>
          <a:p>
            <a:pPr marL="0" indent="0">
              <a:buNone/>
            </a:pPr>
            <a:r>
              <a:rPr lang="en-US" sz="2000" dirty="0"/>
              <a:t>SQL&gt; /</a:t>
            </a:r>
          </a:p>
          <a:p>
            <a:pPr marL="0" indent="0">
              <a:buNone/>
            </a:pPr>
            <a:r>
              <a:rPr lang="en-US" sz="2000" dirty="0"/>
              <a:t>ORA-01476: divisor is equal to zero</a:t>
            </a:r>
          </a:p>
          <a:p>
            <a:pPr marL="0" indent="0">
              <a:buNone/>
            </a:pPr>
            <a:r>
              <a:rPr lang="en-US" sz="2000" dirty="0"/>
              <a:t>PL/SQL procedure successfully completed.</a:t>
            </a:r>
          </a:p>
          <a:p>
            <a:pPr marL="0" indent="0">
              <a:buNone/>
            </a:pPr>
            <a:r>
              <a:rPr lang="en-US" sz="2000" dirty="0"/>
              <a:t>SQL&gt;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6453336"/>
            <a:ext cx="903649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http://www.foxbase.ru/oracle-programming/sqlerrm-vs-dbmsutilityformaterrorstack.htma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940200" y="188640"/>
            <a:ext cx="4376167" cy="6120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Текст сообщения об ошибке с заданным  номером можно получить и без возбуждения исключительной ситуации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SQL&gt; BEGIN</a:t>
            </a:r>
          </a:p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DBMS_OUTPUT.put_line</a:t>
            </a:r>
            <a:r>
              <a:rPr lang="en-US" dirty="0">
                <a:solidFill>
                  <a:schemeClr val="tx1"/>
                </a:solidFill>
              </a:rPr>
              <a:t>(SQLERRM(-1403));</a:t>
            </a:r>
          </a:p>
          <a:p>
            <a:r>
              <a:rPr lang="en-US" dirty="0">
                <a:solidFill>
                  <a:schemeClr val="tx1"/>
                </a:solidFill>
              </a:rPr>
              <a:t>    END;</a:t>
            </a:r>
          </a:p>
          <a:p>
            <a:r>
              <a:rPr lang="en-US" dirty="0">
                <a:solidFill>
                  <a:schemeClr val="tx1"/>
                </a:solidFill>
              </a:rPr>
              <a:t> /</a:t>
            </a:r>
          </a:p>
          <a:p>
            <a:r>
              <a:rPr lang="en-US" dirty="0">
                <a:solidFill>
                  <a:schemeClr val="tx1"/>
                </a:solidFill>
              </a:rPr>
              <a:t>ORA-01403: no data found</a:t>
            </a:r>
          </a:p>
          <a:p>
            <a:r>
              <a:rPr lang="en-US" dirty="0">
                <a:solidFill>
                  <a:schemeClr val="tx1"/>
                </a:solidFill>
              </a:rPr>
              <a:t>PL/SQL procedure successfully completed.</a:t>
            </a:r>
          </a:p>
          <a:p>
            <a:r>
              <a:rPr lang="en-US" dirty="0">
                <a:solidFill>
                  <a:schemeClr val="tx1"/>
                </a:solidFill>
              </a:rPr>
              <a:t>SQL&gt;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Попробуйте сами:</a:t>
            </a:r>
          </a:p>
          <a:p>
            <a:r>
              <a:rPr lang="en-US" dirty="0">
                <a:solidFill>
                  <a:schemeClr val="tx1"/>
                </a:solidFill>
              </a:rPr>
              <a:t>BEGIN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 </a:t>
            </a:r>
            <a:r>
              <a:rPr lang="en-US" dirty="0" err="1">
                <a:solidFill>
                  <a:schemeClr val="tx1"/>
                </a:solidFill>
              </a:rPr>
              <a:t>DBMS_OUTPUT.put_line</a:t>
            </a:r>
            <a:r>
              <a:rPr lang="en-US" dirty="0">
                <a:solidFill>
                  <a:schemeClr val="tx1"/>
                </a:solidFill>
              </a:rPr>
              <a:t>(SQLERRM(1));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END;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/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и ещё:</a:t>
            </a:r>
          </a:p>
          <a:p>
            <a:r>
              <a:rPr lang="en-US" dirty="0">
                <a:solidFill>
                  <a:schemeClr val="tx1"/>
                </a:solidFill>
              </a:rPr>
              <a:t>BEGIN</a:t>
            </a:r>
          </a:p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DBMS_OUTPUT.put_line</a:t>
            </a:r>
            <a:r>
              <a:rPr lang="en-US" dirty="0">
                <a:solidFill>
                  <a:schemeClr val="tx1"/>
                </a:solidFill>
              </a:rPr>
              <a:t>(SQLERRM(2));</a:t>
            </a:r>
          </a:p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DBMS_OUTPUT.put_line</a:t>
            </a:r>
            <a:r>
              <a:rPr lang="en-US" dirty="0">
                <a:solidFill>
                  <a:schemeClr val="tx1"/>
                </a:solidFill>
              </a:rPr>
              <a:t>(SQLERRM(-10));</a:t>
            </a:r>
          </a:p>
          <a:p>
            <a:r>
              <a:rPr lang="en-US" dirty="0">
                <a:solidFill>
                  <a:schemeClr val="tx1"/>
                </a:solidFill>
              </a:rPr>
              <a:t>END;</a:t>
            </a:r>
          </a:p>
          <a:p>
            <a:r>
              <a:rPr lang="en-US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5772100" y="4005064"/>
            <a:ext cx="3240360" cy="864096"/>
          </a:xfrm>
          <a:prstGeom prst="wedgeRoundRectCallout">
            <a:avLst>
              <a:gd name="adj1" fmla="val -18873"/>
              <a:gd name="adj2" fmla="val 766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Код 2 понимается как код </a:t>
            </a:r>
            <a:r>
              <a:rPr lang="ru-RU" dirty="0" err="1">
                <a:solidFill>
                  <a:schemeClr val="tx1"/>
                </a:solidFill>
              </a:rPr>
              <a:t>неоракловской</a:t>
            </a:r>
            <a:r>
              <a:rPr lang="ru-RU" dirty="0">
                <a:solidFill>
                  <a:schemeClr val="tx1"/>
                </a:solidFill>
              </a:rPr>
              <a:t> ошибки, ИС с кодом -10 не существует</a:t>
            </a:r>
          </a:p>
        </p:txBody>
      </p:sp>
    </p:spTree>
    <p:extLst>
      <p:ext uri="{BB962C8B-B14F-4D97-AF65-F5344CB8AC3E}">
        <p14:creationId xmlns:p14="http://schemas.microsoft.com/office/powerpoint/2010/main" val="3221299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Предопределённые исключения</a:t>
            </a:r>
            <a:endParaRPr lang="ru-RU" dirty="0"/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21" y="764704"/>
            <a:ext cx="9181545" cy="60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94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648"/>
            <a:ext cx="9144000" cy="542032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Некоторые предопределённые исключения (1/2)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264696"/>
          </a:xfrm>
        </p:spPr>
        <p:txBody>
          <a:bodyPr>
            <a:normAutofit fontScale="92500"/>
          </a:bodyPr>
          <a:lstStyle/>
          <a:p>
            <a:r>
              <a:rPr lang="en-US" altLang="ru-RU" sz="2200" b="1" dirty="0"/>
              <a:t>CURSOR</a:t>
            </a:r>
            <a:r>
              <a:rPr lang="ru-RU" altLang="ru-RU" sz="2200" b="1" dirty="0"/>
              <a:t>_ALREADY_OPEN</a:t>
            </a:r>
          </a:p>
          <a:p>
            <a:pPr marL="457200" lvl="1" indent="0">
              <a:buNone/>
            </a:pPr>
            <a:r>
              <a:rPr lang="ru-RU" altLang="ru-RU" sz="2200" dirty="0"/>
              <a:t>Попытка открыть уже открытый курсор. Курсорный цикл FOR автоматически открывает курсор. Нельзя явно открывать курсор внутри курсорного FOR.</a:t>
            </a:r>
          </a:p>
          <a:p>
            <a:r>
              <a:rPr lang="en-US" altLang="ru-RU" sz="2200" b="1" dirty="0"/>
              <a:t>DUP</a:t>
            </a:r>
            <a:r>
              <a:rPr lang="ru-RU" altLang="ru-RU" sz="2200" b="1" dirty="0"/>
              <a:t>_VAL_ON_INDEX</a:t>
            </a:r>
          </a:p>
          <a:p>
            <a:pPr marL="457200" lvl="1" indent="0">
              <a:buNone/>
            </a:pPr>
            <a:r>
              <a:rPr lang="ru-RU" altLang="ru-RU" sz="2200" dirty="0"/>
              <a:t>INSERT или UPDATE пытается создать повторяющееся значение в столбце с ограничением UNIQUE.</a:t>
            </a:r>
          </a:p>
          <a:p>
            <a:r>
              <a:rPr lang="en-US" altLang="ru-RU" sz="2200" b="1" dirty="0"/>
              <a:t>INVALID</a:t>
            </a:r>
            <a:r>
              <a:rPr lang="ru-RU" altLang="ru-RU" sz="2200" b="1" dirty="0"/>
              <a:t>_CURSOR</a:t>
            </a:r>
          </a:p>
          <a:p>
            <a:pPr marL="457200" lvl="1" indent="0">
              <a:buNone/>
            </a:pPr>
            <a:r>
              <a:rPr lang="ru-RU" altLang="ru-RU" sz="2200" dirty="0"/>
              <a:t>Некорректное обращение к курсору (например, попытка закрыть неоткрытый курсор).</a:t>
            </a:r>
          </a:p>
          <a:p>
            <a:r>
              <a:rPr lang="en-US" altLang="ru-RU" sz="2200" b="1" dirty="0"/>
              <a:t>INVALID</a:t>
            </a:r>
            <a:r>
              <a:rPr lang="ru-RU" altLang="ru-RU" sz="2200" b="1" dirty="0"/>
              <a:t>_NUMBER</a:t>
            </a:r>
          </a:p>
          <a:p>
            <a:pPr marL="457200" lvl="1" indent="0">
              <a:buNone/>
            </a:pPr>
            <a:r>
              <a:rPr lang="ru-RU" altLang="ru-RU" sz="2200" dirty="0"/>
              <a:t>В </a:t>
            </a:r>
            <a:r>
              <a:rPr lang="en-US" altLang="ru-RU" sz="2200" dirty="0"/>
              <a:t>SQL </a:t>
            </a:r>
            <a:r>
              <a:rPr lang="ru-RU" altLang="ru-RU" sz="2200" dirty="0"/>
              <a:t>невозможность преобразования символьной строки в число. В </a:t>
            </a:r>
            <a:r>
              <a:rPr lang="en-US" altLang="ru-RU" sz="2200" dirty="0"/>
              <a:t>PL|SQL </a:t>
            </a:r>
            <a:r>
              <a:rPr lang="ru-RU" altLang="ru-RU" sz="2200" dirty="0"/>
              <a:t>вместо этого исключения возбуждается VALUE_ERROR.</a:t>
            </a:r>
          </a:p>
          <a:p>
            <a:r>
              <a:rPr lang="en-US" altLang="ru-RU" sz="2200" b="1" dirty="0"/>
              <a:t>LOGIN</a:t>
            </a:r>
            <a:r>
              <a:rPr lang="ru-RU" altLang="ru-RU" sz="2200" b="1" dirty="0"/>
              <a:t>_DENIED</a:t>
            </a:r>
          </a:p>
          <a:p>
            <a:pPr marL="457200" lvl="1" indent="0">
              <a:buNone/>
            </a:pPr>
            <a:r>
              <a:rPr lang="ru-RU" altLang="ru-RU" sz="2200" dirty="0"/>
              <a:t>Некорректное имя пользователя или пароль.</a:t>
            </a:r>
          </a:p>
          <a:p>
            <a:r>
              <a:rPr lang="en-US" altLang="ru-RU" sz="2200" b="1" dirty="0"/>
              <a:t>NO</a:t>
            </a:r>
            <a:r>
              <a:rPr lang="ru-RU" altLang="ru-RU" sz="2200" b="1" dirty="0"/>
              <a:t>_DATA_FOUND</a:t>
            </a:r>
          </a:p>
          <a:p>
            <a:pPr marL="457200" lvl="1" indent="0">
              <a:buNone/>
            </a:pPr>
            <a:r>
              <a:rPr lang="ru-RU" altLang="ru-RU" sz="2200" dirty="0"/>
              <a:t>SELECT INTO не возвращает ни одной строки. Групповые функции SQL ВСЕГДА возвращают значение, даже если оно есть NULL..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2092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Некоторые предопределённые исключения (2/2)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20688"/>
            <a:ext cx="8856984" cy="6237312"/>
          </a:xfrm>
        </p:spPr>
        <p:txBody>
          <a:bodyPr>
            <a:noAutofit/>
          </a:bodyPr>
          <a:lstStyle/>
          <a:p>
            <a:r>
              <a:rPr lang="en-US" altLang="ru-RU" sz="2000" b="1" dirty="0"/>
              <a:t>NOT</a:t>
            </a:r>
            <a:r>
              <a:rPr lang="ru-RU" altLang="ru-RU" sz="2000" b="1" dirty="0"/>
              <a:t>_LOGGED_ON</a:t>
            </a:r>
          </a:p>
          <a:p>
            <a:pPr marL="457200" lvl="1" indent="0">
              <a:buNone/>
            </a:pPr>
            <a:r>
              <a:rPr lang="ru-RU" altLang="ru-RU" sz="2000" dirty="0"/>
              <a:t>Программа PL/SQL обращается к ORACLE, но не подключена к ORACLE.</a:t>
            </a:r>
          </a:p>
          <a:p>
            <a:r>
              <a:rPr lang="en-US" altLang="ru-RU" sz="2000" b="1" dirty="0"/>
              <a:t>PROGRAM</a:t>
            </a:r>
            <a:r>
              <a:rPr lang="ru-RU" altLang="ru-RU" sz="2000" b="1" dirty="0"/>
              <a:t>_ERROR</a:t>
            </a:r>
          </a:p>
          <a:p>
            <a:pPr marL="457200" lvl="1" indent="0">
              <a:buNone/>
            </a:pPr>
            <a:r>
              <a:rPr lang="ru-RU" altLang="ru-RU" sz="2000" dirty="0"/>
              <a:t>Внутренняя проблема PL/SQL.</a:t>
            </a:r>
          </a:p>
          <a:p>
            <a:r>
              <a:rPr lang="en-US" altLang="ru-RU" sz="2000" b="1" dirty="0"/>
              <a:t>STORAGE_</a:t>
            </a:r>
            <a:r>
              <a:rPr lang="ru-RU" altLang="ru-RU" sz="2000" b="1" dirty="0"/>
              <a:t>ERROR</a:t>
            </a:r>
          </a:p>
          <a:p>
            <a:pPr marL="457200" lvl="1" indent="0">
              <a:buNone/>
            </a:pPr>
            <a:r>
              <a:rPr lang="ru-RU" altLang="ru-RU" sz="2000" dirty="0"/>
              <a:t>PL/SQL исчерпал доступную память, или когда ошибки памяти.</a:t>
            </a:r>
          </a:p>
          <a:p>
            <a:r>
              <a:rPr lang="en-US" altLang="ru-RU" sz="2000" b="1" dirty="0"/>
              <a:t>TIMEOUT</a:t>
            </a:r>
            <a:r>
              <a:rPr lang="ru-RU" altLang="ru-RU" sz="2000" b="1" dirty="0"/>
              <a:t>_ON_RESOURCE</a:t>
            </a:r>
          </a:p>
          <a:p>
            <a:pPr marL="457200" lvl="1" indent="0">
              <a:buNone/>
            </a:pPr>
            <a:r>
              <a:rPr lang="ru-RU" altLang="ru-RU" sz="2000" dirty="0"/>
              <a:t>Таймаут  когда ORACLE ожидает ресурса.</a:t>
            </a:r>
          </a:p>
          <a:p>
            <a:r>
              <a:rPr lang="en-US" altLang="ru-RU" sz="2000" b="1" dirty="0"/>
              <a:t>TOO</a:t>
            </a:r>
            <a:r>
              <a:rPr lang="ru-RU" altLang="ru-RU" sz="2000" b="1" dirty="0"/>
              <a:t>_MANY_ROWS</a:t>
            </a:r>
          </a:p>
          <a:p>
            <a:pPr marL="457200" lvl="1" indent="0">
              <a:buNone/>
            </a:pPr>
            <a:r>
              <a:rPr lang="ru-RU" altLang="ru-RU" sz="2000" dirty="0"/>
              <a:t>SELECT INTO возвращает больше одной строки.</a:t>
            </a:r>
          </a:p>
          <a:p>
            <a:r>
              <a:rPr lang="en-US" altLang="ru-RU" sz="2000" b="1" dirty="0"/>
              <a:t>TRANSACTION</a:t>
            </a:r>
            <a:r>
              <a:rPr lang="ru-RU" altLang="ru-RU" sz="2000" b="1" dirty="0"/>
              <a:t>_BACKED_OUT</a:t>
            </a:r>
          </a:p>
          <a:p>
            <a:pPr marL="457200" lvl="1" indent="0">
              <a:buNone/>
            </a:pPr>
            <a:r>
              <a:rPr lang="ru-RU" altLang="ru-RU" sz="2000" dirty="0"/>
              <a:t>Удаленная часть транзакции была откачена. Причиной может быть несогласованность данных в узлах сети. </a:t>
            </a:r>
          </a:p>
          <a:p>
            <a:r>
              <a:rPr lang="en-US" altLang="ru-RU" sz="2000" b="1" dirty="0"/>
              <a:t>VALUE</a:t>
            </a:r>
            <a:r>
              <a:rPr lang="ru-RU" altLang="ru-RU" sz="2000" b="1" dirty="0"/>
              <a:t>_ERROR</a:t>
            </a:r>
          </a:p>
          <a:p>
            <a:pPr marL="457200" lvl="1" indent="0">
              <a:buNone/>
            </a:pPr>
            <a:r>
              <a:rPr lang="ru-RU" altLang="ru-RU" sz="2000" dirty="0"/>
              <a:t>Ошибки арифметические, преобразования, усечения или ограничения.  При усечении строковой хост-переменной исключение не возбуждается. </a:t>
            </a:r>
          </a:p>
          <a:p>
            <a:r>
              <a:rPr lang="en-US" altLang="ru-RU" sz="2000" b="1" dirty="0"/>
              <a:t>ZERO</a:t>
            </a:r>
            <a:r>
              <a:rPr lang="ru-RU" altLang="ru-RU" sz="2000" b="1" dirty="0"/>
              <a:t>_DIVIDE</a:t>
            </a:r>
          </a:p>
        </p:txBody>
      </p:sp>
    </p:spTree>
    <p:extLst>
      <p:ext uri="{BB962C8B-B14F-4D97-AF65-F5344CB8AC3E}">
        <p14:creationId xmlns:p14="http://schemas.microsoft.com/office/powerpoint/2010/main" val="2873774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9144000" cy="758056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Пример: предопределённая ИС с именем и номером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80728"/>
            <a:ext cx="7776864" cy="58772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    DECLARE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l_ename</a:t>
            </a:r>
            <a:r>
              <a:rPr lang="en-US" sz="2000" dirty="0"/>
              <a:t> VARCHAR2(100) := 'SKOT';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l_job</a:t>
            </a:r>
            <a:r>
              <a:rPr lang="en-US" sz="2000" dirty="0"/>
              <a:t> VARCHAR2(100);</a:t>
            </a:r>
          </a:p>
          <a:p>
            <a:pPr marL="0" indent="0">
              <a:buNone/>
            </a:pPr>
            <a:r>
              <a:rPr lang="en-US" sz="2000" dirty="0"/>
              <a:t>    BEGIN</a:t>
            </a:r>
          </a:p>
          <a:p>
            <a:pPr marL="0" indent="0">
              <a:buNone/>
            </a:pPr>
            <a:r>
              <a:rPr lang="en-US" sz="2000" dirty="0"/>
              <a:t>        SELECT job INTO </a:t>
            </a:r>
            <a:r>
              <a:rPr lang="en-US" sz="2000" dirty="0" err="1"/>
              <a:t>l_job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FROM </a:t>
            </a:r>
            <a:r>
              <a:rPr lang="en-US" sz="2000" dirty="0" err="1"/>
              <a:t>emp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WHERE </a:t>
            </a:r>
            <a:r>
              <a:rPr lang="en-US" sz="2000" dirty="0" err="1"/>
              <a:t>ename</a:t>
            </a:r>
            <a:r>
              <a:rPr lang="en-US" sz="2000" dirty="0"/>
              <a:t> = </a:t>
            </a:r>
            <a:r>
              <a:rPr lang="en-US" sz="2000" dirty="0" err="1"/>
              <a:t>l_ename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dbms_output.put_line</a:t>
            </a:r>
            <a:r>
              <a:rPr lang="en-US" sz="2000" dirty="0"/>
              <a:t>(</a:t>
            </a:r>
            <a:r>
              <a:rPr lang="en-US" sz="2000" dirty="0" err="1"/>
              <a:t>l_ename</a:t>
            </a:r>
            <a:r>
              <a:rPr lang="en-US" sz="2000" dirty="0"/>
              <a:t> ||' '|| </a:t>
            </a:r>
            <a:r>
              <a:rPr lang="en-US" sz="2000" dirty="0" err="1"/>
              <a:t>l_job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    EXCEPTION </a:t>
            </a:r>
          </a:p>
          <a:p>
            <a:pPr marL="0" indent="0">
              <a:buNone/>
            </a:pPr>
            <a:r>
              <a:rPr lang="en-US" sz="2000" dirty="0"/>
              <a:t>       WHEN NO_DATA_FOUND </a:t>
            </a:r>
          </a:p>
          <a:p>
            <a:pPr marL="0" indent="0">
              <a:buNone/>
            </a:pPr>
            <a:r>
              <a:rPr lang="en-US" sz="2000" dirty="0"/>
              <a:t>       THEN </a:t>
            </a:r>
            <a:r>
              <a:rPr lang="en-US" sz="2000" dirty="0" err="1"/>
              <a:t>dbms_output.put_line</a:t>
            </a:r>
            <a:r>
              <a:rPr lang="en-US" sz="2000" dirty="0"/>
              <a:t>(</a:t>
            </a:r>
            <a:r>
              <a:rPr lang="en-US" sz="2000" dirty="0" err="1"/>
              <a:t>l_ename</a:t>
            </a:r>
            <a:r>
              <a:rPr lang="en-US" sz="2000" dirty="0"/>
              <a:t> ||' - </a:t>
            </a:r>
            <a:r>
              <a:rPr lang="ru-RU" sz="2000" dirty="0"/>
              <a:t>не найден');</a:t>
            </a:r>
          </a:p>
          <a:p>
            <a:pPr marL="0" indent="0">
              <a:buNone/>
            </a:pPr>
            <a:r>
              <a:rPr lang="ru-RU" sz="2000" dirty="0"/>
              <a:t>    </a:t>
            </a:r>
            <a:r>
              <a:rPr lang="en-US" sz="2000" dirty="0"/>
              <a:t>END;</a:t>
            </a:r>
          </a:p>
          <a:p>
            <a:pPr marL="0" indent="0">
              <a:buNone/>
            </a:pPr>
            <a:r>
              <a:rPr lang="en-US" sz="2000" dirty="0"/>
              <a:t>   /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SKOT - </a:t>
            </a:r>
            <a:r>
              <a:rPr lang="ru-RU" sz="2000" dirty="0"/>
              <a:t>не найден</a:t>
            </a:r>
          </a:p>
          <a:p>
            <a:pPr marL="0" indent="0">
              <a:buNone/>
            </a:pPr>
            <a:r>
              <a:rPr lang="en-US" sz="2000" dirty="0"/>
              <a:t>PL/SQL procedure successfully completed.</a:t>
            </a:r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4932040" y="980728"/>
            <a:ext cx="3024336" cy="648072"/>
          </a:xfrm>
          <a:prstGeom prst="wedgeRoundRectCallout">
            <a:avLst>
              <a:gd name="adj1" fmla="val -77051"/>
              <a:gd name="adj2" fmla="val -1980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 секции </a:t>
            </a:r>
            <a:r>
              <a:rPr lang="en-US" dirty="0">
                <a:solidFill>
                  <a:schemeClr val="tx1"/>
                </a:solidFill>
              </a:rPr>
              <a:t>DECLARE</a:t>
            </a:r>
            <a:r>
              <a:rPr lang="ru-RU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ru-RU" dirty="0">
                <a:solidFill>
                  <a:schemeClr val="tx1"/>
                </a:solidFill>
              </a:rPr>
              <a:t>про ИС ничего</a:t>
            </a:r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4932040" y="1988840"/>
            <a:ext cx="3024336" cy="720080"/>
          </a:xfrm>
          <a:prstGeom prst="wedgeRoundRectCallout">
            <a:avLst>
              <a:gd name="adj1" fmla="val -76893"/>
              <a:gd name="adj2" fmla="val -14221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 исполняемой секции </a:t>
            </a:r>
          </a:p>
          <a:p>
            <a:pPr lvl="0" algn="ctr"/>
            <a:r>
              <a:rPr lang="ru-RU" dirty="0">
                <a:solidFill>
                  <a:prstClr val="black"/>
                </a:solidFill>
              </a:rPr>
              <a:t>про ИС ничего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788024" y="5157192"/>
            <a:ext cx="4248472" cy="14773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Узнаём имя по коду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  </a:t>
            </a:r>
            <a:r>
              <a:rPr lang="en-US" dirty="0" err="1"/>
              <a:t>DBMS_OUTPUT.put_line</a:t>
            </a:r>
            <a:r>
              <a:rPr lang="en-US" dirty="0"/>
              <a:t>(SQLERRM(-1403));</a:t>
            </a:r>
          </a:p>
          <a:p>
            <a:r>
              <a:rPr lang="en-US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303427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08520" y="-99392"/>
            <a:ext cx="9252520" cy="114300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Предопределённая ИС с номером и без имени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ru-RU" sz="2000" dirty="0"/>
              <a:t>  исключение </a:t>
            </a:r>
            <a:r>
              <a:rPr lang="en-US" sz="2000" dirty="0"/>
              <a:t>EXCEPTION;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ru-RU" sz="2000" dirty="0"/>
              <a:t>  </a:t>
            </a:r>
            <a:r>
              <a:rPr lang="en-US" sz="2000" dirty="0"/>
              <a:t>PRAGMA EXCEPTION_INIT(</a:t>
            </a:r>
            <a:r>
              <a:rPr lang="ru-RU" sz="2000" dirty="0"/>
              <a:t>исключение, </a:t>
            </a:r>
            <a:r>
              <a:rPr lang="ru-RU" sz="2000" dirty="0" err="1"/>
              <a:t>код_ошибки</a:t>
            </a:r>
            <a:r>
              <a:rPr lang="ru-RU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BEGIN   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ru-RU" sz="2000" dirty="0"/>
              <a:t> </a:t>
            </a:r>
            <a:r>
              <a:rPr lang="en-US" sz="2000" dirty="0"/>
              <a:t>-- </a:t>
            </a:r>
            <a:r>
              <a:rPr lang="ru-RU" sz="2000" dirty="0"/>
              <a:t>Код программы, в котором ожидается возникновение ошибки с  </a:t>
            </a:r>
          </a:p>
          <a:p>
            <a:pPr marL="0" indent="0">
              <a:buNone/>
            </a:pPr>
            <a:r>
              <a:rPr lang="ru-RU" sz="2000" dirty="0"/>
              <a:t>   -- кодом «код_ошибки»</a:t>
            </a:r>
          </a:p>
          <a:p>
            <a:pPr marL="0" indent="0">
              <a:buNone/>
            </a:pPr>
            <a:r>
              <a:rPr lang="ru-RU" sz="2000" dirty="0"/>
              <a:t>  -- ...</a:t>
            </a:r>
          </a:p>
          <a:p>
            <a:pPr marL="0" indent="0">
              <a:buNone/>
            </a:pPr>
            <a:r>
              <a:rPr lang="ru-RU" sz="2000" dirty="0"/>
              <a:t>  </a:t>
            </a:r>
            <a:r>
              <a:rPr lang="en-US" sz="2000" dirty="0"/>
              <a:t>EXCEPTION WHEN </a:t>
            </a:r>
            <a:r>
              <a:rPr lang="ru-RU" sz="2000" dirty="0"/>
              <a:t>исключение </a:t>
            </a:r>
            <a:r>
              <a:rPr lang="en-US" sz="2000" dirty="0"/>
              <a:t>THEN</a:t>
            </a:r>
          </a:p>
          <a:p>
            <a:pPr marL="0" indent="0">
              <a:buNone/>
            </a:pPr>
            <a:r>
              <a:rPr lang="en-US" sz="2000" dirty="0"/>
              <a:t>  -- </a:t>
            </a:r>
            <a:r>
              <a:rPr lang="ru-RU" sz="2000" dirty="0"/>
              <a:t>Обработка исключения</a:t>
            </a:r>
          </a:p>
          <a:p>
            <a:pPr marL="0" indent="0">
              <a:buNone/>
            </a:pPr>
            <a:r>
              <a:rPr lang="en-US" sz="2000" dirty="0"/>
              <a:t>END;</a:t>
            </a:r>
            <a:endParaRPr lang="ru-RU" sz="2000" dirty="0"/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971600" y="1196752"/>
            <a:ext cx="3096344" cy="425326"/>
          </a:xfrm>
          <a:prstGeom prst="wedgeRoundRectCallout">
            <a:avLst>
              <a:gd name="adj1" fmla="val -9075"/>
              <a:gd name="adj2" fmla="val 15421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Объявление исключения</a:t>
            </a:r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4499992" y="1196752"/>
            <a:ext cx="4248472" cy="850652"/>
          </a:xfrm>
          <a:prstGeom prst="wedgeRoundRectCallout">
            <a:avLst>
              <a:gd name="adj1" fmla="val -58029"/>
              <a:gd name="adj2" fmla="val 9061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Отождествление исключения с ошибкой </a:t>
            </a:r>
            <a:r>
              <a:rPr lang="en-US" sz="2000" dirty="0">
                <a:solidFill>
                  <a:schemeClr val="tx1"/>
                </a:solidFill>
              </a:rPr>
              <a:t>Oracle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078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ru-RU" sz="3200" dirty="0">
                <a:solidFill>
                  <a:srgbClr val="FF0000"/>
                </a:solidFill>
              </a:rPr>
              <a:t>Пример: предопределённая ИС с номером и без имени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030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/>
              <a:t>   deadlock_detected EXCEPTION;</a:t>
            </a:r>
          </a:p>
          <a:p>
            <a:pPr marL="0" indent="0">
              <a:buNone/>
            </a:pPr>
            <a:r>
              <a:rPr lang="en-US" sz="2000" dirty="0"/>
              <a:t>   PRAGMA EXCEPTION_INIT(deadlock_detected, -60);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   NULL; -- Some operation that causes an ORA-00060 error</a:t>
            </a:r>
          </a:p>
          <a:p>
            <a:pPr marL="0" indent="0">
              <a:buNone/>
            </a:pPr>
            <a:r>
              <a:rPr lang="en-US" sz="2000" dirty="0"/>
              <a:t>EXCEPTION</a:t>
            </a:r>
          </a:p>
          <a:p>
            <a:pPr marL="0" indent="0">
              <a:buNone/>
            </a:pPr>
            <a:r>
              <a:rPr lang="en-US" sz="2000" dirty="0"/>
              <a:t>   WHEN deadlock_detected 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</a:t>
            </a:r>
            <a:r>
              <a:rPr lang="en-US" sz="2000" dirty="0"/>
              <a:t>THEN</a:t>
            </a:r>
          </a:p>
          <a:p>
            <a:pPr marL="0" indent="0">
              <a:buNone/>
            </a:pPr>
            <a:r>
              <a:rPr lang="en-US" sz="2000" dirty="0"/>
              <a:t>      NULL; -- handle the error</a:t>
            </a:r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pPr marL="0" indent="0">
              <a:buNone/>
            </a:pPr>
            <a:r>
              <a:rPr lang="en-US" sz="2000" dirty="0"/>
              <a:t>/</a:t>
            </a: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u="sng" dirty="0"/>
              <a:t>Замечание</a:t>
            </a:r>
            <a:r>
              <a:rPr lang="ru-RU" sz="2000" dirty="0"/>
              <a:t>: Ошибка</a:t>
            </a:r>
          </a:p>
          <a:p>
            <a:pPr marL="0" indent="0">
              <a:buNone/>
            </a:pPr>
            <a:r>
              <a:rPr lang="en-US" sz="2000" b="1" dirty="0"/>
              <a:t>“</a:t>
            </a:r>
            <a:r>
              <a:rPr lang="ru-RU" sz="2000" b="1" dirty="0"/>
              <a:t>ORA-00060</a:t>
            </a:r>
            <a:r>
              <a:rPr lang="ru-RU" sz="2000" dirty="0"/>
              <a:t>: Возникла мертвая блокировка во время ожидания ресурса</a:t>
            </a:r>
            <a:r>
              <a:rPr lang="en-US" sz="2000" dirty="0"/>
              <a:t>”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25101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Пользовательские исключения с номером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     Процедура </a:t>
            </a:r>
            <a:r>
              <a:rPr lang="ru-RU" sz="2000" b="1" dirty="0"/>
              <a:t>RAISE_APPLICATION_ERROR(</a:t>
            </a:r>
            <a:r>
              <a:rPr lang="ru-RU" sz="2000" b="1" dirty="0" err="1"/>
              <a:t>errnum</a:t>
            </a:r>
            <a:r>
              <a:rPr lang="ru-RU" sz="2000" b="1" dirty="0"/>
              <a:t>, </a:t>
            </a:r>
            <a:r>
              <a:rPr lang="ru-RU" sz="2000" b="1" dirty="0" err="1"/>
              <a:t>errtext</a:t>
            </a:r>
            <a:r>
              <a:rPr lang="ru-RU" sz="2000" b="1" dirty="0"/>
              <a:t>) </a:t>
            </a:r>
            <a:r>
              <a:rPr lang="ru-RU" sz="2000" dirty="0"/>
              <a:t>используется для выдачи сообщения об ИС, возврата в среду, из которой вызывался  текущий блок и/или отмены всех действий, выполненных в текущей транзакции. </a:t>
            </a:r>
          </a:p>
          <a:p>
            <a:pPr marL="0" indent="0">
              <a:buNone/>
            </a:pPr>
            <a:r>
              <a:rPr lang="ru-RU" sz="2000" b="1" dirty="0"/>
              <a:t>-- </a:t>
            </a:r>
            <a:r>
              <a:rPr lang="ru-RU" sz="2000" b="1" dirty="0" err="1"/>
              <a:t>errnum</a:t>
            </a:r>
            <a:r>
              <a:rPr lang="ru-RU" sz="2000" dirty="0"/>
              <a:t> – это отрицательное целое число в диапазоне -20000 .. -20999. </a:t>
            </a:r>
          </a:p>
          <a:p>
            <a:pPr marL="0" indent="0">
              <a:buNone/>
            </a:pPr>
            <a:r>
              <a:rPr lang="ru-RU" sz="2000" dirty="0"/>
              <a:t>-- </a:t>
            </a:r>
            <a:r>
              <a:rPr lang="ru-RU" sz="2000" b="1" dirty="0" err="1"/>
              <a:t>errtext</a:t>
            </a:r>
            <a:r>
              <a:rPr lang="ru-RU" sz="2000" dirty="0"/>
              <a:t> – символьная строка длиной до 2048 символов.</a:t>
            </a:r>
          </a:p>
          <a:p>
            <a:pPr marL="0" indent="0">
              <a:buNone/>
            </a:pPr>
            <a:r>
              <a:rPr lang="ru-RU" sz="2000" dirty="0"/>
              <a:t>     </a:t>
            </a:r>
            <a:r>
              <a:rPr lang="en-US" sz="2000" dirty="0"/>
              <a:t>Oracle </a:t>
            </a:r>
            <a:r>
              <a:rPr lang="ru-RU" sz="2000" dirty="0"/>
              <a:t>выделила диапазон номеров от -20 999 до -20 000 для обозначения пользовательских ошибок. Но в нескольких встроенных пакетах, в том числе в DBMS_OUTPUT и DBMS_DESCRIBE, номера от            -20 005 до -20 000 по-прежнему присваиваются системным ошибкам. </a:t>
            </a:r>
          </a:p>
          <a:p>
            <a:pPr marL="0" indent="0">
              <a:buNone/>
            </a:pPr>
            <a:r>
              <a:rPr lang="ru-RU" sz="2000" dirty="0"/>
              <a:t>     </a:t>
            </a:r>
            <a:r>
              <a:rPr lang="ru-RU" sz="2000" u="sng" dirty="0"/>
              <a:t>Примеры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WHEN OTHERS THEN</a:t>
            </a:r>
          </a:p>
          <a:p>
            <a:pPr marL="0" indent="0">
              <a:buNone/>
            </a:pPr>
            <a:r>
              <a:rPr lang="en-US" sz="2000" dirty="0"/>
              <a:t>    RAISE_APPLICATION_ERROR(-20011,'Какая-то другая ошибка');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16286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20688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Пример: пользовательское исключение с номером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CREATE OR REPLACE PROCEDURE add_new_supplier</a:t>
            </a:r>
          </a:p>
          <a:p>
            <a:pPr marL="0" indent="0">
              <a:buNone/>
            </a:pPr>
            <a:r>
              <a:rPr lang="en-US" sz="2000" dirty="0"/>
              <a:t>   (supplier_id_in IN NUMBER, supplier_name_in IN VARCHAR2)</a:t>
            </a:r>
          </a:p>
          <a:p>
            <a:pPr marL="0" indent="0">
              <a:buNone/>
            </a:pPr>
            <a:r>
              <a:rPr lang="en-US" sz="2000" dirty="0"/>
              <a:t>IS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   INSERT INTO suppliers (supplier_id, supplier_name )</a:t>
            </a:r>
          </a:p>
          <a:p>
            <a:pPr marL="0" indent="0">
              <a:buNone/>
            </a:pPr>
            <a:r>
              <a:rPr lang="en-US" sz="2000" dirty="0"/>
              <a:t>   VALUES ( supplier_id_in, supplier_name_in );</a:t>
            </a: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EXCEPTION</a:t>
            </a:r>
          </a:p>
          <a:p>
            <a:pPr marL="0" indent="0">
              <a:buNone/>
            </a:pPr>
            <a:r>
              <a:rPr lang="en-US" sz="2000" dirty="0"/>
              <a:t>   WHEN DUP_VAL_ON_INDEX THEN</a:t>
            </a:r>
          </a:p>
          <a:p>
            <a:pPr marL="0" indent="0">
              <a:buNone/>
            </a:pPr>
            <a:r>
              <a:rPr lang="en-US" sz="2000" dirty="0"/>
              <a:t>      raise_application_error (-20001,'You have tried to insert a duplicate supplier_id.');</a:t>
            </a:r>
            <a:endParaRPr lang="ru-RU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WHEN OTHERS THEN</a:t>
            </a:r>
          </a:p>
          <a:p>
            <a:pPr marL="0" indent="0">
              <a:buNone/>
            </a:pPr>
            <a:r>
              <a:rPr lang="en-US" sz="2000" dirty="0"/>
              <a:t>      raise_application_error (-20002,'An error has occurred inserting a supplier.');</a:t>
            </a:r>
          </a:p>
          <a:p>
            <a:pPr marL="0" indent="0">
              <a:buNone/>
            </a:pPr>
            <a:r>
              <a:rPr lang="en-US" sz="2000" dirty="0"/>
              <a:t>END;</a:t>
            </a:r>
            <a:endParaRPr lang="ru-RU" sz="2000" dirty="0"/>
          </a:p>
          <a:p>
            <a:pPr marL="0" indent="0">
              <a:buNone/>
            </a:pPr>
            <a:r>
              <a:rPr lang="ru-RU" sz="2000" u="sng" dirty="0"/>
              <a:t>Замечание</a:t>
            </a:r>
            <a:r>
              <a:rPr lang="ru-RU" sz="2000" dirty="0"/>
              <a:t>: ИС </a:t>
            </a:r>
            <a:r>
              <a:rPr lang="en-US" sz="2000" dirty="0"/>
              <a:t>DUP_VAL_ON_INDEX</a:t>
            </a:r>
            <a:r>
              <a:rPr lang="ru-RU" sz="2000" dirty="0"/>
              <a:t> имеет предопределённый номер          </a:t>
            </a:r>
            <a:r>
              <a:rPr lang="en-US" sz="2000" dirty="0"/>
              <a:t>ORA-00001</a:t>
            </a:r>
            <a:endParaRPr lang="ru-RU" sz="2000" dirty="0"/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4788024" y="3212976"/>
            <a:ext cx="3816424" cy="432048"/>
          </a:xfrm>
          <a:prstGeom prst="wedgeRoundRectCallout">
            <a:avLst>
              <a:gd name="adj1" fmla="val -27734"/>
              <a:gd name="adj2" fmla="val 12129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Сообщение понятное пользователю</a:t>
            </a:r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4793208" y="4645248"/>
            <a:ext cx="3816424" cy="432048"/>
          </a:xfrm>
          <a:prstGeom prst="wedgeRoundRectCallout">
            <a:avLst>
              <a:gd name="adj1" fmla="val -27734"/>
              <a:gd name="adj2" fmla="val 12129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Сообщение понятное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706087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736" y="0"/>
            <a:ext cx="7416824" cy="620688"/>
          </a:xfrm>
        </p:spPr>
        <p:txBody>
          <a:bodyPr>
            <a:normAutofit/>
          </a:bodyPr>
          <a:lstStyle/>
          <a:p>
            <a:r>
              <a:rPr lang="ru-RU" sz="3000" dirty="0">
                <a:solidFill>
                  <a:srgbClr val="FF0000"/>
                </a:solidFill>
              </a:rPr>
              <a:t>Исключения пользователя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ru-RU" sz="3000" dirty="0">
                <a:solidFill>
                  <a:srgbClr val="FF0000"/>
                </a:solidFill>
              </a:rPr>
              <a:t>без номера </a:t>
            </a:r>
            <a:endParaRPr lang="ru-RU" sz="3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0"/>
            <a:ext cx="8964488" cy="6858000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DECLARE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past_due EXCEPTION;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</a:t>
            </a:r>
            <a:r>
              <a:rPr lang="en-US" sz="1900" dirty="0" err="1"/>
              <a:t>acct_num</a:t>
            </a:r>
            <a:r>
              <a:rPr lang="en-US" sz="1900" dirty="0"/>
              <a:t> NUMBER;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BEGIN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DECLARE  ---------- sub-block begins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 past_due EXCEPTION;  -- this declaration prevails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 </a:t>
            </a:r>
            <a:r>
              <a:rPr lang="en-US" sz="1900" dirty="0" err="1"/>
              <a:t>acct_num</a:t>
            </a:r>
            <a:r>
              <a:rPr lang="en-US" sz="1900" dirty="0"/>
              <a:t> NUMBER;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</a:t>
            </a:r>
            <a:r>
              <a:rPr lang="en-US" sz="1900" dirty="0" err="1"/>
              <a:t>due_date</a:t>
            </a:r>
            <a:r>
              <a:rPr lang="en-US" sz="1900" dirty="0"/>
              <a:t> DATE := SYSDATE - 1;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</a:t>
            </a:r>
            <a:r>
              <a:rPr lang="en-US" sz="1900" dirty="0" err="1"/>
              <a:t>todays_date</a:t>
            </a:r>
            <a:r>
              <a:rPr lang="en-US" sz="1900" dirty="0"/>
              <a:t> DATE := SYSDATE;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BEGIN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 IF </a:t>
            </a:r>
            <a:r>
              <a:rPr lang="en-US" sz="1900" dirty="0" err="1"/>
              <a:t>due_date</a:t>
            </a:r>
            <a:r>
              <a:rPr lang="en-US" sz="1900" dirty="0"/>
              <a:t> &lt; </a:t>
            </a:r>
            <a:r>
              <a:rPr lang="en-US" sz="1900" dirty="0" err="1"/>
              <a:t>todays_date</a:t>
            </a:r>
            <a:r>
              <a:rPr lang="en-US" sz="1900" dirty="0"/>
              <a:t> THEN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    RAISE past_due;  -- this is not handled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  END IF;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END;  ------------- sub-block ends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EXCEPTION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WHEN past_due THEN  -- does not handle raised exception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  DBMS_OUTPUT.PUT_LINE('Handling PAST_DUE exception.');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  WHEN OTHERS THEN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    DBMS_OUTPUT.PUT_LINE('Could not recognize PAST_DUE_EXCEPTION in this scope.’);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dirty="0"/>
              <a:t>END;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50" dirty="0"/>
              <a:t>/ </a:t>
            </a:r>
            <a:endParaRPr lang="ru-RU" sz="195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9532" y="1285975"/>
            <a:ext cx="5256584" cy="3168352"/>
          </a:xfrm>
          <a:prstGeom prst="rect">
            <a:avLst/>
          </a:prstGeom>
          <a:solidFill>
            <a:schemeClr val="bg1">
              <a:lumMod val="85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6012160" y="2636912"/>
            <a:ext cx="2376264" cy="648072"/>
          </a:xfrm>
          <a:prstGeom prst="wedgeRoundRectCallout">
            <a:avLst>
              <a:gd name="adj1" fmla="val -88174"/>
              <a:gd name="adj2" fmla="val 183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Блок вложен</a:t>
            </a:r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2879812" y="620688"/>
            <a:ext cx="2304256" cy="432048"/>
          </a:xfrm>
          <a:prstGeom prst="wedgeRoundRectCallout">
            <a:avLst>
              <a:gd name="adj1" fmla="val -62583"/>
              <a:gd name="adj2" fmla="val -86312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Здесь ИС</a:t>
            </a:r>
            <a:r>
              <a:rPr lang="en-US" sz="1900" dirty="0">
                <a:solidFill>
                  <a:prstClr val="black"/>
                </a:solidFill>
              </a:rPr>
              <a:t> past_due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Скругленная прямоугольная выноска 6"/>
          <p:cNvSpPr/>
          <p:nvPr/>
        </p:nvSpPr>
        <p:spPr>
          <a:xfrm>
            <a:off x="5904148" y="1268760"/>
            <a:ext cx="2592288" cy="576064"/>
          </a:xfrm>
          <a:prstGeom prst="wedgeRoundRectCallout">
            <a:avLst>
              <a:gd name="adj1" fmla="val -71098"/>
              <a:gd name="adj2" fmla="val 36045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И здесь </a:t>
            </a:r>
            <a:r>
              <a:rPr lang="en-US" sz="1900" dirty="0">
                <a:solidFill>
                  <a:prstClr val="black"/>
                </a:solidFill>
              </a:rPr>
              <a:t>past_due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7818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548680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Пакеты </a:t>
            </a:r>
            <a:r>
              <a:rPr lang="en-US" sz="3200" dirty="0">
                <a:solidFill>
                  <a:srgbClr val="FF0000"/>
                </a:solidFill>
              </a:rPr>
              <a:t>standard </a:t>
            </a:r>
            <a:r>
              <a:rPr lang="ru-RU" sz="3200" dirty="0">
                <a:solidFill>
                  <a:srgbClr val="FF0000"/>
                </a:solidFill>
              </a:rPr>
              <a:t>и </a:t>
            </a:r>
            <a:r>
              <a:rPr lang="en-US" sz="3200" dirty="0" err="1">
                <a:solidFill>
                  <a:srgbClr val="FF0000"/>
                </a:solidFill>
              </a:rPr>
              <a:t>dbms_standard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956770"/>
          </a:xfrm>
        </p:spPr>
        <p:txBody>
          <a:bodyPr>
            <a:noAutofit/>
          </a:bodyPr>
          <a:lstStyle/>
          <a:p>
            <a:pPr marL="0" indent="270000">
              <a:buNone/>
            </a:pPr>
            <a:r>
              <a:rPr lang="ru-RU" sz="1900" dirty="0"/>
              <a:t>Система пакетов основана на корневом пакете с именем standard. Создаваемые пользователем пакеты PL/SQL не являются производными от standard, но зависят от него и используют</a:t>
            </a:r>
            <a:r>
              <a:rPr lang="en-US" sz="1900" dirty="0"/>
              <a:t> </a:t>
            </a:r>
            <a:r>
              <a:rPr lang="ru-RU" sz="1900" dirty="0"/>
              <a:t>его. Второй пакет, используемый по умолчанию — dbms_standard.</a:t>
            </a:r>
          </a:p>
          <a:p>
            <a:pPr marL="0" indent="270000">
              <a:buNone/>
            </a:pPr>
            <a:r>
              <a:rPr lang="ru-RU" sz="1900" dirty="0"/>
              <a:t>В 80-х годах не было </a:t>
            </a:r>
            <a:r>
              <a:rPr lang="en-US" sz="1900" dirty="0"/>
              <a:t>PL/SQL. </a:t>
            </a:r>
            <a:r>
              <a:rPr lang="ru-RU" sz="1900" dirty="0"/>
              <a:t>Приходилось писать программы на C со встроенным SQL, но эти программы приходилось изменять для каждой операционной системы.</a:t>
            </a:r>
          </a:p>
          <a:p>
            <a:pPr marL="0" indent="270000">
              <a:buNone/>
            </a:pPr>
            <a:r>
              <a:rPr lang="ru-RU" sz="1900" dirty="0"/>
              <a:t>Конструкция пакетов в </a:t>
            </a:r>
            <a:r>
              <a:rPr lang="en-US" sz="1900" dirty="0"/>
              <a:t>Oracle </a:t>
            </a:r>
            <a:r>
              <a:rPr lang="ru-RU" sz="1900" dirty="0"/>
              <a:t>была позаимствована из</a:t>
            </a:r>
            <a:r>
              <a:rPr lang="en-US" sz="1900" dirty="0"/>
              <a:t> </a:t>
            </a:r>
            <a:r>
              <a:rPr lang="ru-RU" sz="1900" dirty="0"/>
              <a:t>языка Ada, в котором можно задать пакет по умолчанию для любой программной единицы. Имена элементов этого пакета не нужно уточнять именем пакета (вроде, пакет.процедура).</a:t>
            </a:r>
          </a:p>
          <a:p>
            <a:pPr marL="0" indent="270000">
              <a:buNone/>
            </a:pPr>
            <a:r>
              <a:rPr lang="ru-RU" sz="1900" dirty="0"/>
              <a:t>Отличие PL/SQL в том, что невозможно выбрать пакет по умолчанию для каждой программной единицы. В PL/SQL существует два обязательных пакета по умолчанию, standard и dbms_standard. Они используются во всем языке.</a:t>
            </a:r>
          </a:p>
          <a:p>
            <a:pPr marL="0" indent="270000">
              <a:buNone/>
            </a:pPr>
            <a:r>
              <a:rPr lang="ru-RU" sz="1900" dirty="0"/>
              <a:t>Имена элементов этих пакетов почти всегда используются без уточнения именами пакетов. Пакет standard объявляет набор типов, исключений и подпрограмм, доступных в коде </a:t>
            </a:r>
            <a:r>
              <a:rPr lang="en-US" sz="1900" dirty="0"/>
              <a:t>PL/SQL. </a:t>
            </a:r>
            <a:r>
              <a:rPr lang="ru-RU" sz="1900" dirty="0"/>
              <a:t>При компиляции кода</a:t>
            </a:r>
            <a:r>
              <a:rPr lang="en-US" sz="1900" dirty="0"/>
              <a:t> </a:t>
            </a:r>
            <a:r>
              <a:rPr lang="ru-RU" sz="1900" dirty="0"/>
              <a:t>сначала Oracle проверяет, объявлен ли элемент с таким именем в текущей области видимости. Если нет, проверяет</a:t>
            </a:r>
            <a:r>
              <a:rPr lang="en-US" sz="1900" dirty="0"/>
              <a:t>c</a:t>
            </a:r>
            <a:r>
              <a:rPr lang="ru-RU" sz="1900" dirty="0"/>
              <a:t>я, определен ли элемент в пакетах standard или dbms_standard. Если все идентификаторы будут найдены и не обнаружены синтакси­ческие ошибки, то код компилируется.</a:t>
            </a:r>
          </a:p>
          <a:p>
            <a:pPr marL="0" indent="270000"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3F5A-CB4D-46BC-895C-C3EB119D7FE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952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/>
          <p:cNvSpPr txBox="1">
            <a:spLocks/>
          </p:cNvSpPr>
          <p:nvPr/>
        </p:nvSpPr>
        <p:spPr>
          <a:xfrm>
            <a:off x="4283968" y="548681"/>
            <a:ext cx="4974333" cy="6172793"/>
          </a:xfrm>
          <a:prstGeom prst="rect">
            <a:avLst/>
          </a:prstGeom>
          <a:ln w="12700">
            <a:solidFill>
              <a:schemeClr val="accent1"/>
            </a:solidFill>
          </a:ln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270000">
              <a:lnSpc>
                <a:spcPct val="90000"/>
              </a:lnSpc>
              <a:buNone/>
            </a:pPr>
            <a:r>
              <a:rPr lang="ru-RU" sz="2000" dirty="0"/>
              <a:t>Можно предположить, что блок не откомпилируется» или, что будет выведено сообщение «</a:t>
            </a:r>
            <a:r>
              <a:rPr lang="ru-RU" sz="2000" dirty="0" err="1"/>
              <a:t>Trapped</a:t>
            </a:r>
            <a:r>
              <a:rPr lang="ru-RU" sz="2000" dirty="0"/>
              <a:t>!», так как 1 не равно 2.</a:t>
            </a:r>
          </a:p>
          <a:p>
            <a:pPr marL="0" indent="270000">
              <a:lnSpc>
                <a:spcPct val="90000"/>
              </a:lnSpc>
              <a:buNone/>
            </a:pPr>
            <a:r>
              <a:rPr lang="ru-RU" sz="2000" dirty="0"/>
              <a:t>В действительности блок откомпилируется, но при его выполнении произойдет необ­работанное исключение NO_DATA_FOUND:</a:t>
            </a:r>
          </a:p>
          <a:p>
            <a:pPr marL="0" indent="270000">
              <a:lnSpc>
                <a:spcPct val="90000"/>
              </a:lnSpc>
              <a:buNone/>
            </a:pPr>
            <a:endParaRPr lang="ru-RU" sz="2000" dirty="0"/>
          </a:p>
          <a:p>
            <a:pPr marL="0" indent="270000">
              <a:lnSpc>
                <a:spcPct val="90000"/>
              </a:lnSpc>
              <a:buNone/>
            </a:pPr>
            <a:endParaRPr lang="ru-RU" sz="2000" dirty="0"/>
          </a:p>
          <a:p>
            <a:pPr marL="0" indent="270000">
              <a:lnSpc>
                <a:spcPct val="90000"/>
              </a:lnSpc>
              <a:buNone/>
            </a:pPr>
            <a:endParaRPr lang="ru-RU" sz="2000" dirty="0"/>
          </a:p>
          <a:p>
            <a:pPr marL="0" indent="270000">
              <a:lnSpc>
                <a:spcPct val="90000"/>
              </a:lnSpc>
              <a:buNone/>
            </a:pPr>
            <a:endParaRPr lang="ru-RU" sz="2000" dirty="0"/>
          </a:p>
          <a:p>
            <a:pPr marL="0" indent="270000">
              <a:lnSpc>
                <a:spcPct val="90000"/>
              </a:lnSpc>
              <a:buNone/>
            </a:pPr>
            <a:r>
              <a:rPr lang="ru-RU" sz="2000" dirty="0"/>
              <a:t>Оказывается сработало одноимённое исключение, определённое в пакете </a:t>
            </a:r>
            <a:r>
              <a:rPr lang="en-US" sz="2000" dirty="0"/>
              <a:t>standard </a:t>
            </a:r>
            <a:r>
              <a:rPr lang="ru-RU" sz="2000" dirty="0"/>
              <a:t>как: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NO_DATA_FOUND exception;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PRAGMA EXCEPTION_INIT(NO_DATA_FOUND, 100);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2000" u="sng" dirty="0"/>
              <a:t>Задание</a:t>
            </a:r>
            <a:r>
              <a:rPr lang="ru-RU" sz="2000" dirty="0"/>
              <a:t>: замените </a:t>
            </a:r>
            <a:r>
              <a:rPr lang="en-US" sz="2000" dirty="0"/>
              <a:t>WHEN</a:t>
            </a:r>
            <a:r>
              <a:rPr lang="ru-RU" sz="2000" dirty="0"/>
              <a:t> </a:t>
            </a:r>
            <a:r>
              <a:rPr lang="en-US" sz="2000" dirty="0"/>
              <a:t>NO_DATA_FOUND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ru-RU" sz="2000" dirty="0"/>
              <a:t>на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WHEN STANDARD.NO_DATA_FOUND</a:t>
            </a: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1484" y="32618"/>
            <a:ext cx="8229600" cy="409910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Пример, поясняющий роль пакета </a:t>
            </a:r>
            <a:r>
              <a:rPr lang="en-US" sz="3200" dirty="0">
                <a:solidFill>
                  <a:srgbClr val="FF0000"/>
                </a:solidFill>
              </a:rPr>
              <a:t>standard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52" y="544389"/>
            <a:ext cx="4109019" cy="6172794"/>
          </a:xfrm>
          <a:ln w="1270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marL="0" indent="270000">
              <a:buNone/>
            </a:pPr>
            <a:r>
              <a:rPr lang="ru-RU" sz="2000" dirty="0"/>
              <a:t>Исполняем анонимный блок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[https://oracle-patches.com/db/sql/3976-pakety-po-umolchaniyu-v-pl-sql-chto-nuzhno-znat-programmistu]</a:t>
            </a:r>
            <a:endParaRPr lang="ru-RU" sz="2000" dirty="0"/>
          </a:p>
          <a:p>
            <a:pPr marL="0" indent="270000">
              <a:buNone/>
            </a:pPr>
            <a:r>
              <a:rPr lang="en-US" sz="2000" dirty="0"/>
              <a:t>DECLARE</a:t>
            </a:r>
          </a:p>
          <a:p>
            <a:pPr marL="0" indent="270000">
              <a:buNone/>
            </a:pPr>
            <a:r>
              <a:rPr lang="en-US" sz="2000" dirty="0"/>
              <a:t>     SUBTYPE DATE IS NUMBER;</a:t>
            </a:r>
          </a:p>
          <a:p>
            <a:pPr marL="0" indent="270000">
              <a:buNone/>
            </a:pPr>
            <a:r>
              <a:rPr lang="en-US" sz="2000" dirty="0"/>
              <a:t>      VARCHAR2 DATE := 11111;</a:t>
            </a:r>
          </a:p>
          <a:p>
            <a:pPr marL="0" indent="270000">
              <a:buNone/>
            </a:pPr>
            <a:r>
              <a:rPr lang="en-US" sz="2000" dirty="0"/>
              <a:t>      TO_CHAR       PLS_INTEGER;</a:t>
            </a:r>
          </a:p>
          <a:p>
            <a:pPr marL="0" indent="270000">
              <a:buNone/>
            </a:pPr>
            <a:r>
              <a:rPr lang="en-US" sz="2000" dirty="0"/>
              <a:t>      NO_DATA_FOUND EXCEPTION;</a:t>
            </a:r>
          </a:p>
          <a:p>
            <a:pPr marL="0" indent="270000">
              <a:buNone/>
            </a:pPr>
            <a:r>
              <a:rPr lang="en-US" sz="2000" dirty="0"/>
              <a:t>   BEGIN</a:t>
            </a:r>
          </a:p>
          <a:p>
            <a:pPr marL="0" indent="270000">
              <a:buNone/>
            </a:pPr>
            <a:r>
              <a:rPr lang="en-US" sz="2000" dirty="0"/>
              <a:t>      SELECT 1 INTO TO_CHAR</a:t>
            </a:r>
          </a:p>
          <a:p>
            <a:pPr marL="0" indent="270000">
              <a:buNone/>
            </a:pPr>
            <a:r>
              <a:rPr lang="en-US" sz="2000" dirty="0"/>
              <a:t>        FROM SYS.DUAL WHERE 1 = 2;</a:t>
            </a:r>
          </a:p>
          <a:p>
            <a:pPr marL="0" indent="270000">
              <a:buNone/>
            </a:pPr>
            <a:r>
              <a:rPr lang="en-US" sz="2000" dirty="0"/>
              <a:t>  EXCEPTION</a:t>
            </a:r>
          </a:p>
          <a:p>
            <a:pPr marL="0" indent="270000">
              <a:buNone/>
            </a:pPr>
            <a:r>
              <a:rPr lang="en-US" sz="2000" dirty="0"/>
              <a:t>    WHEN NO_DATA_FOUND</a:t>
            </a:r>
          </a:p>
          <a:p>
            <a:pPr marL="0" indent="270000">
              <a:buNone/>
            </a:pPr>
            <a:r>
              <a:rPr lang="en-US" sz="2000" dirty="0"/>
              <a:t>    THEN</a:t>
            </a:r>
          </a:p>
          <a:p>
            <a:pPr marL="0" indent="270000">
              <a:buNone/>
            </a:pPr>
            <a:r>
              <a:rPr lang="en-US" sz="2000" dirty="0"/>
              <a:t>       DBMS_OUTPUT.put_line ('Trapped!’); 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pPr marL="0" indent="0">
              <a:buNone/>
            </a:pPr>
            <a:endParaRPr lang="ru-RU" sz="15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D3F5A-CB4D-46BC-895C-C3EB119D7FE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374" y="2636912"/>
            <a:ext cx="2952328" cy="129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44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1920" y="260648"/>
            <a:ext cx="4845224" cy="1406128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FF0000"/>
                </a:solidFill>
              </a:rPr>
              <a:t>Примеры для самостоятельной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6632"/>
            <a:ext cx="6779096" cy="6009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u="sng" dirty="0"/>
              <a:t>Пример 1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ecode</a:t>
            </a:r>
            <a:r>
              <a:rPr lang="en-US" sz="2000" dirty="0"/>
              <a:t> NUMBER;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emesg</a:t>
            </a:r>
            <a:r>
              <a:rPr lang="en-US" sz="2000" dirty="0"/>
              <a:t> VARCHAR2(200);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  NULL;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ecode</a:t>
            </a:r>
            <a:r>
              <a:rPr lang="en-US" sz="2000" dirty="0"/>
              <a:t> := SQLCODE;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emesg</a:t>
            </a:r>
            <a:r>
              <a:rPr lang="en-US" sz="2000" dirty="0"/>
              <a:t> := SQLERRM;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dirty="0" err="1"/>
              <a:t>dbms_output.put_line</a:t>
            </a:r>
            <a:r>
              <a:rPr lang="en-US" sz="2000" dirty="0"/>
              <a:t>(TO_CHAR(</a:t>
            </a:r>
            <a:r>
              <a:rPr lang="en-US" sz="2000" dirty="0" err="1"/>
              <a:t>ecode</a:t>
            </a:r>
            <a:r>
              <a:rPr lang="en-US" sz="2000" dirty="0"/>
              <a:t>) || '-' || </a:t>
            </a:r>
            <a:r>
              <a:rPr lang="en-US" sz="2000" dirty="0" err="1"/>
              <a:t>emesg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pPr marL="0" indent="0">
              <a:buNone/>
            </a:pPr>
            <a:r>
              <a:rPr lang="ru-RU" sz="2000" u="sng" dirty="0"/>
              <a:t>Пример 2</a:t>
            </a:r>
            <a:r>
              <a:rPr lang="ru-RU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CREATE OR REPLACE PROCEDURE </a:t>
            </a:r>
            <a:r>
              <a:rPr lang="en-US" sz="2000" dirty="0" err="1"/>
              <a:t>force_error</a:t>
            </a:r>
            <a:r>
              <a:rPr lang="en-US" sz="2000" dirty="0"/>
              <a:t> IS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  NULL;</a:t>
            </a:r>
          </a:p>
          <a:p>
            <a:pPr marL="0" indent="0">
              <a:buNone/>
            </a:pPr>
            <a:r>
              <a:rPr lang="en-US" sz="2000" dirty="0"/>
              <a:t>  RAISE </a:t>
            </a:r>
            <a:r>
              <a:rPr lang="en-US" sz="2000" dirty="0" err="1"/>
              <a:t>too_many_rows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END </a:t>
            </a:r>
            <a:r>
              <a:rPr lang="en-US" sz="2000" dirty="0" err="1"/>
              <a:t>force_error</a:t>
            </a:r>
            <a:r>
              <a:rPr lang="en-US" sz="2000" dirty="0"/>
              <a:t>;</a:t>
            </a:r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347864" y="5301208"/>
            <a:ext cx="5544616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u="sng" dirty="0">
                <a:solidFill>
                  <a:schemeClr val="tx1"/>
                </a:solidFill>
              </a:rPr>
              <a:t>Замечание 1</a:t>
            </a:r>
            <a:r>
              <a:rPr lang="ru-RU" sz="2000" dirty="0">
                <a:solidFill>
                  <a:schemeClr val="tx1"/>
                </a:solidFill>
              </a:rPr>
              <a:t>: Запускайте процедуры или функции командой </a:t>
            </a:r>
          </a:p>
          <a:p>
            <a:r>
              <a:rPr lang="en-US" sz="2000" dirty="0">
                <a:solidFill>
                  <a:schemeClr val="tx1"/>
                </a:solidFill>
              </a:rPr>
              <a:t>exec</a:t>
            </a:r>
            <a:r>
              <a:rPr lang="ru-RU" sz="2000" dirty="0">
                <a:solidFill>
                  <a:schemeClr val="tx1"/>
                </a:solidFill>
              </a:rPr>
              <a:t> имя_процедуры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735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9140</TotalTime>
  <Words>2864</Words>
  <Application>Microsoft Office PowerPoint</Application>
  <PresentationFormat>Экран (4:3)</PresentationFormat>
  <Paragraphs>422</Paragraphs>
  <Slides>26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Тема Office</vt:lpstr>
      <vt:lpstr>Ошибки и  исключительные ситуации</vt:lpstr>
      <vt:lpstr>Ошибки времени компиляции (1/3)</vt:lpstr>
      <vt:lpstr>Ошибки времени компиляции (2/3)</vt:lpstr>
      <vt:lpstr>Ошибки времени компиляции (3/3)</vt:lpstr>
      <vt:lpstr>Команда SHOW ERROR</vt:lpstr>
      <vt:lpstr>Исключительные ситуации времени исполнения</vt:lpstr>
      <vt:lpstr>Атрибуты исключительной ситуации</vt:lpstr>
      <vt:lpstr>Работа с ИС</vt:lpstr>
      <vt:lpstr>Где обрабатываются исключительные ситуации</vt:lpstr>
      <vt:lpstr>Вариант  секции EXCEPTION  с ИС связанных через OR</vt:lpstr>
      <vt:lpstr>Как декларируются и возбуждаются ИС</vt:lpstr>
      <vt:lpstr>Передача необработанных исключений</vt:lpstr>
      <vt:lpstr> SQLCODE, SQLERRM и другие </vt:lpstr>
      <vt:lpstr>Использование SQLERRM</vt:lpstr>
      <vt:lpstr>Предопределённые исключения</vt:lpstr>
      <vt:lpstr>Некоторые предопределённые исключения (1/2)</vt:lpstr>
      <vt:lpstr>Некоторые предопределённые исключения (2/2)</vt:lpstr>
      <vt:lpstr>Пример: предопределённая ИС с именем и номером</vt:lpstr>
      <vt:lpstr>Предопределённая ИС с номером и без имени</vt:lpstr>
      <vt:lpstr>Пример: предопределённая ИС с номером и без имени</vt:lpstr>
      <vt:lpstr>Пользовательские исключения с номером</vt:lpstr>
      <vt:lpstr>Пример: пользовательское исключение с номером</vt:lpstr>
      <vt:lpstr>Исключения пользователя без номера </vt:lpstr>
      <vt:lpstr>Пакеты standard и dbms_standard</vt:lpstr>
      <vt:lpstr>Пример, поясняющий роль пакета standard</vt:lpstr>
      <vt:lpstr>Примеры для самостоятельной работы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Ошибки и  исключительные ситуации</dc:title>
  <dc:creator>Bessarabov</dc:creator>
  <cp:lastModifiedBy>Nikolay Bessarabov</cp:lastModifiedBy>
  <cp:revision>104</cp:revision>
  <dcterms:created xsi:type="dcterms:W3CDTF">2016-11-29T14:58:17Z</dcterms:created>
  <dcterms:modified xsi:type="dcterms:W3CDTF">2021-11-24T11:54:49Z</dcterms:modified>
</cp:coreProperties>
</file>